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67.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95.xml" ContentType="application/vnd.openxmlformats-officedocument.presentationml.slide+xml"/>
  <Override PartName="/ppt/slides/slide94.xml" ContentType="application/vnd.openxmlformats-officedocument.presentationml.slide+xml"/>
  <Override PartName="/ppt/slides/slide93.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85.xml" ContentType="application/vnd.openxmlformats-officedocument.presentationml.slide+xml"/>
  <Override PartName="/ppt/slides/slide84.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05.xml" ContentType="application/vnd.openxmlformats-officedocument.presentationml.slide+xml"/>
  <Override PartName="/ppt/slides/slide104.xml" ContentType="application/vnd.openxmlformats-officedocument.presentationml.slide+xml"/>
  <Override PartName="/ppt/slides/slide103.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88.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79" r:id="rId2"/>
    <p:sldId id="340" r:id="rId3"/>
    <p:sldId id="341" r:id="rId4"/>
    <p:sldId id="342" r:id="rId5"/>
    <p:sldId id="343" r:id="rId6"/>
    <p:sldId id="344" r:id="rId7"/>
    <p:sldId id="345" r:id="rId8"/>
    <p:sldId id="346" r:id="rId9"/>
    <p:sldId id="361" r:id="rId10"/>
    <p:sldId id="347" r:id="rId11"/>
    <p:sldId id="348" r:id="rId12"/>
    <p:sldId id="349" r:id="rId13"/>
    <p:sldId id="373" r:id="rId14"/>
    <p:sldId id="353" r:id="rId15"/>
    <p:sldId id="364" r:id="rId16"/>
    <p:sldId id="350" r:id="rId17"/>
    <p:sldId id="351" r:id="rId18"/>
    <p:sldId id="352" r:id="rId19"/>
    <p:sldId id="354" r:id="rId20"/>
    <p:sldId id="355" r:id="rId21"/>
    <p:sldId id="356" r:id="rId22"/>
    <p:sldId id="257" r:id="rId23"/>
    <p:sldId id="258" r:id="rId24"/>
    <p:sldId id="357" r:id="rId25"/>
    <p:sldId id="374" r:id="rId26"/>
    <p:sldId id="375" r:id="rId27"/>
    <p:sldId id="376" r:id="rId28"/>
    <p:sldId id="377" r:id="rId29"/>
    <p:sldId id="358" r:id="rId30"/>
    <p:sldId id="360" r:id="rId31"/>
    <p:sldId id="359" r:id="rId32"/>
    <p:sldId id="362" r:id="rId33"/>
    <p:sldId id="363" r:id="rId34"/>
    <p:sldId id="328" r:id="rId35"/>
    <p:sldId id="366" r:id="rId36"/>
    <p:sldId id="365" r:id="rId37"/>
    <p:sldId id="367" r:id="rId38"/>
    <p:sldId id="329" r:id="rId39"/>
    <p:sldId id="368" r:id="rId40"/>
    <p:sldId id="330" r:id="rId41"/>
    <p:sldId id="331" r:id="rId42"/>
    <p:sldId id="332" r:id="rId43"/>
    <p:sldId id="333" r:id="rId44"/>
    <p:sldId id="370" r:id="rId45"/>
    <p:sldId id="334" r:id="rId46"/>
    <p:sldId id="336" r:id="rId47"/>
    <p:sldId id="369" r:id="rId48"/>
    <p:sldId id="335" r:id="rId49"/>
    <p:sldId id="262" r:id="rId50"/>
    <p:sldId id="259" r:id="rId51"/>
    <p:sldId id="263" r:id="rId52"/>
    <p:sldId id="264" r:id="rId53"/>
    <p:sldId id="371" r:id="rId54"/>
    <p:sldId id="378" r:id="rId55"/>
    <p:sldId id="265" r:id="rId56"/>
    <p:sldId id="266" r:id="rId57"/>
    <p:sldId id="267" r:id="rId58"/>
    <p:sldId id="268" r:id="rId59"/>
    <p:sldId id="269" r:id="rId60"/>
    <p:sldId id="270" r:id="rId61"/>
    <p:sldId id="271" r:id="rId62"/>
    <p:sldId id="272" r:id="rId63"/>
    <p:sldId id="273" r:id="rId64"/>
    <p:sldId id="274" r:id="rId65"/>
    <p:sldId id="275" r:id="rId66"/>
    <p:sldId id="276" r:id="rId67"/>
    <p:sldId id="277" r:id="rId68"/>
    <p:sldId id="278" r:id="rId69"/>
    <p:sldId id="279" r:id="rId70"/>
    <p:sldId id="280" r:id="rId71"/>
    <p:sldId id="281" r:id="rId72"/>
    <p:sldId id="282" r:id="rId73"/>
    <p:sldId id="283" r:id="rId74"/>
    <p:sldId id="284" r:id="rId75"/>
    <p:sldId id="285" r:id="rId76"/>
    <p:sldId id="286" r:id="rId77"/>
    <p:sldId id="287" r:id="rId78"/>
    <p:sldId id="288" r:id="rId79"/>
    <p:sldId id="298" r:id="rId80"/>
    <p:sldId id="299" r:id="rId81"/>
    <p:sldId id="300" r:id="rId82"/>
    <p:sldId id="301" r:id="rId83"/>
    <p:sldId id="302" r:id="rId84"/>
    <p:sldId id="303" r:id="rId85"/>
    <p:sldId id="304" r:id="rId86"/>
    <p:sldId id="305" r:id="rId87"/>
    <p:sldId id="306" r:id="rId88"/>
    <p:sldId id="307" r:id="rId89"/>
    <p:sldId id="308" r:id="rId90"/>
    <p:sldId id="309" r:id="rId91"/>
    <p:sldId id="310" r:id="rId92"/>
    <p:sldId id="313" r:id="rId93"/>
    <p:sldId id="314" r:id="rId94"/>
    <p:sldId id="315" r:id="rId95"/>
    <p:sldId id="316" r:id="rId96"/>
    <p:sldId id="317" r:id="rId97"/>
    <p:sldId id="318" r:id="rId98"/>
    <p:sldId id="319" r:id="rId99"/>
    <p:sldId id="320" r:id="rId100"/>
    <p:sldId id="321" r:id="rId101"/>
    <p:sldId id="322" r:id="rId102"/>
    <p:sldId id="323" r:id="rId103"/>
    <p:sldId id="324" r:id="rId104"/>
    <p:sldId id="325" r:id="rId105"/>
    <p:sldId id="326" r:id="rId106"/>
    <p:sldId id="327" r:id="rId10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60"/>
  </p:normalViewPr>
  <p:slideViewPr>
    <p:cSldViewPr>
      <p:cViewPr>
        <p:scale>
          <a:sx n="71" d="100"/>
          <a:sy n="71" d="100"/>
        </p:scale>
        <p:origin x="-1350" y="12"/>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customXml" Target="../customXml/item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customXml" Target="../customXml/item2.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customXml" Target="../customXml/item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11/23/2020</a:t>
            </a:fld>
            <a:endParaRPr lang="en-US"/>
          </a:p>
        </p:txBody>
      </p:sp>
      <p:sp>
        <p:nvSpPr>
          <p:cNvPr id="6" name="Holder 6"/>
          <p:cNvSpPr>
            <a:spLocks noGrp="1"/>
          </p:cNvSpPr>
          <p:nvPr>
            <p:ph type="sldNum" sz="quarter" idx="7"/>
          </p:nvPr>
        </p:nvSpPr>
        <p:spPr/>
        <p:txBody>
          <a:bodyPr lIns="0" tIns="0" rIns="0" bIns="0"/>
          <a:lstStyle>
            <a:lvl1pPr>
              <a:defRPr sz="1400" b="1" i="0">
                <a:solidFill>
                  <a:schemeClr val="bg1"/>
                </a:solidFill>
                <a:latin typeface="Times New Roman"/>
                <a:cs typeface="Times New Roman"/>
              </a:defRPr>
            </a:lvl1pPr>
          </a:lstStyle>
          <a:p>
            <a:pPr marL="38100">
              <a:lnSpc>
                <a:spcPts val="1630"/>
              </a:lnSpc>
            </a:pPr>
            <a:fld id="{81D60167-4931-47E6-BA6A-407CBD079E47}" type="slidenum">
              <a:rPr dirty="0"/>
              <a:pPr marL="38100">
                <a:lnSpc>
                  <a:spcPts val="1630"/>
                </a:lnSpc>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04607A"/>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11/23/2020</a:t>
            </a:fld>
            <a:endParaRPr lang="en-US"/>
          </a:p>
        </p:txBody>
      </p:sp>
      <p:sp>
        <p:nvSpPr>
          <p:cNvPr id="6" name="Holder 6"/>
          <p:cNvSpPr>
            <a:spLocks noGrp="1"/>
          </p:cNvSpPr>
          <p:nvPr>
            <p:ph type="sldNum" sz="quarter" idx="7"/>
          </p:nvPr>
        </p:nvSpPr>
        <p:spPr/>
        <p:txBody>
          <a:bodyPr lIns="0" tIns="0" rIns="0" bIns="0"/>
          <a:lstStyle>
            <a:lvl1pPr>
              <a:defRPr sz="1400" b="1" i="0">
                <a:solidFill>
                  <a:schemeClr val="bg1"/>
                </a:solidFill>
                <a:latin typeface="Times New Roman"/>
                <a:cs typeface="Times New Roman"/>
              </a:defRPr>
            </a:lvl1pPr>
          </a:lstStyle>
          <a:p>
            <a:pPr marL="38100">
              <a:lnSpc>
                <a:spcPts val="1630"/>
              </a:lnSpc>
            </a:pPr>
            <a:fld id="{81D60167-4931-47E6-BA6A-407CBD079E47}" type="slidenum">
              <a:rPr dirty="0"/>
              <a:pPr marL="38100">
                <a:lnSpc>
                  <a:spcPts val="1630"/>
                </a:lnSpc>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04607A"/>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11/23/2020</a:t>
            </a:fld>
            <a:endParaRPr lang="en-US"/>
          </a:p>
        </p:txBody>
      </p:sp>
      <p:sp>
        <p:nvSpPr>
          <p:cNvPr id="7" name="Holder 7"/>
          <p:cNvSpPr>
            <a:spLocks noGrp="1"/>
          </p:cNvSpPr>
          <p:nvPr>
            <p:ph type="sldNum" sz="quarter" idx="7"/>
          </p:nvPr>
        </p:nvSpPr>
        <p:spPr/>
        <p:txBody>
          <a:bodyPr lIns="0" tIns="0" rIns="0" bIns="0"/>
          <a:lstStyle>
            <a:lvl1pPr>
              <a:defRPr sz="1400" b="1" i="0">
                <a:solidFill>
                  <a:schemeClr val="bg1"/>
                </a:solidFill>
                <a:latin typeface="Times New Roman"/>
                <a:cs typeface="Times New Roman"/>
              </a:defRPr>
            </a:lvl1pPr>
          </a:lstStyle>
          <a:p>
            <a:pPr marL="38100">
              <a:lnSpc>
                <a:spcPts val="1630"/>
              </a:lnSpc>
            </a:pPr>
            <a:fld id="{81D60167-4931-47E6-BA6A-407CBD079E47}" type="slidenum">
              <a:rPr dirty="0"/>
              <a:pPr marL="38100">
                <a:lnSpc>
                  <a:spcPts val="1630"/>
                </a:lnSpc>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04607A"/>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11/23/2020</a:t>
            </a:fld>
            <a:endParaRPr lang="en-US"/>
          </a:p>
        </p:txBody>
      </p:sp>
      <p:sp>
        <p:nvSpPr>
          <p:cNvPr id="5" name="Holder 5"/>
          <p:cNvSpPr>
            <a:spLocks noGrp="1"/>
          </p:cNvSpPr>
          <p:nvPr>
            <p:ph type="sldNum" sz="quarter" idx="7"/>
          </p:nvPr>
        </p:nvSpPr>
        <p:spPr/>
        <p:txBody>
          <a:bodyPr lIns="0" tIns="0" rIns="0" bIns="0"/>
          <a:lstStyle>
            <a:lvl1pPr>
              <a:defRPr sz="1400" b="1" i="0">
                <a:solidFill>
                  <a:schemeClr val="bg1"/>
                </a:solidFill>
                <a:latin typeface="Times New Roman"/>
                <a:cs typeface="Times New Roman"/>
              </a:defRPr>
            </a:lvl1pPr>
          </a:lstStyle>
          <a:p>
            <a:pPr marL="38100">
              <a:lnSpc>
                <a:spcPts val="1630"/>
              </a:lnSpc>
            </a:pPr>
            <a:fld id="{81D60167-4931-47E6-BA6A-407CBD079E47}" type="slidenum">
              <a:rPr dirty="0"/>
              <a:pPr marL="38100">
                <a:lnSpc>
                  <a:spcPts val="1630"/>
                </a:lnSpc>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11/23/2020</a:t>
            </a:fld>
            <a:endParaRPr lang="en-US"/>
          </a:p>
        </p:txBody>
      </p:sp>
      <p:sp>
        <p:nvSpPr>
          <p:cNvPr id="4" name="Holder 4"/>
          <p:cNvSpPr>
            <a:spLocks noGrp="1"/>
          </p:cNvSpPr>
          <p:nvPr>
            <p:ph type="sldNum" sz="quarter" idx="7"/>
          </p:nvPr>
        </p:nvSpPr>
        <p:spPr/>
        <p:txBody>
          <a:bodyPr lIns="0" tIns="0" rIns="0" bIns="0"/>
          <a:lstStyle>
            <a:lvl1pPr>
              <a:defRPr sz="1400" b="1" i="0">
                <a:solidFill>
                  <a:schemeClr val="bg1"/>
                </a:solidFill>
                <a:latin typeface="Times New Roman"/>
                <a:cs typeface="Times New Roman"/>
              </a:defRPr>
            </a:lvl1pPr>
          </a:lstStyle>
          <a:p>
            <a:pPr marL="38100">
              <a:lnSpc>
                <a:spcPts val="1630"/>
              </a:lnSpc>
            </a:pPr>
            <a:fld id="{81D60167-4931-47E6-BA6A-407CBD079E47}" type="slidenum">
              <a:rPr dirty="0"/>
              <a:pPr marL="38100">
                <a:lnSpc>
                  <a:spcPts val="1630"/>
                </a:lnSpc>
              </a:p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763761" y="761"/>
            <a:ext cx="0" cy="6858000"/>
          </a:xfrm>
          <a:custGeom>
            <a:avLst/>
            <a:gdLst/>
            <a:ahLst/>
            <a:cxnLst/>
            <a:rect l="l" t="t" r="r" b="b"/>
            <a:pathLst>
              <a:path h="6858000">
                <a:moveTo>
                  <a:pt x="0" y="0"/>
                </a:moveTo>
                <a:lnTo>
                  <a:pt x="0" y="6857999"/>
                </a:lnTo>
              </a:path>
            </a:pathLst>
          </a:custGeom>
          <a:ln w="38100">
            <a:solidFill>
              <a:srgbClr val="AABADF"/>
            </a:solidFill>
          </a:ln>
        </p:spPr>
        <p:txBody>
          <a:bodyPr wrap="square" lIns="0" tIns="0" rIns="0" bIns="0" rtlCol="0"/>
          <a:lstStyle/>
          <a:p>
            <a:endParaRPr/>
          </a:p>
        </p:txBody>
      </p:sp>
      <p:sp>
        <p:nvSpPr>
          <p:cNvPr id="17" name="bg object 17"/>
          <p:cNvSpPr/>
          <p:nvPr/>
        </p:nvSpPr>
        <p:spPr>
          <a:xfrm>
            <a:off x="8156447" y="5715000"/>
            <a:ext cx="548640" cy="548640"/>
          </a:xfrm>
          <a:custGeom>
            <a:avLst/>
            <a:gdLst/>
            <a:ahLst/>
            <a:cxnLst/>
            <a:rect l="l" t="t" r="r" b="b"/>
            <a:pathLst>
              <a:path w="548640" h="548639">
                <a:moveTo>
                  <a:pt x="274320" y="0"/>
                </a:moveTo>
                <a:lnTo>
                  <a:pt x="225008" y="4419"/>
                </a:lnTo>
                <a:lnTo>
                  <a:pt x="178597" y="17162"/>
                </a:lnTo>
                <a:lnTo>
                  <a:pt x="135861" y="37453"/>
                </a:lnTo>
                <a:lnTo>
                  <a:pt x="97575" y="64518"/>
                </a:lnTo>
                <a:lnTo>
                  <a:pt x="64513" y="97580"/>
                </a:lnTo>
                <a:lnTo>
                  <a:pt x="37450" y="135867"/>
                </a:lnTo>
                <a:lnTo>
                  <a:pt x="17161" y="178602"/>
                </a:lnTo>
                <a:lnTo>
                  <a:pt x="4419" y="225011"/>
                </a:lnTo>
                <a:lnTo>
                  <a:pt x="0" y="274319"/>
                </a:lnTo>
                <a:lnTo>
                  <a:pt x="4419" y="323628"/>
                </a:lnTo>
                <a:lnTo>
                  <a:pt x="17161" y="370037"/>
                </a:lnTo>
                <a:lnTo>
                  <a:pt x="37450" y="412772"/>
                </a:lnTo>
                <a:lnTo>
                  <a:pt x="64513" y="451059"/>
                </a:lnTo>
                <a:lnTo>
                  <a:pt x="97575" y="484121"/>
                </a:lnTo>
                <a:lnTo>
                  <a:pt x="135861" y="511186"/>
                </a:lnTo>
                <a:lnTo>
                  <a:pt x="178597" y="531477"/>
                </a:lnTo>
                <a:lnTo>
                  <a:pt x="225008" y="544220"/>
                </a:lnTo>
                <a:lnTo>
                  <a:pt x="274320" y="548640"/>
                </a:lnTo>
                <a:lnTo>
                  <a:pt x="323631" y="544220"/>
                </a:lnTo>
                <a:lnTo>
                  <a:pt x="370042" y="531477"/>
                </a:lnTo>
                <a:lnTo>
                  <a:pt x="412778" y="511186"/>
                </a:lnTo>
                <a:lnTo>
                  <a:pt x="451064" y="484121"/>
                </a:lnTo>
                <a:lnTo>
                  <a:pt x="484126" y="451059"/>
                </a:lnTo>
                <a:lnTo>
                  <a:pt x="511189" y="412772"/>
                </a:lnTo>
                <a:lnTo>
                  <a:pt x="531478" y="370037"/>
                </a:lnTo>
                <a:lnTo>
                  <a:pt x="544220" y="323628"/>
                </a:lnTo>
                <a:lnTo>
                  <a:pt x="548640" y="274319"/>
                </a:lnTo>
                <a:lnTo>
                  <a:pt x="544220" y="225011"/>
                </a:lnTo>
                <a:lnTo>
                  <a:pt x="531478" y="178602"/>
                </a:lnTo>
                <a:lnTo>
                  <a:pt x="511189" y="135867"/>
                </a:lnTo>
                <a:lnTo>
                  <a:pt x="484126" y="97580"/>
                </a:lnTo>
                <a:lnTo>
                  <a:pt x="451064" y="64518"/>
                </a:lnTo>
                <a:lnTo>
                  <a:pt x="412778" y="37453"/>
                </a:lnTo>
                <a:lnTo>
                  <a:pt x="370042" y="17162"/>
                </a:lnTo>
                <a:lnTo>
                  <a:pt x="323631" y="4419"/>
                </a:lnTo>
                <a:lnTo>
                  <a:pt x="274320" y="0"/>
                </a:lnTo>
                <a:close/>
              </a:path>
            </a:pathLst>
          </a:custGeom>
          <a:solidFill>
            <a:srgbClr val="0E6EC5"/>
          </a:solidFill>
        </p:spPr>
        <p:txBody>
          <a:bodyPr wrap="square" lIns="0" tIns="0" rIns="0" bIns="0" rtlCol="0"/>
          <a:lstStyle/>
          <a:p>
            <a:endParaRPr/>
          </a:p>
        </p:txBody>
      </p:sp>
      <p:sp>
        <p:nvSpPr>
          <p:cNvPr id="18" name="bg object 18"/>
          <p:cNvSpPr/>
          <p:nvPr/>
        </p:nvSpPr>
        <p:spPr>
          <a:xfrm>
            <a:off x="47231" y="0"/>
            <a:ext cx="58419" cy="6858000"/>
          </a:xfrm>
          <a:custGeom>
            <a:avLst/>
            <a:gdLst/>
            <a:ahLst/>
            <a:cxnLst/>
            <a:rect l="l" t="t" r="r" b="b"/>
            <a:pathLst>
              <a:path w="58419" h="6858000">
                <a:moveTo>
                  <a:pt x="11595" y="0"/>
                </a:moveTo>
                <a:lnTo>
                  <a:pt x="0" y="0"/>
                </a:lnTo>
                <a:lnTo>
                  <a:pt x="12" y="6858000"/>
                </a:lnTo>
                <a:lnTo>
                  <a:pt x="11595" y="6858000"/>
                </a:lnTo>
                <a:lnTo>
                  <a:pt x="11595" y="0"/>
                </a:lnTo>
                <a:close/>
              </a:path>
              <a:path w="58419" h="6858000">
                <a:moveTo>
                  <a:pt x="57924" y="0"/>
                </a:moveTo>
                <a:lnTo>
                  <a:pt x="23177" y="0"/>
                </a:lnTo>
                <a:lnTo>
                  <a:pt x="23177" y="6858000"/>
                </a:lnTo>
                <a:lnTo>
                  <a:pt x="57924" y="6858000"/>
                </a:lnTo>
                <a:lnTo>
                  <a:pt x="57924" y="0"/>
                </a:lnTo>
                <a:close/>
              </a:path>
            </a:pathLst>
          </a:custGeom>
          <a:solidFill>
            <a:srgbClr val="AABADF"/>
          </a:solidFill>
        </p:spPr>
        <p:txBody>
          <a:bodyPr wrap="square" lIns="0" tIns="0" rIns="0" bIns="0" rtlCol="0"/>
          <a:lstStyle/>
          <a:p>
            <a:endParaRPr/>
          </a:p>
        </p:txBody>
      </p:sp>
      <p:sp>
        <p:nvSpPr>
          <p:cNvPr id="19" name="bg object 19"/>
          <p:cNvSpPr/>
          <p:nvPr/>
        </p:nvSpPr>
        <p:spPr>
          <a:xfrm>
            <a:off x="8839200" y="0"/>
            <a:ext cx="304800" cy="6858000"/>
          </a:xfrm>
          <a:custGeom>
            <a:avLst/>
            <a:gdLst/>
            <a:ahLst/>
            <a:cxnLst/>
            <a:rect l="l" t="t" r="r" b="b"/>
            <a:pathLst>
              <a:path w="304800" h="6858000">
                <a:moveTo>
                  <a:pt x="304800" y="0"/>
                </a:moveTo>
                <a:lnTo>
                  <a:pt x="0" y="0"/>
                </a:lnTo>
                <a:lnTo>
                  <a:pt x="0" y="6858000"/>
                </a:lnTo>
                <a:lnTo>
                  <a:pt x="304800" y="6858000"/>
                </a:lnTo>
                <a:lnTo>
                  <a:pt x="304800" y="0"/>
                </a:lnTo>
                <a:close/>
              </a:path>
            </a:pathLst>
          </a:custGeom>
          <a:solidFill>
            <a:srgbClr val="AABADF">
              <a:alpha val="87057"/>
            </a:srgbClr>
          </a:solidFill>
        </p:spPr>
        <p:txBody>
          <a:bodyPr wrap="square" lIns="0" tIns="0" rIns="0" bIns="0" rtlCol="0"/>
          <a:lstStyle/>
          <a:p>
            <a:endParaRPr/>
          </a:p>
        </p:txBody>
      </p:sp>
      <p:sp>
        <p:nvSpPr>
          <p:cNvPr id="20" name="bg object 20"/>
          <p:cNvSpPr/>
          <p:nvPr/>
        </p:nvSpPr>
        <p:spPr>
          <a:xfrm>
            <a:off x="8915400" y="0"/>
            <a:ext cx="0" cy="6858000"/>
          </a:xfrm>
          <a:custGeom>
            <a:avLst/>
            <a:gdLst/>
            <a:ahLst/>
            <a:cxnLst/>
            <a:rect l="l" t="t" r="r" b="b"/>
            <a:pathLst>
              <a:path h="6858000">
                <a:moveTo>
                  <a:pt x="0" y="0"/>
                </a:moveTo>
                <a:lnTo>
                  <a:pt x="0" y="6857999"/>
                </a:lnTo>
              </a:path>
            </a:pathLst>
          </a:custGeom>
          <a:ln w="9144">
            <a:solidFill>
              <a:srgbClr val="0E6EC5"/>
            </a:solidFill>
          </a:ln>
        </p:spPr>
        <p:txBody>
          <a:bodyPr wrap="square" lIns="0" tIns="0" rIns="0" bIns="0" rtlCol="0"/>
          <a:lstStyle/>
          <a:p>
            <a:endParaRPr/>
          </a:p>
        </p:txBody>
      </p:sp>
      <p:sp>
        <p:nvSpPr>
          <p:cNvPr id="2" name="Holder 2"/>
          <p:cNvSpPr>
            <a:spLocks noGrp="1"/>
          </p:cNvSpPr>
          <p:nvPr>
            <p:ph type="title"/>
          </p:nvPr>
        </p:nvSpPr>
        <p:spPr>
          <a:xfrm>
            <a:off x="3515360" y="1147317"/>
            <a:ext cx="2113279" cy="482600"/>
          </a:xfrm>
          <a:prstGeom prst="rect">
            <a:avLst/>
          </a:prstGeom>
        </p:spPr>
        <p:txBody>
          <a:bodyPr wrap="square" lIns="0" tIns="0" rIns="0" bIns="0">
            <a:spAutoFit/>
          </a:bodyPr>
          <a:lstStyle>
            <a:lvl1pPr>
              <a:defRPr sz="2400" b="0" i="0">
                <a:solidFill>
                  <a:srgbClr val="04607A"/>
                </a:solidFill>
                <a:latin typeface="Times New Roman"/>
                <a:cs typeface="Times New Roman"/>
              </a:defRPr>
            </a:lvl1pPr>
          </a:lstStyle>
          <a:p>
            <a:endParaRPr/>
          </a:p>
        </p:txBody>
      </p:sp>
      <p:sp>
        <p:nvSpPr>
          <p:cNvPr id="3" name="Holder 3"/>
          <p:cNvSpPr>
            <a:spLocks noGrp="1"/>
          </p:cNvSpPr>
          <p:nvPr>
            <p:ph type="body" idx="1"/>
          </p:nvPr>
        </p:nvSpPr>
        <p:spPr>
          <a:xfrm>
            <a:off x="535940" y="2796412"/>
            <a:ext cx="6151245" cy="4004309"/>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11/23/2020</a:t>
            </a:fld>
            <a:endParaRPr lang="en-US"/>
          </a:p>
        </p:txBody>
      </p:sp>
      <p:sp>
        <p:nvSpPr>
          <p:cNvPr id="6" name="Holder 6"/>
          <p:cNvSpPr>
            <a:spLocks noGrp="1"/>
          </p:cNvSpPr>
          <p:nvPr>
            <p:ph type="sldNum" sz="quarter" idx="7"/>
          </p:nvPr>
        </p:nvSpPr>
        <p:spPr>
          <a:xfrm>
            <a:off x="8306434" y="5889964"/>
            <a:ext cx="256540" cy="222885"/>
          </a:xfrm>
          <a:prstGeom prst="rect">
            <a:avLst/>
          </a:prstGeom>
        </p:spPr>
        <p:txBody>
          <a:bodyPr wrap="square" lIns="0" tIns="0" rIns="0" bIns="0">
            <a:spAutoFit/>
          </a:bodyPr>
          <a:lstStyle>
            <a:lvl1pPr>
              <a:defRPr sz="1400" b="1" i="0">
                <a:solidFill>
                  <a:schemeClr val="bg1"/>
                </a:solidFill>
                <a:latin typeface="Times New Roman"/>
                <a:cs typeface="Times New Roman"/>
              </a:defRPr>
            </a:lvl1pPr>
          </a:lstStyle>
          <a:p>
            <a:pPr marL="38100">
              <a:lnSpc>
                <a:spcPts val="1630"/>
              </a:lnSpc>
            </a:pPr>
            <a:fld id="{81D60167-4931-47E6-BA6A-407CBD079E47}" type="slidenum">
              <a:rPr dirty="0"/>
              <a:pPr marL="38100">
                <a:lnSpc>
                  <a:spcPts val="1630"/>
                </a:lnSpc>
              </a:p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3.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5" Type="http://schemas.openxmlformats.org/officeDocument/2006/relationships/image" Target="../media/image32.jpeg"/><Relationship Id="rId4" Type="http://schemas.openxmlformats.org/officeDocument/2006/relationships/image" Target="../media/image3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 Id="rId5" Type="http://schemas.openxmlformats.org/officeDocument/2006/relationships/image" Target="../media/image39.jpeg"/><Relationship Id="rId4" Type="http://schemas.openxmlformats.org/officeDocument/2006/relationships/image" Target="../media/image38.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image" Target="../media/image42.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 Id="rId5" Type="http://schemas.openxmlformats.org/officeDocument/2006/relationships/image" Target="../media/image48.jpeg"/><Relationship Id="rId4" Type="http://schemas.openxmlformats.org/officeDocument/2006/relationships/image" Target="../media/image47.jpeg"/></Relationships>
</file>

<file path=ppt/slides/_rels/slide48.xml.rels><?xml version="1.0" encoding="UTF-8" standalone="yes"?>
<Relationships xmlns="http://schemas.openxmlformats.org/package/2006/relationships"><Relationship Id="rId3" Type="http://schemas.openxmlformats.org/officeDocument/2006/relationships/hyperlink" Target="https://en.wikipedia.org/wiki/Brackish_water" TargetMode="External"/><Relationship Id="rId2" Type="http://schemas.openxmlformats.org/officeDocument/2006/relationships/hyperlink" Target="https://en.wikipedia.org/wiki/Fresh_water" TargetMode="External"/><Relationship Id="rId1" Type="http://schemas.openxmlformats.org/officeDocument/2006/relationships/slideLayout" Target="../slideLayouts/slideLayout5.xml"/><Relationship Id="rId5" Type="http://schemas.openxmlformats.org/officeDocument/2006/relationships/hyperlink" Target="https://en.wikipedia.org/wiki/Hypersaline" TargetMode="External"/><Relationship Id="rId4" Type="http://schemas.openxmlformats.org/officeDocument/2006/relationships/hyperlink" Target="https://en.wikipedia.org/wiki/Saline_water" TargetMode="External"/></Relationships>
</file>

<file path=ppt/slides/_rels/slide4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5.xml"/><Relationship Id="rId5" Type="http://schemas.openxmlformats.org/officeDocument/2006/relationships/image" Target="../media/image61.jpeg"/><Relationship Id="rId4" Type="http://schemas.openxmlformats.org/officeDocument/2006/relationships/image" Target="../media/image60.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8" Type="http://schemas.openxmlformats.org/officeDocument/2006/relationships/hyperlink" Target="http://postimg.org/image/ficgyq5z5/" TargetMode="External"/><Relationship Id="rId3" Type="http://schemas.openxmlformats.org/officeDocument/2006/relationships/hyperlink" Target="http://postimg.org/image/3kawku281/" TargetMode="External"/><Relationship Id="rId7" Type="http://schemas.openxmlformats.org/officeDocument/2006/relationships/hyperlink" Target="http://postimg.org/image/d0w4dpwox/" TargetMode="External"/><Relationship Id="rId2" Type="http://schemas.openxmlformats.org/officeDocument/2006/relationships/hyperlink" Target="http://postimg.org/image/9dskyjsvj/" TargetMode="External"/><Relationship Id="rId1" Type="http://schemas.openxmlformats.org/officeDocument/2006/relationships/slideLayout" Target="../slideLayouts/slideLayout2.xml"/><Relationship Id="rId6" Type="http://schemas.openxmlformats.org/officeDocument/2006/relationships/hyperlink" Target="http://postimg.org/image/rhjdsam69/" TargetMode="External"/><Relationship Id="rId5" Type="http://schemas.openxmlformats.org/officeDocument/2006/relationships/hyperlink" Target="http://www.slideshare.net/" TargetMode="External"/><Relationship Id="rId10" Type="http://schemas.openxmlformats.org/officeDocument/2006/relationships/hyperlink" Target="http://postimg.org/image/a82wtowch/" TargetMode="External"/><Relationship Id="rId4" Type="http://schemas.openxmlformats.org/officeDocument/2006/relationships/hyperlink" Target="http://postimg.org/image/ritblpo01/" TargetMode="External"/><Relationship Id="rId9" Type="http://schemas.openxmlformats.org/officeDocument/2006/relationships/hyperlink" Target="http://postimg.org/image/c7o3yug1t/" TargetMode="External"/></Relationships>
</file>

<file path=ppt/slides/_rels/slide106.xml.rels><?xml version="1.0" encoding="UTF-8" standalone="yes"?>
<Relationships xmlns="http://schemas.openxmlformats.org/package/2006/relationships"><Relationship Id="rId3" Type="http://schemas.openxmlformats.org/officeDocument/2006/relationships/hyperlink" Target="http://postimg.org/image/51wcwe6yp/" TargetMode="External"/><Relationship Id="rId7" Type="http://schemas.openxmlformats.org/officeDocument/2006/relationships/hyperlink" Target="http://postimg.org/image/mqetl9cbr/" TargetMode="External"/><Relationship Id="rId2" Type="http://schemas.openxmlformats.org/officeDocument/2006/relationships/hyperlink" Target="http://postimg.org/image/sc5xebu0x/" TargetMode="External"/><Relationship Id="rId1" Type="http://schemas.openxmlformats.org/officeDocument/2006/relationships/slideLayout" Target="../slideLayouts/slideLayout5.xml"/><Relationship Id="rId6" Type="http://schemas.openxmlformats.org/officeDocument/2006/relationships/hyperlink" Target="http://postimg.org/image/p1m5s6thd/" TargetMode="External"/><Relationship Id="rId5" Type="http://schemas.openxmlformats.org/officeDocument/2006/relationships/hyperlink" Target="http://www.slideshare.net/" TargetMode="External"/><Relationship Id="rId4" Type="http://schemas.openxmlformats.org/officeDocument/2006/relationships/hyperlink" Target="http://postimg.org/image/dnzmgziy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7" descr="D:\B2.jpg"/>
          <p:cNvPicPr>
            <a:picLocks noChangeAspect="1" noChangeArrowheads="1"/>
          </p:cNvPicPr>
          <p:nvPr/>
        </p:nvPicPr>
        <p:blipFill>
          <a:blip r:embed="rId2" cstate="print"/>
          <a:srcRect/>
          <a:stretch>
            <a:fillRect/>
          </a:stretch>
        </p:blipFill>
        <p:spPr bwMode="auto">
          <a:xfrm>
            <a:off x="0" y="5300663"/>
            <a:ext cx="9144000" cy="1557337"/>
          </a:xfrm>
          <a:prstGeom prst="rect">
            <a:avLst/>
          </a:prstGeom>
          <a:noFill/>
          <a:ln w="9525">
            <a:noFill/>
            <a:miter lim="800000"/>
            <a:headEnd/>
            <a:tailEnd/>
          </a:ln>
        </p:spPr>
      </p:pic>
      <p:sp>
        <p:nvSpPr>
          <p:cNvPr id="74755" name="Content Placeholder 4"/>
          <p:cNvSpPr>
            <a:spLocks noGrp="1"/>
          </p:cNvSpPr>
          <p:nvPr>
            <p:ph idx="1"/>
          </p:nvPr>
        </p:nvSpPr>
        <p:spPr>
          <a:xfrm>
            <a:off x="0" y="0"/>
            <a:ext cx="9144000" cy="4616648"/>
          </a:xfrm>
        </p:spPr>
        <p:txBody>
          <a:bodyPr/>
          <a:lstStyle/>
          <a:p>
            <a:pPr eaLnBrk="1" hangingPunct="1"/>
            <a:endParaRPr lang="en-US" dirty="0" smtClean="0"/>
          </a:p>
          <a:p>
            <a:pPr algn="ctr" eaLnBrk="1" hangingPunct="1">
              <a:buFont typeface="Wingdings 3" pitchFamily="18" charset="2"/>
              <a:buNone/>
            </a:pPr>
            <a:endParaRPr lang="en-US" dirty="0" smtClean="0">
              <a:solidFill>
                <a:srgbClr val="0070C0"/>
              </a:solidFill>
            </a:endParaRPr>
          </a:p>
          <a:p>
            <a:pPr algn="ctr" eaLnBrk="1" hangingPunct="1">
              <a:buFont typeface="Wingdings 3" pitchFamily="18" charset="2"/>
              <a:buNone/>
            </a:pPr>
            <a:endParaRPr lang="en-US" sz="3200" b="1" dirty="0" smtClean="0">
              <a:solidFill>
                <a:srgbClr val="C00000"/>
              </a:solidFill>
              <a:latin typeface="Arial" charset="0"/>
              <a:cs typeface="Arial" charset="0"/>
            </a:endParaRPr>
          </a:p>
          <a:p>
            <a:pPr algn="ctr" eaLnBrk="1" hangingPunct="1">
              <a:buFont typeface="Wingdings 3" pitchFamily="18" charset="2"/>
              <a:buNone/>
            </a:pPr>
            <a:r>
              <a:rPr lang="en-US" sz="3200" b="1" dirty="0" smtClean="0">
                <a:solidFill>
                  <a:srgbClr val="0070C0"/>
                </a:solidFill>
                <a:latin typeface="Times New Roman" pitchFamily="18" charset="0"/>
                <a:cs typeface="Times New Roman" pitchFamily="18" charset="0"/>
              </a:rPr>
              <a:t>DEPARTMENT OF CHEMISTRY </a:t>
            </a:r>
          </a:p>
          <a:p>
            <a:pPr algn="ctr" eaLnBrk="1" hangingPunct="1">
              <a:buFont typeface="Wingdings 3" pitchFamily="18" charset="2"/>
              <a:buNone/>
            </a:pPr>
            <a:endParaRPr lang="en-US" sz="3200" b="1" dirty="0" smtClean="0">
              <a:solidFill>
                <a:srgbClr val="C00000"/>
              </a:solidFill>
              <a:latin typeface="Forte" pitchFamily="66" charset="0"/>
              <a:cs typeface="Andalus" pitchFamily="18" charset="-78"/>
            </a:endParaRPr>
          </a:p>
          <a:p>
            <a:pPr algn="ctr" eaLnBrk="1" hangingPunct="1">
              <a:buFont typeface="Wingdings 3" pitchFamily="18" charset="2"/>
              <a:buNone/>
            </a:pPr>
            <a:endParaRPr lang="en-US" sz="3200" b="1" dirty="0" smtClean="0">
              <a:solidFill>
                <a:srgbClr val="C00000"/>
              </a:solidFill>
              <a:latin typeface="Arial" charset="0"/>
              <a:cs typeface="Arial" charset="0"/>
            </a:endParaRPr>
          </a:p>
          <a:p>
            <a:pPr algn="ctr" eaLnBrk="1" hangingPunct="1">
              <a:buFont typeface="Wingdings 3" pitchFamily="18" charset="2"/>
              <a:buNone/>
            </a:pPr>
            <a:endParaRPr lang="en-US" sz="1600" dirty="0" smtClean="0">
              <a:solidFill>
                <a:srgbClr val="7030A0"/>
              </a:solidFill>
              <a:latin typeface="Times New Roman" pitchFamily="18" charset="0"/>
              <a:cs typeface="Times New Roman" pitchFamily="18" charset="0"/>
            </a:endParaRPr>
          </a:p>
          <a:p>
            <a:pPr algn="ctr" eaLnBrk="1" hangingPunct="1">
              <a:lnSpc>
                <a:spcPct val="150000"/>
              </a:lnSpc>
              <a:buFont typeface="Wingdings 3" pitchFamily="18" charset="2"/>
              <a:buNone/>
            </a:pPr>
            <a:r>
              <a:rPr lang="en-US" sz="1400" b="1" dirty="0" smtClean="0">
                <a:latin typeface="Times New Roman" pitchFamily="18" charset="0"/>
                <a:cs typeface="Times New Roman" pitchFamily="18" charset="0"/>
              </a:rPr>
              <a:t>Presented by</a:t>
            </a:r>
            <a:endParaRPr lang="en-US" sz="1600" b="1" dirty="0" smtClean="0">
              <a:solidFill>
                <a:srgbClr val="006600"/>
              </a:solidFill>
              <a:latin typeface="Times New Roman" pitchFamily="18" charset="0"/>
              <a:cs typeface="Times New Roman" pitchFamily="18" charset="0"/>
            </a:endParaRPr>
          </a:p>
          <a:p>
            <a:pPr lvl="1" algn="ctr" eaLnBrk="1" hangingPunct="1">
              <a:lnSpc>
                <a:spcPct val="150000"/>
              </a:lnSpc>
              <a:buFont typeface="Verdana" pitchFamily="34" charset="0"/>
              <a:buNone/>
            </a:pPr>
            <a:endParaRPr lang="en-US" sz="1600" b="1" dirty="0" smtClean="0">
              <a:solidFill>
                <a:srgbClr val="006600"/>
              </a:solidFill>
              <a:latin typeface="Times New Roman" pitchFamily="18" charset="0"/>
              <a:cs typeface="Times New Roman" pitchFamily="18" charset="0"/>
            </a:endParaRPr>
          </a:p>
          <a:p>
            <a:pPr lvl="1" algn="ctr" eaLnBrk="1" hangingPunct="1">
              <a:lnSpc>
                <a:spcPct val="150000"/>
              </a:lnSpc>
              <a:buFont typeface="Verdana" pitchFamily="34" charset="0"/>
              <a:buNone/>
            </a:pPr>
            <a:r>
              <a:rPr lang="en-US" b="1" dirty="0" smtClean="0">
                <a:solidFill>
                  <a:srgbClr val="006600"/>
                </a:solidFill>
                <a:latin typeface="Times New Roman" pitchFamily="18" charset="0"/>
                <a:cs typeface="Times New Roman" pitchFamily="18" charset="0"/>
              </a:rPr>
              <a:t>Mr. A.R. SIVAKUMAR,  AP/CHEMISTRY</a:t>
            </a:r>
          </a:p>
          <a:p>
            <a:pPr lvl="1" algn="ctr" eaLnBrk="1" hangingPunct="1">
              <a:buFont typeface="Verdana" pitchFamily="34" charset="0"/>
              <a:buNone/>
            </a:pPr>
            <a:r>
              <a:rPr lang="en-US" b="1" dirty="0" smtClean="0">
                <a:solidFill>
                  <a:srgbClr val="0000FF"/>
                </a:solidFill>
                <a:latin typeface="Times New Roman" pitchFamily="18" charset="0"/>
                <a:cs typeface="Times New Roman" pitchFamily="18" charset="0"/>
              </a:rPr>
              <a:t>KAMARAJ COLLEGE OF ENGINEERING AND TECHNOLOGY (AUTONOMOUS) </a:t>
            </a:r>
          </a:p>
          <a:p>
            <a:pPr lvl="1" algn="ctr" eaLnBrk="1" hangingPunct="1">
              <a:buFont typeface="Verdana" pitchFamily="34" charset="0"/>
              <a:buNone/>
            </a:pPr>
            <a:r>
              <a:rPr lang="en-US" b="1" dirty="0" smtClean="0">
                <a:solidFill>
                  <a:srgbClr val="0000FF"/>
                </a:solidFill>
                <a:latin typeface="Times New Roman" pitchFamily="18" charset="0"/>
                <a:cs typeface="Times New Roman" pitchFamily="18" charset="0"/>
              </a:rPr>
              <a:t>VIRUDHUNAGAR</a:t>
            </a:r>
            <a:endParaRPr lang="en-US" b="1" dirty="0" smtClean="0">
              <a:solidFill>
                <a:srgbClr val="0000FF"/>
              </a:solidFill>
              <a:latin typeface="Times New Roman" pitchFamily="18" charset="0"/>
              <a:cs typeface="Times New Roman" pitchFamily="18" charset="0"/>
            </a:endParaRPr>
          </a:p>
        </p:txBody>
      </p:sp>
      <p:sp>
        <p:nvSpPr>
          <p:cNvPr id="74756" name="Footer Placeholder 2"/>
          <p:cNvSpPr>
            <a:spLocks noGrp="1"/>
          </p:cNvSpPr>
          <p:nvPr>
            <p:ph type="ftr" sz="quarter" idx="4294967295"/>
          </p:nvPr>
        </p:nvSpPr>
        <p:spPr bwMode="auto">
          <a:xfrm>
            <a:off x="4379913" y="6408738"/>
            <a:ext cx="2351087" cy="365125"/>
          </a:xfrm>
          <a:prstGeom prst="rect">
            <a:avLst/>
          </a:prstGeom>
          <a:extLst>
            <a:ext uri="{909E8E84-426E-40DD-AFC4-6F175D3DCCD1}"/>
            <a:ext uri="{91240B29-F687-4F45-9708-019B960494DF}"/>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endParaRPr lang="en-US" dirty="0" smtClean="0">
              <a:solidFill>
                <a:srgbClr val="B5A788"/>
              </a:solidFill>
            </a:endParaRPr>
          </a:p>
        </p:txBody>
      </p:sp>
      <p:sp>
        <p:nvSpPr>
          <p:cNvPr id="74757" name="Slide Number Placeholder 1"/>
          <p:cNvSpPr>
            <a:spLocks noGrp="1"/>
          </p:cNvSpPr>
          <p:nvPr>
            <p:ph type="sldNum" sz="quarter" idx="4294967295"/>
          </p:nvPr>
        </p:nvSpPr>
        <p:spPr bwMode="auto">
          <a:xfrm>
            <a:off x="8647113" y="6408738"/>
            <a:ext cx="366712" cy="365125"/>
          </a:xfrm>
          <a:prstGeom prst="rect">
            <a:avLst/>
          </a:prstGeom>
          <a:extLst>
            <a:ext uri="{909E8E84-426E-40DD-AFC4-6F175D3DCCD1}"/>
            <a:ext uri="{91240B29-F687-4F45-9708-019B960494DF}"/>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defRPr/>
            </a:pPr>
            <a:fld id="{9EFE900E-4B9D-4F39-B9AD-C056599B9058}" type="slidenum">
              <a:rPr lang="en-US" smtClean="0">
                <a:solidFill>
                  <a:srgbClr val="B5A788"/>
                </a:solidFill>
              </a:rPr>
              <a:pPr fontAlgn="base">
                <a:spcBef>
                  <a:spcPct val="0"/>
                </a:spcBef>
                <a:spcAft>
                  <a:spcPct val="0"/>
                </a:spcAft>
                <a:defRPr/>
              </a:pPr>
              <a:t>1</a:t>
            </a:fld>
            <a:endParaRPr lang="en-US" smtClean="0">
              <a:solidFill>
                <a:srgbClr val="B5A788"/>
              </a:solidFill>
            </a:endParaRPr>
          </a:p>
        </p:txBody>
      </p:sp>
      <p:pic>
        <p:nvPicPr>
          <p:cNvPr id="74758" name="Picture 6" descr="D:\b1.jpg"/>
          <p:cNvPicPr>
            <a:picLocks noChangeAspect="1" noChangeArrowheads="1"/>
          </p:cNvPicPr>
          <p:nvPr/>
        </p:nvPicPr>
        <p:blipFill>
          <a:blip r:embed="rId3" cstate="print"/>
          <a:srcRect/>
          <a:stretch>
            <a:fillRect/>
          </a:stretch>
        </p:blipFill>
        <p:spPr bwMode="auto">
          <a:xfrm>
            <a:off x="8067675" y="71438"/>
            <a:ext cx="1042988" cy="836612"/>
          </a:xfrm>
          <a:prstGeom prst="rect">
            <a:avLst/>
          </a:prstGeom>
          <a:noFill/>
          <a:ln w="9525">
            <a:noFill/>
            <a:miter lim="800000"/>
            <a:headEnd/>
            <a:tailEnd/>
          </a:ln>
        </p:spPr>
      </p:pic>
      <p:pic>
        <p:nvPicPr>
          <p:cNvPr id="74759" name="Picture 2"/>
          <p:cNvPicPr>
            <a:picLocks noChangeAspect="1" noChangeArrowheads="1"/>
          </p:cNvPicPr>
          <p:nvPr/>
        </p:nvPicPr>
        <p:blipFill>
          <a:blip r:embed="rId4" cstate="print"/>
          <a:srcRect/>
          <a:stretch>
            <a:fillRect/>
          </a:stretch>
        </p:blipFill>
        <p:spPr bwMode="auto">
          <a:xfrm>
            <a:off x="1779588" y="96838"/>
            <a:ext cx="5584825" cy="811212"/>
          </a:xfrm>
          <a:prstGeom prst="rect">
            <a:avLst/>
          </a:prstGeom>
          <a:noFill/>
          <a:ln w="9525">
            <a:noFill/>
            <a:miter lim="800000"/>
            <a:headEnd/>
            <a:tailEnd/>
          </a:ln>
        </p:spPr>
      </p:pic>
      <p:sp>
        <p:nvSpPr>
          <p:cNvPr id="6" name="Rectangle 5"/>
          <p:cNvSpPr/>
          <p:nvPr/>
        </p:nvSpPr>
        <p:spPr>
          <a:xfrm>
            <a:off x="1246188" y="2209800"/>
            <a:ext cx="6696075" cy="114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400" b="1" dirty="0">
                <a:solidFill>
                  <a:srgbClr val="FF0000"/>
                </a:solidFill>
                <a:latin typeface="Times New Roman" pitchFamily="18" charset="0"/>
                <a:cs typeface="Times New Roman" pitchFamily="18" charset="0"/>
              </a:rPr>
              <a:t>SUB.CODE:CY1171</a:t>
            </a:r>
          </a:p>
          <a:p>
            <a:pPr algn="ctr" fontAlgn="auto">
              <a:spcBef>
                <a:spcPts val="0"/>
              </a:spcBef>
              <a:spcAft>
                <a:spcPts val="0"/>
              </a:spcAft>
              <a:defRPr/>
            </a:pPr>
            <a:r>
              <a:rPr lang="en-US" sz="2400" b="1" dirty="0">
                <a:solidFill>
                  <a:srgbClr val="FF0000"/>
                </a:solidFill>
                <a:latin typeface="Times New Roman" pitchFamily="18" charset="0"/>
                <a:cs typeface="Times New Roman" pitchFamily="18" charset="0"/>
              </a:rPr>
              <a:t>SUB .NAME:ENGINEERING CHEMISTRY</a:t>
            </a:r>
            <a:endParaRPr lang="en-US" sz="2400" b="1" dirty="0">
              <a:solidFill>
                <a:srgbClr val="C00000"/>
              </a:solidFill>
              <a:latin typeface="Times New Roman" pitchFamily="18" charset="0"/>
              <a:cs typeface="Times New Roman" pitchFamily="18" charset="0"/>
            </a:endParaRPr>
          </a:p>
          <a:p>
            <a:pPr algn="ctr" fontAlgn="auto">
              <a:spcBef>
                <a:spcPts val="0"/>
              </a:spcBef>
              <a:spcAft>
                <a:spcPts val="0"/>
              </a:spcAft>
              <a:defRPr/>
            </a:pPr>
            <a:r>
              <a:rPr lang="en-US" sz="2800" b="1" dirty="0">
                <a:solidFill>
                  <a:srgbClr val="FF0000"/>
                </a:solidFill>
                <a:latin typeface="Bodoni MT" pitchFamily="18" charset="0"/>
              </a:rPr>
              <a:t>UNIT-I WATER TECHNOLOGY</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52400"/>
            <a:ext cx="8991600" cy="6588968"/>
          </a:xfrm>
        </p:spPr>
        <p:txBody>
          <a:bodyPr>
            <a:normAutofit fontScale="92500" lnSpcReduction="20000"/>
          </a:bodyPr>
          <a:lstStyle/>
          <a:p>
            <a:endParaRPr lang="en-US" dirty="0" smtClean="0">
              <a:solidFill>
                <a:srgbClr val="FF0000"/>
              </a:solidFill>
            </a:endParaRPr>
          </a:p>
          <a:p>
            <a:r>
              <a:rPr lang="en-US" dirty="0" smtClean="0">
                <a:solidFill>
                  <a:srgbClr val="FF0000"/>
                </a:solidFill>
              </a:rPr>
              <a:t>SYLLABUS…….</a:t>
            </a:r>
          </a:p>
          <a:p>
            <a:r>
              <a:rPr lang="en-US" dirty="0" smtClean="0">
                <a:solidFill>
                  <a:srgbClr val="FF0000"/>
                </a:solidFill>
              </a:rPr>
              <a:t>TOTAL UNITS – 5  :    </a:t>
            </a:r>
            <a:r>
              <a:rPr lang="en-US" dirty="0" smtClean="0">
                <a:solidFill>
                  <a:srgbClr val="00B0F0"/>
                </a:solidFill>
              </a:rPr>
              <a:t>TOTAL</a:t>
            </a:r>
            <a:r>
              <a:rPr lang="en-US" dirty="0" smtClean="0">
                <a:solidFill>
                  <a:srgbClr val="FF0000"/>
                </a:solidFill>
              </a:rPr>
              <a:t> </a:t>
            </a:r>
            <a:r>
              <a:rPr lang="en-US" dirty="0" smtClean="0">
                <a:solidFill>
                  <a:srgbClr val="00B0F0"/>
                </a:solidFill>
              </a:rPr>
              <a:t>HOURS-45</a:t>
            </a:r>
          </a:p>
          <a:p>
            <a:endParaRPr lang="en-US" dirty="0" smtClean="0">
              <a:solidFill>
                <a:srgbClr val="00B0F0"/>
              </a:solidFill>
            </a:endParaRPr>
          </a:p>
          <a:p>
            <a:pPr>
              <a:buNone/>
            </a:pPr>
            <a:endParaRPr lang="en-US" dirty="0" smtClean="0">
              <a:solidFill>
                <a:srgbClr val="00B0F0"/>
              </a:solidFill>
            </a:endParaRPr>
          </a:p>
          <a:p>
            <a:pPr>
              <a:buNone/>
            </a:pPr>
            <a:endParaRPr lang="en-US" dirty="0" smtClean="0">
              <a:solidFill>
                <a:srgbClr val="00B0F0"/>
              </a:solidFill>
            </a:endParaRPr>
          </a:p>
          <a:p>
            <a:pPr>
              <a:buNone/>
            </a:pPr>
            <a:endParaRPr lang="en-US" dirty="0" smtClean="0">
              <a:solidFill>
                <a:srgbClr val="00B0F0"/>
              </a:solidFill>
            </a:endParaRPr>
          </a:p>
          <a:p>
            <a:pPr>
              <a:buNone/>
            </a:pPr>
            <a:endParaRPr lang="en-US" dirty="0" smtClean="0">
              <a:solidFill>
                <a:srgbClr val="00B0F0"/>
              </a:solidFill>
            </a:endParaRPr>
          </a:p>
          <a:p>
            <a:pPr>
              <a:buNone/>
            </a:pPr>
            <a:endParaRPr lang="en-US" sz="2400" dirty="0" smtClean="0">
              <a:solidFill>
                <a:srgbClr val="00B0F0"/>
              </a:solidFill>
            </a:endParaRPr>
          </a:p>
          <a:p>
            <a:pPr>
              <a:buNone/>
            </a:pPr>
            <a:endParaRPr lang="en-US" sz="2400" dirty="0" smtClean="0">
              <a:solidFill>
                <a:srgbClr val="00B0F0"/>
              </a:solidFill>
            </a:endParaRPr>
          </a:p>
          <a:p>
            <a:pPr>
              <a:buNone/>
            </a:pPr>
            <a:endParaRPr lang="en-US" sz="2400" dirty="0" smtClean="0">
              <a:solidFill>
                <a:srgbClr val="00B0F0"/>
              </a:solidFill>
            </a:endParaRPr>
          </a:p>
          <a:p>
            <a:pPr>
              <a:buNone/>
            </a:pPr>
            <a:r>
              <a:rPr lang="en-US" sz="2400" dirty="0" smtClean="0">
                <a:solidFill>
                  <a:srgbClr val="00B0F0"/>
                </a:solidFill>
              </a:rPr>
              <a:t>OBJECTIVES…</a:t>
            </a:r>
            <a:r>
              <a:rPr lang="en-US" sz="2400" dirty="0" smtClean="0"/>
              <a:t> </a:t>
            </a:r>
          </a:p>
          <a:p>
            <a:pPr>
              <a:buNone/>
            </a:pPr>
            <a:r>
              <a:rPr lang="en-US" sz="2400" b="1" dirty="0" smtClean="0"/>
              <a:t> </a:t>
            </a:r>
          </a:p>
          <a:p>
            <a:pPr>
              <a:buNone/>
            </a:pPr>
            <a:endParaRPr lang="en-US" sz="2400" dirty="0" smtClean="0"/>
          </a:p>
          <a:p>
            <a:r>
              <a:rPr lang="en-US" sz="2600" dirty="0" smtClean="0">
                <a:solidFill>
                  <a:srgbClr val="FF0000"/>
                </a:solidFill>
                <a:latin typeface="Times New Roman" pitchFamily="18" charset="0"/>
                <a:cs typeface="Times New Roman" pitchFamily="18" charset="0"/>
              </a:rPr>
              <a:t>To enable the students to understand</a:t>
            </a:r>
          </a:p>
          <a:p>
            <a:pPr lvl="0"/>
            <a:r>
              <a:rPr lang="en-US" sz="2600" dirty="0" smtClean="0">
                <a:solidFill>
                  <a:srgbClr val="FF0000"/>
                </a:solidFill>
                <a:latin typeface="Times New Roman" pitchFamily="18" charset="0"/>
                <a:cs typeface="Times New Roman" pitchFamily="18" charset="0"/>
              </a:rPr>
              <a:t>Water quality parameters and water treatment techniques. </a:t>
            </a:r>
          </a:p>
          <a:p>
            <a:pPr lvl="0"/>
            <a:r>
              <a:rPr lang="en-US" sz="2600" dirty="0" smtClean="0">
                <a:solidFill>
                  <a:srgbClr val="FF0000"/>
                </a:solidFill>
                <a:latin typeface="Times New Roman" pitchFamily="18" charset="0"/>
                <a:cs typeface="Times New Roman" pitchFamily="18" charset="0"/>
              </a:rPr>
              <a:t>Principles and applications of electrochemistry, its processes and storage devices. </a:t>
            </a:r>
          </a:p>
          <a:p>
            <a:pPr lvl="0"/>
            <a:r>
              <a:rPr lang="en-US" sz="2600" dirty="0" smtClean="0">
                <a:solidFill>
                  <a:srgbClr val="FF0000"/>
                </a:solidFill>
                <a:latin typeface="Times New Roman" pitchFamily="18" charset="0"/>
                <a:cs typeface="Times New Roman" pitchFamily="18" charset="0"/>
              </a:rPr>
              <a:t>The various energy sources and their applications</a:t>
            </a:r>
          </a:p>
          <a:p>
            <a:pPr lvl="0"/>
            <a:r>
              <a:rPr lang="en-US" sz="2600" dirty="0" smtClean="0">
                <a:solidFill>
                  <a:srgbClr val="FF0000"/>
                </a:solidFill>
                <a:latin typeface="Times New Roman" pitchFamily="18" charset="0"/>
                <a:cs typeface="Times New Roman" pitchFamily="18" charset="0"/>
              </a:rPr>
              <a:t>The basic concepts of polymers, their properties and some of the important applications. </a:t>
            </a:r>
          </a:p>
          <a:p>
            <a:r>
              <a:rPr lang="en-US" sz="2600" dirty="0" smtClean="0">
                <a:solidFill>
                  <a:srgbClr val="FF0000"/>
                </a:solidFill>
                <a:latin typeface="Times New Roman" pitchFamily="18" charset="0"/>
                <a:cs typeface="Times New Roman" pitchFamily="18" charset="0"/>
              </a:rPr>
              <a:t>The basic principles and preparatory methods of engineering materials and </a:t>
            </a:r>
            <a:r>
              <a:rPr lang="en-US" sz="2600" dirty="0" err="1" smtClean="0">
                <a:solidFill>
                  <a:srgbClr val="FF0000"/>
                </a:solidFill>
                <a:latin typeface="Times New Roman" pitchFamily="18" charset="0"/>
                <a:cs typeface="Times New Roman" pitchFamily="18" charset="0"/>
              </a:rPr>
              <a:t>nanomaterials</a:t>
            </a:r>
            <a:r>
              <a:rPr lang="en-US" sz="2600" dirty="0" smtClean="0">
                <a:solidFill>
                  <a:srgbClr val="FF0000"/>
                </a:solidFill>
                <a:latin typeface="Times New Roman" pitchFamily="18" charset="0"/>
                <a:cs typeface="Times New Roman" pitchFamily="18" charset="0"/>
              </a:rPr>
              <a:t>. </a:t>
            </a:r>
          </a:p>
          <a:p>
            <a:pPr>
              <a:buNone/>
            </a:pPr>
            <a:endParaRPr lang="en-US" dirty="0">
              <a:solidFill>
                <a:srgbClr val="00B0F0"/>
              </a:solidFill>
            </a:endParaRPr>
          </a:p>
        </p:txBody>
      </p:sp>
      <p:pic>
        <p:nvPicPr>
          <p:cNvPr id="3074" name="Picture 2" descr="C:\Users\A.R.Sivakumar\Desktop\w5.jpg"/>
          <p:cNvPicPr>
            <a:picLocks noChangeAspect="1" noChangeArrowheads="1"/>
          </p:cNvPicPr>
          <p:nvPr/>
        </p:nvPicPr>
        <p:blipFill>
          <a:blip r:embed="rId2" cstate="print"/>
          <a:srcRect/>
          <a:stretch>
            <a:fillRect/>
          </a:stretch>
        </p:blipFill>
        <p:spPr bwMode="auto">
          <a:xfrm>
            <a:off x="3059832" y="1196752"/>
            <a:ext cx="2655168" cy="2613248"/>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79512" y="188640"/>
            <a:ext cx="8507288" cy="5170646"/>
          </a:xfrm>
        </p:spPr>
        <p:txBody>
          <a:bodyPr/>
          <a:lstStyle/>
          <a:p>
            <a:r>
              <a:rPr lang="en-US" dirty="0" smtClean="0">
                <a:solidFill>
                  <a:srgbClr val="C00000"/>
                </a:solidFill>
              </a:rPr>
              <a:t>SYLLABUS..</a:t>
            </a:r>
          </a:p>
          <a:p>
            <a:r>
              <a:rPr lang="en-US" dirty="0" smtClean="0">
                <a:solidFill>
                  <a:srgbClr val="C00000"/>
                </a:solidFill>
              </a:rPr>
              <a:t>UNIT HEADINGS….</a:t>
            </a:r>
          </a:p>
          <a:p>
            <a:endParaRPr lang="en-US" dirty="0" smtClean="0">
              <a:solidFill>
                <a:srgbClr val="C00000"/>
              </a:solidFill>
            </a:endParaRPr>
          </a:p>
          <a:p>
            <a:endParaRPr lang="en-US" dirty="0" smtClean="0">
              <a:solidFill>
                <a:srgbClr val="C00000"/>
              </a:solidFill>
            </a:endParaRPr>
          </a:p>
          <a:p>
            <a:endParaRPr lang="en-US" dirty="0" smtClean="0">
              <a:solidFill>
                <a:srgbClr val="C00000"/>
              </a:solidFill>
            </a:endParaRPr>
          </a:p>
          <a:p>
            <a:r>
              <a:rPr lang="en-US" b="1" dirty="0" smtClean="0"/>
              <a:t>UNIT I 	WATER AND ITS TREATMENT</a:t>
            </a:r>
          </a:p>
          <a:p>
            <a:endParaRPr lang="en-US" b="1" dirty="0" smtClean="0"/>
          </a:p>
          <a:p>
            <a:r>
              <a:rPr lang="en-US" b="1" dirty="0" smtClean="0"/>
              <a:t>UNIT II 	ELECTROCHEMISTRY</a:t>
            </a:r>
          </a:p>
          <a:p>
            <a:endParaRPr lang="en-US" b="1" dirty="0" smtClean="0"/>
          </a:p>
          <a:p>
            <a:r>
              <a:rPr lang="en-US" b="1" dirty="0" smtClean="0"/>
              <a:t>UNIT III	ENERGY SOURCES</a:t>
            </a:r>
          </a:p>
          <a:p>
            <a:endParaRPr lang="en-US" b="1" dirty="0" smtClean="0"/>
          </a:p>
          <a:p>
            <a:r>
              <a:rPr lang="en-US" b="1" dirty="0" smtClean="0"/>
              <a:t>UNIT IV 	POLYMERS</a:t>
            </a:r>
          </a:p>
          <a:p>
            <a:endParaRPr lang="en-US" b="1" dirty="0" smtClean="0"/>
          </a:p>
          <a:p>
            <a:r>
              <a:rPr lang="en-US" b="1" dirty="0" smtClean="0"/>
              <a:t>UNIT V	ENGINEERING MATERIALS</a:t>
            </a:r>
            <a:endParaRPr lang="en-US" dirty="0" smtClean="0">
              <a:solidFill>
                <a:srgbClr val="C0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0"/>
            <a:ext cx="8991600" cy="6858000"/>
          </a:xfrm>
        </p:spPr>
        <p:txBody>
          <a:bodyPr>
            <a:normAutofit/>
          </a:bodyPr>
          <a:lstStyle/>
          <a:p>
            <a:r>
              <a:rPr lang="en-US" sz="2400" b="1" dirty="0" smtClean="0">
                <a:solidFill>
                  <a:srgbClr val="FF0000"/>
                </a:solidFill>
                <a:latin typeface="Times New Roman" pitchFamily="18" charset="0"/>
                <a:cs typeface="Times New Roman" pitchFamily="18" charset="0"/>
              </a:rPr>
              <a:t>UNIT-1:</a:t>
            </a:r>
            <a:r>
              <a:rPr lang="en-US" sz="2400" b="1" dirty="0" smtClean="0">
                <a:solidFill>
                  <a:srgbClr val="FF0000"/>
                </a:solidFill>
              </a:rPr>
              <a:t> WATER AND ITS TREATMENT			9</a:t>
            </a:r>
          </a:p>
          <a:p>
            <a:pPr>
              <a:buNone/>
            </a:pPr>
            <a:endParaRPr lang="en-US" sz="2400" dirty="0" smtClean="0">
              <a:latin typeface="Times New Roman" pitchFamily="18" charset="0"/>
              <a:cs typeface="Times New Roman" pitchFamily="18" charset="0"/>
            </a:endParaRPr>
          </a:p>
          <a:p>
            <a:pPr>
              <a:lnSpc>
                <a:spcPct val="150000"/>
              </a:lnSpc>
            </a:pPr>
            <a:r>
              <a:rPr lang="en-US" sz="2400" dirty="0" smtClean="0">
                <a:latin typeface="Times New Roman" pitchFamily="18" charset="0"/>
                <a:cs typeface="Times New Roman" pitchFamily="18" charset="0"/>
              </a:rPr>
              <a:t>Water – sources and impurities – water quality parameters: </a:t>
            </a:r>
            <a:r>
              <a:rPr lang="en-US" sz="2400" dirty="0" err="1" smtClean="0">
                <a:latin typeface="Times New Roman" pitchFamily="18" charset="0"/>
                <a:cs typeface="Times New Roman" pitchFamily="18" charset="0"/>
              </a:rPr>
              <a:t>colour</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odour</a:t>
            </a:r>
            <a:r>
              <a:rPr lang="en-US" sz="2400" dirty="0" smtClean="0">
                <a:latin typeface="Times New Roman" pitchFamily="18" charset="0"/>
                <a:cs typeface="Times New Roman" pitchFamily="18" charset="0"/>
              </a:rPr>
              <a:t>, pH, hardness, alkalinity, TDS, COD and BOD. Boiler feed water – requirement – troubles (scale &amp; sludge, caustic </a:t>
            </a:r>
            <a:r>
              <a:rPr lang="en-US" sz="2400" dirty="0" err="1" smtClean="0">
                <a:latin typeface="Times New Roman" pitchFamily="18" charset="0"/>
                <a:cs typeface="Times New Roman" pitchFamily="18" charset="0"/>
              </a:rPr>
              <a:t>embrittlement</a:t>
            </a:r>
            <a:r>
              <a:rPr lang="en-US" sz="2400" dirty="0" smtClean="0">
                <a:latin typeface="Times New Roman" pitchFamily="18" charset="0"/>
                <a:cs typeface="Times New Roman" pitchFamily="18" charset="0"/>
              </a:rPr>
              <a:t>, boiler corrosion and priming &amp; foaming). Internal conditioning – phosphate, </a:t>
            </a:r>
            <a:r>
              <a:rPr lang="en-US" sz="2400" dirty="0" err="1" smtClean="0">
                <a:latin typeface="Times New Roman" pitchFamily="18" charset="0"/>
                <a:cs typeface="Times New Roman" pitchFamily="18" charset="0"/>
              </a:rPr>
              <a:t>calgon</a:t>
            </a:r>
            <a:r>
              <a:rPr lang="en-US" sz="2400" dirty="0" smtClean="0">
                <a:latin typeface="Times New Roman" pitchFamily="18" charset="0"/>
                <a:cs typeface="Times New Roman" pitchFamily="18" charset="0"/>
              </a:rPr>
              <a:t> and carbonate treatment. External conditioning - </a:t>
            </a:r>
            <a:r>
              <a:rPr lang="en-US" sz="2400" dirty="0" err="1" smtClean="0">
                <a:latin typeface="Times New Roman" pitchFamily="18" charset="0"/>
                <a:cs typeface="Times New Roman" pitchFamily="18" charset="0"/>
              </a:rPr>
              <a:t>zeolite</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permutit</a:t>
            </a:r>
            <a:r>
              <a:rPr lang="en-US" sz="2400" dirty="0" smtClean="0">
                <a:latin typeface="Times New Roman" pitchFamily="18" charset="0"/>
                <a:cs typeface="Times New Roman" pitchFamily="18" charset="0"/>
              </a:rPr>
              <a:t>) and ion exchange demineralization. Municipal water treatment process – primary (screening, sedimentation and coagulation), secondary (activated sludge process and trickling filter process) and tertiary (</a:t>
            </a:r>
            <a:r>
              <a:rPr lang="en-US" sz="2400" dirty="0" err="1" smtClean="0">
                <a:latin typeface="Times New Roman" pitchFamily="18" charset="0"/>
                <a:cs typeface="Times New Roman" pitchFamily="18" charset="0"/>
              </a:rPr>
              <a:t>ozonolysis</a:t>
            </a:r>
            <a:r>
              <a:rPr lang="en-US" sz="2400" dirty="0" smtClean="0">
                <a:latin typeface="Times New Roman" pitchFamily="18" charset="0"/>
                <a:cs typeface="Times New Roman" pitchFamily="18" charset="0"/>
              </a:rPr>
              <a:t>, UV treatment, chlorination, reverse osmosis).</a:t>
            </a:r>
          </a:p>
          <a:p>
            <a:pPr>
              <a:lnSpc>
                <a:spcPct val="150000"/>
              </a:lnSpc>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0"/>
            <a:ext cx="8991600" cy="6669360"/>
          </a:xfrm>
        </p:spPr>
        <p:txBody>
          <a:bodyPr>
            <a:normAutofit/>
          </a:bodyPr>
          <a:lstStyle/>
          <a:p>
            <a:r>
              <a:rPr lang="en-US" sz="2400" b="1" dirty="0" smtClean="0">
                <a:solidFill>
                  <a:srgbClr val="FF0000"/>
                </a:solidFill>
              </a:rPr>
              <a:t>UNIT II 	ELECTROCHEMISTRY				9</a:t>
            </a:r>
          </a:p>
          <a:p>
            <a:endParaRPr lang="en-US" sz="2400" b="1" dirty="0" smtClean="0"/>
          </a:p>
          <a:p>
            <a:pPr>
              <a:buNone/>
            </a:pPr>
            <a:endParaRPr lang="en-US" sz="2400" dirty="0" smtClean="0"/>
          </a:p>
          <a:p>
            <a:pPr>
              <a:lnSpc>
                <a:spcPct val="150000"/>
              </a:lnSpc>
            </a:pPr>
            <a:r>
              <a:rPr lang="en-US" sz="2400" dirty="0" smtClean="0">
                <a:latin typeface="Times New Roman" pitchFamily="18" charset="0"/>
                <a:cs typeface="Times New Roman" pitchFamily="18" charset="0"/>
              </a:rPr>
              <a:t>Introduction –Electrochemical cells – Reversible and irreversible cells – Concentration Cells  - EMF - Measurement of EMF -  Electrode potential – Single Electrode Potential – Nernst Equation (Problems) – Reference electrodes – Calomel electrode – Glass electrode – EMF Series – Significance – Applications of EMF measurements: </a:t>
            </a:r>
            <a:r>
              <a:rPr lang="en-US" sz="2400" dirty="0" err="1" smtClean="0">
                <a:latin typeface="Times New Roman" pitchFamily="18" charset="0"/>
                <a:cs typeface="Times New Roman" pitchFamily="18" charset="0"/>
              </a:rPr>
              <a:t>Potentiometric</a:t>
            </a:r>
            <a:r>
              <a:rPr lang="en-US" sz="2400" dirty="0" smtClean="0">
                <a:latin typeface="Times New Roman" pitchFamily="18" charset="0"/>
                <a:cs typeface="Times New Roman" pitchFamily="18" charset="0"/>
              </a:rPr>
              <a:t> Titrations. Storage Devices: Batteries and Super capacitors - Types of batteries - alkaline, lead-acid, nickel-cadmium and lithium batteries - construction, working and commercial applications. Fuel Cells – H</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-O</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fuel cell – Microbial Fuel Cells.</a:t>
            </a:r>
          </a:p>
          <a:p>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0"/>
            <a:ext cx="8839200" cy="6597352"/>
          </a:xfrm>
        </p:spPr>
        <p:txBody>
          <a:bodyPr>
            <a:normAutofit/>
          </a:bodyPr>
          <a:lstStyle/>
          <a:p>
            <a:r>
              <a:rPr lang="en-US" sz="2400" b="1" dirty="0" smtClean="0">
                <a:solidFill>
                  <a:srgbClr val="FF0000"/>
                </a:solidFill>
                <a:latin typeface="Times New Roman" pitchFamily="18" charset="0"/>
                <a:cs typeface="Times New Roman" pitchFamily="18" charset="0"/>
              </a:rPr>
              <a:t>UNIT III	ENERGY SOURCES		                      9</a:t>
            </a:r>
          </a:p>
          <a:p>
            <a:endParaRPr lang="en-US" sz="2400" b="1"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lnSpc>
                <a:spcPct val="150000"/>
              </a:lnSpc>
            </a:pPr>
            <a:r>
              <a:rPr lang="en-US" sz="2400" dirty="0" smtClean="0">
                <a:latin typeface="Times New Roman" pitchFamily="18" charset="0"/>
                <a:cs typeface="Times New Roman" pitchFamily="18" charset="0"/>
              </a:rPr>
              <a:t>Conventional and Non Conventional Energy Sources – Conventional: Fossil Fuels - classification of fuels - coal - analysis of coal (proximate and ultimate) - carbonization - manufacture of metallurgical coke (Otto Hoffmann method) - petroleum - manufacture of synthetic petrol (Bergius process) - natural gas - compressed natural gas (CNG) - liquefied petroleum gases (LPG).  Non Conventional: Solar energy – Solar Energy Conversion – Solar Cells, Wind Energy, Nuclear Energy – Nuclear fission and fusion – Nuclear chain reactions -  Nuclear reactor – Nuclear Power Plant – Breeder Reactor.  </a:t>
            </a:r>
          </a:p>
          <a:p>
            <a:endParaRPr lang="en-US" sz="24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0"/>
            <a:ext cx="8839200" cy="6858000"/>
          </a:xfrm>
        </p:spPr>
        <p:txBody>
          <a:bodyPr>
            <a:normAutofit/>
          </a:bodyPr>
          <a:lstStyle/>
          <a:p>
            <a:r>
              <a:rPr lang="en-US" sz="2400" b="1" dirty="0" smtClean="0">
                <a:solidFill>
                  <a:srgbClr val="FF0000"/>
                </a:solidFill>
                <a:latin typeface="Times New Roman" pitchFamily="18" charset="0"/>
                <a:cs typeface="Times New Roman" pitchFamily="18" charset="0"/>
              </a:rPr>
              <a:t>UNIT IV 	POLYMERS	  				        9</a:t>
            </a:r>
          </a:p>
          <a:p>
            <a:endParaRPr lang="en-US" sz="2400" b="1" dirty="0" smtClean="0">
              <a:solidFill>
                <a:srgbClr val="FF0000"/>
              </a:solidFill>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pPr>
              <a:lnSpc>
                <a:spcPct val="150000"/>
              </a:lnSpc>
            </a:pPr>
            <a:r>
              <a:rPr lang="en-US" sz="2400" dirty="0" smtClean="0">
                <a:latin typeface="Times New Roman" pitchFamily="18" charset="0"/>
                <a:cs typeface="Times New Roman" pitchFamily="18" charset="0"/>
              </a:rPr>
              <a:t>Introduction: Functionality - degree of polymerization- Classification of polymers- natural and synthetic, thermoplastic and thermosetting. Types and mechanism of polymerization: addition (free radical, cationic, anionic and coordination); condensation and copolymerization. Properties of polymers: </a:t>
            </a:r>
            <a:r>
              <a:rPr lang="en-US" sz="2400" dirty="0" err="1" smtClean="0">
                <a:latin typeface="Times New Roman" pitchFamily="18" charset="0"/>
                <a:cs typeface="Times New Roman" pitchFamily="18" charset="0"/>
              </a:rPr>
              <a:t>Tg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tacticity</a:t>
            </a:r>
            <a:r>
              <a:rPr lang="en-US" sz="2400" dirty="0" smtClean="0">
                <a:latin typeface="Times New Roman" pitchFamily="18" charset="0"/>
                <a:cs typeface="Times New Roman" pitchFamily="18" charset="0"/>
              </a:rPr>
              <a:t>, molecular weight-weight average, number average and </a:t>
            </a:r>
            <a:r>
              <a:rPr lang="en-US" sz="2400" dirty="0" err="1" smtClean="0">
                <a:latin typeface="Times New Roman" pitchFamily="18" charset="0"/>
                <a:cs typeface="Times New Roman" pitchFamily="18" charset="0"/>
              </a:rPr>
              <a:t>polydispersity</a:t>
            </a:r>
            <a:r>
              <a:rPr lang="en-US" sz="2400" dirty="0" smtClean="0">
                <a:latin typeface="Times New Roman" pitchFamily="18" charset="0"/>
                <a:cs typeface="Times New Roman" pitchFamily="18" charset="0"/>
              </a:rPr>
              <a:t> index. Techniques of polymerization: Bulk, emulsion, solution and suspension. Synthesis, Properties and uses of: PE, PVC, Nylon 66, Bakelite, Epoxy resins.</a:t>
            </a:r>
          </a:p>
          <a:p>
            <a:pPr>
              <a:lnSpc>
                <a:spcPct val="150000"/>
              </a:lnSpc>
            </a:pPr>
            <a:r>
              <a:rPr lang="en-US" sz="2400" dirty="0" smtClean="0">
                <a:latin typeface="Times New Roman" pitchFamily="18" charset="0"/>
                <a:cs typeface="Times New Roman" pitchFamily="18" charset="0"/>
              </a:rPr>
              <a:t> </a:t>
            </a:r>
          </a:p>
          <a:p>
            <a:endParaRPr lang="en-US" sz="24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0"/>
            <a:ext cx="9144000" cy="6278642"/>
          </a:xfrm>
        </p:spPr>
        <p:txBody>
          <a:bodyPr/>
          <a:lstStyle/>
          <a:p>
            <a:r>
              <a:rPr lang="en-US" sz="2400" b="1" dirty="0" smtClean="0">
                <a:solidFill>
                  <a:srgbClr val="FF0000"/>
                </a:solidFill>
                <a:latin typeface="Times New Roman" pitchFamily="18" charset="0"/>
                <a:cs typeface="Times New Roman" pitchFamily="18" charset="0"/>
              </a:rPr>
              <a:t>UNIT V	ENGINEERING MATERIALS	            	9</a:t>
            </a:r>
          </a:p>
          <a:p>
            <a:endParaRPr lang="en-US" sz="2400" b="1"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lnSpc>
                <a:spcPct val="150000"/>
              </a:lnSpc>
            </a:pPr>
            <a:r>
              <a:rPr lang="en-US" sz="2400" dirty="0" smtClean="0">
                <a:latin typeface="Times New Roman" pitchFamily="18" charset="0"/>
                <a:cs typeface="Times New Roman" pitchFamily="18" charset="0"/>
              </a:rPr>
              <a:t>Introduction - Portland cement- manufacture and properties - setting and hardening of cement, special cement- waterproof and white cement–properties and uses - Glass - manufacture, types, properties and uses. </a:t>
            </a:r>
          </a:p>
          <a:p>
            <a:pPr>
              <a:lnSpc>
                <a:spcPct val="150000"/>
              </a:lnSpc>
            </a:pPr>
            <a:r>
              <a:rPr lang="en-US" sz="2400" dirty="0" err="1" smtClean="0">
                <a:latin typeface="Times New Roman" pitchFamily="18" charset="0"/>
                <a:cs typeface="Times New Roman" pitchFamily="18" charset="0"/>
              </a:rPr>
              <a:t>Nanomaterials</a:t>
            </a:r>
            <a:r>
              <a:rPr lang="en-US" sz="2400" dirty="0" smtClean="0">
                <a:latin typeface="Times New Roman" pitchFamily="18" charset="0"/>
                <a:cs typeface="Times New Roman" pitchFamily="18" charset="0"/>
              </a:rPr>
              <a:t> - Basics-distinction between molecules, </a:t>
            </a:r>
            <a:r>
              <a:rPr lang="en-US" sz="2400" dirty="0" err="1" smtClean="0">
                <a:latin typeface="Times New Roman" pitchFamily="18" charset="0"/>
                <a:cs typeface="Times New Roman" pitchFamily="18" charset="0"/>
              </a:rPr>
              <a:t>nanomaterials</a:t>
            </a:r>
            <a:r>
              <a:rPr lang="en-US" sz="2400" dirty="0" smtClean="0">
                <a:latin typeface="Times New Roman" pitchFamily="18" charset="0"/>
                <a:cs typeface="Times New Roman" pitchFamily="18" charset="0"/>
              </a:rPr>
              <a:t> and bulk materials; size-dependent properties – Synthesis of </a:t>
            </a:r>
            <a:r>
              <a:rPr lang="en-US" sz="2400" dirty="0" err="1" smtClean="0">
                <a:latin typeface="Times New Roman" pitchFamily="18" charset="0"/>
                <a:cs typeface="Times New Roman" pitchFamily="18" charset="0"/>
              </a:rPr>
              <a:t>nanomaterials</a:t>
            </a:r>
            <a:r>
              <a:rPr lang="en-US" sz="2400" dirty="0" smtClean="0">
                <a:latin typeface="Times New Roman" pitchFamily="18" charset="0"/>
                <a:cs typeface="Times New Roman" pitchFamily="18" charset="0"/>
              </a:rPr>
              <a:t>: sol-gel, </a:t>
            </a:r>
            <a:r>
              <a:rPr lang="en-US" sz="2400" dirty="0" err="1" smtClean="0">
                <a:latin typeface="Times New Roman" pitchFamily="18" charset="0"/>
                <a:cs typeface="Times New Roman" pitchFamily="18" charset="0"/>
              </a:rPr>
              <a:t>solvothermal</a:t>
            </a:r>
            <a:r>
              <a:rPr lang="en-US" sz="2400" dirty="0" smtClean="0">
                <a:latin typeface="Times New Roman" pitchFamily="18" charset="0"/>
                <a:cs typeface="Times New Roman" pitchFamily="18" charset="0"/>
              </a:rPr>
              <a:t>, laser ablation, chemical </a:t>
            </a:r>
            <a:r>
              <a:rPr lang="en-US" sz="2400" dirty="0" err="1" smtClean="0">
                <a:latin typeface="Times New Roman" pitchFamily="18" charset="0"/>
                <a:cs typeface="Times New Roman" pitchFamily="18" charset="0"/>
              </a:rPr>
              <a:t>vapour</a:t>
            </a:r>
            <a:r>
              <a:rPr lang="en-US" sz="2400" dirty="0" smtClean="0">
                <a:latin typeface="Times New Roman" pitchFamily="18" charset="0"/>
                <a:cs typeface="Times New Roman" pitchFamily="18" charset="0"/>
              </a:rPr>
              <a:t> deposition, Precipitation &amp; electrochemical deposition – General Applications.</a:t>
            </a:r>
          </a:p>
          <a:p>
            <a:pPr>
              <a:lnSpc>
                <a:spcPct val="150000"/>
              </a:lnSpc>
            </a:pPr>
            <a:r>
              <a:rPr lang="en-US" dirty="0" smtClean="0"/>
              <a:t>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81000" y="0"/>
            <a:ext cx="443865" cy="6858000"/>
          </a:xfrm>
          <a:custGeom>
            <a:avLst/>
            <a:gdLst/>
            <a:ahLst/>
            <a:cxnLst/>
            <a:rect l="l" t="t" r="r" b="b"/>
            <a:pathLst>
              <a:path w="443865" h="6858000">
                <a:moveTo>
                  <a:pt x="0" y="6858000"/>
                </a:moveTo>
                <a:lnTo>
                  <a:pt x="443484" y="6858000"/>
                </a:lnTo>
                <a:lnTo>
                  <a:pt x="443484" y="0"/>
                </a:lnTo>
                <a:lnTo>
                  <a:pt x="0" y="0"/>
                </a:lnTo>
                <a:lnTo>
                  <a:pt x="0" y="6858000"/>
                </a:lnTo>
                <a:close/>
              </a:path>
            </a:pathLst>
          </a:custGeom>
          <a:solidFill>
            <a:srgbClr val="AABADF">
              <a:alpha val="54116"/>
            </a:srgbClr>
          </a:solidFill>
        </p:spPr>
        <p:txBody>
          <a:bodyPr wrap="square" lIns="0" tIns="0" rIns="0" bIns="0" rtlCol="0"/>
          <a:lstStyle/>
          <a:p>
            <a:endParaRPr/>
          </a:p>
        </p:txBody>
      </p:sp>
      <p:sp>
        <p:nvSpPr>
          <p:cNvPr id="3" name="object 3"/>
          <p:cNvSpPr/>
          <p:nvPr/>
        </p:nvSpPr>
        <p:spPr>
          <a:xfrm>
            <a:off x="882396" y="0"/>
            <a:ext cx="3175" cy="6858000"/>
          </a:xfrm>
          <a:custGeom>
            <a:avLst/>
            <a:gdLst/>
            <a:ahLst/>
            <a:cxnLst/>
            <a:rect l="l" t="t" r="r" b="b"/>
            <a:pathLst>
              <a:path w="3175" h="6858000">
                <a:moveTo>
                  <a:pt x="0" y="6858000"/>
                </a:moveTo>
                <a:lnTo>
                  <a:pt x="3047" y="6858000"/>
                </a:lnTo>
                <a:lnTo>
                  <a:pt x="3047" y="0"/>
                </a:lnTo>
                <a:lnTo>
                  <a:pt x="0" y="0"/>
                </a:lnTo>
                <a:lnTo>
                  <a:pt x="0" y="6858000"/>
                </a:lnTo>
                <a:close/>
              </a:path>
            </a:pathLst>
          </a:custGeom>
          <a:solidFill>
            <a:srgbClr val="AABADF">
              <a:alpha val="54116"/>
            </a:srgbClr>
          </a:solidFill>
        </p:spPr>
        <p:txBody>
          <a:bodyPr wrap="square" lIns="0" tIns="0" rIns="0" bIns="0" rtlCol="0"/>
          <a:lstStyle/>
          <a:p>
            <a:endParaRPr/>
          </a:p>
        </p:txBody>
      </p:sp>
      <p:sp>
        <p:nvSpPr>
          <p:cNvPr id="4" name="object 4"/>
          <p:cNvSpPr/>
          <p:nvPr/>
        </p:nvSpPr>
        <p:spPr>
          <a:xfrm>
            <a:off x="943355" y="0"/>
            <a:ext cx="47625" cy="6858000"/>
          </a:xfrm>
          <a:custGeom>
            <a:avLst/>
            <a:gdLst/>
            <a:ahLst/>
            <a:cxnLst/>
            <a:rect l="l" t="t" r="r" b="b"/>
            <a:pathLst>
              <a:path w="47625" h="6858000">
                <a:moveTo>
                  <a:pt x="0" y="6858000"/>
                </a:moveTo>
                <a:lnTo>
                  <a:pt x="47243" y="6858000"/>
                </a:lnTo>
                <a:lnTo>
                  <a:pt x="47243" y="0"/>
                </a:lnTo>
                <a:lnTo>
                  <a:pt x="0" y="0"/>
                </a:lnTo>
                <a:lnTo>
                  <a:pt x="0" y="6858000"/>
                </a:lnTo>
                <a:close/>
              </a:path>
            </a:pathLst>
          </a:custGeom>
          <a:solidFill>
            <a:srgbClr val="AABADF">
              <a:alpha val="54116"/>
            </a:srgbClr>
          </a:solidFill>
        </p:spPr>
        <p:txBody>
          <a:bodyPr wrap="square" lIns="0" tIns="0" rIns="0" bIns="0" rtlCol="0"/>
          <a:lstStyle/>
          <a:p>
            <a:endParaRPr/>
          </a:p>
        </p:txBody>
      </p:sp>
      <p:sp>
        <p:nvSpPr>
          <p:cNvPr id="5" name="object 5"/>
          <p:cNvSpPr/>
          <p:nvPr/>
        </p:nvSpPr>
        <p:spPr>
          <a:xfrm>
            <a:off x="275843" y="0"/>
            <a:ext cx="105410" cy="6858000"/>
          </a:xfrm>
          <a:custGeom>
            <a:avLst/>
            <a:gdLst/>
            <a:ahLst/>
            <a:cxnLst/>
            <a:rect l="l" t="t" r="r" b="b"/>
            <a:pathLst>
              <a:path w="105410" h="6858000">
                <a:moveTo>
                  <a:pt x="105156" y="0"/>
                </a:moveTo>
                <a:lnTo>
                  <a:pt x="0" y="0"/>
                </a:lnTo>
                <a:lnTo>
                  <a:pt x="0" y="6858000"/>
                </a:lnTo>
                <a:lnTo>
                  <a:pt x="105156" y="6858000"/>
                </a:lnTo>
                <a:lnTo>
                  <a:pt x="105156" y="0"/>
                </a:lnTo>
                <a:close/>
              </a:path>
            </a:pathLst>
          </a:custGeom>
          <a:solidFill>
            <a:srgbClr val="CCD4EA">
              <a:alpha val="36077"/>
            </a:srgbClr>
          </a:solidFill>
        </p:spPr>
        <p:txBody>
          <a:bodyPr wrap="square" lIns="0" tIns="0" rIns="0" bIns="0" rtlCol="0"/>
          <a:lstStyle/>
          <a:p>
            <a:endParaRPr/>
          </a:p>
        </p:txBody>
      </p:sp>
      <p:grpSp>
        <p:nvGrpSpPr>
          <p:cNvPr id="6" name="object 6"/>
          <p:cNvGrpSpPr/>
          <p:nvPr/>
        </p:nvGrpSpPr>
        <p:grpSpPr>
          <a:xfrm>
            <a:off x="990600" y="0"/>
            <a:ext cx="228600" cy="6858000"/>
            <a:chOff x="990600" y="0"/>
            <a:chExt cx="228600" cy="6858000"/>
          </a:xfrm>
        </p:grpSpPr>
        <p:sp>
          <p:nvSpPr>
            <p:cNvPr id="7" name="object 7"/>
            <p:cNvSpPr/>
            <p:nvPr/>
          </p:nvSpPr>
          <p:spPr>
            <a:xfrm>
              <a:off x="990600" y="0"/>
              <a:ext cx="151130" cy="6858000"/>
            </a:xfrm>
            <a:custGeom>
              <a:avLst/>
              <a:gdLst/>
              <a:ahLst/>
              <a:cxnLst/>
              <a:rect l="l" t="t" r="r" b="b"/>
              <a:pathLst>
                <a:path w="151130" h="6858000">
                  <a:moveTo>
                    <a:pt x="0" y="6858000"/>
                  </a:moveTo>
                  <a:lnTo>
                    <a:pt x="150875" y="6858000"/>
                  </a:lnTo>
                  <a:lnTo>
                    <a:pt x="150875" y="0"/>
                  </a:lnTo>
                  <a:lnTo>
                    <a:pt x="0" y="0"/>
                  </a:lnTo>
                  <a:lnTo>
                    <a:pt x="0" y="6858000"/>
                  </a:lnTo>
                  <a:close/>
                </a:path>
              </a:pathLst>
            </a:custGeom>
            <a:solidFill>
              <a:srgbClr val="CCD4EA">
                <a:alpha val="70195"/>
              </a:srgbClr>
            </a:solidFill>
          </p:spPr>
          <p:txBody>
            <a:bodyPr wrap="square" lIns="0" tIns="0" rIns="0" bIns="0" rtlCol="0"/>
            <a:lstStyle/>
            <a:p>
              <a:endParaRPr/>
            </a:p>
          </p:txBody>
        </p:sp>
        <p:sp>
          <p:nvSpPr>
            <p:cNvPr id="8" name="object 8"/>
            <p:cNvSpPr/>
            <p:nvPr/>
          </p:nvSpPr>
          <p:spPr>
            <a:xfrm>
              <a:off x="1141476" y="0"/>
              <a:ext cx="78105" cy="6858000"/>
            </a:xfrm>
            <a:custGeom>
              <a:avLst/>
              <a:gdLst/>
              <a:ahLst/>
              <a:cxnLst/>
              <a:rect l="l" t="t" r="r" b="b"/>
              <a:pathLst>
                <a:path w="78105" h="6858000">
                  <a:moveTo>
                    <a:pt x="0" y="6858000"/>
                  </a:moveTo>
                  <a:lnTo>
                    <a:pt x="77724" y="6858000"/>
                  </a:lnTo>
                  <a:lnTo>
                    <a:pt x="77724" y="0"/>
                  </a:lnTo>
                  <a:lnTo>
                    <a:pt x="0" y="0"/>
                  </a:lnTo>
                  <a:lnTo>
                    <a:pt x="0" y="6858000"/>
                  </a:lnTo>
                  <a:close/>
                </a:path>
              </a:pathLst>
            </a:custGeom>
            <a:solidFill>
              <a:srgbClr val="E7EBF5">
                <a:alpha val="70979"/>
              </a:srgbClr>
            </a:solidFill>
          </p:spPr>
          <p:txBody>
            <a:bodyPr wrap="square" lIns="0" tIns="0" rIns="0" bIns="0" rtlCol="0"/>
            <a:lstStyle/>
            <a:p>
              <a:endParaRPr/>
            </a:p>
          </p:txBody>
        </p:sp>
      </p:grpSp>
      <p:sp>
        <p:nvSpPr>
          <p:cNvPr id="9" name="object 9"/>
          <p:cNvSpPr/>
          <p:nvPr/>
        </p:nvSpPr>
        <p:spPr>
          <a:xfrm>
            <a:off x="1295400" y="0"/>
            <a:ext cx="76200" cy="6858000"/>
          </a:xfrm>
          <a:custGeom>
            <a:avLst/>
            <a:gdLst/>
            <a:ahLst/>
            <a:cxnLst/>
            <a:rect l="l" t="t" r="r" b="b"/>
            <a:pathLst>
              <a:path w="76200" h="6858000">
                <a:moveTo>
                  <a:pt x="0" y="6858000"/>
                </a:moveTo>
                <a:lnTo>
                  <a:pt x="76200" y="6858000"/>
                </a:lnTo>
                <a:lnTo>
                  <a:pt x="76200" y="0"/>
                </a:lnTo>
                <a:lnTo>
                  <a:pt x="0" y="0"/>
                </a:lnTo>
                <a:lnTo>
                  <a:pt x="0" y="6858000"/>
                </a:lnTo>
                <a:close/>
              </a:path>
            </a:pathLst>
          </a:custGeom>
          <a:solidFill>
            <a:srgbClr val="E7EBF5">
              <a:alpha val="70979"/>
            </a:srgbClr>
          </a:solidFill>
        </p:spPr>
        <p:txBody>
          <a:bodyPr wrap="square" lIns="0" tIns="0" rIns="0" bIns="0" rtlCol="0"/>
          <a:lstStyle/>
          <a:p>
            <a:endParaRPr/>
          </a:p>
        </p:txBody>
      </p:sp>
      <p:sp>
        <p:nvSpPr>
          <p:cNvPr id="10" name="object 10"/>
          <p:cNvSpPr/>
          <p:nvPr/>
        </p:nvSpPr>
        <p:spPr>
          <a:xfrm>
            <a:off x="106679" y="0"/>
            <a:ext cx="0" cy="6858000"/>
          </a:xfrm>
          <a:custGeom>
            <a:avLst/>
            <a:gdLst/>
            <a:ahLst/>
            <a:cxnLst/>
            <a:rect l="l" t="t" r="r" b="b"/>
            <a:pathLst>
              <a:path h="6858000">
                <a:moveTo>
                  <a:pt x="0" y="0"/>
                </a:moveTo>
                <a:lnTo>
                  <a:pt x="1" y="6857999"/>
                </a:lnTo>
              </a:path>
            </a:pathLst>
          </a:custGeom>
          <a:ln w="57912">
            <a:solidFill>
              <a:srgbClr val="AABADF"/>
            </a:solidFill>
          </a:ln>
        </p:spPr>
        <p:txBody>
          <a:bodyPr wrap="square" lIns="0" tIns="0" rIns="0" bIns="0" rtlCol="0"/>
          <a:lstStyle/>
          <a:p>
            <a:endParaRPr/>
          </a:p>
        </p:txBody>
      </p:sp>
      <p:grpSp>
        <p:nvGrpSpPr>
          <p:cNvPr id="11" name="object 11"/>
          <p:cNvGrpSpPr/>
          <p:nvPr/>
        </p:nvGrpSpPr>
        <p:grpSpPr>
          <a:xfrm>
            <a:off x="824483" y="0"/>
            <a:ext cx="119380" cy="6858000"/>
            <a:chOff x="824483" y="0"/>
            <a:chExt cx="119380" cy="6858000"/>
          </a:xfrm>
        </p:grpSpPr>
        <p:sp>
          <p:nvSpPr>
            <p:cNvPr id="12" name="object 12"/>
            <p:cNvSpPr/>
            <p:nvPr/>
          </p:nvSpPr>
          <p:spPr>
            <a:xfrm>
              <a:off x="885443" y="0"/>
              <a:ext cx="58419" cy="6858000"/>
            </a:xfrm>
            <a:custGeom>
              <a:avLst/>
              <a:gdLst/>
              <a:ahLst/>
              <a:cxnLst/>
              <a:rect l="l" t="t" r="r" b="b"/>
              <a:pathLst>
                <a:path w="58419" h="6858000">
                  <a:moveTo>
                    <a:pt x="0" y="6857999"/>
                  </a:moveTo>
                  <a:lnTo>
                    <a:pt x="57912" y="6857999"/>
                  </a:lnTo>
                  <a:lnTo>
                    <a:pt x="57912" y="0"/>
                  </a:lnTo>
                  <a:lnTo>
                    <a:pt x="0" y="0"/>
                  </a:lnTo>
                  <a:lnTo>
                    <a:pt x="0" y="6857999"/>
                  </a:lnTo>
                  <a:close/>
                </a:path>
              </a:pathLst>
            </a:custGeom>
            <a:solidFill>
              <a:srgbClr val="E7EBF5"/>
            </a:solidFill>
          </p:spPr>
          <p:txBody>
            <a:bodyPr wrap="square" lIns="0" tIns="0" rIns="0" bIns="0" rtlCol="0"/>
            <a:lstStyle/>
            <a:p>
              <a:endParaRPr/>
            </a:p>
          </p:txBody>
        </p:sp>
        <p:sp>
          <p:nvSpPr>
            <p:cNvPr id="13" name="object 13"/>
            <p:cNvSpPr/>
            <p:nvPr/>
          </p:nvSpPr>
          <p:spPr>
            <a:xfrm>
              <a:off x="824483" y="0"/>
              <a:ext cx="58419" cy="6858000"/>
            </a:xfrm>
            <a:custGeom>
              <a:avLst/>
              <a:gdLst/>
              <a:ahLst/>
              <a:cxnLst/>
              <a:rect l="l" t="t" r="r" b="b"/>
              <a:pathLst>
                <a:path w="58419" h="6858000">
                  <a:moveTo>
                    <a:pt x="0" y="6857999"/>
                  </a:moveTo>
                  <a:lnTo>
                    <a:pt x="57912" y="6857999"/>
                  </a:lnTo>
                  <a:lnTo>
                    <a:pt x="57912" y="0"/>
                  </a:lnTo>
                  <a:lnTo>
                    <a:pt x="0" y="0"/>
                  </a:lnTo>
                  <a:lnTo>
                    <a:pt x="0" y="6857999"/>
                  </a:lnTo>
                  <a:close/>
                </a:path>
              </a:pathLst>
            </a:custGeom>
            <a:solidFill>
              <a:srgbClr val="AABADF"/>
            </a:solidFill>
          </p:spPr>
          <p:txBody>
            <a:bodyPr wrap="square" lIns="0" tIns="0" rIns="0" bIns="0" rtlCol="0"/>
            <a:lstStyle/>
            <a:p>
              <a:endParaRPr/>
            </a:p>
          </p:txBody>
        </p:sp>
      </p:grpSp>
      <p:sp>
        <p:nvSpPr>
          <p:cNvPr id="14" name="object 14"/>
          <p:cNvSpPr/>
          <p:nvPr/>
        </p:nvSpPr>
        <p:spPr>
          <a:xfrm>
            <a:off x="1727454" y="761"/>
            <a:ext cx="0" cy="6858000"/>
          </a:xfrm>
          <a:custGeom>
            <a:avLst/>
            <a:gdLst/>
            <a:ahLst/>
            <a:cxnLst/>
            <a:rect l="l" t="t" r="r" b="b"/>
            <a:pathLst>
              <a:path h="6858000">
                <a:moveTo>
                  <a:pt x="0" y="0"/>
                </a:moveTo>
                <a:lnTo>
                  <a:pt x="0" y="6857999"/>
                </a:lnTo>
              </a:path>
            </a:pathLst>
          </a:custGeom>
          <a:ln w="28956">
            <a:solidFill>
              <a:srgbClr val="AABADF"/>
            </a:solidFill>
          </a:ln>
        </p:spPr>
        <p:txBody>
          <a:bodyPr wrap="square" lIns="0" tIns="0" rIns="0" bIns="0" rtlCol="0"/>
          <a:lstStyle/>
          <a:p>
            <a:endParaRPr/>
          </a:p>
        </p:txBody>
      </p:sp>
      <p:sp>
        <p:nvSpPr>
          <p:cNvPr id="15" name="object 15"/>
          <p:cNvSpPr/>
          <p:nvPr/>
        </p:nvSpPr>
        <p:spPr>
          <a:xfrm>
            <a:off x="1066800" y="0"/>
            <a:ext cx="0" cy="6858000"/>
          </a:xfrm>
          <a:custGeom>
            <a:avLst/>
            <a:gdLst/>
            <a:ahLst/>
            <a:cxnLst/>
            <a:rect l="l" t="t" r="r" b="b"/>
            <a:pathLst>
              <a:path h="6858000">
                <a:moveTo>
                  <a:pt x="0" y="0"/>
                </a:moveTo>
                <a:lnTo>
                  <a:pt x="0" y="6857999"/>
                </a:lnTo>
              </a:path>
            </a:pathLst>
          </a:custGeom>
          <a:ln w="9144">
            <a:solidFill>
              <a:srgbClr val="AABADF"/>
            </a:solidFill>
          </a:ln>
        </p:spPr>
        <p:txBody>
          <a:bodyPr wrap="square" lIns="0" tIns="0" rIns="0" bIns="0" rtlCol="0"/>
          <a:lstStyle/>
          <a:p>
            <a:endParaRPr/>
          </a:p>
        </p:txBody>
      </p:sp>
      <p:sp>
        <p:nvSpPr>
          <p:cNvPr id="16" name="object 16"/>
          <p:cNvSpPr/>
          <p:nvPr/>
        </p:nvSpPr>
        <p:spPr>
          <a:xfrm>
            <a:off x="9084564" y="0"/>
            <a:ext cx="58419" cy="6858000"/>
          </a:xfrm>
          <a:custGeom>
            <a:avLst/>
            <a:gdLst/>
            <a:ahLst/>
            <a:cxnLst/>
            <a:rect l="l" t="t" r="r" b="b"/>
            <a:pathLst>
              <a:path w="58420" h="6858000">
                <a:moveTo>
                  <a:pt x="11557" y="0"/>
                </a:moveTo>
                <a:lnTo>
                  <a:pt x="0" y="0"/>
                </a:lnTo>
                <a:lnTo>
                  <a:pt x="0" y="6858000"/>
                </a:lnTo>
                <a:lnTo>
                  <a:pt x="11557" y="6858000"/>
                </a:lnTo>
                <a:lnTo>
                  <a:pt x="11557" y="0"/>
                </a:lnTo>
                <a:close/>
              </a:path>
              <a:path w="58420" h="6858000">
                <a:moveTo>
                  <a:pt x="57912" y="0"/>
                </a:moveTo>
                <a:lnTo>
                  <a:pt x="23114" y="0"/>
                </a:lnTo>
                <a:lnTo>
                  <a:pt x="23114" y="6858000"/>
                </a:lnTo>
                <a:lnTo>
                  <a:pt x="57912" y="6858000"/>
                </a:lnTo>
                <a:lnTo>
                  <a:pt x="57912" y="0"/>
                </a:lnTo>
                <a:close/>
              </a:path>
            </a:pathLst>
          </a:custGeom>
          <a:solidFill>
            <a:srgbClr val="AABADF"/>
          </a:solidFill>
        </p:spPr>
        <p:txBody>
          <a:bodyPr wrap="square" lIns="0" tIns="0" rIns="0" bIns="0" rtlCol="0"/>
          <a:lstStyle/>
          <a:p>
            <a:endParaRPr/>
          </a:p>
        </p:txBody>
      </p:sp>
      <p:grpSp>
        <p:nvGrpSpPr>
          <p:cNvPr id="17" name="object 17"/>
          <p:cNvGrpSpPr/>
          <p:nvPr/>
        </p:nvGrpSpPr>
        <p:grpSpPr>
          <a:xfrm>
            <a:off x="609600" y="0"/>
            <a:ext cx="1661160" cy="6858000"/>
            <a:chOff x="609600" y="0"/>
            <a:chExt cx="1661160" cy="6858000"/>
          </a:xfrm>
        </p:grpSpPr>
        <p:sp>
          <p:nvSpPr>
            <p:cNvPr id="18" name="object 18"/>
            <p:cNvSpPr/>
            <p:nvPr/>
          </p:nvSpPr>
          <p:spPr>
            <a:xfrm>
              <a:off x="1219200" y="0"/>
              <a:ext cx="76200" cy="6858000"/>
            </a:xfrm>
            <a:custGeom>
              <a:avLst/>
              <a:gdLst/>
              <a:ahLst/>
              <a:cxnLst/>
              <a:rect l="l" t="t" r="r" b="b"/>
              <a:pathLst>
                <a:path w="76200" h="6858000">
                  <a:moveTo>
                    <a:pt x="76200" y="0"/>
                  </a:moveTo>
                  <a:lnTo>
                    <a:pt x="0" y="0"/>
                  </a:lnTo>
                  <a:lnTo>
                    <a:pt x="0" y="6858000"/>
                  </a:lnTo>
                  <a:lnTo>
                    <a:pt x="76200" y="6858000"/>
                  </a:lnTo>
                  <a:lnTo>
                    <a:pt x="76200" y="0"/>
                  </a:lnTo>
                  <a:close/>
                </a:path>
              </a:pathLst>
            </a:custGeom>
            <a:solidFill>
              <a:srgbClr val="AABADF">
                <a:alpha val="50979"/>
              </a:srgbClr>
            </a:solidFill>
          </p:spPr>
          <p:txBody>
            <a:bodyPr wrap="square" lIns="0" tIns="0" rIns="0" bIns="0" rtlCol="0"/>
            <a:lstStyle/>
            <a:p>
              <a:endParaRPr/>
            </a:p>
          </p:txBody>
        </p:sp>
        <p:sp>
          <p:nvSpPr>
            <p:cNvPr id="19" name="object 19"/>
            <p:cNvSpPr/>
            <p:nvPr/>
          </p:nvSpPr>
          <p:spPr>
            <a:xfrm>
              <a:off x="609600" y="3429000"/>
              <a:ext cx="1341120" cy="2078989"/>
            </a:xfrm>
            <a:custGeom>
              <a:avLst/>
              <a:gdLst/>
              <a:ahLst/>
              <a:cxnLst/>
              <a:rect l="l" t="t" r="r" b="b"/>
              <a:pathLst>
                <a:path w="1341120" h="2078989">
                  <a:moveTo>
                    <a:pt x="1295400" y="647700"/>
                  </a:moveTo>
                  <a:lnTo>
                    <a:pt x="1293622" y="599363"/>
                  </a:lnTo>
                  <a:lnTo>
                    <a:pt x="1288376" y="551980"/>
                  </a:lnTo>
                  <a:lnTo>
                    <a:pt x="1279779" y="505701"/>
                  </a:lnTo>
                  <a:lnTo>
                    <a:pt x="1267968" y="460629"/>
                  </a:lnTo>
                  <a:lnTo>
                    <a:pt x="1253070" y="416890"/>
                  </a:lnTo>
                  <a:lnTo>
                    <a:pt x="1235202" y="374637"/>
                  </a:lnTo>
                  <a:lnTo>
                    <a:pt x="1214488" y="333959"/>
                  </a:lnTo>
                  <a:lnTo>
                    <a:pt x="1191056" y="295008"/>
                  </a:lnTo>
                  <a:lnTo>
                    <a:pt x="1165034" y="257898"/>
                  </a:lnTo>
                  <a:lnTo>
                    <a:pt x="1136535" y="222745"/>
                  </a:lnTo>
                  <a:lnTo>
                    <a:pt x="1105700" y="189699"/>
                  </a:lnTo>
                  <a:lnTo>
                    <a:pt x="1072654" y="158864"/>
                  </a:lnTo>
                  <a:lnTo>
                    <a:pt x="1037501" y="130365"/>
                  </a:lnTo>
                  <a:lnTo>
                    <a:pt x="1000391" y="104343"/>
                  </a:lnTo>
                  <a:lnTo>
                    <a:pt x="961440" y="80911"/>
                  </a:lnTo>
                  <a:lnTo>
                    <a:pt x="920762" y="60198"/>
                  </a:lnTo>
                  <a:lnTo>
                    <a:pt x="878509" y="42329"/>
                  </a:lnTo>
                  <a:lnTo>
                    <a:pt x="834771" y="27432"/>
                  </a:lnTo>
                  <a:lnTo>
                    <a:pt x="789698" y="15621"/>
                  </a:lnTo>
                  <a:lnTo>
                    <a:pt x="743419" y="7023"/>
                  </a:lnTo>
                  <a:lnTo>
                    <a:pt x="696036" y="1778"/>
                  </a:lnTo>
                  <a:lnTo>
                    <a:pt x="647700" y="0"/>
                  </a:lnTo>
                  <a:lnTo>
                    <a:pt x="599351" y="1778"/>
                  </a:lnTo>
                  <a:lnTo>
                    <a:pt x="551980" y="7023"/>
                  </a:lnTo>
                  <a:lnTo>
                    <a:pt x="505701" y="15621"/>
                  </a:lnTo>
                  <a:lnTo>
                    <a:pt x="460629" y="27432"/>
                  </a:lnTo>
                  <a:lnTo>
                    <a:pt x="416902" y="42329"/>
                  </a:lnTo>
                  <a:lnTo>
                    <a:pt x="374637" y="60198"/>
                  </a:lnTo>
                  <a:lnTo>
                    <a:pt x="333971" y="80911"/>
                  </a:lnTo>
                  <a:lnTo>
                    <a:pt x="295008" y="104343"/>
                  </a:lnTo>
                  <a:lnTo>
                    <a:pt x="257898" y="130365"/>
                  </a:lnTo>
                  <a:lnTo>
                    <a:pt x="222758" y="158864"/>
                  </a:lnTo>
                  <a:lnTo>
                    <a:pt x="189699" y="189699"/>
                  </a:lnTo>
                  <a:lnTo>
                    <a:pt x="158864" y="222745"/>
                  </a:lnTo>
                  <a:lnTo>
                    <a:pt x="130365" y="257898"/>
                  </a:lnTo>
                  <a:lnTo>
                    <a:pt x="104343" y="295008"/>
                  </a:lnTo>
                  <a:lnTo>
                    <a:pt x="80911" y="333959"/>
                  </a:lnTo>
                  <a:lnTo>
                    <a:pt x="60185" y="374637"/>
                  </a:lnTo>
                  <a:lnTo>
                    <a:pt x="42316" y="416890"/>
                  </a:lnTo>
                  <a:lnTo>
                    <a:pt x="27419" y="460629"/>
                  </a:lnTo>
                  <a:lnTo>
                    <a:pt x="15608" y="505701"/>
                  </a:lnTo>
                  <a:lnTo>
                    <a:pt x="7010" y="551980"/>
                  </a:lnTo>
                  <a:lnTo>
                    <a:pt x="1765" y="599363"/>
                  </a:lnTo>
                  <a:lnTo>
                    <a:pt x="0" y="647700"/>
                  </a:lnTo>
                  <a:lnTo>
                    <a:pt x="1765" y="696048"/>
                  </a:lnTo>
                  <a:lnTo>
                    <a:pt x="7010" y="743432"/>
                  </a:lnTo>
                  <a:lnTo>
                    <a:pt x="15608" y="789711"/>
                  </a:lnTo>
                  <a:lnTo>
                    <a:pt x="27419" y="834783"/>
                  </a:lnTo>
                  <a:lnTo>
                    <a:pt x="42316" y="878522"/>
                  </a:lnTo>
                  <a:lnTo>
                    <a:pt x="60185" y="920775"/>
                  </a:lnTo>
                  <a:lnTo>
                    <a:pt x="80911" y="961453"/>
                  </a:lnTo>
                  <a:lnTo>
                    <a:pt x="104343" y="1000404"/>
                  </a:lnTo>
                  <a:lnTo>
                    <a:pt x="130365" y="1037513"/>
                  </a:lnTo>
                  <a:lnTo>
                    <a:pt x="158864" y="1072667"/>
                  </a:lnTo>
                  <a:lnTo>
                    <a:pt x="189699" y="1105712"/>
                  </a:lnTo>
                  <a:lnTo>
                    <a:pt x="222758" y="1136548"/>
                  </a:lnTo>
                  <a:lnTo>
                    <a:pt x="257898" y="1165047"/>
                  </a:lnTo>
                  <a:lnTo>
                    <a:pt x="295008" y="1191069"/>
                  </a:lnTo>
                  <a:lnTo>
                    <a:pt x="333971" y="1214501"/>
                  </a:lnTo>
                  <a:lnTo>
                    <a:pt x="374637" y="1235214"/>
                  </a:lnTo>
                  <a:lnTo>
                    <a:pt x="416902" y="1253083"/>
                  </a:lnTo>
                  <a:lnTo>
                    <a:pt x="460629" y="1267980"/>
                  </a:lnTo>
                  <a:lnTo>
                    <a:pt x="505701" y="1279791"/>
                  </a:lnTo>
                  <a:lnTo>
                    <a:pt x="551980" y="1288389"/>
                  </a:lnTo>
                  <a:lnTo>
                    <a:pt x="599351" y="1293634"/>
                  </a:lnTo>
                  <a:lnTo>
                    <a:pt x="647700" y="1295400"/>
                  </a:lnTo>
                  <a:lnTo>
                    <a:pt x="696036" y="1293634"/>
                  </a:lnTo>
                  <a:lnTo>
                    <a:pt x="743419" y="1288389"/>
                  </a:lnTo>
                  <a:lnTo>
                    <a:pt x="789698" y="1279791"/>
                  </a:lnTo>
                  <a:lnTo>
                    <a:pt x="834771" y="1267980"/>
                  </a:lnTo>
                  <a:lnTo>
                    <a:pt x="878509" y="1253083"/>
                  </a:lnTo>
                  <a:lnTo>
                    <a:pt x="920762" y="1235214"/>
                  </a:lnTo>
                  <a:lnTo>
                    <a:pt x="961440" y="1214501"/>
                  </a:lnTo>
                  <a:lnTo>
                    <a:pt x="1000391" y="1191069"/>
                  </a:lnTo>
                  <a:lnTo>
                    <a:pt x="1037501" y="1165047"/>
                  </a:lnTo>
                  <a:lnTo>
                    <a:pt x="1072654" y="1136548"/>
                  </a:lnTo>
                  <a:lnTo>
                    <a:pt x="1105700" y="1105712"/>
                  </a:lnTo>
                  <a:lnTo>
                    <a:pt x="1136535" y="1072667"/>
                  </a:lnTo>
                  <a:lnTo>
                    <a:pt x="1165034" y="1037513"/>
                  </a:lnTo>
                  <a:lnTo>
                    <a:pt x="1191056" y="1000404"/>
                  </a:lnTo>
                  <a:lnTo>
                    <a:pt x="1214488" y="961453"/>
                  </a:lnTo>
                  <a:lnTo>
                    <a:pt x="1235202" y="920775"/>
                  </a:lnTo>
                  <a:lnTo>
                    <a:pt x="1253070" y="878522"/>
                  </a:lnTo>
                  <a:lnTo>
                    <a:pt x="1267968" y="834783"/>
                  </a:lnTo>
                  <a:lnTo>
                    <a:pt x="1279779" y="789711"/>
                  </a:lnTo>
                  <a:lnTo>
                    <a:pt x="1288376" y="743432"/>
                  </a:lnTo>
                  <a:lnTo>
                    <a:pt x="1293622" y="696048"/>
                  </a:lnTo>
                  <a:lnTo>
                    <a:pt x="1295400" y="647700"/>
                  </a:lnTo>
                  <a:close/>
                </a:path>
                <a:path w="1341120" h="2078989">
                  <a:moveTo>
                    <a:pt x="1341120" y="1757934"/>
                  </a:moveTo>
                  <a:lnTo>
                    <a:pt x="1337640" y="1710537"/>
                  </a:lnTo>
                  <a:lnTo>
                    <a:pt x="1327531" y="1665287"/>
                  </a:lnTo>
                  <a:lnTo>
                    <a:pt x="1311300" y="1622704"/>
                  </a:lnTo>
                  <a:lnTo>
                    <a:pt x="1289431" y="1583258"/>
                  </a:lnTo>
                  <a:lnTo>
                    <a:pt x="1262418" y="1547469"/>
                  </a:lnTo>
                  <a:lnTo>
                    <a:pt x="1230782" y="1515833"/>
                  </a:lnTo>
                  <a:lnTo>
                    <a:pt x="1194993" y="1488821"/>
                  </a:lnTo>
                  <a:lnTo>
                    <a:pt x="1155547" y="1466951"/>
                  </a:lnTo>
                  <a:lnTo>
                    <a:pt x="1112964" y="1450721"/>
                  </a:lnTo>
                  <a:lnTo>
                    <a:pt x="1067714" y="1440611"/>
                  </a:lnTo>
                  <a:lnTo>
                    <a:pt x="1020318" y="1437132"/>
                  </a:lnTo>
                  <a:lnTo>
                    <a:pt x="972908" y="1440611"/>
                  </a:lnTo>
                  <a:lnTo>
                    <a:pt x="927658" y="1450721"/>
                  </a:lnTo>
                  <a:lnTo>
                    <a:pt x="885075" y="1466951"/>
                  </a:lnTo>
                  <a:lnTo>
                    <a:pt x="845629" y="1488821"/>
                  </a:lnTo>
                  <a:lnTo>
                    <a:pt x="809840" y="1515833"/>
                  </a:lnTo>
                  <a:lnTo>
                    <a:pt x="778205" y="1547469"/>
                  </a:lnTo>
                  <a:lnTo>
                    <a:pt x="751192" y="1583258"/>
                  </a:lnTo>
                  <a:lnTo>
                    <a:pt x="729322" y="1622704"/>
                  </a:lnTo>
                  <a:lnTo>
                    <a:pt x="713092" y="1665287"/>
                  </a:lnTo>
                  <a:lnTo>
                    <a:pt x="702983" y="1710537"/>
                  </a:lnTo>
                  <a:lnTo>
                    <a:pt x="699516" y="1757934"/>
                  </a:lnTo>
                  <a:lnTo>
                    <a:pt x="702983" y="1805343"/>
                  </a:lnTo>
                  <a:lnTo>
                    <a:pt x="713092" y="1850593"/>
                  </a:lnTo>
                  <a:lnTo>
                    <a:pt x="729322" y="1893176"/>
                  </a:lnTo>
                  <a:lnTo>
                    <a:pt x="751192" y="1932622"/>
                  </a:lnTo>
                  <a:lnTo>
                    <a:pt x="778205" y="1968411"/>
                  </a:lnTo>
                  <a:lnTo>
                    <a:pt x="809840" y="2000046"/>
                  </a:lnTo>
                  <a:lnTo>
                    <a:pt x="845629" y="2027059"/>
                  </a:lnTo>
                  <a:lnTo>
                    <a:pt x="885075" y="2048929"/>
                  </a:lnTo>
                  <a:lnTo>
                    <a:pt x="927658" y="2065159"/>
                  </a:lnTo>
                  <a:lnTo>
                    <a:pt x="972908" y="2075268"/>
                  </a:lnTo>
                  <a:lnTo>
                    <a:pt x="1020318" y="2078736"/>
                  </a:lnTo>
                  <a:lnTo>
                    <a:pt x="1067714" y="2075268"/>
                  </a:lnTo>
                  <a:lnTo>
                    <a:pt x="1112964" y="2065159"/>
                  </a:lnTo>
                  <a:lnTo>
                    <a:pt x="1155547" y="2048929"/>
                  </a:lnTo>
                  <a:lnTo>
                    <a:pt x="1194993" y="2027059"/>
                  </a:lnTo>
                  <a:lnTo>
                    <a:pt x="1230782" y="2000046"/>
                  </a:lnTo>
                  <a:lnTo>
                    <a:pt x="1262418" y="1968411"/>
                  </a:lnTo>
                  <a:lnTo>
                    <a:pt x="1289431" y="1932622"/>
                  </a:lnTo>
                  <a:lnTo>
                    <a:pt x="1311300" y="1893176"/>
                  </a:lnTo>
                  <a:lnTo>
                    <a:pt x="1327531" y="1850593"/>
                  </a:lnTo>
                  <a:lnTo>
                    <a:pt x="1337640" y="1805343"/>
                  </a:lnTo>
                  <a:lnTo>
                    <a:pt x="1341120" y="1757934"/>
                  </a:lnTo>
                  <a:close/>
                </a:path>
              </a:pathLst>
            </a:custGeom>
            <a:solidFill>
              <a:srgbClr val="0E6EC5"/>
            </a:solidFill>
          </p:spPr>
          <p:txBody>
            <a:bodyPr wrap="square" lIns="0" tIns="0" rIns="0" bIns="0" rtlCol="0"/>
            <a:lstStyle/>
            <a:p>
              <a:endParaRPr/>
            </a:p>
          </p:txBody>
        </p:sp>
        <p:sp>
          <p:nvSpPr>
            <p:cNvPr id="20" name="object 20"/>
            <p:cNvSpPr/>
            <p:nvPr/>
          </p:nvSpPr>
          <p:spPr>
            <a:xfrm>
              <a:off x="1091183" y="5500115"/>
              <a:ext cx="137159" cy="137159"/>
            </a:xfrm>
            <a:prstGeom prst="rect">
              <a:avLst/>
            </a:prstGeom>
            <a:blipFill>
              <a:blip r:embed="rId2" cstate="print"/>
              <a:stretch>
                <a:fillRect/>
              </a:stretch>
            </a:blipFill>
          </p:spPr>
          <p:txBody>
            <a:bodyPr wrap="square" lIns="0" tIns="0" rIns="0" bIns="0" rtlCol="0"/>
            <a:lstStyle/>
            <a:p>
              <a:endParaRPr/>
            </a:p>
          </p:txBody>
        </p:sp>
        <p:sp>
          <p:nvSpPr>
            <p:cNvPr id="21" name="object 21"/>
            <p:cNvSpPr/>
            <p:nvPr/>
          </p:nvSpPr>
          <p:spPr>
            <a:xfrm>
              <a:off x="1664195" y="4495800"/>
              <a:ext cx="607060" cy="1567180"/>
            </a:xfrm>
            <a:custGeom>
              <a:avLst/>
              <a:gdLst/>
              <a:ahLst/>
              <a:cxnLst/>
              <a:rect l="l" t="t" r="r" b="b"/>
              <a:pathLst>
                <a:path w="607060" h="1567179">
                  <a:moveTo>
                    <a:pt x="274332" y="1429512"/>
                  </a:moveTo>
                  <a:lnTo>
                    <a:pt x="267322" y="1386166"/>
                  </a:lnTo>
                  <a:lnTo>
                    <a:pt x="247840" y="1348511"/>
                  </a:lnTo>
                  <a:lnTo>
                    <a:pt x="218147" y="1318818"/>
                  </a:lnTo>
                  <a:lnTo>
                    <a:pt x="180492" y="1299349"/>
                  </a:lnTo>
                  <a:lnTo>
                    <a:pt x="137172" y="1292352"/>
                  </a:lnTo>
                  <a:lnTo>
                    <a:pt x="93840" y="1299349"/>
                  </a:lnTo>
                  <a:lnTo>
                    <a:pt x="56184" y="1318818"/>
                  </a:lnTo>
                  <a:lnTo>
                    <a:pt x="26492" y="1348511"/>
                  </a:lnTo>
                  <a:lnTo>
                    <a:pt x="7010" y="1386166"/>
                  </a:lnTo>
                  <a:lnTo>
                    <a:pt x="0" y="1429512"/>
                  </a:lnTo>
                  <a:lnTo>
                    <a:pt x="7010" y="1472869"/>
                  </a:lnTo>
                  <a:lnTo>
                    <a:pt x="26492" y="1510525"/>
                  </a:lnTo>
                  <a:lnTo>
                    <a:pt x="56184" y="1540217"/>
                  </a:lnTo>
                  <a:lnTo>
                    <a:pt x="93840" y="1559687"/>
                  </a:lnTo>
                  <a:lnTo>
                    <a:pt x="137172" y="1566672"/>
                  </a:lnTo>
                  <a:lnTo>
                    <a:pt x="180492" y="1559687"/>
                  </a:lnTo>
                  <a:lnTo>
                    <a:pt x="218147" y="1540217"/>
                  </a:lnTo>
                  <a:lnTo>
                    <a:pt x="247840" y="1510525"/>
                  </a:lnTo>
                  <a:lnTo>
                    <a:pt x="267322" y="1472869"/>
                  </a:lnTo>
                  <a:lnTo>
                    <a:pt x="274332" y="1429512"/>
                  </a:lnTo>
                  <a:close/>
                </a:path>
                <a:path w="607060" h="1567179">
                  <a:moveTo>
                    <a:pt x="606564" y="182880"/>
                  </a:moveTo>
                  <a:lnTo>
                    <a:pt x="600024" y="134277"/>
                  </a:lnTo>
                  <a:lnTo>
                    <a:pt x="581583" y="90601"/>
                  </a:lnTo>
                  <a:lnTo>
                    <a:pt x="552983" y="53581"/>
                  </a:lnTo>
                  <a:lnTo>
                    <a:pt x="515962" y="24980"/>
                  </a:lnTo>
                  <a:lnTo>
                    <a:pt x="472287" y="6540"/>
                  </a:lnTo>
                  <a:lnTo>
                    <a:pt x="423684" y="0"/>
                  </a:lnTo>
                  <a:lnTo>
                    <a:pt x="375069" y="6540"/>
                  </a:lnTo>
                  <a:lnTo>
                    <a:pt x="331393" y="24980"/>
                  </a:lnTo>
                  <a:lnTo>
                    <a:pt x="294373" y="53581"/>
                  </a:lnTo>
                  <a:lnTo>
                    <a:pt x="265772" y="90601"/>
                  </a:lnTo>
                  <a:lnTo>
                    <a:pt x="247332" y="134277"/>
                  </a:lnTo>
                  <a:lnTo>
                    <a:pt x="240804" y="182880"/>
                  </a:lnTo>
                  <a:lnTo>
                    <a:pt x="247332" y="231495"/>
                  </a:lnTo>
                  <a:lnTo>
                    <a:pt x="265772" y="275170"/>
                  </a:lnTo>
                  <a:lnTo>
                    <a:pt x="294373" y="312191"/>
                  </a:lnTo>
                  <a:lnTo>
                    <a:pt x="331393" y="340791"/>
                  </a:lnTo>
                  <a:lnTo>
                    <a:pt x="375069" y="359232"/>
                  </a:lnTo>
                  <a:lnTo>
                    <a:pt x="423684" y="365760"/>
                  </a:lnTo>
                  <a:lnTo>
                    <a:pt x="472287" y="359232"/>
                  </a:lnTo>
                  <a:lnTo>
                    <a:pt x="515962" y="340791"/>
                  </a:lnTo>
                  <a:lnTo>
                    <a:pt x="552983" y="312191"/>
                  </a:lnTo>
                  <a:lnTo>
                    <a:pt x="581583" y="275170"/>
                  </a:lnTo>
                  <a:lnTo>
                    <a:pt x="600024" y="231495"/>
                  </a:lnTo>
                  <a:lnTo>
                    <a:pt x="606564" y="182880"/>
                  </a:lnTo>
                  <a:close/>
                </a:path>
              </a:pathLst>
            </a:custGeom>
            <a:solidFill>
              <a:srgbClr val="0E6EC5"/>
            </a:solidFill>
          </p:spPr>
          <p:txBody>
            <a:bodyPr wrap="square" lIns="0" tIns="0" rIns="0" bIns="0" rtlCol="0"/>
            <a:lstStyle/>
            <a:p>
              <a:endParaRPr/>
            </a:p>
          </p:txBody>
        </p:sp>
      </p:grpSp>
      <p:sp>
        <p:nvSpPr>
          <p:cNvPr id="22" name="object 22"/>
          <p:cNvSpPr txBox="1">
            <a:spLocks noGrp="1"/>
          </p:cNvSpPr>
          <p:nvPr>
            <p:ph type="title"/>
          </p:nvPr>
        </p:nvSpPr>
        <p:spPr>
          <a:xfrm>
            <a:off x="838606" y="960247"/>
            <a:ext cx="7545070" cy="837565"/>
          </a:xfrm>
          <a:prstGeom prst="rect">
            <a:avLst/>
          </a:prstGeom>
        </p:spPr>
        <p:txBody>
          <a:bodyPr vert="horz" wrap="square" lIns="0" tIns="15875" rIns="0" bIns="0" rtlCol="0">
            <a:spAutoFit/>
          </a:bodyPr>
          <a:lstStyle/>
          <a:p>
            <a:pPr marL="12700">
              <a:lnSpc>
                <a:spcPct val="100000"/>
              </a:lnSpc>
              <a:spcBef>
                <a:spcPts val="125"/>
              </a:spcBef>
            </a:pPr>
            <a:r>
              <a:rPr sz="5300" b="1" spc="-180" dirty="0">
                <a:latin typeface="Times New Roman"/>
                <a:cs typeface="Times New Roman"/>
              </a:rPr>
              <a:t>WATER</a:t>
            </a:r>
            <a:r>
              <a:rPr sz="5300" b="1" spc="-125" dirty="0">
                <a:latin typeface="Times New Roman"/>
                <a:cs typeface="Times New Roman"/>
              </a:rPr>
              <a:t> </a:t>
            </a:r>
            <a:r>
              <a:rPr sz="5300" b="1" spc="20" dirty="0">
                <a:latin typeface="Times New Roman"/>
                <a:cs typeface="Times New Roman"/>
              </a:rPr>
              <a:t>TECHNOLOGY</a:t>
            </a:r>
            <a:endParaRPr sz="5300">
              <a:latin typeface="Times New Roman"/>
              <a:cs typeface="Times New Roman"/>
            </a:endParaRPr>
          </a:p>
        </p:txBody>
      </p:sp>
      <p:sp>
        <p:nvSpPr>
          <p:cNvPr id="23" name="object 23"/>
          <p:cNvSpPr txBox="1"/>
          <p:nvPr/>
        </p:nvSpPr>
        <p:spPr>
          <a:xfrm>
            <a:off x="1572894" y="5063109"/>
            <a:ext cx="11493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Times New Roman"/>
                <a:cs typeface="Times New Roman"/>
              </a:rPr>
              <a:t>1</a:t>
            </a:r>
            <a:endParaRPr sz="14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A.R.Sivakumar\Desktop\w8.jpg"/>
          <p:cNvPicPr>
            <a:picLocks noGrp="1" noChangeAspect="1" noChangeArrowheads="1"/>
          </p:cNvPicPr>
          <p:nvPr>
            <p:ph idx="1"/>
          </p:nvPr>
        </p:nvPicPr>
        <p:blipFill>
          <a:blip r:embed="rId2" cstate="print"/>
          <a:srcRect/>
          <a:stretch>
            <a:fillRect/>
          </a:stretch>
        </p:blipFill>
        <p:spPr bwMode="auto">
          <a:xfrm>
            <a:off x="0" y="188640"/>
            <a:ext cx="8460431" cy="648072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A.R.Sivakumar\Desktop\w7.jpg"/>
          <p:cNvPicPr>
            <a:picLocks noGrp="1" noChangeAspect="1" noChangeArrowheads="1"/>
          </p:cNvPicPr>
          <p:nvPr>
            <p:ph idx="1"/>
          </p:nvPr>
        </p:nvPicPr>
        <p:blipFill>
          <a:blip r:embed="rId2" cstate="print"/>
          <a:srcRect/>
          <a:stretch>
            <a:fillRect/>
          </a:stretch>
        </p:blipFill>
        <p:spPr bwMode="auto">
          <a:xfrm>
            <a:off x="0" y="0"/>
            <a:ext cx="9173271" cy="6858000"/>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16632"/>
            <a:ext cx="8839200" cy="6741368"/>
          </a:xfrm>
        </p:spPr>
        <p:txBody>
          <a:bodyPr>
            <a:normAutofit/>
          </a:bodyPr>
          <a:lstStyle/>
          <a:p>
            <a:r>
              <a:rPr lang="en-US" dirty="0" smtClean="0"/>
              <a:t>UNIT-I</a:t>
            </a:r>
          </a:p>
          <a:p>
            <a:r>
              <a:rPr lang="en-US" sz="2400" dirty="0" smtClean="0">
                <a:solidFill>
                  <a:srgbClr val="FF0000"/>
                </a:solidFill>
              </a:rPr>
              <a:t>INTRODUCTION OF WATER…..</a:t>
            </a:r>
          </a:p>
          <a:p>
            <a:r>
              <a:rPr lang="en-US" sz="2000" dirty="0" smtClean="0">
                <a:latin typeface="Times New Roman" pitchFamily="18" charset="0"/>
                <a:cs typeface="Times New Roman" pitchFamily="18" charset="0"/>
              </a:rPr>
              <a:t>Water is one of the essential requirements for life. </a:t>
            </a:r>
          </a:p>
          <a:p>
            <a:r>
              <a:rPr lang="en-US" sz="2000" dirty="0" smtClean="0">
                <a:latin typeface="Times New Roman" pitchFamily="18" charset="0"/>
                <a:cs typeface="Times New Roman" pitchFamily="18" charset="0"/>
              </a:rPr>
              <a:t>All living things need water for their survival. </a:t>
            </a:r>
          </a:p>
          <a:p>
            <a:r>
              <a:rPr lang="en-US" sz="2000" dirty="0" smtClean="0">
                <a:latin typeface="Times New Roman" pitchFamily="18" charset="0"/>
                <a:cs typeface="Times New Roman" pitchFamily="18" charset="0"/>
              </a:rPr>
              <a:t>Water is used for a variety of purposes, including drinking, food preparation, irrigation and manufacturing. </a:t>
            </a:r>
          </a:p>
          <a:p>
            <a:r>
              <a:rPr lang="en-US" sz="2000" dirty="0" smtClean="0">
                <a:latin typeface="Times New Roman" pitchFamily="18" charset="0"/>
                <a:cs typeface="Times New Roman" pitchFamily="18" charset="0"/>
              </a:rPr>
              <a:t>Although water covers more than 70% of the Earth’s surface, less than 1% of that resource is available as fresh water – and this is not evenly distributed throughout the world. </a:t>
            </a:r>
          </a:p>
          <a:p>
            <a:r>
              <a:rPr lang="en-US" sz="2000" dirty="0" smtClean="0">
                <a:latin typeface="Times New Roman" pitchFamily="18" charset="0"/>
                <a:cs typeface="Times New Roman" pitchFamily="18" charset="0"/>
              </a:rPr>
              <a:t>More than one billion people (one thousand million) worldwide, mostly in developing countries, lack safe drinking water. </a:t>
            </a:r>
          </a:p>
          <a:p>
            <a:r>
              <a:rPr lang="en-US" sz="2000" dirty="0" smtClean="0">
                <a:latin typeface="Times New Roman" pitchFamily="18" charset="0"/>
                <a:cs typeface="Times New Roman" pitchFamily="18" charset="0"/>
              </a:rPr>
              <a:t>Apart from the scarcity of water, there are many other challenges in providing a safe, adequate and reliable water supply in many parts of the world</a:t>
            </a:r>
            <a:r>
              <a:rPr lang="en-US" sz="2000" dirty="0" smtClean="0"/>
              <a:t>. </a:t>
            </a:r>
          </a:p>
          <a:p>
            <a:r>
              <a:rPr lang="en-US" sz="2000" dirty="0" smtClean="0">
                <a:latin typeface="Times New Roman" pitchFamily="18" charset="0"/>
                <a:cs typeface="Times New Roman" pitchFamily="18" charset="0"/>
              </a:rPr>
              <a:t>Is called as Polar solvent or Universal solvent.</a:t>
            </a:r>
          </a:p>
          <a:p>
            <a:r>
              <a:rPr lang="en-US" sz="2000" dirty="0" smtClean="0">
                <a:latin typeface="Times New Roman" pitchFamily="18" charset="0"/>
                <a:cs typeface="Times New Roman" pitchFamily="18" charset="0"/>
              </a:rPr>
              <a:t>Human and animal body contains 60-70% of water.</a:t>
            </a:r>
          </a:p>
          <a:p>
            <a:r>
              <a:rPr lang="en-US" sz="2000" dirty="0" smtClean="0">
                <a:latin typeface="Times New Roman" pitchFamily="18" charset="0"/>
                <a:cs typeface="Times New Roman" pitchFamily="18" charset="0"/>
              </a:rPr>
              <a:t>Water is an essential nutrient for all known forms of life and the mechanisms by which fluid and electrolyte homeostasis is maintained in humans are well understood.</a:t>
            </a:r>
          </a:p>
          <a:p>
            <a:r>
              <a:rPr lang="en-US" sz="2000" dirty="0" smtClean="0">
                <a:latin typeface="Times New Roman" pitchFamily="18" charset="0"/>
                <a:cs typeface="Times New Roman" pitchFamily="18" charset="0"/>
              </a:rPr>
              <a:t> It is a constituent of blood and other vital body fluids. Water plays a key role in elimination of body wastes and regulation of body temperature</a:t>
            </a:r>
            <a:r>
              <a:rPr lang="en-US" sz="2000" dirty="0" smtClean="0"/>
              <a:t>.</a:t>
            </a:r>
            <a:endParaRPr lang="en-US" sz="2000" dirty="0" smtClean="0">
              <a:latin typeface="Times New Roman" pitchFamily="18" charset="0"/>
              <a:cs typeface="Times New Roman" pitchFamily="18" charset="0"/>
            </a:endParaRPr>
          </a:p>
          <a:p>
            <a:endParaRPr lang="en-US" sz="2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28601"/>
            <a:ext cx="4485639" cy="457200"/>
          </a:xfrm>
        </p:spPr>
        <p:txBody>
          <a:bodyPr/>
          <a:lstStyle/>
          <a:p>
            <a:r>
              <a:rPr lang="en-US" dirty="0" smtClean="0"/>
              <a:t>WATER TECHNOLOGY</a:t>
            </a:r>
            <a:endParaRPr lang="en-US" dirty="0"/>
          </a:p>
        </p:txBody>
      </p:sp>
      <p:sp>
        <p:nvSpPr>
          <p:cNvPr id="3" name="Text Placeholder 2"/>
          <p:cNvSpPr>
            <a:spLocks noGrp="1"/>
          </p:cNvSpPr>
          <p:nvPr>
            <p:ph type="body" idx="1"/>
          </p:nvPr>
        </p:nvSpPr>
        <p:spPr>
          <a:xfrm>
            <a:off x="304800" y="685800"/>
            <a:ext cx="8534400" cy="1107996"/>
          </a:xfrm>
        </p:spPr>
        <p:txBody>
          <a:bodyPr/>
          <a:lstStyle/>
          <a:p>
            <a:r>
              <a:rPr lang="en-US" dirty="0" smtClean="0">
                <a:solidFill>
                  <a:srgbClr val="FF0000"/>
                </a:solidFill>
              </a:rPr>
              <a:t>The  process of removing all types of impurities from water and making it fit for domestic or industrial purposes is called water technology or water treatment</a:t>
            </a:r>
            <a:r>
              <a:rPr lang="en-US" dirty="0" smtClean="0"/>
              <a:t>.</a:t>
            </a:r>
            <a:endParaRPr lang="en-US" dirty="0"/>
          </a:p>
        </p:txBody>
      </p:sp>
      <p:pic>
        <p:nvPicPr>
          <p:cNvPr id="4" name="Picture 3" descr="C:\Users\A.R.Sivakumar\Desktop\i6.jpg"/>
          <p:cNvPicPr>
            <a:picLocks noChangeAspect="1" noChangeArrowheads="1"/>
          </p:cNvPicPr>
          <p:nvPr/>
        </p:nvPicPr>
        <p:blipFill>
          <a:blip r:embed="rId2" cstate="print"/>
          <a:srcRect/>
          <a:stretch>
            <a:fillRect/>
          </a:stretch>
        </p:blipFill>
        <p:spPr bwMode="auto">
          <a:xfrm>
            <a:off x="533400" y="2209800"/>
            <a:ext cx="4032448" cy="4267200"/>
          </a:xfrm>
          <a:prstGeom prst="rect">
            <a:avLst/>
          </a:prstGeom>
          <a:noFill/>
        </p:spPr>
      </p:pic>
      <p:pic>
        <p:nvPicPr>
          <p:cNvPr id="5" name="Picture 4" descr="C:\Users\A.R.Sivakumar\Desktop\a3.jpg"/>
          <p:cNvPicPr>
            <a:picLocks noChangeAspect="1" noChangeArrowheads="1"/>
          </p:cNvPicPr>
          <p:nvPr/>
        </p:nvPicPr>
        <p:blipFill>
          <a:blip r:embed="rId3" cstate="print"/>
          <a:srcRect/>
          <a:stretch>
            <a:fillRect/>
          </a:stretch>
        </p:blipFill>
        <p:spPr bwMode="auto">
          <a:xfrm>
            <a:off x="4794176" y="2286000"/>
            <a:ext cx="4121224" cy="41910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504" y="188640"/>
            <a:ext cx="8579296" cy="6552728"/>
          </a:xfrm>
        </p:spPr>
        <p:txBody>
          <a:bodyPr>
            <a:normAutofit/>
          </a:bodyPr>
          <a:lstStyle/>
          <a:p>
            <a:r>
              <a:rPr lang="en-US" b="1" dirty="0" smtClean="0"/>
              <a:t> Basic need for water..</a:t>
            </a:r>
          </a:p>
          <a:p>
            <a:r>
              <a:rPr lang="en-US" sz="2400" dirty="0" smtClean="0">
                <a:latin typeface="Times New Roman" pitchFamily="18" charset="0"/>
                <a:cs typeface="Times New Roman" pitchFamily="18" charset="0"/>
              </a:rPr>
              <a:t>According to national and international guidelines,</a:t>
            </a:r>
          </a:p>
          <a:p>
            <a:r>
              <a:rPr lang="en-US" sz="2400" dirty="0" smtClean="0">
                <a:latin typeface="Times New Roman" pitchFamily="18" charset="0"/>
                <a:cs typeface="Times New Roman" pitchFamily="18" charset="0"/>
              </a:rPr>
              <a:t> The quantity of water available to all people should be 50–100 </a:t>
            </a:r>
            <a:r>
              <a:rPr lang="en-US" sz="2400" dirty="0" err="1" smtClean="0">
                <a:latin typeface="Times New Roman" pitchFamily="18" charset="0"/>
                <a:cs typeface="Times New Roman" pitchFamily="18" charset="0"/>
              </a:rPr>
              <a:t>litres</a:t>
            </a:r>
            <a:r>
              <a:rPr lang="en-US" sz="2400" dirty="0" smtClean="0">
                <a:latin typeface="Times New Roman" pitchFamily="18" charset="0"/>
                <a:cs typeface="Times New Roman" pitchFamily="18" charset="0"/>
              </a:rPr>
              <a:t> per person per day, or an absolute minimum of 20 </a:t>
            </a:r>
            <a:r>
              <a:rPr lang="en-US" sz="2400" dirty="0" err="1" smtClean="0">
                <a:latin typeface="Times New Roman" pitchFamily="18" charset="0"/>
                <a:cs typeface="Times New Roman" pitchFamily="18" charset="0"/>
              </a:rPr>
              <a:t>litres</a:t>
            </a:r>
            <a:r>
              <a:rPr lang="en-US" sz="2400" dirty="0" smtClean="0">
                <a:latin typeface="Times New Roman" pitchFamily="18" charset="0"/>
                <a:cs typeface="Times New Roman" pitchFamily="18" charset="0"/>
              </a:rPr>
              <a:t> per person per day (UNDP, 2006). </a:t>
            </a:r>
          </a:p>
          <a:p>
            <a:r>
              <a:rPr lang="en-US" sz="2400" dirty="0" smtClean="0">
                <a:latin typeface="Times New Roman" pitchFamily="18" charset="0"/>
                <a:cs typeface="Times New Roman" pitchFamily="18" charset="0"/>
              </a:rPr>
              <a:t>The water must be safe for drinking and other household uses. Drinking water must be free from </a:t>
            </a:r>
            <a:r>
              <a:rPr lang="en-US" sz="2400" b="1" dirty="0" smtClean="0">
                <a:latin typeface="Times New Roman" pitchFamily="18" charset="0"/>
                <a:cs typeface="Times New Roman" pitchFamily="18" charset="0"/>
              </a:rPr>
              <a:t>pathogenic</a:t>
            </a:r>
            <a:r>
              <a:rPr lang="en-US" sz="2400" dirty="0" smtClean="0">
                <a:latin typeface="Times New Roman" pitchFamily="18" charset="0"/>
                <a:cs typeface="Times New Roman" pitchFamily="18" charset="0"/>
              </a:rPr>
              <a:t> (disease-causing) </a:t>
            </a:r>
            <a:r>
              <a:rPr lang="en-US" sz="2400" b="1" dirty="0" smtClean="0">
                <a:latin typeface="Times New Roman" pitchFamily="18" charset="0"/>
                <a:cs typeface="Times New Roman" pitchFamily="18" charset="0"/>
              </a:rPr>
              <a:t>micro-organisms </a:t>
            </a:r>
            <a:r>
              <a:rPr lang="en-US" sz="2400" dirty="0" smtClean="0">
                <a:latin typeface="Times New Roman" pitchFamily="18" charset="0"/>
                <a:cs typeface="Times New Roman" pitchFamily="18" charset="0"/>
              </a:rPr>
              <a:t>(tiny living organisms </a:t>
            </a:r>
            <a:r>
              <a:rPr lang="en-US" sz="2400" dirty="0" err="1" smtClean="0">
                <a:latin typeface="Times New Roman" pitchFamily="18" charset="0"/>
                <a:cs typeface="Times New Roman" pitchFamily="18" charset="0"/>
              </a:rPr>
              <a:t>thatyou</a:t>
            </a:r>
            <a:r>
              <a:rPr lang="en-US" sz="2400" dirty="0" smtClean="0">
                <a:latin typeface="Times New Roman" pitchFamily="18" charset="0"/>
                <a:cs typeface="Times New Roman" pitchFamily="18" charset="0"/>
              </a:rPr>
              <a:t> can see only with a microscope), and free from chemical and physical contaminants that constitute a danger to a person’s health. </a:t>
            </a:r>
          </a:p>
          <a:p>
            <a:r>
              <a:rPr lang="en-US" sz="2400" dirty="0" smtClean="0">
                <a:latin typeface="Times New Roman" pitchFamily="18" charset="0"/>
                <a:cs typeface="Times New Roman" pitchFamily="18" charset="0"/>
              </a:rPr>
              <a:t>It must also be free from </a:t>
            </a:r>
            <a:r>
              <a:rPr lang="en-US" sz="2400" dirty="0" err="1" smtClean="0">
                <a:latin typeface="Times New Roman" pitchFamily="18" charset="0"/>
                <a:cs typeface="Times New Roman" pitchFamily="18" charset="0"/>
              </a:rPr>
              <a:t>colour</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odour</a:t>
            </a:r>
            <a:r>
              <a:rPr lang="en-US" sz="2400" dirty="0" smtClean="0">
                <a:latin typeface="Times New Roman" pitchFamily="18" charset="0"/>
                <a:cs typeface="Times New Roman" pitchFamily="18" charset="0"/>
              </a:rPr>
              <a:t>. Water must be within safe physical reach, in or near the house, school or health facility.</a:t>
            </a:r>
          </a:p>
          <a:p>
            <a:r>
              <a:rPr lang="en-US" sz="2400" dirty="0" smtClean="0">
                <a:latin typeface="Times New Roman" pitchFamily="18" charset="0"/>
                <a:cs typeface="Times New Roman" pitchFamily="18" charset="0"/>
              </a:rPr>
              <a:t>water should also be reasonably priced and affordable for everyone. Buying water should not reduce a person’s capacity to buy other essential goods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R.Sivakumar\Desktop\z1.png"/>
          <p:cNvPicPr>
            <a:picLocks noGrp="1" noChangeAspect="1" noChangeArrowheads="1"/>
          </p:cNvPicPr>
          <p:nvPr>
            <p:ph idx="1"/>
          </p:nvPr>
        </p:nvPicPr>
        <p:blipFill>
          <a:blip r:embed="rId2" cstate="print"/>
          <a:srcRect/>
          <a:stretch>
            <a:fillRect/>
          </a:stretch>
        </p:blipFill>
        <p:spPr bwMode="auto">
          <a:xfrm>
            <a:off x="179512" y="260648"/>
            <a:ext cx="8964488" cy="6597352"/>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A.R.Sivakumar\Desktop\i1.jpg"/>
          <p:cNvPicPr>
            <a:picLocks noGrp="1" noChangeAspect="1" noChangeArrowheads="1"/>
          </p:cNvPicPr>
          <p:nvPr>
            <p:ph idx="1"/>
          </p:nvPr>
        </p:nvPicPr>
        <p:blipFill>
          <a:blip r:embed="rId2" cstate="print"/>
          <a:srcRect/>
          <a:stretch>
            <a:fillRect/>
          </a:stretch>
        </p:blipFill>
        <p:spPr bwMode="auto">
          <a:xfrm>
            <a:off x="323528" y="332656"/>
            <a:ext cx="3600400" cy="2592288"/>
          </a:xfrm>
          <a:prstGeom prst="rect">
            <a:avLst/>
          </a:prstGeom>
          <a:noFill/>
        </p:spPr>
      </p:pic>
      <p:pic>
        <p:nvPicPr>
          <p:cNvPr id="7171" name="Picture 3" descr="C:\Users\A.R.Sivakumar\Desktop\i6.jpg"/>
          <p:cNvPicPr>
            <a:picLocks noChangeAspect="1" noChangeArrowheads="1"/>
          </p:cNvPicPr>
          <p:nvPr/>
        </p:nvPicPr>
        <p:blipFill>
          <a:blip r:embed="rId3" cstate="print"/>
          <a:srcRect/>
          <a:stretch>
            <a:fillRect/>
          </a:stretch>
        </p:blipFill>
        <p:spPr bwMode="auto">
          <a:xfrm>
            <a:off x="4716016" y="980728"/>
            <a:ext cx="4032448" cy="3143994"/>
          </a:xfrm>
          <a:prstGeom prst="rect">
            <a:avLst/>
          </a:prstGeom>
          <a:noFill/>
        </p:spPr>
      </p:pic>
      <p:pic>
        <p:nvPicPr>
          <p:cNvPr id="7172" name="Picture 4" descr="C:\Users\A.R.Sivakumar\Desktop\i8.jpg"/>
          <p:cNvPicPr>
            <a:picLocks noChangeAspect="1" noChangeArrowheads="1"/>
          </p:cNvPicPr>
          <p:nvPr/>
        </p:nvPicPr>
        <p:blipFill>
          <a:blip r:embed="rId4" cstate="print"/>
          <a:srcRect/>
          <a:stretch>
            <a:fillRect/>
          </a:stretch>
        </p:blipFill>
        <p:spPr bwMode="auto">
          <a:xfrm>
            <a:off x="395536" y="3356992"/>
            <a:ext cx="3960440" cy="3024336"/>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A.R.Sivakumar\Desktop\i5.jpg"/>
          <p:cNvPicPr>
            <a:picLocks noGrp="1" noChangeAspect="1" noChangeArrowheads="1"/>
          </p:cNvPicPr>
          <p:nvPr>
            <p:ph idx="1"/>
          </p:nvPr>
        </p:nvPicPr>
        <p:blipFill>
          <a:blip r:embed="rId2" cstate="print"/>
          <a:srcRect/>
          <a:stretch>
            <a:fillRect/>
          </a:stretch>
        </p:blipFill>
        <p:spPr bwMode="auto">
          <a:xfrm>
            <a:off x="107504" y="332656"/>
            <a:ext cx="3816424" cy="3456384"/>
          </a:xfrm>
          <a:prstGeom prst="rect">
            <a:avLst/>
          </a:prstGeom>
          <a:noFill/>
        </p:spPr>
      </p:pic>
      <p:pic>
        <p:nvPicPr>
          <p:cNvPr id="8195" name="Picture 3" descr="C:\Users\A.R.Sivakumar\Desktop\i7.jpg"/>
          <p:cNvPicPr>
            <a:picLocks noChangeAspect="1" noChangeArrowheads="1"/>
          </p:cNvPicPr>
          <p:nvPr/>
        </p:nvPicPr>
        <p:blipFill>
          <a:blip r:embed="rId3" cstate="print"/>
          <a:srcRect/>
          <a:stretch>
            <a:fillRect/>
          </a:stretch>
        </p:blipFill>
        <p:spPr bwMode="auto">
          <a:xfrm>
            <a:off x="4427984" y="332656"/>
            <a:ext cx="4320480" cy="3456384"/>
          </a:xfrm>
          <a:prstGeom prst="rect">
            <a:avLst/>
          </a:prstGeom>
          <a:noFill/>
        </p:spPr>
      </p:pic>
      <p:pic>
        <p:nvPicPr>
          <p:cNvPr id="8196" name="Picture 4" descr="C:\Users\A.R.Sivakumar\Desktop\i4.jpg"/>
          <p:cNvPicPr>
            <a:picLocks noChangeAspect="1" noChangeArrowheads="1"/>
          </p:cNvPicPr>
          <p:nvPr/>
        </p:nvPicPr>
        <p:blipFill>
          <a:blip r:embed="rId4" cstate="print"/>
          <a:srcRect/>
          <a:stretch>
            <a:fillRect/>
          </a:stretch>
        </p:blipFill>
        <p:spPr bwMode="auto">
          <a:xfrm>
            <a:off x="1691680" y="4005064"/>
            <a:ext cx="5112568" cy="2852936"/>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A.R.Sivakumar\Desktop\a1.jpg"/>
          <p:cNvPicPr>
            <a:picLocks noGrp="1" noChangeAspect="1" noChangeArrowheads="1"/>
          </p:cNvPicPr>
          <p:nvPr>
            <p:ph idx="1"/>
          </p:nvPr>
        </p:nvPicPr>
        <p:blipFill>
          <a:blip r:embed="rId2" cstate="print"/>
          <a:srcRect/>
          <a:stretch>
            <a:fillRect/>
          </a:stretch>
        </p:blipFill>
        <p:spPr bwMode="auto">
          <a:xfrm>
            <a:off x="251520" y="188640"/>
            <a:ext cx="3247628" cy="3024336"/>
          </a:xfrm>
          <a:prstGeom prst="rect">
            <a:avLst/>
          </a:prstGeom>
          <a:noFill/>
        </p:spPr>
      </p:pic>
      <p:pic>
        <p:nvPicPr>
          <p:cNvPr id="9219" name="Picture 3" descr="C:\Users\A.R.Sivakumar\Desktop\a2.jpg"/>
          <p:cNvPicPr>
            <a:picLocks noChangeAspect="1" noChangeArrowheads="1"/>
          </p:cNvPicPr>
          <p:nvPr/>
        </p:nvPicPr>
        <p:blipFill>
          <a:blip r:embed="rId3" cstate="print"/>
          <a:srcRect/>
          <a:stretch>
            <a:fillRect/>
          </a:stretch>
        </p:blipFill>
        <p:spPr bwMode="auto">
          <a:xfrm>
            <a:off x="4067944" y="260648"/>
            <a:ext cx="4464496" cy="3024336"/>
          </a:xfrm>
          <a:prstGeom prst="rect">
            <a:avLst/>
          </a:prstGeom>
          <a:noFill/>
        </p:spPr>
      </p:pic>
      <p:pic>
        <p:nvPicPr>
          <p:cNvPr id="9220" name="Picture 4" descr="C:\Users\A.R.Sivakumar\Desktop\a3.jpg"/>
          <p:cNvPicPr>
            <a:picLocks noChangeAspect="1" noChangeArrowheads="1"/>
          </p:cNvPicPr>
          <p:nvPr/>
        </p:nvPicPr>
        <p:blipFill>
          <a:blip r:embed="rId4" cstate="print"/>
          <a:srcRect/>
          <a:stretch>
            <a:fillRect/>
          </a:stretch>
        </p:blipFill>
        <p:spPr bwMode="auto">
          <a:xfrm>
            <a:off x="755576" y="3645024"/>
            <a:ext cx="7848872" cy="3212976"/>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A.R.Sivakumar\Desktop\n1.jpg"/>
          <p:cNvPicPr>
            <a:picLocks noGrp="1" noChangeAspect="1" noChangeArrowheads="1"/>
          </p:cNvPicPr>
          <p:nvPr>
            <p:ph idx="1"/>
          </p:nvPr>
        </p:nvPicPr>
        <p:blipFill>
          <a:blip r:embed="rId2" cstate="print"/>
          <a:srcRect/>
          <a:stretch>
            <a:fillRect/>
          </a:stretch>
        </p:blipFill>
        <p:spPr bwMode="auto">
          <a:xfrm>
            <a:off x="251520" y="238806"/>
            <a:ext cx="8424936" cy="6430554"/>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Users\A.R.Sivakumar\Desktop\n2.jpg"/>
          <p:cNvPicPr>
            <a:picLocks noGrp="1" noChangeAspect="1" noChangeArrowheads="1"/>
          </p:cNvPicPr>
          <p:nvPr>
            <p:ph idx="1"/>
          </p:nvPr>
        </p:nvPicPr>
        <p:blipFill>
          <a:blip r:embed="rId2" cstate="print"/>
          <a:srcRect/>
          <a:stretch>
            <a:fillRect/>
          </a:stretch>
        </p:blipFill>
        <p:spPr bwMode="auto">
          <a:xfrm>
            <a:off x="44412" y="188640"/>
            <a:ext cx="8632044" cy="6264696"/>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R.Sivakumar\Desktop\s6.png"/>
          <p:cNvPicPr>
            <a:picLocks noGrp="1" noChangeAspect="1" noChangeArrowheads="1"/>
          </p:cNvPicPr>
          <p:nvPr>
            <p:ph idx="1"/>
          </p:nvPr>
        </p:nvPicPr>
        <p:blipFill>
          <a:blip r:embed="rId2" cstate="print"/>
          <a:srcRect/>
          <a:stretch>
            <a:fillRect/>
          </a:stretch>
        </p:blipFill>
        <p:spPr bwMode="auto">
          <a:xfrm>
            <a:off x="107504" y="116632"/>
            <a:ext cx="8712968" cy="6624736"/>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4779" y="237743"/>
            <a:ext cx="8999220" cy="6556375"/>
          </a:xfrm>
          <a:custGeom>
            <a:avLst/>
            <a:gdLst/>
            <a:ahLst/>
            <a:cxnLst/>
            <a:rect l="l" t="t" r="r" b="b"/>
            <a:pathLst>
              <a:path w="8999220" h="6556375">
                <a:moveTo>
                  <a:pt x="0" y="6556248"/>
                </a:moveTo>
                <a:lnTo>
                  <a:pt x="8999220" y="6556248"/>
                </a:lnTo>
                <a:lnTo>
                  <a:pt x="8999220" y="0"/>
                </a:lnTo>
                <a:lnTo>
                  <a:pt x="0" y="0"/>
                </a:lnTo>
                <a:lnTo>
                  <a:pt x="0" y="6556248"/>
                </a:lnTo>
                <a:close/>
              </a:path>
            </a:pathLst>
          </a:custGeom>
          <a:ln w="9144">
            <a:solidFill>
              <a:srgbClr val="FF0000"/>
            </a:solidFill>
          </a:ln>
        </p:spPr>
        <p:txBody>
          <a:bodyPr wrap="square" lIns="0" tIns="0" rIns="0" bIns="0" rtlCol="0"/>
          <a:lstStyle/>
          <a:p>
            <a:endParaRPr/>
          </a:p>
        </p:txBody>
      </p:sp>
      <p:sp>
        <p:nvSpPr>
          <p:cNvPr id="3" name="object 3"/>
          <p:cNvSpPr txBox="1">
            <a:spLocks noGrp="1"/>
          </p:cNvSpPr>
          <p:nvPr>
            <p:ph type="title"/>
          </p:nvPr>
        </p:nvSpPr>
        <p:spPr>
          <a:xfrm>
            <a:off x="3066033" y="256159"/>
            <a:ext cx="3154680"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0000"/>
                </a:solidFill>
                <a:latin typeface="Times New Roman" pitchFamily="18" charset="0"/>
                <a:cs typeface="Times New Roman" pitchFamily="18" charset="0"/>
              </a:rPr>
              <a:t>Sources </a:t>
            </a:r>
            <a:r>
              <a:rPr sz="3600" dirty="0">
                <a:solidFill>
                  <a:srgbClr val="000000"/>
                </a:solidFill>
                <a:latin typeface="Times New Roman" pitchFamily="18" charset="0"/>
                <a:cs typeface="Times New Roman" pitchFamily="18" charset="0"/>
              </a:rPr>
              <a:t>of</a:t>
            </a:r>
            <a:r>
              <a:rPr sz="3600" spc="-114" dirty="0">
                <a:solidFill>
                  <a:srgbClr val="000000"/>
                </a:solidFill>
                <a:latin typeface="Times New Roman" pitchFamily="18" charset="0"/>
                <a:cs typeface="Times New Roman" pitchFamily="18" charset="0"/>
              </a:rPr>
              <a:t> </a:t>
            </a:r>
            <a:r>
              <a:rPr sz="3600" spc="-60" dirty="0">
                <a:solidFill>
                  <a:srgbClr val="000000"/>
                </a:solidFill>
                <a:latin typeface="Times New Roman" pitchFamily="18" charset="0"/>
                <a:cs typeface="Times New Roman" pitchFamily="18" charset="0"/>
              </a:rPr>
              <a:t>Water</a:t>
            </a:r>
            <a:endParaRPr sz="3600">
              <a:latin typeface="Times New Roman" pitchFamily="18" charset="0"/>
              <a:cs typeface="Times New Roman" pitchFamily="18" charset="0"/>
            </a:endParaRPr>
          </a:p>
        </p:txBody>
      </p:sp>
      <p:sp>
        <p:nvSpPr>
          <p:cNvPr id="4" name="object 4"/>
          <p:cNvSpPr txBox="1"/>
          <p:nvPr/>
        </p:nvSpPr>
        <p:spPr>
          <a:xfrm>
            <a:off x="223215" y="806322"/>
            <a:ext cx="8821420" cy="2952750"/>
          </a:xfrm>
          <a:prstGeom prst="rect">
            <a:avLst/>
          </a:prstGeom>
        </p:spPr>
        <p:txBody>
          <a:bodyPr vert="horz" wrap="square" lIns="0" tIns="13335" rIns="0" bIns="0" rtlCol="0">
            <a:spAutoFit/>
          </a:bodyPr>
          <a:lstStyle/>
          <a:p>
            <a:pPr marL="12700">
              <a:lnSpc>
                <a:spcPct val="100000"/>
              </a:lnSpc>
              <a:spcBef>
                <a:spcPts val="105"/>
              </a:spcBef>
            </a:pPr>
            <a:r>
              <a:rPr sz="3200" dirty="0">
                <a:latin typeface="Times New Roman"/>
                <a:cs typeface="Times New Roman"/>
              </a:rPr>
              <a:t>A) Surface</a:t>
            </a:r>
            <a:r>
              <a:rPr sz="3200" spc="-95" dirty="0">
                <a:latin typeface="Times New Roman"/>
                <a:cs typeface="Times New Roman"/>
              </a:rPr>
              <a:t> </a:t>
            </a:r>
            <a:r>
              <a:rPr sz="3200" spc="-45" dirty="0">
                <a:latin typeface="Times New Roman"/>
                <a:cs typeface="Times New Roman"/>
              </a:rPr>
              <a:t>Waters</a:t>
            </a:r>
            <a:endParaRPr sz="3200">
              <a:latin typeface="Times New Roman"/>
              <a:cs typeface="Times New Roman"/>
            </a:endParaRPr>
          </a:p>
          <a:p>
            <a:pPr marL="520065" marR="665480">
              <a:lnSpc>
                <a:spcPct val="100000"/>
              </a:lnSpc>
            </a:pPr>
            <a:r>
              <a:rPr sz="3200" dirty="0">
                <a:latin typeface="Times New Roman"/>
                <a:cs typeface="Times New Roman"/>
              </a:rPr>
              <a:t>Rain </a:t>
            </a:r>
            <a:r>
              <a:rPr sz="3200" spc="-50" dirty="0">
                <a:latin typeface="Times New Roman"/>
                <a:cs typeface="Times New Roman"/>
              </a:rPr>
              <a:t>Water </a:t>
            </a:r>
            <a:r>
              <a:rPr sz="3200" dirty="0">
                <a:latin typeface="Times New Roman"/>
                <a:cs typeface="Times New Roman"/>
              </a:rPr>
              <a:t>- Pure but contaminated with</a:t>
            </a:r>
            <a:r>
              <a:rPr sz="3200" spc="-110" dirty="0">
                <a:latin typeface="Times New Roman"/>
                <a:cs typeface="Times New Roman"/>
              </a:rPr>
              <a:t> </a:t>
            </a:r>
            <a:r>
              <a:rPr sz="3200" dirty="0">
                <a:latin typeface="Times New Roman"/>
                <a:cs typeface="Times New Roman"/>
              </a:rPr>
              <a:t>gases  River </a:t>
            </a:r>
            <a:r>
              <a:rPr sz="3200" spc="-50" dirty="0">
                <a:latin typeface="Times New Roman"/>
                <a:cs typeface="Times New Roman"/>
              </a:rPr>
              <a:t>Water </a:t>
            </a:r>
            <a:r>
              <a:rPr sz="3200" dirty="0">
                <a:latin typeface="Times New Roman"/>
                <a:cs typeface="Times New Roman"/>
              </a:rPr>
              <a:t>- High dissolved salts</a:t>
            </a:r>
            <a:r>
              <a:rPr sz="3200" spc="-95" dirty="0">
                <a:latin typeface="Times New Roman"/>
                <a:cs typeface="Times New Roman"/>
              </a:rPr>
              <a:t> </a:t>
            </a:r>
            <a:r>
              <a:rPr sz="3200" dirty="0">
                <a:latin typeface="Times New Roman"/>
                <a:cs typeface="Times New Roman"/>
              </a:rPr>
              <a:t>moderate</a:t>
            </a:r>
            <a:endParaRPr sz="3200">
              <a:latin typeface="Times New Roman"/>
              <a:cs typeface="Times New Roman"/>
            </a:endParaRPr>
          </a:p>
          <a:p>
            <a:pPr marL="12700">
              <a:lnSpc>
                <a:spcPct val="100000"/>
              </a:lnSpc>
            </a:pPr>
            <a:r>
              <a:rPr sz="3200" spc="-5" dirty="0">
                <a:latin typeface="Times New Roman"/>
                <a:cs typeface="Times New Roman"/>
              </a:rPr>
              <a:t>organics</a:t>
            </a:r>
            <a:endParaRPr sz="3200">
              <a:latin typeface="Times New Roman"/>
              <a:cs typeface="Times New Roman"/>
            </a:endParaRPr>
          </a:p>
          <a:p>
            <a:pPr marL="520065" marR="5080">
              <a:lnSpc>
                <a:spcPct val="100000"/>
              </a:lnSpc>
              <a:tabLst>
                <a:tab pos="2705735" algn="l"/>
              </a:tabLst>
            </a:pPr>
            <a:r>
              <a:rPr sz="3200" dirty="0">
                <a:latin typeface="Times New Roman"/>
                <a:cs typeface="Times New Roman"/>
              </a:rPr>
              <a:t>Lake </a:t>
            </a:r>
            <a:r>
              <a:rPr sz="3200" spc="-50" dirty="0">
                <a:latin typeface="Times New Roman"/>
                <a:cs typeface="Times New Roman"/>
              </a:rPr>
              <a:t>Water </a:t>
            </a:r>
            <a:r>
              <a:rPr sz="3200" dirty="0">
                <a:latin typeface="Times New Roman"/>
                <a:cs typeface="Times New Roman"/>
              </a:rPr>
              <a:t>- Const. composition but high</a:t>
            </a:r>
            <a:r>
              <a:rPr sz="3200" spc="-120" dirty="0">
                <a:latin typeface="Times New Roman"/>
                <a:cs typeface="Times New Roman"/>
              </a:rPr>
              <a:t> </a:t>
            </a:r>
            <a:r>
              <a:rPr sz="3200" spc="-5" dirty="0">
                <a:latin typeface="Times New Roman"/>
                <a:cs typeface="Times New Roman"/>
              </a:rPr>
              <a:t>organics  </a:t>
            </a:r>
            <a:r>
              <a:rPr sz="3200" dirty="0">
                <a:latin typeface="Times New Roman"/>
                <a:cs typeface="Times New Roman"/>
              </a:rPr>
              <a:t>Sea</a:t>
            </a:r>
            <a:r>
              <a:rPr sz="3200" spc="-50" dirty="0">
                <a:latin typeface="Times New Roman"/>
                <a:cs typeface="Times New Roman"/>
              </a:rPr>
              <a:t> Water</a:t>
            </a:r>
            <a:r>
              <a:rPr sz="3200" spc="-20" dirty="0">
                <a:latin typeface="Times New Roman"/>
                <a:cs typeface="Times New Roman"/>
              </a:rPr>
              <a:t> </a:t>
            </a:r>
            <a:r>
              <a:rPr sz="3200" dirty="0">
                <a:latin typeface="Times New Roman"/>
                <a:cs typeface="Times New Roman"/>
              </a:rPr>
              <a:t>-	High </a:t>
            </a:r>
            <a:r>
              <a:rPr sz="3200" spc="-25" dirty="0">
                <a:latin typeface="Times New Roman"/>
                <a:cs typeface="Times New Roman"/>
              </a:rPr>
              <a:t>salinity, </a:t>
            </a:r>
            <a:r>
              <a:rPr sz="3200" dirty="0">
                <a:latin typeface="Times New Roman"/>
                <a:cs typeface="Times New Roman"/>
              </a:rPr>
              <a:t>pathogens,</a:t>
            </a:r>
            <a:r>
              <a:rPr sz="3200" spc="-55" dirty="0">
                <a:latin typeface="Times New Roman"/>
                <a:cs typeface="Times New Roman"/>
              </a:rPr>
              <a:t> </a:t>
            </a:r>
            <a:r>
              <a:rPr sz="3200" spc="-5" dirty="0">
                <a:latin typeface="Times New Roman"/>
                <a:cs typeface="Times New Roman"/>
              </a:rPr>
              <a:t>organics</a:t>
            </a:r>
            <a:endParaRPr sz="3200">
              <a:latin typeface="Times New Roman"/>
              <a:cs typeface="Times New Roman"/>
            </a:endParaRPr>
          </a:p>
        </p:txBody>
      </p:sp>
      <p:sp>
        <p:nvSpPr>
          <p:cNvPr id="5" name="object 5"/>
          <p:cNvSpPr txBox="1"/>
          <p:nvPr/>
        </p:nvSpPr>
        <p:spPr>
          <a:xfrm>
            <a:off x="223215" y="4220413"/>
            <a:ext cx="7393305" cy="1977389"/>
          </a:xfrm>
          <a:prstGeom prst="rect">
            <a:avLst/>
          </a:prstGeom>
        </p:spPr>
        <p:txBody>
          <a:bodyPr vert="horz" wrap="square" lIns="0" tIns="13335" rIns="0" bIns="0" rtlCol="0">
            <a:spAutoFit/>
          </a:bodyPr>
          <a:lstStyle/>
          <a:p>
            <a:pPr marL="12700">
              <a:lnSpc>
                <a:spcPct val="100000"/>
              </a:lnSpc>
              <a:spcBef>
                <a:spcPts val="105"/>
              </a:spcBef>
            </a:pPr>
            <a:r>
              <a:rPr sz="3200" dirty="0">
                <a:latin typeface="Times New Roman"/>
                <a:cs typeface="Times New Roman"/>
              </a:rPr>
              <a:t>B) </a:t>
            </a:r>
            <a:r>
              <a:rPr sz="3200" spc="-5" dirty="0">
                <a:latin typeface="Times New Roman"/>
                <a:cs typeface="Times New Roman"/>
              </a:rPr>
              <a:t>Underground</a:t>
            </a:r>
            <a:r>
              <a:rPr sz="3200" spc="-125" dirty="0">
                <a:latin typeface="Times New Roman"/>
                <a:cs typeface="Times New Roman"/>
              </a:rPr>
              <a:t> </a:t>
            </a:r>
            <a:r>
              <a:rPr sz="3200" spc="-40" dirty="0">
                <a:latin typeface="Times New Roman"/>
                <a:cs typeface="Times New Roman"/>
              </a:rPr>
              <a:t>Waters</a:t>
            </a:r>
            <a:endParaRPr sz="3200">
              <a:latin typeface="Times New Roman"/>
              <a:cs typeface="Times New Roman"/>
            </a:endParaRPr>
          </a:p>
          <a:p>
            <a:pPr marL="12700" marR="5080" indent="507365">
              <a:lnSpc>
                <a:spcPct val="100000"/>
              </a:lnSpc>
            </a:pPr>
            <a:r>
              <a:rPr sz="3200" spc="-25" dirty="0">
                <a:latin typeface="Times New Roman"/>
                <a:cs typeface="Times New Roman"/>
              </a:rPr>
              <a:t>Spring/Well </a:t>
            </a:r>
            <a:r>
              <a:rPr sz="3200" spc="-50" dirty="0">
                <a:latin typeface="Times New Roman"/>
                <a:cs typeface="Times New Roman"/>
              </a:rPr>
              <a:t>Water </a:t>
            </a:r>
            <a:r>
              <a:rPr sz="3200" dirty="0">
                <a:latin typeface="Times New Roman"/>
                <a:cs typeface="Times New Roman"/>
              </a:rPr>
              <a:t>- Crystal clear but</a:t>
            </a:r>
            <a:r>
              <a:rPr sz="3200" spc="-85" dirty="0">
                <a:latin typeface="Times New Roman"/>
                <a:cs typeface="Times New Roman"/>
              </a:rPr>
              <a:t> </a:t>
            </a:r>
            <a:r>
              <a:rPr sz="3200" dirty="0">
                <a:latin typeface="Times New Roman"/>
                <a:cs typeface="Times New Roman"/>
              </a:rPr>
              <a:t>high  dissolved</a:t>
            </a:r>
            <a:endParaRPr sz="3200">
              <a:latin typeface="Times New Roman"/>
              <a:cs typeface="Times New Roman"/>
            </a:endParaRPr>
          </a:p>
          <a:p>
            <a:pPr marL="520065">
              <a:lnSpc>
                <a:spcPct val="100000"/>
              </a:lnSpc>
            </a:pPr>
            <a:r>
              <a:rPr sz="3200" dirty="0">
                <a:latin typeface="Times New Roman"/>
                <a:cs typeface="Times New Roman"/>
              </a:rPr>
              <a:t>salts and high purity from</a:t>
            </a:r>
            <a:r>
              <a:rPr sz="3200" spc="-95" dirty="0">
                <a:latin typeface="Times New Roman"/>
                <a:cs typeface="Times New Roman"/>
              </a:rPr>
              <a:t> </a:t>
            </a:r>
            <a:r>
              <a:rPr sz="3200" spc="-5" dirty="0">
                <a:latin typeface="Times New Roman"/>
                <a:cs typeface="Times New Roman"/>
              </a:rPr>
              <a:t>organics</a:t>
            </a:r>
            <a:endParaRPr sz="3200">
              <a:latin typeface="Times New Roman"/>
              <a:cs typeface="Times New Roman"/>
            </a:endParaRPr>
          </a:p>
        </p:txBody>
      </p:sp>
      <p:sp>
        <p:nvSpPr>
          <p:cNvPr id="6" name="object 6"/>
          <p:cNvSpPr txBox="1"/>
          <p:nvPr/>
        </p:nvSpPr>
        <p:spPr>
          <a:xfrm>
            <a:off x="8377555" y="5870549"/>
            <a:ext cx="11493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Times New Roman"/>
                <a:cs typeface="Times New Roman"/>
              </a:rPr>
              <a:t>2</a:t>
            </a:r>
            <a:endParaRPr sz="140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775" y="1581657"/>
            <a:ext cx="200088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6600"/>
                </a:solidFill>
                <a:latin typeface="Times New Roman"/>
                <a:cs typeface="Times New Roman"/>
              </a:rPr>
              <a:t>Ionic and</a:t>
            </a:r>
            <a:r>
              <a:rPr sz="2000" spc="-105" dirty="0">
                <a:solidFill>
                  <a:srgbClr val="006600"/>
                </a:solidFill>
                <a:latin typeface="Times New Roman"/>
                <a:cs typeface="Times New Roman"/>
              </a:rPr>
              <a:t> </a:t>
            </a:r>
            <a:r>
              <a:rPr sz="2000" dirty="0">
                <a:solidFill>
                  <a:srgbClr val="006600"/>
                </a:solidFill>
                <a:latin typeface="Times New Roman"/>
                <a:cs typeface="Times New Roman"/>
              </a:rPr>
              <a:t>dissolved</a:t>
            </a:r>
            <a:endParaRPr sz="2000">
              <a:latin typeface="Times New Roman"/>
              <a:cs typeface="Times New Roman"/>
            </a:endParaRPr>
          </a:p>
        </p:txBody>
      </p:sp>
      <p:sp>
        <p:nvSpPr>
          <p:cNvPr id="3" name="object 3"/>
          <p:cNvSpPr txBox="1"/>
          <p:nvPr/>
        </p:nvSpPr>
        <p:spPr>
          <a:xfrm>
            <a:off x="258267" y="1886457"/>
            <a:ext cx="1226820" cy="940435"/>
          </a:xfrm>
          <a:prstGeom prst="rect">
            <a:avLst/>
          </a:prstGeom>
        </p:spPr>
        <p:txBody>
          <a:bodyPr vert="horz" wrap="square" lIns="0" tIns="13335" rIns="0" bIns="0" rtlCol="0">
            <a:spAutoFit/>
          </a:bodyPr>
          <a:lstStyle/>
          <a:p>
            <a:pPr marL="12700" marR="5080">
              <a:lnSpc>
                <a:spcPct val="100000"/>
              </a:lnSpc>
              <a:spcBef>
                <a:spcPts val="105"/>
              </a:spcBef>
            </a:pPr>
            <a:r>
              <a:rPr sz="2000" dirty="0">
                <a:solidFill>
                  <a:srgbClr val="FF0000"/>
                </a:solidFill>
                <a:latin typeface="Times New Roman"/>
                <a:cs typeface="Times New Roman"/>
              </a:rPr>
              <a:t>Cationic  </a:t>
            </a:r>
            <a:r>
              <a:rPr sz="2000" spc="-5" dirty="0">
                <a:latin typeface="Times New Roman"/>
                <a:cs typeface="Times New Roman"/>
              </a:rPr>
              <a:t>Calcium  </a:t>
            </a:r>
            <a:r>
              <a:rPr sz="2000" dirty="0">
                <a:latin typeface="Times New Roman"/>
                <a:cs typeface="Times New Roman"/>
              </a:rPr>
              <a:t>M</a:t>
            </a:r>
            <a:r>
              <a:rPr sz="2000" spc="-10" dirty="0">
                <a:latin typeface="Times New Roman"/>
                <a:cs typeface="Times New Roman"/>
              </a:rPr>
              <a:t>a</a:t>
            </a:r>
            <a:r>
              <a:rPr sz="2000" dirty="0">
                <a:latin typeface="Times New Roman"/>
                <a:cs typeface="Times New Roman"/>
              </a:rPr>
              <a:t>g</a:t>
            </a:r>
            <a:r>
              <a:rPr sz="2000" spc="10" dirty="0">
                <a:latin typeface="Times New Roman"/>
                <a:cs typeface="Times New Roman"/>
              </a:rPr>
              <a:t>n</a:t>
            </a:r>
            <a:r>
              <a:rPr sz="2000" dirty="0">
                <a:latin typeface="Times New Roman"/>
                <a:cs typeface="Times New Roman"/>
              </a:rPr>
              <a:t>es</a:t>
            </a:r>
            <a:r>
              <a:rPr sz="2000" spc="-10" dirty="0">
                <a:latin typeface="Times New Roman"/>
                <a:cs typeface="Times New Roman"/>
              </a:rPr>
              <a:t>i</a:t>
            </a:r>
            <a:r>
              <a:rPr sz="2000" dirty="0">
                <a:latin typeface="Times New Roman"/>
                <a:cs typeface="Times New Roman"/>
              </a:rPr>
              <a:t>um</a:t>
            </a:r>
            <a:endParaRPr sz="2000">
              <a:latin typeface="Times New Roman"/>
              <a:cs typeface="Times New Roman"/>
            </a:endParaRPr>
          </a:p>
        </p:txBody>
      </p:sp>
      <p:sp>
        <p:nvSpPr>
          <p:cNvPr id="4" name="object 4"/>
          <p:cNvSpPr txBox="1"/>
          <p:nvPr/>
        </p:nvSpPr>
        <p:spPr>
          <a:xfrm>
            <a:off x="2087372" y="1886457"/>
            <a:ext cx="1255395" cy="1245870"/>
          </a:xfrm>
          <a:prstGeom prst="rect">
            <a:avLst/>
          </a:prstGeom>
        </p:spPr>
        <p:txBody>
          <a:bodyPr vert="horz" wrap="square" lIns="0" tIns="13335" rIns="0" bIns="0" rtlCol="0">
            <a:spAutoFit/>
          </a:bodyPr>
          <a:lstStyle/>
          <a:p>
            <a:pPr marL="12700" marR="5080">
              <a:lnSpc>
                <a:spcPct val="100000"/>
              </a:lnSpc>
              <a:spcBef>
                <a:spcPts val="105"/>
              </a:spcBef>
            </a:pPr>
            <a:r>
              <a:rPr sz="2000" dirty="0">
                <a:solidFill>
                  <a:srgbClr val="FF0000"/>
                </a:solidFill>
                <a:latin typeface="Times New Roman"/>
                <a:cs typeface="Times New Roman"/>
              </a:rPr>
              <a:t>Anionic  </a:t>
            </a:r>
            <a:r>
              <a:rPr sz="2000" dirty="0">
                <a:latin typeface="Times New Roman"/>
                <a:cs typeface="Times New Roman"/>
              </a:rPr>
              <a:t>B</a:t>
            </a:r>
            <a:r>
              <a:rPr sz="2000" spc="-10" dirty="0">
                <a:latin typeface="Times New Roman"/>
                <a:cs typeface="Times New Roman"/>
              </a:rPr>
              <a:t>i</a:t>
            </a:r>
            <a:r>
              <a:rPr sz="2000" dirty="0">
                <a:latin typeface="Times New Roman"/>
                <a:cs typeface="Times New Roman"/>
              </a:rPr>
              <a:t>car</a:t>
            </a:r>
            <a:r>
              <a:rPr sz="2000" spc="5" dirty="0">
                <a:latin typeface="Times New Roman"/>
                <a:cs typeface="Times New Roman"/>
              </a:rPr>
              <a:t>b</a:t>
            </a:r>
            <a:r>
              <a:rPr sz="2000" dirty="0">
                <a:latin typeface="Times New Roman"/>
                <a:cs typeface="Times New Roman"/>
              </a:rPr>
              <a:t>o</a:t>
            </a:r>
            <a:r>
              <a:rPr sz="2000" spc="10" dirty="0">
                <a:latin typeface="Times New Roman"/>
                <a:cs typeface="Times New Roman"/>
              </a:rPr>
              <a:t>n</a:t>
            </a:r>
            <a:r>
              <a:rPr sz="2000" dirty="0">
                <a:latin typeface="Times New Roman"/>
                <a:cs typeface="Times New Roman"/>
              </a:rPr>
              <a:t>a</a:t>
            </a:r>
            <a:r>
              <a:rPr sz="2000" spc="-10" dirty="0">
                <a:latin typeface="Times New Roman"/>
                <a:cs typeface="Times New Roman"/>
              </a:rPr>
              <a:t>t</a:t>
            </a:r>
            <a:r>
              <a:rPr sz="2000" dirty="0">
                <a:latin typeface="Times New Roman"/>
                <a:cs typeface="Times New Roman"/>
              </a:rPr>
              <a:t>e  Carbonate  Hydroxide</a:t>
            </a:r>
            <a:endParaRPr sz="2000">
              <a:latin typeface="Times New Roman"/>
              <a:cs typeface="Times New Roman"/>
            </a:endParaRPr>
          </a:p>
        </p:txBody>
      </p:sp>
      <p:sp>
        <p:nvSpPr>
          <p:cNvPr id="5" name="object 5"/>
          <p:cNvSpPr txBox="1"/>
          <p:nvPr/>
        </p:nvSpPr>
        <p:spPr>
          <a:xfrm>
            <a:off x="3856990" y="1886457"/>
            <a:ext cx="2936875" cy="940435"/>
          </a:xfrm>
          <a:prstGeom prst="rect">
            <a:avLst/>
          </a:prstGeom>
        </p:spPr>
        <p:txBody>
          <a:bodyPr vert="horz" wrap="square" lIns="0" tIns="13335" rIns="0" bIns="0" rtlCol="0">
            <a:spAutoFit/>
          </a:bodyPr>
          <a:lstStyle/>
          <a:p>
            <a:pPr marL="71755" marR="5080" indent="-59690">
              <a:lnSpc>
                <a:spcPct val="100000"/>
              </a:lnSpc>
              <a:spcBef>
                <a:spcPts val="105"/>
              </a:spcBef>
            </a:pPr>
            <a:r>
              <a:rPr sz="2000" dirty="0">
                <a:solidFill>
                  <a:srgbClr val="FF0000"/>
                </a:solidFill>
                <a:latin typeface="Times New Roman"/>
                <a:cs typeface="Times New Roman"/>
              </a:rPr>
              <a:t>Nonionic and undissolved  </a:t>
            </a:r>
            <a:r>
              <a:rPr sz="2000" spc="-25" dirty="0">
                <a:latin typeface="Times New Roman"/>
                <a:cs typeface="Times New Roman"/>
              </a:rPr>
              <a:t>Turbidity, </a:t>
            </a:r>
            <a:r>
              <a:rPr sz="2000" spc="-5" dirty="0">
                <a:latin typeface="Times New Roman"/>
                <a:cs typeface="Times New Roman"/>
              </a:rPr>
              <a:t>silt, mud, </a:t>
            </a:r>
            <a:r>
              <a:rPr sz="2000" dirty="0">
                <a:latin typeface="Times New Roman"/>
                <a:cs typeface="Times New Roman"/>
              </a:rPr>
              <a:t>dirt</a:t>
            </a:r>
            <a:r>
              <a:rPr sz="2000" spc="-60" dirty="0">
                <a:latin typeface="Times New Roman"/>
                <a:cs typeface="Times New Roman"/>
              </a:rPr>
              <a:t> </a:t>
            </a:r>
            <a:r>
              <a:rPr sz="2000" dirty="0">
                <a:latin typeface="Times New Roman"/>
                <a:cs typeface="Times New Roman"/>
              </a:rPr>
              <a:t>and  other suspended</a:t>
            </a:r>
            <a:r>
              <a:rPr sz="2000" spc="-80" dirty="0">
                <a:latin typeface="Times New Roman"/>
                <a:cs typeface="Times New Roman"/>
              </a:rPr>
              <a:t> </a:t>
            </a:r>
            <a:r>
              <a:rPr sz="2000" spc="-10" dirty="0">
                <a:latin typeface="Times New Roman"/>
                <a:cs typeface="Times New Roman"/>
              </a:rPr>
              <a:t>matter</a:t>
            </a:r>
            <a:endParaRPr sz="2000">
              <a:latin typeface="Times New Roman"/>
              <a:cs typeface="Times New Roman"/>
            </a:endParaRPr>
          </a:p>
        </p:txBody>
      </p:sp>
      <p:sp>
        <p:nvSpPr>
          <p:cNvPr id="6" name="object 6"/>
          <p:cNvSpPr txBox="1"/>
          <p:nvPr/>
        </p:nvSpPr>
        <p:spPr>
          <a:xfrm>
            <a:off x="7625460" y="1886457"/>
            <a:ext cx="860425" cy="1855470"/>
          </a:xfrm>
          <a:prstGeom prst="rect">
            <a:avLst/>
          </a:prstGeom>
        </p:spPr>
        <p:txBody>
          <a:bodyPr vert="horz" wrap="square" lIns="0" tIns="13335" rIns="0" bIns="0" rtlCol="0">
            <a:spAutoFit/>
          </a:bodyPr>
          <a:lstStyle/>
          <a:p>
            <a:pPr marL="43180" marR="206375" indent="-5715">
              <a:lnSpc>
                <a:spcPct val="100000"/>
              </a:lnSpc>
              <a:spcBef>
                <a:spcPts val="105"/>
              </a:spcBef>
            </a:pPr>
            <a:r>
              <a:rPr sz="2000" dirty="0">
                <a:solidFill>
                  <a:srgbClr val="FF0000"/>
                </a:solidFill>
                <a:latin typeface="Times New Roman"/>
                <a:cs typeface="Times New Roman"/>
              </a:rPr>
              <a:t>Gases  </a:t>
            </a:r>
            <a:r>
              <a:rPr sz="2000" spc="10" dirty="0">
                <a:latin typeface="Times New Roman"/>
                <a:cs typeface="Times New Roman"/>
              </a:rPr>
              <a:t>CO</a:t>
            </a:r>
            <a:r>
              <a:rPr sz="1950" spc="15" baseline="-21367" dirty="0">
                <a:latin typeface="Times New Roman"/>
                <a:cs typeface="Times New Roman"/>
              </a:rPr>
              <a:t>2</a:t>
            </a:r>
            <a:endParaRPr sz="1950" baseline="-21367">
              <a:latin typeface="Times New Roman"/>
              <a:cs typeface="Times New Roman"/>
            </a:endParaRPr>
          </a:p>
          <a:p>
            <a:pPr marL="248920" marR="30480" indent="131445">
              <a:lnSpc>
                <a:spcPct val="100000"/>
              </a:lnSpc>
            </a:pPr>
            <a:r>
              <a:rPr sz="2000" spc="10" dirty="0">
                <a:latin typeface="Times New Roman"/>
                <a:cs typeface="Times New Roman"/>
              </a:rPr>
              <a:t>H</a:t>
            </a:r>
            <a:r>
              <a:rPr sz="1950" spc="15" baseline="-21367" dirty="0">
                <a:latin typeface="Times New Roman"/>
                <a:cs typeface="Times New Roman"/>
              </a:rPr>
              <a:t>2</a:t>
            </a:r>
            <a:r>
              <a:rPr sz="2000" spc="10" dirty="0">
                <a:latin typeface="Times New Roman"/>
                <a:cs typeface="Times New Roman"/>
              </a:rPr>
              <a:t>S  NH</a:t>
            </a:r>
            <a:r>
              <a:rPr sz="1950" spc="15" baseline="-21367" dirty="0">
                <a:latin typeface="Times New Roman"/>
                <a:cs typeface="Times New Roman"/>
              </a:rPr>
              <a:t>3  </a:t>
            </a:r>
            <a:r>
              <a:rPr sz="2000" spc="5" dirty="0">
                <a:latin typeface="Times New Roman"/>
                <a:cs typeface="Times New Roman"/>
              </a:rPr>
              <a:t>CH</a:t>
            </a:r>
            <a:r>
              <a:rPr sz="1950" spc="7" baseline="-21367" dirty="0">
                <a:latin typeface="Times New Roman"/>
                <a:cs typeface="Times New Roman"/>
              </a:rPr>
              <a:t>4  </a:t>
            </a:r>
            <a:r>
              <a:rPr sz="2000" spc="5" dirty="0">
                <a:latin typeface="Times New Roman"/>
                <a:cs typeface="Times New Roman"/>
              </a:rPr>
              <a:t>O</a:t>
            </a:r>
            <a:r>
              <a:rPr sz="1950" spc="7" baseline="-21367" dirty="0">
                <a:latin typeface="Times New Roman"/>
                <a:cs typeface="Times New Roman"/>
              </a:rPr>
              <a:t>2</a:t>
            </a:r>
            <a:endParaRPr sz="1950" baseline="-21367">
              <a:latin typeface="Times New Roman"/>
              <a:cs typeface="Times New Roman"/>
            </a:endParaRPr>
          </a:p>
        </p:txBody>
      </p:sp>
      <p:sp>
        <p:nvSpPr>
          <p:cNvPr id="7" name="object 7"/>
          <p:cNvSpPr txBox="1"/>
          <p:nvPr/>
        </p:nvSpPr>
        <p:spPr>
          <a:xfrm>
            <a:off x="258267" y="3106038"/>
            <a:ext cx="1251585" cy="1550670"/>
          </a:xfrm>
          <a:prstGeom prst="rect">
            <a:avLst/>
          </a:prstGeom>
        </p:spPr>
        <p:txBody>
          <a:bodyPr vert="horz" wrap="square" lIns="0" tIns="13335" rIns="0" bIns="0" rtlCol="0">
            <a:spAutoFit/>
          </a:bodyPr>
          <a:lstStyle/>
          <a:p>
            <a:pPr marL="12700" marR="5080">
              <a:lnSpc>
                <a:spcPct val="100000"/>
              </a:lnSpc>
              <a:spcBef>
                <a:spcPts val="105"/>
              </a:spcBef>
            </a:pPr>
            <a:r>
              <a:rPr sz="2000" dirty="0">
                <a:latin typeface="Times New Roman"/>
                <a:cs typeface="Times New Roman"/>
              </a:rPr>
              <a:t>Sodium  Potassium  A</a:t>
            </a:r>
            <a:r>
              <a:rPr sz="2000" spc="-20" dirty="0">
                <a:latin typeface="Times New Roman"/>
                <a:cs typeface="Times New Roman"/>
              </a:rPr>
              <a:t>m</a:t>
            </a:r>
            <a:r>
              <a:rPr sz="2000" spc="-25" dirty="0">
                <a:latin typeface="Times New Roman"/>
                <a:cs typeface="Times New Roman"/>
              </a:rPr>
              <a:t>m</a:t>
            </a:r>
            <a:r>
              <a:rPr sz="2000" dirty="0">
                <a:latin typeface="Times New Roman"/>
                <a:cs typeface="Times New Roman"/>
              </a:rPr>
              <a:t>o</a:t>
            </a:r>
            <a:r>
              <a:rPr sz="2000" spc="10" dirty="0">
                <a:latin typeface="Times New Roman"/>
                <a:cs typeface="Times New Roman"/>
              </a:rPr>
              <a:t>n</a:t>
            </a:r>
            <a:r>
              <a:rPr sz="2000" dirty="0">
                <a:latin typeface="Times New Roman"/>
                <a:cs typeface="Times New Roman"/>
              </a:rPr>
              <a:t>ium  Iron  Manganese</a:t>
            </a:r>
            <a:endParaRPr sz="2000">
              <a:latin typeface="Times New Roman"/>
              <a:cs typeface="Times New Roman"/>
            </a:endParaRPr>
          </a:p>
        </p:txBody>
      </p:sp>
      <p:sp>
        <p:nvSpPr>
          <p:cNvPr id="8" name="object 8"/>
          <p:cNvSpPr txBox="1"/>
          <p:nvPr/>
        </p:nvSpPr>
        <p:spPr>
          <a:xfrm>
            <a:off x="2087372" y="3410839"/>
            <a:ext cx="74612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S</a:t>
            </a:r>
            <a:r>
              <a:rPr sz="2000" spc="5" dirty="0">
                <a:latin typeface="Times New Roman"/>
                <a:cs typeface="Times New Roman"/>
              </a:rPr>
              <a:t>u</a:t>
            </a:r>
            <a:r>
              <a:rPr sz="2000" dirty="0">
                <a:latin typeface="Times New Roman"/>
                <a:cs typeface="Times New Roman"/>
              </a:rPr>
              <a:t>lfa</a:t>
            </a:r>
            <a:r>
              <a:rPr sz="2000" spc="-10" dirty="0">
                <a:latin typeface="Times New Roman"/>
                <a:cs typeface="Times New Roman"/>
              </a:rPr>
              <a:t>t</a:t>
            </a:r>
            <a:r>
              <a:rPr sz="2000" dirty="0">
                <a:latin typeface="Times New Roman"/>
                <a:cs typeface="Times New Roman"/>
              </a:rPr>
              <a:t>e</a:t>
            </a:r>
            <a:endParaRPr sz="2000">
              <a:latin typeface="Times New Roman"/>
              <a:cs typeface="Times New Roman"/>
            </a:endParaRPr>
          </a:p>
        </p:txBody>
      </p:sp>
      <p:sp>
        <p:nvSpPr>
          <p:cNvPr id="9" name="object 9"/>
          <p:cNvSpPr txBox="1"/>
          <p:nvPr/>
        </p:nvSpPr>
        <p:spPr>
          <a:xfrm>
            <a:off x="3916426" y="3106038"/>
            <a:ext cx="1626235" cy="635635"/>
          </a:xfrm>
          <a:prstGeom prst="rect">
            <a:avLst/>
          </a:prstGeom>
        </p:spPr>
        <p:txBody>
          <a:bodyPr vert="horz" wrap="square" lIns="0" tIns="13335" rIns="0" bIns="0" rtlCol="0">
            <a:spAutoFit/>
          </a:bodyPr>
          <a:lstStyle/>
          <a:p>
            <a:pPr marL="12700" marR="5080">
              <a:lnSpc>
                <a:spcPct val="100000"/>
              </a:lnSpc>
              <a:spcBef>
                <a:spcPts val="105"/>
              </a:spcBef>
            </a:pPr>
            <a:r>
              <a:rPr sz="2000" spc="-15" dirty="0">
                <a:latin typeface="Times New Roman"/>
                <a:cs typeface="Times New Roman"/>
              </a:rPr>
              <a:t>Color,</a:t>
            </a:r>
            <a:r>
              <a:rPr sz="2000" spc="-85" dirty="0">
                <a:latin typeface="Times New Roman"/>
                <a:cs typeface="Times New Roman"/>
              </a:rPr>
              <a:t> </a:t>
            </a:r>
            <a:r>
              <a:rPr sz="2000" dirty="0">
                <a:latin typeface="Times New Roman"/>
                <a:cs typeface="Times New Roman"/>
              </a:rPr>
              <a:t>Plankton  </a:t>
            </a:r>
            <a:r>
              <a:rPr sz="2000" spc="-5" dirty="0">
                <a:latin typeface="Times New Roman"/>
                <a:cs typeface="Times New Roman"/>
              </a:rPr>
              <a:t>Organic</a:t>
            </a:r>
            <a:r>
              <a:rPr sz="2000" spc="-80" dirty="0">
                <a:latin typeface="Times New Roman"/>
                <a:cs typeface="Times New Roman"/>
              </a:rPr>
              <a:t> </a:t>
            </a:r>
            <a:r>
              <a:rPr sz="2000" spc="-20" dirty="0">
                <a:latin typeface="Times New Roman"/>
                <a:cs typeface="Times New Roman"/>
              </a:rPr>
              <a:t>matter,</a:t>
            </a:r>
            <a:endParaRPr sz="2000">
              <a:latin typeface="Times New Roman"/>
              <a:cs typeface="Times New Roman"/>
            </a:endParaRPr>
          </a:p>
        </p:txBody>
      </p:sp>
      <p:sp>
        <p:nvSpPr>
          <p:cNvPr id="10" name="object 10"/>
          <p:cNvSpPr txBox="1"/>
          <p:nvPr/>
        </p:nvSpPr>
        <p:spPr>
          <a:xfrm>
            <a:off x="2087372" y="3715639"/>
            <a:ext cx="2544445"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a:cs typeface="Times New Roman"/>
              </a:rPr>
              <a:t>Chloride</a:t>
            </a:r>
            <a:r>
              <a:rPr sz="2000" spc="-409" dirty="0">
                <a:latin typeface="Times New Roman"/>
                <a:cs typeface="Times New Roman"/>
              </a:rPr>
              <a:t> </a:t>
            </a:r>
            <a:r>
              <a:rPr sz="2000" dirty="0">
                <a:latin typeface="Times New Roman"/>
                <a:cs typeface="Times New Roman"/>
              </a:rPr>
              <a:t>Colloidal </a:t>
            </a:r>
            <a:r>
              <a:rPr sz="2000" spc="-5" dirty="0">
                <a:latin typeface="Times New Roman"/>
                <a:cs typeface="Times New Roman"/>
              </a:rPr>
              <a:t>silica,</a:t>
            </a:r>
            <a:endParaRPr sz="2000">
              <a:latin typeface="Times New Roman"/>
              <a:cs typeface="Times New Roman"/>
            </a:endParaRPr>
          </a:p>
        </p:txBody>
      </p:sp>
      <p:sp>
        <p:nvSpPr>
          <p:cNvPr id="11" name="object 11"/>
          <p:cNvSpPr txBox="1"/>
          <p:nvPr/>
        </p:nvSpPr>
        <p:spPr>
          <a:xfrm>
            <a:off x="2087372" y="4020134"/>
            <a:ext cx="1071880" cy="636270"/>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Nitrate</a:t>
            </a:r>
            <a:endParaRPr sz="2000">
              <a:latin typeface="Times New Roman"/>
              <a:cs typeface="Times New Roman"/>
            </a:endParaRPr>
          </a:p>
          <a:p>
            <a:pPr marL="12700">
              <a:lnSpc>
                <a:spcPct val="100000"/>
              </a:lnSpc>
            </a:pPr>
            <a:r>
              <a:rPr sz="2000" dirty="0">
                <a:latin typeface="Times New Roman"/>
                <a:cs typeface="Times New Roman"/>
              </a:rPr>
              <a:t>P</a:t>
            </a:r>
            <a:r>
              <a:rPr sz="2000" spc="5" dirty="0">
                <a:latin typeface="Times New Roman"/>
                <a:cs typeface="Times New Roman"/>
              </a:rPr>
              <a:t>h</a:t>
            </a:r>
            <a:r>
              <a:rPr sz="2000" dirty="0">
                <a:latin typeface="Times New Roman"/>
                <a:cs typeface="Times New Roman"/>
              </a:rPr>
              <a:t>osp</a:t>
            </a:r>
            <a:r>
              <a:rPr sz="2000" spc="10" dirty="0">
                <a:latin typeface="Times New Roman"/>
                <a:cs typeface="Times New Roman"/>
              </a:rPr>
              <a:t>h</a:t>
            </a:r>
            <a:r>
              <a:rPr sz="2000" dirty="0">
                <a:latin typeface="Times New Roman"/>
                <a:cs typeface="Times New Roman"/>
              </a:rPr>
              <a:t>a</a:t>
            </a:r>
            <a:r>
              <a:rPr sz="2000" spc="-20" dirty="0">
                <a:latin typeface="Times New Roman"/>
                <a:cs typeface="Times New Roman"/>
              </a:rPr>
              <a:t>t</a:t>
            </a:r>
            <a:r>
              <a:rPr sz="2000" dirty="0">
                <a:latin typeface="Times New Roman"/>
                <a:cs typeface="Times New Roman"/>
              </a:rPr>
              <a:t>e</a:t>
            </a:r>
            <a:endParaRPr sz="2000">
              <a:latin typeface="Times New Roman"/>
              <a:cs typeface="Times New Roman"/>
            </a:endParaRPr>
          </a:p>
        </p:txBody>
      </p:sp>
      <p:sp>
        <p:nvSpPr>
          <p:cNvPr id="12" name="object 12"/>
          <p:cNvSpPr txBox="1"/>
          <p:nvPr/>
        </p:nvSpPr>
        <p:spPr>
          <a:xfrm>
            <a:off x="3916426" y="4020134"/>
            <a:ext cx="1748789" cy="636270"/>
          </a:xfrm>
          <a:prstGeom prst="rect">
            <a:avLst/>
          </a:prstGeom>
        </p:spPr>
        <p:txBody>
          <a:bodyPr vert="horz" wrap="square" lIns="0" tIns="13335" rIns="0" bIns="0" rtlCol="0">
            <a:spAutoFit/>
          </a:bodyPr>
          <a:lstStyle/>
          <a:p>
            <a:pPr marL="12700">
              <a:lnSpc>
                <a:spcPct val="100000"/>
              </a:lnSpc>
              <a:spcBef>
                <a:spcPts val="105"/>
              </a:spcBef>
            </a:pPr>
            <a:r>
              <a:rPr sz="2000" spc="-5" dirty="0">
                <a:latin typeface="Times New Roman"/>
                <a:cs typeface="Times New Roman"/>
              </a:rPr>
              <a:t>M</a:t>
            </a:r>
            <a:r>
              <a:rPr sz="2000" dirty="0">
                <a:latin typeface="Times New Roman"/>
                <a:cs typeface="Times New Roman"/>
              </a:rPr>
              <a:t>i</a:t>
            </a:r>
            <a:r>
              <a:rPr sz="2000" spc="-10" dirty="0">
                <a:latin typeface="Times New Roman"/>
                <a:cs typeface="Times New Roman"/>
              </a:rPr>
              <a:t>c</a:t>
            </a:r>
            <a:r>
              <a:rPr sz="2000" dirty="0">
                <a:latin typeface="Times New Roman"/>
                <a:cs typeface="Times New Roman"/>
              </a:rPr>
              <a:t>r</a:t>
            </a:r>
            <a:r>
              <a:rPr sz="2000" spc="5" dirty="0">
                <a:latin typeface="Times New Roman"/>
                <a:cs typeface="Times New Roman"/>
              </a:rPr>
              <a:t>o</a:t>
            </a:r>
            <a:r>
              <a:rPr sz="2000" dirty="0">
                <a:latin typeface="Times New Roman"/>
                <a:cs typeface="Times New Roman"/>
              </a:rPr>
              <a:t>o</a:t>
            </a:r>
            <a:r>
              <a:rPr sz="2000" spc="-30" dirty="0">
                <a:latin typeface="Times New Roman"/>
                <a:cs typeface="Times New Roman"/>
              </a:rPr>
              <a:t>r</a:t>
            </a:r>
            <a:r>
              <a:rPr sz="2000" spc="-10" dirty="0">
                <a:latin typeface="Times New Roman"/>
                <a:cs typeface="Times New Roman"/>
              </a:rPr>
              <a:t>g</a:t>
            </a:r>
            <a:r>
              <a:rPr sz="2000" dirty="0">
                <a:latin typeface="Times New Roman"/>
                <a:cs typeface="Times New Roman"/>
              </a:rPr>
              <a:t>a</a:t>
            </a:r>
            <a:r>
              <a:rPr sz="2000" spc="-10" dirty="0">
                <a:latin typeface="Times New Roman"/>
                <a:cs typeface="Times New Roman"/>
              </a:rPr>
              <a:t>n</a:t>
            </a:r>
            <a:r>
              <a:rPr sz="2000" dirty="0">
                <a:latin typeface="Times New Roman"/>
                <a:cs typeface="Times New Roman"/>
              </a:rPr>
              <a:t>i</a:t>
            </a:r>
            <a:r>
              <a:rPr sz="2000" spc="-10" dirty="0">
                <a:latin typeface="Times New Roman"/>
                <a:cs typeface="Times New Roman"/>
              </a:rPr>
              <a:t>s</a:t>
            </a:r>
            <a:r>
              <a:rPr sz="2000" spc="-20" dirty="0">
                <a:latin typeface="Times New Roman"/>
                <a:cs typeface="Times New Roman"/>
              </a:rPr>
              <a:t>m</a:t>
            </a:r>
            <a:r>
              <a:rPr sz="2000" dirty="0">
                <a:latin typeface="Times New Roman"/>
                <a:cs typeface="Times New Roman"/>
              </a:rPr>
              <a:t>s,</a:t>
            </a:r>
            <a:endParaRPr sz="2000">
              <a:latin typeface="Times New Roman"/>
              <a:cs typeface="Times New Roman"/>
            </a:endParaRPr>
          </a:p>
          <a:p>
            <a:pPr marL="12700">
              <a:lnSpc>
                <a:spcPct val="100000"/>
              </a:lnSpc>
            </a:pPr>
            <a:r>
              <a:rPr sz="2000" spc="-5" dirty="0">
                <a:latin typeface="Times New Roman"/>
                <a:cs typeface="Times New Roman"/>
              </a:rPr>
              <a:t>Bacteria</a:t>
            </a:r>
            <a:endParaRPr sz="2000">
              <a:latin typeface="Times New Roman"/>
              <a:cs typeface="Times New Roman"/>
            </a:endParaRPr>
          </a:p>
        </p:txBody>
      </p:sp>
      <p:sp>
        <p:nvSpPr>
          <p:cNvPr id="13" name="object 13"/>
          <p:cNvSpPr txBox="1">
            <a:spLocks noGrp="1"/>
          </p:cNvSpPr>
          <p:nvPr>
            <p:ph type="title"/>
          </p:nvPr>
        </p:nvSpPr>
        <p:spPr>
          <a:xfrm>
            <a:off x="2274570" y="862330"/>
            <a:ext cx="3683000"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990000"/>
                </a:solidFill>
              </a:rPr>
              <a:t>MAJOR IMPURITIES OF</a:t>
            </a:r>
            <a:r>
              <a:rPr sz="2000" spc="-95" dirty="0">
                <a:solidFill>
                  <a:srgbClr val="990000"/>
                </a:solidFill>
              </a:rPr>
              <a:t> </a:t>
            </a:r>
            <a:r>
              <a:rPr sz="2000" spc="-80" dirty="0">
                <a:solidFill>
                  <a:srgbClr val="990000"/>
                </a:solidFill>
              </a:rPr>
              <a:t>WATER</a:t>
            </a:r>
            <a:endParaRPr sz="2000"/>
          </a:p>
        </p:txBody>
      </p:sp>
      <p:sp>
        <p:nvSpPr>
          <p:cNvPr id="14" name="object 14"/>
          <p:cNvSpPr/>
          <p:nvPr/>
        </p:nvSpPr>
        <p:spPr>
          <a:xfrm>
            <a:off x="1979676" y="2276855"/>
            <a:ext cx="71755" cy="792480"/>
          </a:xfrm>
          <a:custGeom>
            <a:avLst/>
            <a:gdLst/>
            <a:ahLst/>
            <a:cxnLst/>
            <a:rect l="l" t="t" r="r" b="b"/>
            <a:pathLst>
              <a:path w="71755" h="792480">
                <a:moveTo>
                  <a:pt x="71628" y="792480"/>
                </a:moveTo>
                <a:lnTo>
                  <a:pt x="57673" y="787284"/>
                </a:lnTo>
                <a:lnTo>
                  <a:pt x="46291" y="773112"/>
                </a:lnTo>
                <a:lnTo>
                  <a:pt x="38623" y="752082"/>
                </a:lnTo>
                <a:lnTo>
                  <a:pt x="35813" y="726313"/>
                </a:lnTo>
                <a:lnTo>
                  <a:pt x="35813" y="462407"/>
                </a:lnTo>
                <a:lnTo>
                  <a:pt x="33004" y="436637"/>
                </a:lnTo>
                <a:lnTo>
                  <a:pt x="25336" y="415607"/>
                </a:lnTo>
                <a:lnTo>
                  <a:pt x="13954" y="401435"/>
                </a:lnTo>
                <a:lnTo>
                  <a:pt x="0" y="396240"/>
                </a:lnTo>
                <a:lnTo>
                  <a:pt x="13954" y="391044"/>
                </a:lnTo>
                <a:lnTo>
                  <a:pt x="25336" y="376872"/>
                </a:lnTo>
                <a:lnTo>
                  <a:pt x="33004" y="355842"/>
                </a:lnTo>
                <a:lnTo>
                  <a:pt x="35813" y="330073"/>
                </a:lnTo>
                <a:lnTo>
                  <a:pt x="35813" y="66167"/>
                </a:lnTo>
                <a:lnTo>
                  <a:pt x="38623" y="40397"/>
                </a:lnTo>
                <a:lnTo>
                  <a:pt x="46291" y="19367"/>
                </a:lnTo>
                <a:lnTo>
                  <a:pt x="57673" y="5195"/>
                </a:lnTo>
                <a:lnTo>
                  <a:pt x="71628" y="0"/>
                </a:lnTo>
              </a:path>
            </a:pathLst>
          </a:custGeom>
          <a:ln w="9144">
            <a:solidFill>
              <a:srgbClr val="000000"/>
            </a:solidFill>
          </a:ln>
        </p:spPr>
        <p:txBody>
          <a:bodyPr wrap="square" lIns="0" tIns="0" rIns="0" bIns="0" rtlCol="0"/>
          <a:lstStyle/>
          <a:p>
            <a:endParaRPr/>
          </a:p>
        </p:txBody>
      </p:sp>
      <p:sp>
        <p:nvSpPr>
          <p:cNvPr id="15" name="object 15"/>
          <p:cNvSpPr txBox="1"/>
          <p:nvPr/>
        </p:nvSpPr>
        <p:spPr>
          <a:xfrm>
            <a:off x="1654582" y="2150209"/>
            <a:ext cx="307340" cy="1056640"/>
          </a:xfrm>
          <a:prstGeom prst="rect">
            <a:avLst/>
          </a:prstGeom>
        </p:spPr>
        <p:txBody>
          <a:bodyPr vert="vert270" wrap="square" lIns="0" tIns="0" rIns="0" bIns="0" rtlCol="0">
            <a:spAutoFit/>
          </a:bodyPr>
          <a:lstStyle/>
          <a:p>
            <a:pPr marL="12700">
              <a:lnSpc>
                <a:spcPts val="2285"/>
              </a:lnSpc>
            </a:pPr>
            <a:r>
              <a:rPr sz="2000" dirty="0">
                <a:solidFill>
                  <a:srgbClr val="FF0000"/>
                </a:solidFill>
                <a:latin typeface="Times New Roman"/>
                <a:cs typeface="Times New Roman"/>
              </a:rPr>
              <a:t>Alkalini</a:t>
            </a:r>
            <a:r>
              <a:rPr sz="2000" spc="-10" dirty="0">
                <a:solidFill>
                  <a:srgbClr val="FF0000"/>
                </a:solidFill>
                <a:latin typeface="Times New Roman"/>
                <a:cs typeface="Times New Roman"/>
              </a:rPr>
              <a:t>t</a:t>
            </a:r>
            <a:r>
              <a:rPr sz="2000" dirty="0">
                <a:solidFill>
                  <a:srgbClr val="FF0000"/>
                </a:solidFill>
                <a:latin typeface="Times New Roman"/>
                <a:cs typeface="Times New Roman"/>
              </a:rPr>
              <a:t>y</a:t>
            </a:r>
            <a:endParaRPr sz="2000">
              <a:latin typeface="Times New Roman"/>
              <a:cs typeface="Times New Roman"/>
            </a:endParaRPr>
          </a:p>
        </p:txBody>
      </p:sp>
      <p:sp>
        <p:nvSpPr>
          <p:cNvPr id="16" name="object 16"/>
          <p:cNvSpPr txBox="1"/>
          <p:nvPr/>
        </p:nvSpPr>
        <p:spPr>
          <a:xfrm>
            <a:off x="8377555" y="5870549"/>
            <a:ext cx="11493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Times New Roman"/>
                <a:cs typeface="Times New Roman"/>
              </a:rPr>
              <a:t>3</a:t>
            </a:r>
            <a:endParaRPr sz="140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R.Sivakumar\Desktop\s1.jpg"/>
          <p:cNvPicPr>
            <a:picLocks noGrp="1" noChangeAspect="1" noChangeArrowheads="1"/>
          </p:cNvPicPr>
          <p:nvPr>
            <p:ph idx="1"/>
          </p:nvPr>
        </p:nvPicPr>
        <p:blipFill>
          <a:blip r:embed="rId2" cstate="print"/>
          <a:srcRect/>
          <a:stretch>
            <a:fillRect/>
          </a:stretch>
        </p:blipFill>
        <p:spPr bwMode="auto">
          <a:xfrm>
            <a:off x="179512" y="332656"/>
            <a:ext cx="3600400" cy="2952328"/>
          </a:xfrm>
          <a:prstGeom prst="rect">
            <a:avLst/>
          </a:prstGeom>
          <a:noFill/>
        </p:spPr>
      </p:pic>
      <p:pic>
        <p:nvPicPr>
          <p:cNvPr id="2051" name="Picture 3" descr="C:\Users\A.R.Sivakumar\Desktop\s2.jpg"/>
          <p:cNvPicPr>
            <a:picLocks noChangeAspect="1" noChangeArrowheads="1"/>
          </p:cNvPicPr>
          <p:nvPr/>
        </p:nvPicPr>
        <p:blipFill>
          <a:blip r:embed="rId3" cstate="print"/>
          <a:srcRect/>
          <a:stretch>
            <a:fillRect/>
          </a:stretch>
        </p:blipFill>
        <p:spPr bwMode="auto">
          <a:xfrm>
            <a:off x="4211960" y="332656"/>
            <a:ext cx="4464496" cy="2892152"/>
          </a:xfrm>
          <a:prstGeom prst="rect">
            <a:avLst/>
          </a:prstGeom>
          <a:noFill/>
        </p:spPr>
      </p:pic>
      <p:pic>
        <p:nvPicPr>
          <p:cNvPr id="2052" name="Picture 4" descr="C:\Users\A.R.Sivakumar\Desktop\s3.jpg"/>
          <p:cNvPicPr>
            <a:picLocks noChangeAspect="1" noChangeArrowheads="1"/>
          </p:cNvPicPr>
          <p:nvPr/>
        </p:nvPicPr>
        <p:blipFill>
          <a:blip r:embed="rId4" cstate="print"/>
          <a:srcRect/>
          <a:stretch>
            <a:fillRect/>
          </a:stretch>
        </p:blipFill>
        <p:spPr bwMode="auto">
          <a:xfrm>
            <a:off x="323528" y="3645024"/>
            <a:ext cx="3384376" cy="3024336"/>
          </a:xfrm>
          <a:prstGeom prst="rect">
            <a:avLst/>
          </a:prstGeom>
          <a:noFill/>
        </p:spPr>
      </p:pic>
      <p:pic>
        <p:nvPicPr>
          <p:cNvPr id="2053" name="Picture 5" descr="C:\Users\A.R.Sivakumar\Desktop\s4.jpg"/>
          <p:cNvPicPr>
            <a:picLocks noChangeAspect="1" noChangeArrowheads="1"/>
          </p:cNvPicPr>
          <p:nvPr/>
        </p:nvPicPr>
        <p:blipFill>
          <a:blip r:embed="rId5" cstate="print"/>
          <a:srcRect/>
          <a:stretch>
            <a:fillRect/>
          </a:stretch>
        </p:blipFill>
        <p:spPr bwMode="auto">
          <a:xfrm>
            <a:off x="3952288" y="3861048"/>
            <a:ext cx="4652160" cy="2736304"/>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228601"/>
            <a:ext cx="2819400" cy="369332"/>
          </a:xfrm>
        </p:spPr>
        <p:txBody>
          <a:bodyPr/>
          <a:lstStyle/>
          <a:p>
            <a:r>
              <a:rPr lang="en-US" dirty="0" smtClean="0">
                <a:solidFill>
                  <a:srgbClr val="FF0000"/>
                </a:solidFill>
              </a:rPr>
              <a:t>TYPES OF WATER</a:t>
            </a:r>
            <a:endParaRPr lang="en-US" dirty="0">
              <a:solidFill>
                <a:srgbClr val="FF0000"/>
              </a:solidFill>
            </a:endParaRPr>
          </a:p>
        </p:txBody>
      </p:sp>
      <p:sp>
        <p:nvSpPr>
          <p:cNvPr id="3" name="Text Placeholder 2"/>
          <p:cNvSpPr>
            <a:spLocks noGrp="1"/>
          </p:cNvSpPr>
          <p:nvPr>
            <p:ph type="body" idx="1"/>
          </p:nvPr>
        </p:nvSpPr>
        <p:spPr>
          <a:xfrm>
            <a:off x="228600" y="762000"/>
            <a:ext cx="8534400" cy="7017306"/>
          </a:xfrm>
        </p:spPr>
        <p:txBody>
          <a:bodyPr/>
          <a:lstStyle/>
          <a:p>
            <a:r>
              <a:rPr lang="en-US" dirty="0" smtClean="0">
                <a:solidFill>
                  <a:srgbClr val="FF0000"/>
                </a:solidFill>
              </a:rPr>
              <a:t>HARD WATER</a:t>
            </a:r>
            <a:r>
              <a:rPr lang="en-US" dirty="0" smtClean="0"/>
              <a:t>:</a:t>
            </a:r>
          </a:p>
          <a:p>
            <a:r>
              <a:rPr lang="en-US" dirty="0" smtClean="0"/>
              <a:t>Water , which does not produce lather with soap solution, but produces white precipitate (Scum) is called hard water.</a:t>
            </a:r>
          </a:p>
          <a:p>
            <a:r>
              <a:rPr lang="en-US" dirty="0" smtClean="0"/>
              <a:t>Ex. </a:t>
            </a:r>
          </a:p>
          <a:p>
            <a:r>
              <a:rPr lang="en-US" dirty="0" smtClean="0"/>
              <a:t>2C17H35COONa + CaCO3-------- (C17H35COO)2Ca+ Na2CO3</a:t>
            </a:r>
          </a:p>
          <a:p>
            <a:endParaRPr lang="en-US" dirty="0" smtClean="0"/>
          </a:p>
          <a:p>
            <a:r>
              <a:rPr lang="en-US" dirty="0" smtClean="0">
                <a:solidFill>
                  <a:srgbClr val="FF0000"/>
                </a:solidFill>
              </a:rPr>
              <a:t>SOFT WATER</a:t>
            </a:r>
            <a:r>
              <a:rPr lang="en-US" dirty="0" smtClean="0"/>
              <a:t>:</a:t>
            </a:r>
          </a:p>
          <a:p>
            <a:r>
              <a:rPr lang="en-US" dirty="0" smtClean="0"/>
              <a:t>Water , which produce lather with soap </a:t>
            </a:r>
            <a:r>
              <a:rPr lang="en-US" dirty="0" err="1" smtClean="0"/>
              <a:t>solution,is</a:t>
            </a:r>
            <a:r>
              <a:rPr lang="en-US" dirty="0" smtClean="0"/>
              <a:t> called soft water.</a:t>
            </a:r>
          </a:p>
          <a:p>
            <a:endParaRPr lang="en-US" dirty="0" smtClean="0"/>
          </a:p>
          <a:p>
            <a:r>
              <a:rPr lang="en-US" b="1" u="sng" dirty="0" smtClean="0">
                <a:solidFill>
                  <a:srgbClr val="FF0000"/>
                </a:solidFill>
              </a:rPr>
              <a:t>HARDNESS</a:t>
            </a:r>
            <a:endParaRPr lang="en-US" dirty="0" smtClean="0">
              <a:solidFill>
                <a:srgbClr val="FF0000"/>
              </a:solidFill>
            </a:endParaRPr>
          </a:p>
          <a:p>
            <a:r>
              <a:rPr lang="en-US" dirty="0" smtClean="0"/>
              <a:t>Hardness is a property which prevents lathering with soap. Hardness is due to the presence of chlorides, </a:t>
            </a:r>
            <a:r>
              <a:rPr lang="en-US" dirty="0" err="1" smtClean="0"/>
              <a:t>sulphates</a:t>
            </a:r>
            <a:r>
              <a:rPr lang="en-US" dirty="0" smtClean="0"/>
              <a:t> and bicarbonates of calcium and magnesium.</a:t>
            </a:r>
          </a:p>
          <a:p>
            <a:r>
              <a:rPr lang="en-US" dirty="0" smtClean="0"/>
              <a:t>Hardness is of two types - Carbonate (temporary) and Non-carbonate (Permanent) hardness</a:t>
            </a:r>
          </a:p>
          <a:p>
            <a:endParaRPr lang="en-US" dirty="0" smtClean="0"/>
          </a:p>
          <a:p>
            <a:endParaRPr lang="en-US" dirty="0" smtClean="0"/>
          </a:p>
          <a:p>
            <a:endParaRPr lang="en-US" dirty="0" smtClean="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1"/>
            <a:ext cx="7162800" cy="380999"/>
          </a:xfrm>
        </p:spPr>
        <p:txBody>
          <a:bodyPr/>
          <a:lstStyle/>
          <a:p>
            <a:r>
              <a:rPr lang="en-IN" b="1" dirty="0" smtClean="0"/>
              <a:t>Molecular weights of some hardness producing salts.</a:t>
            </a:r>
            <a:r>
              <a:rPr lang="en-US" b="1" dirty="0" smtClean="0"/>
              <a:t/>
            </a:r>
            <a:br>
              <a:rPr lang="en-US" b="1" dirty="0" smtClean="0"/>
            </a:br>
            <a:endParaRPr lang="en-US" dirty="0"/>
          </a:p>
        </p:txBody>
      </p:sp>
      <p:sp>
        <p:nvSpPr>
          <p:cNvPr id="3" name="Text Placeholder 2"/>
          <p:cNvSpPr>
            <a:spLocks noGrp="1"/>
          </p:cNvSpPr>
          <p:nvPr>
            <p:ph type="body" idx="1"/>
          </p:nvPr>
        </p:nvSpPr>
        <p:spPr>
          <a:xfrm>
            <a:off x="457200" y="838200"/>
            <a:ext cx="8077200" cy="5962521"/>
          </a:xfrm>
        </p:spPr>
        <p:txBody>
          <a:bodyPr/>
          <a:lstStyle/>
          <a:p>
            <a:endParaRPr lang="en-US" dirty="0"/>
          </a:p>
        </p:txBody>
      </p:sp>
      <p:graphicFrame>
        <p:nvGraphicFramePr>
          <p:cNvPr id="4" name="Table 3"/>
          <p:cNvGraphicFramePr>
            <a:graphicFrameLocks noGrp="1"/>
          </p:cNvGraphicFramePr>
          <p:nvPr/>
        </p:nvGraphicFramePr>
        <p:xfrm>
          <a:off x="533400" y="838202"/>
          <a:ext cx="8610600" cy="5791196"/>
        </p:xfrm>
        <a:graphic>
          <a:graphicData uri="http://schemas.openxmlformats.org/drawingml/2006/table">
            <a:tbl>
              <a:tblPr firstRow="1" bandRow="1">
                <a:tableStyleId>{5C22544A-7EE6-4342-B048-85BDC9FD1C3A}</a:tableStyleId>
              </a:tblPr>
              <a:tblGrid>
                <a:gridCol w="2152650"/>
                <a:gridCol w="2152650"/>
                <a:gridCol w="2152650"/>
                <a:gridCol w="2152650"/>
              </a:tblGrid>
              <a:tr h="1165844">
                <a:tc>
                  <a:txBody>
                    <a:bodyPr/>
                    <a:lstStyle/>
                    <a:p>
                      <a:pPr marL="0" marR="0">
                        <a:lnSpc>
                          <a:spcPct val="115000"/>
                        </a:lnSpc>
                        <a:spcBef>
                          <a:spcPts val="0"/>
                        </a:spcBef>
                        <a:spcAft>
                          <a:spcPts val="0"/>
                        </a:spcAft>
                      </a:pPr>
                      <a:r>
                        <a:rPr lang="en-US" sz="1600" dirty="0">
                          <a:latin typeface="Times New Roman"/>
                          <a:ea typeface="Times New Roman"/>
                        </a:rPr>
                        <a:t>Hardness producing salt</a:t>
                      </a:r>
                    </a:p>
                  </a:txBody>
                  <a:tcPr marL="0" marR="0" marT="0" marB="0"/>
                </a:tc>
                <a:tc>
                  <a:txBody>
                    <a:bodyPr/>
                    <a:lstStyle/>
                    <a:p>
                      <a:pPr marL="0" marR="0" algn="ctr">
                        <a:lnSpc>
                          <a:spcPct val="115000"/>
                        </a:lnSpc>
                        <a:spcBef>
                          <a:spcPts val="0"/>
                        </a:spcBef>
                        <a:spcAft>
                          <a:spcPts val="0"/>
                        </a:spcAft>
                      </a:pPr>
                      <a:r>
                        <a:rPr lang="en-US" sz="1600" dirty="0">
                          <a:latin typeface="Times New Roman"/>
                          <a:ea typeface="Times New Roman"/>
                        </a:rPr>
                        <a:t>Molecular weight</a:t>
                      </a:r>
                    </a:p>
                  </a:txBody>
                  <a:tcPr marL="0" marR="0" marT="0" marB="0"/>
                </a:tc>
                <a:tc>
                  <a:txBody>
                    <a:bodyPr/>
                    <a:lstStyle/>
                    <a:p>
                      <a:pPr marL="0" marR="0">
                        <a:lnSpc>
                          <a:spcPct val="115000"/>
                        </a:lnSpc>
                        <a:spcBef>
                          <a:spcPts val="0"/>
                        </a:spcBef>
                        <a:spcAft>
                          <a:spcPts val="0"/>
                        </a:spcAft>
                      </a:pPr>
                      <a:r>
                        <a:rPr lang="en-US" sz="1600" dirty="0">
                          <a:latin typeface="Times New Roman"/>
                          <a:ea typeface="Times New Roman"/>
                        </a:rPr>
                        <a:t>Hardness producing salt</a:t>
                      </a:r>
                    </a:p>
                  </a:txBody>
                  <a:tcPr marL="0" marR="0" marT="0" marB="0"/>
                </a:tc>
                <a:tc>
                  <a:txBody>
                    <a:bodyPr/>
                    <a:lstStyle/>
                    <a:p>
                      <a:pPr marL="0" marR="0">
                        <a:lnSpc>
                          <a:spcPct val="115000"/>
                        </a:lnSpc>
                        <a:spcBef>
                          <a:spcPts val="0"/>
                        </a:spcBef>
                        <a:spcAft>
                          <a:spcPts val="0"/>
                        </a:spcAft>
                      </a:pPr>
                      <a:r>
                        <a:rPr lang="en-US" sz="1600" dirty="0">
                          <a:latin typeface="Times New Roman"/>
                          <a:ea typeface="Times New Roman"/>
                        </a:rPr>
                        <a:t>Molecular weight</a:t>
                      </a:r>
                    </a:p>
                  </a:txBody>
                  <a:tcPr marL="0" marR="0" marT="0" marB="0"/>
                </a:tc>
              </a:tr>
              <a:tr h="770892">
                <a:tc>
                  <a:txBody>
                    <a:bodyPr/>
                    <a:lstStyle/>
                    <a:p>
                      <a:pPr marL="66675" marR="0">
                        <a:lnSpc>
                          <a:spcPct val="115000"/>
                        </a:lnSpc>
                        <a:spcBef>
                          <a:spcPts val="0"/>
                        </a:spcBef>
                        <a:spcAft>
                          <a:spcPts val="0"/>
                        </a:spcAft>
                      </a:pPr>
                      <a:r>
                        <a:rPr lang="en-US" sz="1800" dirty="0">
                          <a:latin typeface="Times New Roman"/>
                          <a:ea typeface="Times New Roman"/>
                        </a:rPr>
                        <a:t>Ca(HCO</a:t>
                      </a:r>
                      <a:r>
                        <a:rPr lang="en-US" sz="1800" baseline="-25000" dirty="0">
                          <a:latin typeface="Times New Roman"/>
                          <a:ea typeface="Times New Roman"/>
                        </a:rPr>
                        <a:t>3</a:t>
                      </a:r>
                      <a:r>
                        <a:rPr lang="en-US" sz="1800" dirty="0">
                          <a:latin typeface="Times New Roman"/>
                          <a:ea typeface="Times New Roman"/>
                        </a:rPr>
                        <a:t>)</a:t>
                      </a:r>
                      <a:r>
                        <a:rPr lang="en-US" sz="1800" baseline="-25000" dirty="0">
                          <a:latin typeface="Times New Roman"/>
                          <a:ea typeface="Times New Roman"/>
                        </a:rPr>
                        <a:t>2</a:t>
                      </a:r>
                      <a:endParaRPr lang="en-US" sz="1800" dirty="0">
                        <a:latin typeface="Times New Roman"/>
                        <a:ea typeface="Times New Roman"/>
                      </a:endParaRPr>
                    </a:p>
                  </a:txBody>
                  <a:tcPr marL="0" marR="0" marT="0" marB="0"/>
                </a:tc>
                <a:tc>
                  <a:txBody>
                    <a:bodyPr/>
                    <a:lstStyle/>
                    <a:p>
                      <a:pPr marL="0" marR="0" indent="593090">
                        <a:lnSpc>
                          <a:spcPct val="115000"/>
                        </a:lnSpc>
                        <a:spcBef>
                          <a:spcPts val="0"/>
                        </a:spcBef>
                        <a:spcAft>
                          <a:spcPts val="0"/>
                        </a:spcAft>
                      </a:pPr>
                      <a:r>
                        <a:rPr lang="en-US" sz="1800" dirty="0">
                          <a:latin typeface="Times New Roman"/>
                          <a:ea typeface="Times New Roman"/>
                        </a:rPr>
                        <a:t>162</a:t>
                      </a:r>
                    </a:p>
                  </a:txBody>
                  <a:tcPr marL="0" marR="0" marT="0" marB="0"/>
                </a:tc>
                <a:tc>
                  <a:txBody>
                    <a:bodyPr/>
                    <a:lstStyle/>
                    <a:p>
                      <a:pPr marL="0" marR="0" indent="593090">
                        <a:lnSpc>
                          <a:spcPct val="115000"/>
                        </a:lnSpc>
                        <a:spcBef>
                          <a:spcPts val="0"/>
                        </a:spcBef>
                        <a:spcAft>
                          <a:spcPts val="0"/>
                        </a:spcAft>
                      </a:pPr>
                      <a:r>
                        <a:rPr lang="en-US" sz="1800" dirty="0">
                          <a:latin typeface="Times New Roman"/>
                          <a:ea typeface="Times New Roman"/>
                        </a:rPr>
                        <a:t>MgSO</a:t>
                      </a:r>
                      <a:r>
                        <a:rPr lang="en-US" sz="1800" baseline="-25000" dirty="0">
                          <a:latin typeface="Times New Roman"/>
                          <a:ea typeface="Times New Roman"/>
                        </a:rPr>
                        <a:t>4</a:t>
                      </a:r>
                      <a:endParaRPr lang="en-US" sz="1800" dirty="0">
                        <a:latin typeface="Times New Roman"/>
                        <a:ea typeface="Times New Roman"/>
                      </a:endParaRPr>
                    </a:p>
                  </a:txBody>
                  <a:tcPr marL="0" marR="0" marT="0" marB="0"/>
                </a:tc>
                <a:tc>
                  <a:txBody>
                    <a:bodyPr/>
                    <a:lstStyle/>
                    <a:p>
                      <a:pPr marL="0" marR="0" indent="593090">
                        <a:lnSpc>
                          <a:spcPct val="115000"/>
                        </a:lnSpc>
                        <a:spcBef>
                          <a:spcPts val="0"/>
                        </a:spcBef>
                        <a:spcAft>
                          <a:spcPts val="0"/>
                        </a:spcAft>
                      </a:pPr>
                      <a:r>
                        <a:rPr lang="en-US" sz="1800" dirty="0">
                          <a:latin typeface="Times New Roman"/>
                          <a:ea typeface="Times New Roman"/>
                        </a:rPr>
                        <a:t>120</a:t>
                      </a:r>
                    </a:p>
                  </a:txBody>
                  <a:tcPr marL="0" marR="0" marT="0" marB="0"/>
                </a:tc>
              </a:tr>
              <a:tr h="770892">
                <a:tc>
                  <a:txBody>
                    <a:bodyPr/>
                    <a:lstStyle/>
                    <a:p>
                      <a:pPr marL="0" marR="0">
                        <a:lnSpc>
                          <a:spcPct val="115000"/>
                        </a:lnSpc>
                        <a:spcBef>
                          <a:spcPts val="0"/>
                        </a:spcBef>
                        <a:spcAft>
                          <a:spcPts val="0"/>
                        </a:spcAft>
                      </a:pPr>
                      <a:r>
                        <a:rPr lang="en-US" sz="1800" dirty="0">
                          <a:latin typeface="Times New Roman"/>
                          <a:ea typeface="Times New Roman"/>
                        </a:rPr>
                        <a:t>Mg(HCO</a:t>
                      </a:r>
                      <a:r>
                        <a:rPr lang="en-US" sz="1800" baseline="-25000" dirty="0">
                          <a:latin typeface="Times New Roman"/>
                          <a:ea typeface="Times New Roman"/>
                        </a:rPr>
                        <a:t>3</a:t>
                      </a:r>
                      <a:r>
                        <a:rPr lang="en-US" sz="1800" dirty="0">
                          <a:latin typeface="Times New Roman"/>
                          <a:ea typeface="Times New Roman"/>
                        </a:rPr>
                        <a:t>)</a:t>
                      </a:r>
                      <a:r>
                        <a:rPr lang="en-US" sz="1800" baseline="-25000" dirty="0">
                          <a:latin typeface="Times New Roman"/>
                          <a:ea typeface="Times New Roman"/>
                        </a:rPr>
                        <a:t>2</a:t>
                      </a:r>
                      <a:endParaRPr lang="en-US" sz="1800" dirty="0">
                        <a:latin typeface="Times New Roman"/>
                        <a:ea typeface="Times New Roman"/>
                      </a:endParaRPr>
                    </a:p>
                  </a:txBody>
                  <a:tcPr marL="0" marR="0" marT="0" marB="0"/>
                </a:tc>
                <a:tc>
                  <a:txBody>
                    <a:bodyPr/>
                    <a:lstStyle/>
                    <a:p>
                      <a:pPr marL="0" marR="0" indent="593090">
                        <a:lnSpc>
                          <a:spcPct val="115000"/>
                        </a:lnSpc>
                        <a:spcBef>
                          <a:spcPts val="0"/>
                        </a:spcBef>
                        <a:spcAft>
                          <a:spcPts val="0"/>
                        </a:spcAft>
                      </a:pPr>
                      <a:r>
                        <a:rPr lang="en-US" sz="1800" dirty="0">
                          <a:latin typeface="Times New Roman"/>
                          <a:ea typeface="Times New Roman"/>
                        </a:rPr>
                        <a:t>146</a:t>
                      </a:r>
                    </a:p>
                  </a:txBody>
                  <a:tcPr marL="0" marR="0" marT="0" marB="0"/>
                </a:tc>
                <a:tc>
                  <a:txBody>
                    <a:bodyPr/>
                    <a:lstStyle/>
                    <a:p>
                      <a:pPr marL="0" marR="0" indent="593090">
                        <a:lnSpc>
                          <a:spcPct val="115000"/>
                        </a:lnSpc>
                        <a:spcBef>
                          <a:spcPts val="0"/>
                        </a:spcBef>
                        <a:spcAft>
                          <a:spcPts val="0"/>
                        </a:spcAft>
                      </a:pPr>
                      <a:r>
                        <a:rPr lang="en-US" sz="1800">
                          <a:latin typeface="Times New Roman"/>
                          <a:ea typeface="Times New Roman"/>
                        </a:rPr>
                        <a:t>MgCO</a:t>
                      </a:r>
                      <a:r>
                        <a:rPr lang="en-US" sz="1800" baseline="-25000">
                          <a:latin typeface="Times New Roman"/>
                          <a:ea typeface="Times New Roman"/>
                        </a:rPr>
                        <a:t>3</a:t>
                      </a:r>
                      <a:endParaRPr lang="en-US" sz="1800">
                        <a:latin typeface="Times New Roman"/>
                        <a:ea typeface="Times New Roman"/>
                      </a:endParaRPr>
                    </a:p>
                  </a:txBody>
                  <a:tcPr marL="0" marR="0" marT="0" marB="0"/>
                </a:tc>
                <a:tc>
                  <a:txBody>
                    <a:bodyPr/>
                    <a:lstStyle/>
                    <a:p>
                      <a:pPr marL="0" marR="0" indent="593090">
                        <a:lnSpc>
                          <a:spcPct val="115000"/>
                        </a:lnSpc>
                        <a:spcBef>
                          <a:spcPts val="0"/>
                        </a:spcBef>
                        <a:spcAft>
                          <a:spcPts val="0"/>
                        </a:spcAft>
                      </a:pPr>
                      <a:r>
                        <a:rPr lang="en-US" sz="1800">
                          <a:latin typeface="Times New Roman"/>
                          <a:ea typeface="Times New Roman"/>
                        </a:rPr>
                        <a:t>84</a:t>
                      </a:r>
                    </a:p>
                  </a:txBody>
                  <a:tcPr marL="0" marR="0" marT="0" marB="0"/>
                </a:tc>
              </a:tr>
              <a:tr h="770892">
                <a:tc>
                  <a:txBody>
                    <a:bodyPr/>
                    <a:lstStyle/>
                    <a:p>
                      <a:pPr marL="66675" marR="0">
                        <a:lnSpc>
                          <a:spcPct val="115000"/>
                        </a:lnSpc>
                        <a:spcBef>
                          <a:spcPts val="0"/>
                        </a:spcBef>
                        <a:spcAft>
                          <a:spcPts val="0"/>
                        </a:spcAft>
                      </a:pPr>
                      <a:r>
                        <a:rPr lang="en-US" sz="1800">
                          <a:latin typeface="Times New Roman"/>
                          <a:ea typeface="Times New Roman"/>
                        </a:rPr>
                        <a:t>Mg(NO</a:t>
                      </a:r>
                      <a:r>
                        <a:rPr lang="en-US" sz="1800" baseline="-25000">
                          <a:latin typeface="Times New Roman"/>
                          <a:ea typeface="Times New Roman"/>
                        </a:rPr>
                        <a:t>3</a:t>
                      </a:r>
                      <a:r>
                        <a:rPr lang="en-US" sz="1800">
                          <a:latin typeface="Times New Roman"/>
                          <a:ea typeface="Times New Roman"/>
                        </a:rPr>
                        <a:t>)</a:t>
                      </a:r>
                      <a:r>
                        <a:rPr lang="en-US" sz="1800" baseline="-25000">
                          <a:latin typeface="Times New Roman"/>
                          <a:ea typeface="Times New Roman"/>
                        </a:rPr>
                        <a:t>2</a:t>
                      </a:r>
                      <a:endParaRPr lang="en-US" sz="1800">
                        <a:latin typeface="Times New Roman"/>
                        <a:ea typeface="Times New Roman"/>
                      </a:endParaRPr>
                    </a:p>
                  </a:txBody>
                  <a:tcPr marL="0" marR="0" marT="0" marB="0"/>
                </a:tc>
                <a:tc>
                  <a:txBody>
                    <a:bodyPr/>
                    <a:lstStyle/>
                    <a:p>
                      <a:pPr marL="0" marR="0" indent="593090">
                        <a:lnSpc>
                          <a:spcPct val="115000"/>
                        </a:lnSpc>
                        <a:spcBef>
                          <a:spcPts val="0"/>
                        </a:spcBef>
                        <a:spcAft>
                          <a:spcPts val="0"/>
                        </a:spcAft>
                      </a:pPr>
                      <a:r>
                        <a:rPr lang="en-US" sz="1800" dirty="0">
                          <a:latin typeface="Times New Roman"/>
                          <a:ea typeface="Times New Roman"/>
                        </a:rPr>
                        <a:t>148</a:t>
                      </a:r>
                    </a:p>
                  </a:txBody>
                  <a:tcPr marL="0" marR="0" marT="0" marB="0"/>
                </a:tc>
                <a:tc>
                  <a:txBody>
                    <a:bodyPr/>
                    <a:lstStyle/>
                    <a:p>
                      <a:pPr marL="0" marR="0" indent="593090">
                        <a:lnSpc>
                          <a:spcPct val="115000"/>
                        </a:lnSpc>
                        <a:spcBef>
                          <a:spcPts val="0"/>
                        </a:spcBef>
                        <a:spcAft>
                          <a:spcPts val="0"/>
                        </a:spcAft>
                      </a:pPr>
                      <a:r>
                        <a:rPr lang="en-US" sz="1800" dirty="0">
                          <a:latin typeface="Times New Roman"/>
                          <a:ea typeface="Times New Roman"/>
                        </a:rPr>
                        <a:t>MgCl</a:t>
                      </a:r>
                      <a:r>
                        <a:rPr lang="en-US" sz="1800" baseline="-25000" dirty="0">
                          <a:latin typeface="Times New Roman"/>
                          <a:ea typeface="Times New Roman"/>
                        </a:rPr>
                        <a:t>2</a:t>
                      </a:r>
                      <a:endParaRPr lang="en-US" sz="1800" dirty="0">
                        <a:latin typeface="Times New Roman"/>
                        <a:ea typeface="Times New Roman"/>
                      </a:endParaRPr>
                    </a:p>
                  </a:txBody>
                  <a:tcPr marL="0" marR="0" marT="0" marB="0"/>
                </a:tc>
                <a:tc>
                  <a:txBody>
                    <a:bodyPr/>
                    <a:lstStyle/>
                    <a:p>
                      <a:pPr marL="0" marR="0" indent="593090">
                        <a:lnSpc>
                          <a:spcPct val="115000"/>
                        </a:lnSpc>
                        <a:spcBef>
                          <a:spcPts val="0"/>
                        </a:spcBef>
                        <a:spcAft>
                          <a:spcPts val="0"/>
                        </a:spcAft>
                      </a:pPr>
                      <a:r>
                        <a:rPr lang="en-US" sz="1800">
                          <a:latin typeface="Times New Roman"/>
                          <a:ea typeface="Times New Roman"/>
                        </a:rPr>
                        <a:t>95</a:t>
                      </a:r>
                    </a:p>
                  </a:txBody>
                  <a:tcPr marL="0" marR="0" marT="0" marB="0"/>
                </a:tc>
              </a:tr>
              <a:tr h="770892">
                <a:tc>
                  <a:txBody>
                    <a:bodyPr/>
                    <a:lstStyle/>
                    <a:p>
                      <a:pPr marL="66675" marR="0">
                        <a:lnSpc>
                          <a:spcPct val="115000"/>
                        </a:lnSpc>
                        <a:spcBef>
                          <a:spcPts val="0"/>
                        </a:spcBef>
                        <a:spcAft>
                          <a:spcPts val="0"/>
                        </a:spcAft>
                      </a:pPr>
                      <a:r>
                        <a:rPr lang="en-US" sz="1800">
                          <a:latin typeface="Times New Roman"/>
                          <a:ea typeface="Times New Roman"/>
                        </a:rPr>
                        <a:t>Ca(NO</a:t>
                      </a:r>
                      <a:r>
                        <a:rPr lang="en-US" sz="1800" baseline="-25000">
                          <a:latin typeface="Times New Roman"/>
                          <a:ea typeface="Times New Roman"/>
                        </a:rPr>
                        <a:t>3</a:t>
                      </a:r>
                      <a:r>
                        <a:rPr lang="en-US" sz="1800">
                          <a:latin typeface="Times New Roman"/>
                          <a:ea typeface="Times New Roman"/>
                        </a:rPr>
                        <a:t>)</a:t>
                      </a:r>
                      <a:r>
                        <a:rPr lang="en-US" sz="1800" baseline="-25000">
                          <a:latin typeface="Times New Roman"/>
                          <a:ea typeface="Times New Roman"/>
                        </a:rPr>
                        <a:t>2</a:t>
                      </a:r>
                      <a:endParaRPr lang="en-US" sz="1800">
                        <a:latin typeface="Times New Roman"/>
                        <a:ea typeface="Times New Roman"/>
                      </a:endParaRPr>
                    </a:p>
                  </a:txBody>
                  <a:tcPr marL="0" marR="0" marT="0" marB="0"/>
                </a:tc>
                <a:tc>
                  <a:txBody>
                    <a:bodyPr/>
                    <a:lstStyle/>
                    <a:p>
                      <a:pPr marL="0" marR="0" indent="593090">
                        <a:lnSpc>
                          <a:spcPct val="115000"/>
                        </a:lnSpc>
                        <a:spcBef>
                          <a:spcPts val="0"/>
                        </a:spcBef>
                        <a:spcAft>
                          <a:spcPts val="0"/>
                        </a:spcAft>
                      </a:pPr>
                      <a:r>
                        <a:rPr lang="en-US" sz="1800">
                          <a:latin typeface="Times New Roman"/>
                          <a:ea typeface="Times New Roman"/>
                        </a:rPr>
                        <a:t>164</a:t>
                      </a:r>
                    </a:p>
                  </a:txBody>
                  <a:tcPr marL="0" marR="0" marT="0" marB="0"/>
                </a:tc>
                <a:tc>
                  <a:txBody>
                    <a:bodyPr/>
                    <a:lstStyle/>
                    <a:p>
                      <a:pPr marL="0" marR="0" indent="593090">
                        <a:lnSpc>
                          <a:spcPct val="115000"/>
                        </a:lnSpc>
                        <a:spcBef>
                          <a:spcPts val="0"/>
                        </a:spcBef>
                        <a:spcAft>
                          <a:spcPts val="0"/>
                        </a:spcAft>
                      </a:pPr>
                      <a:r>
                        <a:rPr lang="en-US" sz="1800" dirty="0">
                          <a:latin typeface="Times New Roman"/>
                          <a:ea typeface="Times New Roman"/>
                        </a:rPr>
                        <a:t>CaCl</a:t>
                      </a:r>
                      <a:r>
                        <a:rPr lang="en-US" sz="1800" baseline="-25000" dirty="0">
                          <a:latin typeface="Times New Roman"/>
                          <a:ea typeface="Times New Roman"/>
                        </a:rPr>
                        <a:t>2</a:t>
                      </a:r>
                      <a:endParaRPr lang="en-US" sz="1800" dirty="0">
                        <a:latin typeface="Times New Roman"/>
                        <a:ea typeface="Times New Roman"/>
                      </a:endParaRPr>
                    </a:p>
                  </a:txBody>
                  <a:tcPr marL="0" marR="0" marT="0" marB="0"/>
                </a:tc>
                <a:tc>
                  <a:txBody>
                    <a:bodyPr/>
                    <a:lstStyle/>
                    <a:p>
                      <a:pPr marL="0" marR="0" indent="593090">
                        <a:lnSpc>
                          <a:spcPct val="115000"/>
                        </a:lnSpc>
                        <a:spcBef>
                          <a:spcPts val="0"/>
                        </a:spcBef>
                        <a:spcAft>
                          <a:spcPts val="0"/>
                        </a:spcAft>
                      </a:pPr>
                      <a:r>
                        <a:rPr lang="en-US" sz="1800">
                          <a:latin typeface="Times New Roman"/>
                          <a:ea typeface="Times New Roman"/>
                        </a:rPr>
                        <a:t>111</a:t>
                      </a:r>
                    </a:p>
                  </a:txBody>
                  <a:tcPr marL="0" marR="0" marT="0" marB="0"/>
                </a:tc>
              </a:tr>
              <a:tr h="770892">
                <a:tc>
                  <a:txBody>
                    <a:bodyPr/>
                    <a:lstStyle/>
                    <a:p>
                      <a:pPr marL="66675" marR="0">
                        <a:lnSpc>
                          <a:spcPct val="115000"/>
                        </a:lnSpc>
                        <a:spcBef>
                          <a:spcPts val="0"/>
                        </a:spcBef>
                        <a:spcAft>
                          <a:spcPts val="0"/>
                        </a:spcAft>
                      </a:pPr>
                      <a:r>
                        <a:rPr lang="en-US" sz="1800">
                          <a:latin typeface="Times New Roman"/>
                          <a:ea typeface="Times New Roman"/>
                        </a:rPr>
                        <a:t>CaCO</a:t>
                      </a:r>
                      <a:r>
                        <a:rPr lang="en-US" sz="1800" baseline="-25000">
                          <a:latin typeface="Times New Roman"/>
                          <a:ea typeface="Times New Roman"/>
                        </a:rPr>
                        <a:t>3</a:t>
                      </a:r>
                      <a:endParaRPr lang="en-US" sz="1800">
                        <a:latin typeface="Times New Roman"/>
                        <a:ea typeface="Times New Roman"/>
                      </a:endParaRPr>
                    </a:p>
                  </a:txBody>
                  <a:tcPr marL="0" marR="0" marT="0" marB="0"/>
                </a:tc>
                <a:tc>
                  <a:txBody>
                    <a:bodyPr/>
                    <a:lstStyle/>
                    <a:p>
                      <a:pPr marL="0" marR="0" indent="593090">
                        <a:lnSpc>
                          <a:spcPct val="115000"/>
                        </a:lnSpc>
                        <a:spcBef>
                          <a:spcPts val="0"/>
                        </a:spcBef>
                        <a:spcAft>
                          <a:spcPts val="0"/>
                        </a:spcAft>
                      </a:pPr>
                      <a:r>
                        <a:rPr lang="en-US" sz="1800">
                          <a:latin typeface="Times New Roman"/>
                          <a:ea typeface="Times New Roman"/>
                        </a:rPr>
                        <a:t>100</a:t>
                      </a:r>
                    </a:p>
                  </a:txBody>
                  <a:tcPr marL="0" marR="0" marT="0" marB="0"/>
                </a:tc>
                <a:tc>
                  <a:txBody>
                    <a:bodyPr/>
                    <a:lstStyle/>
                    <a:p>
                      <a:pPr marL="0" marR="0" indent="593090">
                        <a:lnSpc>
                          <a:spcPct val="115000"/>
                        </a:lnSpc>
                        <a:spcBef>
                          <a:spcPts val="0"/>
                        </a:spcBef>
                        <a:spcAft>
                          <a:spcPts val="0"/>
                        </a:spcAft>
                      </a:pPr>
                      <a:r>
                        <a:rPr lang="en-US" sz="1800">
                          <a:latin typeface="Times New Roman"/>
                          <a:ea typeface="Times New Roman"/>
                        </a:rPr>
                        <a:t>Ca2+</a:t>
                      </a:r>
                    </a:p>
                  </a:txBody>
                  <a:tcPr marL="0" marR="0" marT="0" marB="0"/>
                </a:tc>
                <a:tc>
                  <a:txBody>
                    <a:bodyPr/>
                    <a:lstStyle/>
                    <a:p>
                      <a:pPr marL="0" marR="0" indent="593090">
                        <a:lnSpc>
                          <a:spcPct val="115000"/>
                        </a:lnSpc>
                        <a:spcBef>
                          <a:spcPts val="0"/>
                        </a:spcBef>
                        <a:spcAft>
                          <a:spcPts val="0"/>
                        </a:spcAft>
                      </a:pPr>
                      <a:r>
                        <a:rPr lang="en-US" sz="1800" dirty="0">
                          <a:latin typeface="Times New Roman"/>
                          <a:ea typeface="Times New Roman"/>
                        </a:rPr>
                        <a:t>40</a:t>
                      </a:r>
                    </a:p>
                  </a:txBody>
                  <a:tcPr marL="0" marR="0" marT="0" marB="0"/>
                </a:tc>
              </a:tr>
              <a:tr h="770892">
                <a:tc>
                  <a:txBody>
                    <a:bodyPr/>
                    <a:lstStyle/>
                    <a:p>
                      <a:pPr marL="66675" marR="0">
                        <a:lnSpc>
                          <a:spcPct val="115000"/>
                        </a:lnSpc>
                        <a:spcBef>
                          <a:spcPts val="0"/>
                        </a:spcBef>
                        <a:spcAft>
                          <a:spcPts val="0"/>
                        </a:spcAft>
                      </a:pPr>
                      <a:r>
                        <a:rPr lang="en-US" sz="1800" dirty="0">
                          <a:latin typeface="Times New Roman"/>
                          <a:ea typeface="Times New Roman"/>
                        </a:rPr>
                        <a:t>CaSO</a:t>
                      </a:r>
                      <a:r>
                        <a:rPr lang="en-US" sz="1800" baseline="-25000" dirty="0">
                          <a:latin typeface="Times New Roman"/>
                          <a:ea typeface="Times New Roman"/>
                        </a:rPr>
                        <a:t>4</a:t>
                      </a:r>
                      <a:endParaRPr lang="en-US" sz="1800" dirty="0">
                        <a:latin typeface="Times New Roman"/>
                        <a:ea typeface="Times New Roman"/>
                      </a:endParaRPr>
                    </a:p>
                  </a:txBody>
                  <a:tcPr marL="0" marR="0" marT="0" marB="0"/>
                </a:tc>
                <a:tc>
                  <a:txBody>
                    <a:bodyPr/>
                    <a:lstStyle/>
                    <a:p>
                      <a:pPr marL="0" marR="0" indent="593090">
                        <a:lnSpc>
                          <a:spcPct val="115000"/>
                        </a:lnSpc>
                        <a:spcBef>
                          <a:spcPts val="0"/>
                        </a:spcBef>
                        <a:spcAft>
                          <a:spcPts val="0"/>
                        </a:spcAft>
                      </a:pPr>
                      <a:r>
                        <a:rPr lang="en-US" sz="1800" dirty="0">
                          <a:latin typeface="Times New Roman"/>
                          <a:ea typeface="Times New Roman"/>
                        </a:rPr>
                        <a:t>136</a:t>
                      </a:r>
                    </a:p>
                  </a:txBody>
                  <a:tcPr marL="0" marR="0" marT="0" marB="0"/>
                </a:tc>
                <a:tc>
                  <a:txBody>
                    <a:bodyPr/>
                    <a:lstStyle/>
                    <a:p>
                      <a:pPr marL="0" marR="0" indent="593090">
                        <a:lnSpc>
                          <a:spcPct val="115000"/>
                        </a:lnSpc>
                        <a:spcBef>
                          <a:spcPts val="0"/>
                        </a:spcBef>
                        <a:spcAft>
                          <a:spcPts val="0"/>
                        </a:spcAft>
                      </a:pPr>
                      <a:r>
                        <a:rPr lang="en-US" sz="1800" dirty="0">
                          <a:latin typeface="Times New Roman"/>
                          <a:ea typeface="Times New Roman"/>
                        </a:rPr>
                        <a:t>Mg2+</a:t>
                      </a:r>
                    </a:p>
                  </a:txBody>
                  <a:tcPr marL="0" marR="0" marT="0" marB="0"/>
                </a:tc>
                <a:tc>
                  <a:txBody>
                    <a:bodyPr/>
                    <a:lstStyle/>
                    <a:p>
                      <a:pPr marL="0" marR="0" indent="593090">
                        <a:lnSpc>
                          <a:spcPct val="115000"/>
                        </a:lnSpc>
                        <a:spcBef>
                          <a:spcPts val="0"/>
                        </a:spcBef>
                        <a:spcAft>
                          <a:spcPts val="0"/>
                        </a:spcAft>
                      </a:pPr>
                      <a:r>
                        <a:rPr lang="en-US" sz="1800" dirty="0">
                          <a:latin typeface="Times New Roman"/>
                          <a:ea typeface="Times New Roman"/>
                        </a:rPr>
                        <a:t>24</a:t>
                      </a:r>
                    </a:p>
                  </a:txBody>
                  <a:tcPr marL="0" marR="0" marT="0" marB="0"/>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1"/>
            <a:ext cx="8001000" cy="685799"/>
          </a:xfrm>
        </p:spPr>
        <p:txBody>
          <a:bodyPr/>
          <a:lstStyle/>
          <a:p>
            <a:r>
              <a:rPr lang="en-IN" b="1" dirty="0" smtClean="0"/>
              <a:t>Expression of hardness in terms of equivalents of CaCO</a:t>
            </a:r>
            <a:r>
              <a:rPr lang="en-IN" b="1" baseline="-25000" dirty="0" smtClean="0"/>
              <a:t>3</a:t>
            </a:r>
            <a:r>
              <a:rPr lang="en-US" dirty="0" smtClean="0"/>
              <a:t/>
            </a:r>
            <a:br>
              <a:rPr lang="en-US" dirty="0" smtClean="0"/>
            </a:br>
            <a:endParaRPr lang="en-US" dirty="0"/>
          </a:p>
        </p:txBody>
      </p:sp>
      <p:sp>
        <p:nvSpPr>
          <p:cNvPr id="3" name="Text Placeholder 2"/>
          <p:cNvSpPr>
            <a:spLocks noGrp="1"/>
          </p:cNvSpPr>
          <p:nvPr>
            <p:ph type="body" idx="1"/>
          </p:nvPr>
        </p:nvSpPr>
        <p:spPr>
          <a:xfrm>
            <a:off x="152400" y="1066800"/>
            <a:ext cx="8534400" cy="5791200"/>
          </a:xfrm>
        </p:spPr>
        <p:txBody>
          <a:bodyPr/>
          <a:lstStyle/>
          <a:p>
            <a:r>
              <a:rPr lang="en-US" dirty="0" smtClean="0"/>
              <a:t>The amount of hardness producing salts is usually expressed in terms of an equivalent amount of CaCO</a:t>
            </a:r>
            <a:r>
              <a:rPr lang="en-US" baseline="-25000" dirty="0" smtClean="0"/>
              <a:t>3</a:t>
            </a:r>
            <a:r>
              <a:rPr lang="en-US" dirty="0" smtClean="0"/>
              <a:t>. CaCO</a:t>
            </a:r>
            <a:r>
              <a:rPr lang="en-US" baseline="-25000" dirty="0" smtClean="0"/>
              <a:t>3</a:t>
            </a:r>
            <a:r>
              <a:rPr lang="en-US" dirty="0" smtClean="0"/>
              <a:t> is chosen as a standard because,</a:t>
            </a:r>
          </a:p>
          <a:p>
            <a:endParaRPr lang="en-US" dirty="0" smtClean="0"/>
          </a:p>
          <a:p>
            <a:pPr marL="457200" indent="-457200">
              <a:buAutoNum type="arabicPeriod"/>
            </a:pPr>
            <a:r>
              <a:rPr lang="en-IN" dirty="0" smtClean="0"/>
              <a:t>Its molecular weight (100) and equivalent weight (50) is a whole number, so the Calculations in water analysis can be simplified.</a:t>
            </a:r>
          </a:p>
          <a:p>
            <a:pPr marL="457200" indent="-457200">
              <a:buAutoNum type="arabicPeriod"/>
            </a:pPr>
            <a:endParaRPr lang="en-US" dirty="0" smtClean="0"/>
          </a:p>
          <a:p>
            <a:r>
              <a:rPr lang="en-IN" dirty="0" smtClean="0"/>
              <a:t>2. It is the most insoluble salt,  that can be precipitated in water treatment. If the </a:t>
            </a:r>
            <a:endParaRPr lang="en-US" dirty="0" smtClean="0"/>
          </a:p>
          <a:p>
            <a:r>
              <a:rPr lang="en-IN" dirty="0" smtClean="0"/>
              <a:t>    concentration of hardness producing salt is x mgs/</a:t>
            </a:r>
            <a:r>
              <a:rPr lang="en-IN" dirty="0" err="1" smtClean="0"/>
              <a:t>lit.then</a:t>
            </a:r>
            <a:r>
              <a:rPr lang="en-IN" dirty="0" smtClean="0"/>
              <a:t>\</a:t>
            </a:r>
          </a:p>
          <a:p>
            <a:endParaRPr lang="en-IN" dirty="0" smtClean="0"/>
          </a:p>
          <a:p>
            <a:endParaRPr lang="en-US" dirty="0"/>
          </a:p>
        </p:txBody>
      </p:sp>
      <p:pic>
        <p:nvPicPr>
          <p:cNvPr id="4" name="image2.jpeg"/>
          <p:cNvPicPr/>
          <p:nvPr/>
        </p:nvPicPr>
        <p:blipFill>
          <a:blip r:embed="rId2" cstate="print"/>
          <a:stretch>
            <a:fillRect/>
          </a:stretch>
        </p:blipFill>
        <p:spPr>
          <a:xfrm>
            <a:off x="2286000" y="5181600"/>
            <a:ext cx="3749040" cy="8975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1"/>
            <a:ext cx="5171439" cy="738664"/>
          </a:xfrm>
        </p:spPr>
        <p:txBody>
          <a:bodyPr/>
          <a:lstStyle/>
          <a:p>
            <a:pPr algn="ctr"/>
            <a:r>
              <a:rPr lang="en-IN" b="1" dirty="0" smtClean="0">
                <a:solidFill>
                  <a:srgbClr val="FF0000"/>
                </a:solidFill>
              </a:rPr>
              <a:t>Units of Hardness</a:t>
            </a:r>
            <a:r>
              <a:rPr lang="en-US" dirty="0" smtClean="0">
                <a:solidFill>
                  <a:srgbClr val="FF0000"/>
                </a:solidFill>
              </a:rPr>
              <a:t/>
            </a:r>
            <a:br>
              <a:rPr lang="en-US" dirty="0" smtClean="0">
                <a:solidFill>
                  <a:srgbClr val="FF0000"/>
                </a:solidFill>
              </a:rPr>
            </a:br>
            <a:endParaRPr lang="en-US" dirty="0">
              <a:solidFill>
                <a:srgbClr val="FF0000"/>
              </a:solidFill>
            </a:endParaRPr>
          </a:p>
        </p:txBody>
      </p:sp>
      <p:sp>
        <p:nvSpPr>
          <p:cNvPr id="3" name="Text Placeholder 2"/>
          <p:cNvSpPr>
            <a:spLocks noGrp="1"/>
          </p:cNvSpPr>
          <p:nvPr>
            <p:ph type="body" idx="1"/>
          </p:nvPr>
        </p:nvSpPr>
        <p:spPr>
          <a:xfrm>
            <a:off x="152400" y="685800"/>
            <a:ext cx="8458200" cy="6172200"/>
          </a:xfrm>
        </p:spPr>
        <p:txBody>
          <a:bodyPr/>
          <a:lstStyle/>
          <a:p>
            <a:r>
              <a:rPr lang="en-IN" b="1" dirty="0" smtClean="0"/>
              <a:t>1. Parts per million(</a:t>
            </a:r>
            <a:r>
              <a:rPr lang="en-IN" b="1" dirty="0" err="1" smtClean="0"/>
              <a:t>ppm</a:t>
            </a:r>
            <a:r>
              <a:rPr lang="en-IN" b="1" dirty="0" smtClean="0"/>
              <a:t>)</a:t>
            </a:r>
            <a:endParaRPr lang="en-US" dirty="0" smtClean="0"/>
          </a:p>
          <a:p>
            <a:r>
              <a:rPr lang="en-US" dirty="0" smtClean="0"/>
              <a:t>It is defined as the number of parts of CaCO</a:t>
            </a:r>
            <a:r>
              <a:rPr lang="en-US" baseline="-25000" dirty="0" smtClean="0"/>
              <a:t>3</a:t>
            </a:r>
            <a:r>
              <a:rPr lang="en-US" dirty="0" smtClean="0"/>
              <a:t> equivalent hardness per 106 parts of water.</a:t>
            </a:r>
          </a:p>
          <a:p>
            <a:r>
              <a:rPr lang="en-IN" b="1" dirty="0" smtClean="0"/>
              <a:t>2. Milligrams per litre(mg/lit)</a:t>
            </a:r>
            <a:endParaRPr lang="en-US" b="1" dirty="0" smtClean="0"/>
          </a:p>
          <a:p>
            <a:r>
              <a:rPr lang="en-IN" dirty="0" smtClean="0"/>
              <a:t>It is defined as the number of milligrams of CaCO</a:t>
            </a:r>
            <a:r>
              <a:rPr lang="en-IN" baseline="-25000" dirty="0" smtClean="0"/>
              <a:t>3</a:t>
            </a:r>
            <a:r>
              <a:rPr lang="en-IN" dirty="0" smtClean="0"/>
              <a:t> equivalent hardness per 1 </a:t>
            </a:r>
            <a:r>
              <a:rPr lang="en-US" dirty="0" err="1" smtClean="0"/>
              <a:t>litre</a:t>
            </a:r>
            <a:r>
              <a:rPr lang="en-US" dirty="0" smtClean="0"/>
              <a:t> of water.</a:t>
            </a:r>
          </a:p>
          <a:p>
            <a:r>
              <a:rPr lang="en-IN" b="1" dirty="0" smtClean="0"/>
              <a:t>3. Clarke’s degree (</a:t>
            </a:r>
            <a:r>
              <a:rPr lang="en-IN" b="1" dirty="0" err="1" smtClean="0"/>
              <a:t>oCl</a:t>
            </a:r>
            <a:r>
              <a:rPr lang="en-IN" b="1" dirty="0" smtClean="0"/>
              <a:t>)</a:t>
            </a:r>
            <a:endParaRPr lang="en-US" b="1" dirty="0" smtClean="0"/>
          </a:p>
          <a:p>
            <a:r>
              <a:rPr lang="en-US" dirty="0" smtClean="0"/>
              <a:t>It is defined as the number of parts of CaCO</a:t>
            </a:r>
            <a:r>
              <a:rPr lang="en-US" baseline="-25000" dirty="0" smtClean="0"/>
              <a:t>3</a:t>
            </a:r>
            <a:r>
              <a:rPr lang="en-US" dirty="0" smtClean="0"/>
              <a:t> equivalent hardness per 70,000 parts of water.</a:t>
            </a:r>
          </a:p>
          <a:p>
            <a:r>
              <a:rPr lang="en-IN" b="1" dirty="0" smtClean="0"/>
              <a:t>4. French degree(</a:t>
            </a:r>
            <a:r>
              <a:rPr lang="en-IN" b="1" dirty="0" err="1" smtClean="0"/>
              <a:t>oFr</a:t>
            </a:r>
            <a:r>
              <a:rPr lang="en-IN" b="1" dirty="0" smtClean="0"/>
              <a:t>)</a:t>
            </a:r>
            <a:endParaRPr lang="en-US" b="1" dirty="0" smtClean="0"/>
          </a:p>
          <a:p>
            <a:r>
              <a:rPr lang="en-US" dirty="0" smtClean="0"/>
              <a:t>It is defined as the number of parts of CaCO</a:t>
            </a:r>
            <a:r>
              <a:rPr lang="en-US" baseline="-25000" dirty="0" smtClean="0"/>
              <a:t>3</a:t>
            </a:r>
            <a:r>
              <a:rPr lang="en-US" dirty="0" smtClean="0"/>
              <a:t> equivalent hardness per 105 parts of water.</a:t>
            </a:r>
          </a:p>
          <a:p>
            <a:r>
              <a:rPr lang="en-IN" b="1" dirty="0" smtClean="0"/>
              <a:t>Relationship between various units</a:t>
            </a:r>
            <a:endParaRPr lang="en-US" b="1" dirty="0" smtClean="0"/>
          </a:p>
          <a:p>
            <a:r>
              <a:rPr lang="en-US" dirty="0" smtClean="0"/>
              <a:t>1ppm = 1 mg/lit = 0.10 Fr = 0.070Cl</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A.R.Sivakumar\Desktop\c1.jpg"/>
          <p:cNvPicPr>
            <a:picLocks noGrp="1" noChangeAspect="1" noChangeArrowheads="1"/>
          </p:cNvPicPr>
          <p:nvPr>
            <p:ph idx="1"/>
          </p:nvPr>
        </p:nvPicPr>
        <p:blipFill>
          <a:blip r:embed="rId2" cstate="print"/>
          <a:srcRect/>
          <a:stretch>
            <a:fillRect/>
          </a:stretch>
        </p:blipFill>
        <p:spPr bwMode="auto">
          <a:xfrm>
            <a:off x="0" y="260648"/>
            <a:ext cx="8964488" cy="3043289"/>
          </a:xfrm>
          <a:prstGeom prst="rect">
            <a:avLst/>
          </a:prstGeom>
          <a:noFill/>
        </p:spPr>
      </p:pic>
      <p:pic>
        <p:nvPicPr>
          <p:cNvPr id="13315" name="Picture 3" descr="C:\Users\A.R.Sivakumar\Desktop\c2.jpg"/>
          <p:cNvPicPr>
            <a:picLocks noChangeAspect="1" noChangeArrowheads="1"/>
          </p:cNvPicPr>
          <p:nvPr/>
        </p:nvPicPr>
        <p:blipFill>
          <a:blip r:embed="rId3" cstate="print"/>
          <a:srcRect/>
          <a:stretch>
            <a:fillRect/>
          </a:stretch>
        </p:blipFill>
        <p:spPr bwMode="auto">
          <a:xfrm>
            <a:off x="107504" y="3356992"/>
            <a:ext cx="4032448" cy="3501008"/>
          </a:xfrm>
          <a:prstGeom prst="rect">
            <a:avLst/>
          </a:prstGeom>
          <a:noFill/>
        </p:spPr>
      </p:pic>
      <p:pic>
        <p:nvPicPr>
          <p:cNvPr id="13316" name="Picture 4" descr="C:\Users\A.R.Sivakumar\Desktop\c3.jpg"/>
          <p:cNvPicPr>
            <a:picLocks noChangeAspect="1" noChangeArrowheads="1"/>
          </p:cNvPicPr>
          <p:nvPr/>
        </p:nvPicPr>
        <p:blipFill>
          <a:blip r:embed="rId4" cstate="print"/>
          <a:srcRect/>
          <a:stretch>
            <a:fillRect/>
          </a:stretch>
        </p:blipFill>
        <p:spPr bwMode="auto">
          <a:xfrm>
            <a:off x="4427984" y="3645024"/>
            <a:ext cx="4392488" cy="3212976"/>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R.Sivakumar\Desktop\h1.jpg"/>
          <p:cNvPicPr>
            <a:picLocks noGrp="1" noChangeAspect="1" noChangeArrowheads="1"/>
          </p:cNvPicPr>
          <p:nvPr>
            <p:ph idx="1"/>
          </p:nvPr>
        </p:nvPicPr>
        <p:blipFill>
          <a:blip r:embed="rId2" cstate="print"/>
          <a:srcRect/>
          <a:stretch>
            <a:fillRect/>
          </a:stretch>
        </p:blipFill>
        <p:spPr bwMode="auto">
          <a:xfrm>
            <a:off x="251520" y="404664"/>
            <a:ext cx="3600400" cy="2633836"/>
          </a:xfrm>
          <a:prstGeom prst="rect">
            <a:avLst/>
          </a:prstGeom>
          <a:noFill/>
        </p:spPr>
      </p:pic>
      <p:pic>
        <p:nvPicPr>
          <p:cNvPr id="4099" name="Picture 3" descr="C:\Users\A.R.Sivakumar\Desktop\h2.jpg"/>
          <p:cNvPicPr>
            <a:picLocks noChangeAspect="1" noChangeArrowheads="1"/>
          </p:cNvPicPr>
          <p:nvPr/>
        </p:nvPicPr>
        <p:blipFill>
          <a:blip r:embed="rId3" cstate="print"/>
          <a:srcRect/>
          <a:stretch>
            <a:fillRect/>
          </a:stretch>
        </p:blipFill>
        <p:spPr bwMode="auto">
          <a:xfrm>
            <a:off x="4211960" y="332656"/>
            <a:ext cx="4536504" cy="2680320"/>
          </a:xfrm>
          <a:prstGeom prst="rect">
            <a:avLst/>
          </a:prstGeom>
          <a:noFill/>
        </p:spPr>
      </p:pic>
      <p:pic>
        <p:nvPicPr>
          <p:cNvPr id="4100" name="Picture 4" descr="C:\Users\A.R.Sivakumar\Desktop\h3.jpg"/>
          <p:cNvPicPr>
            <a:picLocks noChangeAspect="1" noChangeArrowheads="1"/>
          </p:cNvPicPr>
          <p:nvPr/>
        </p:nvPicPr>
        <p:blipFill>
          <a:blip r:embed="rId4" cstate="print"/>
          <a:srcRect/>
          <a:stretch>
            <a:fillRect/>
          </a:stretch>
        </p:blipFill>
        <p:spPr bwMode="auto">
          <a:xfrm>
            <a:off x="251520" y="3356992"/>
            <a:ext cx="3816424" cy="3168352"/>
          </a:xfrm>
          <a:prstGeom prst="rect">
            <a:avLst/>
          </a:prstGeom>
          <a:noFill/>
        </p:spPr>
      </p:pic>
      <p:pic>
        <p:nvPicPr>
          <p:cNvPr id="4101" name="Picture 5" descr="C:\Users\A.R.Sivakumar\Desktop\h4.jpg"/>
          <p:cNvPicPr>
            <a:picLocks noChangeAspect="1" noChangeArrowheads="1"/>
          </p:cNvPicPr>
          <p:nvPr/>
        </p:nvPicPr>
        <p:blipFill>
          <a:blip r:embed="rId5" cstate="print"/>
          <a:srcRect/>
          <a:stretch>
            <a:fillRect/>
          </a:stretch>
        </p:blipFill>
        <p:spPr bwMode="auto">
          <a:xfrm>
            <a:off x="4427984" y="3284984"/>
            <a:ext cx="4320480" cy="2880320"/>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504" y="116632"/>
            <a:ext cx="8579296" cy="6741368"/>
          </a:xfrm>
        </p:spPr>
        <p:txBody>
          <a:bodyPr/>
          <a:lstStyle/>
          <a:p>
            <a:r>
              <a:rPr lang="en-US" dirty="0" smtClean="0">
                <a:solidFill>
                  <a:srgbClr val="C00000"/>
                </a:solidFill>
                <a:latin typeface="Times New Roman" pitchFamily="18" charset="0"/>
                <a:cs typeface="Times New Roman" pitchFamily="18" charset="0"/>
              </a:rPr>
              <a:t>Impurities of water</a:t>
            </a:r>
            <a:r>
              <a:rPr lang="en-US" dirty="0" smtClean="0">
                <a:solidFill>
                  <a:srgbClr val="C00000"/>
                </a:solidFill>
              </a:rPr>
              <a:t>..</a:t>
            </a:r>
          </a:p>
          <a:p>
            <a:r>
              <a:rPr lang="en-US" sz="2400" dirty="0" smtClean="0">
                <a:latin typeface="Times New Roman" pitchFamily="18" charset="0"/>
                <a:cs typeface="Times New Roman" pitchFamily="18" charset="0"/>
              </a:rPr>
              <a:t>Impurities or pollutants in natural water is defined as the contamination of the Physical ,Chemical or Biological properties of any water.</a:t>
            </a:r>
          </a:p>
          <a:p>
            <a:r>
              <a:rPr lang="en-US" sz="2400" dirty="0" smtClean="0">
                <a:solidFill>
                  <a:srgbClr val="C00000"/>
                </a:solidFill>
                <a:latin typeface="Times New Roman" pitchFamily="18" charset="0"/>
                <a:cs typeface="Times New Roman" pitchFamily="18" charset="0"/>
              </a:rPr>
              <a:t>It may be classified into 3 types as…</a:t>
            </a:r>
          </a:p>
          <a:p>
            <a:r>
              <a:rPr lang="en-US" sz="2400" dirty="0" smtClean="0">
                <a:latin typeface="Times New Roman" pitchFamily="18" charset="0"/>
                <a:cs typeface="Times New Roman" pitchFamily="18" charset="0"/>
              </a:rPr>
              <a:t>Physical impurities</a:t>
            </a:r>
          </a:p>
          <a:p>
            <a:r>
              <a:rPr lang="en-US" sz="2400" dirty="0" smtClean="0">
                <a:latin typeface="Times New Roman" pitchFamily="18" charset="0"/>
                <a:cs typeface="Times New Roman" pitchFamily="18" charset="0"/>
              </a:rPr>
              <a:t>Chemical impurities</a:t>
            </a:r>
          </a:p>
          <a:p>
            <a:r>
              <a:rPr lang="en-US" sz="2400" dirty="0" smtClean="0">
                <a:latin typeface="Times New Roman" pitchFamily="18" charset="0"/>
                <a:cs typeface="Times New Roman" pitchFamily="18" charset="0"/>
              </a:rPr>
              <a:t>Biological impurities</a:t>
            </a:r>
          </a:p>
          <a:p>
            <a:r>
              <a:rPr lang="en-US" sz="2400" dirty="0" smtClean="0">
                <a:solidFill>
                  <a:srgbClr val="C00000"/>
                </a:solidFill>
                <a:latin typeface="Times New Roman" pitchFamily="18" charset="0"/>
                <a:cs typeface="Times New Roman" pitchFamily="18" charset="0"/>
              </a:rPr>
              <a:t>Physical impurities…</a:t>
            </a:r>
          </a:p>
          <a:p>
            <a:r>
              <a:rPr lang="en-US" sz="2400" dirty="0" smtClean="0">
                <a:solidFill>
                  <a:srgbClr val="C00000"/>
                </a:solidFill>
                <a:latin typeface="Times New Roman" pitchFamily="18" charset="0"/>
                <a:cs typeface="Times New Roman" pitchFamily="18" charset="0"/>
              </a:rPr>
              <a:t>Suspended matters :(Ex) :</a:t>
            </a:r>
            <a:r>
              <a:rPr lang="en-US" sz="2400" dirty="0" smtClean="0">
                <a:latin typeface="Times New Roman" pitchFamily="18" charset="0"/>
                <a:cs typeface="Times New Roman" pitchFamily="18" charset="0"/>
              </a:rPr>
              <a:t>Sand , clay , oil </a:t>
            </a:r>
            <a:r>
              <a:rPr lang="en-US" sz="2400" dirty="0" err="1" smtClean="0">
                <a:latin typeface="Times New Roman" pitchFamily="18" charset="0"/>
                <a:cs typeface="Times New Roman" pitchFamily="18" charset="0"/>
              </a:rPr>
              <a:t>globules,vegetable</a:t>
            </a:r>
            <a:r>
              <a:rPr lang="en-US" sz="2400" dirty="0" smtClean="0">
                <a:latin typeface="Times New Roman" pitchFamily="18" charset="0"/>
                <a:cs typeface="Times New Roman" pitchFamily="18" charset="0"/>
              </a:rPr>
              <a:t> and animal mater impart turbidity to water.</a:t>
            </a:r>
          </a:p>
          <a:p>
            <a:r>
              <a:rPr lang="en-US" sz="2400" dirty="0" smtClean="0">
                <a:solidFill>
                  <a:srgbClr val="C00000"/>
                </a:solidFill>
                <a:latin typeface="Times New Roman" pitchFamily="18" charset="0"/>
                <a:cs typeface="Times New Roman" pitchFamily="18" charset="0"/>
              </a:rPr>
              <a:t>Colloidal impurities: (Ex) : </a:t>
            </a:r>
            <a:r>
              <a:rPr lang="en-US" sz="2400" dirty="0" smtClean="0">
                <a:latin typeface="Times New Roman" pitchFamily="18" charset="0"/>
                <a:cs typeface="Times New Roman" pitchFamily="18" charset="0"/>
              </a:rPr>
              <a:t>Emulsified oils, dyes, finely divided silica, fats, ethers etc imparts </a:t>
            </a:r>
            <a:r>
              <a:rPr lang="en-US" sz="2400" dirty="0" err="1" smtClean="0">
                <a:latin typeface="Times New Roman" pitchFamily="18" charset="0"/>
                <a:cs typeface="Times New Roman" pitchFamily="18" charset="0"/>
              </a:rPr>
              <a:t>colour</a:t>
            </a: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odour</a:t>
            </a:r>
            <a:r>
              <a:rPr lang="en-US" sz="2400" dirty="0" smtClean="0">
                <a:latin typeface="Times New Roman" pitchFamily="18" charset="0"/>
                <a:cs typeface="Times New Roman" pitchFamily="18" charset="0"/>
              </a:rPr>
              <a:t> and taste to water.</a:t>
            </a:r>
          </a:p>
          <a:p>
            <a:r>
              <a:rPr lang="en-US" sz="2400" dirty="0" smtClean="0">
                <a:solidFill>
                  <a:srgbClr val="C00000"/>
                </a:solidFill>
                <a:latin typeface="Times New Roman" pitchFamily="18" charset="0"/>
                <a:cs typeface="Times New Roman" pitchFamily="18" charset="0"/>
              </a:rPr>
              <a:t>Chemical impurities…</a:t>
            </a:r>
          </a:p>
          <a:p>
            <a:r>
              <a:rPr lang="en-US" sz="2400" dirty="0" smtClean="0">
                <a:latin typeface="Times New Roman" pitchFamily="18" charset="0"/>
                <a:cs typeface="Times New Roman" pitchFamily="18" charset="0"/>
              </a:rPr>
              <a:t>Dissolved salts like bicarbonates, carbonate, chloride ,</a:t>
            </a:r>
            <a:r>
              <a:rPr lang="en-US" sz="2400" dirty="0" err="1" smtClean="0">
                <a:latin typeface="Times New Roman" pitchFamily="18" charset="0"/>
                <a:cs typeface="Times New Roman" pitchFamily="18" charset="0"/>
              </a:rPr>
              <a:t>sulphate</a:t>
            </a:r>
            <a:r>
              <a:rPr lang="en-US" sz="2400" dirty="0" smtClean="0">
                <a:latin typeface="Times New Roman" pitchFamily="18" charset="0"/>
                <a:cs typeface="Times New Roman" pitchFamily="18" charset="0"/>
              </a:rPr>
              <a:t>, nitrate, Phosphates of Na , K ,Ca ,Mg , Fe</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16632"/>
            <a:ext cx="8507288" cy="4302968"/>
          </a:xfrm>
        </p:spPr>
        <p:txBody>
          <a:bodyPr/>
          <a:lstStyle/>
          <a:p>
            <a:endParaRPr lang="en-US" dirty="0" smtClean="0"/>
          </a:p>
          <a:p>
            <a:endParaRPr lang="en-US" dirty="0" smtClean="0"/>
          </a:p>
          <a:p>
            <a:endParaRPr lang="en-US" dirty="0" smtClean="0"/>
          </a:p>
          <a:p>
            <a:endParaRPr lang="en-US" dirty="0" smtClean="0"/>
          </a:p>
          <a:p>
            <a:endParaRPr lang="en-US" dirty="0" smtClean="0"/>
          </a:p>
          <a:p>
            <a:pPr algn="ctr"/>
            <a:r>
              <a:rPr lang="en-US" sz="4400" b="1" dirty="0" smtClean="0">
                <a:solidFill>
                  <a:srgbClr val="FF0000"/>
                </a:solidFill>
                <a:latin typeface="Times New Roman" pitchFamily="18" charset="0"/>
                <a:cs typeface="Times New Roman" pitchFamily="18" charset="0"/>
              </a:rPr>
              <a:t>WATER QUALITY</a:t>
            </a:r>
            <a:r>
              <a:rPr lang="en-US" dirty="0" smtClean="0"/>
              <a:t>…</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R.Sivakumar\Desktop\Q1.jpg"/>
          <p:cNvPicPr>
            <a:picLocks noGrp="1" noChangeAspect="1" noChangeArrowheads="1"/>
          </p:cNvPicPr>
          <p:nvPr>
            <p:ph idx="1"/>
          </p:nvPr>
        </p:nvPicPr>
        <p:blipFill>
          <a:blip r:embed="rId2" cstate="print"/>
          <a:srcRect/>
          <a:stretch>
            <a:fillRect/>
          </a:stretch>
        </p:blipFill>
        <p:spPr bwMode="auto">
          <a:xfrm>
            <a:off x="179512" y="260648"/>
            <a:ext cx="4512790" cy="3260923"/>
          </a:xfrm>
          <a:prstGeom prst="rect">
            <a:avLst/>
          </a:prstGeom>
          <a:noFill/>
        </p:spPr>
      </p:pic>
      <p:pic>
        <p:nvPicPr>
          <p:cNvPr id="1027" name="Picture 3" descr="C:\Users\A.R.Sivakumar\Desktop\Q2.jpg"/>
          <p:cNvPicPr>
            <a:picLocks noChangeAspect="1" noChangeArrowheads="1"/>
          </p:cNvPicPr>
          <p:nvPr/>
        </p:nvPicPr>
        <p:blipFill>
          <a:blip r:embed="rId3" cstate="print"/>
          <a:srcRect/>
          <a:stretch>
            <a:fillRect/>
          </a:stretch>
        </p:blipFill>
        <p:spPr bwMode="auto">
          <a:xfrm>
            <a:off x="251520" y="3789040"/>
            <a:ext cx="8568952" cy="3068960"/>
          </a:xfrm>
          <a:prstGeom prst="rect">
            <a:avLst/>
          </a:prstGeom>
          <a:noFill/>
        </p:spPr>
      </p:pic>
      <p:pic>
        <p:nvPicPr>
          <p:cNvPr id="1028" name="Picture 4" descr="C:\Users\A.R.Sivakumar\Desktop\Q3.jpg"/>
          <p:cNvPicPr>
            <a:picLocks noChangeAspect="1" noChangeArrowheads="1"/>
          </p:cNvPicPr>
          <p:nvPr/>
        </p:nvPicPr>
        <p:blipFill>
          <a:blip r:embed="rId4" cstate="print"/>
          <a:srcRect/>
          <a:stretch>
            <a:fillRect/>
          </a:stretch>
        </p:blipFill>
        <p:spPr bwMode="auto">
          <a:xfrm>
            <a:off x="5076056" y="260648"/>
            <a:ext cx="3816424" cy="3183235"/>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52400"/>
            <a:ext cx="6400800" cy="584775"/>
          </a:xfrm>
          <a:prstGeom prst="rect">
            <a:avLst/>
          </a:prstGeom>
          <a:noFill/>
        </p:spPr>
        <p:txBody>
          <a:bodyPr wrap="square" rtlCol="0">
            <a:spAutoFit/>
          </a:bodyPr>
          <a:lstStyle/>
          <a:p>
            <a:r>
              <a:rPr lang="en-US" sz="3200" b="1" dirty="0" smtClean="0">
                <a:solidFill>
                  <a:srgbClr val="FF0000"/>
                </a:solidFill>
                <a:latin typeface="Times New Roman" pitchFamily="18" charset="0"/>
                <a:cs typeface="Times New Roman" pitchFamily="18" charset="0"/>
              </a:rPr>
              <a:t>Water Quality Parameters</a:t>
            </a:r>
            <a:endParaRPr lang="en-US" sz="3200" b="1" dirty="0">
              <a:solidFill>
                <a:srgbClr val="FF0000"/>
              </a:solidFill>
              <a:latin typeface="Times New Roman" pitchFamily="18" charset="0"/>
              <a:cs typeface="Times New Roman" pitchFamily="18" charset="0"/>
            </a:endParaRPr>
          </a:p>
        </p:txBody>
      </p:sp>
      <p:sp>
        <p:nvSpPr>
          <p:cNvPr id="3" name="TextBox 2"/>
          <p:cNvSpPr txBox="1"/>
          <p:nvPr/>
        </p:nvSpPr>
        <p:spPr>
          <a:xfrm>
            <a:off x="304800" y="1066800"/>
            <a:ext cx="8039686" cy="4524315"/>
          </a:xfrm>
          <a:prstGeom prst="rect">
            <a:avLst/>
          </a:prstGeom>
          <a:noFill/>
        </p:spPr>
        <p:txBody>
          <a:bodyPr wrap="square" rtlCol="0">
            <a:spAutoFit/>
          </a:bodyPr>
          <a:lstStyle/>
          <a:p>
            <a:r>
              <a:rPr lang="en-US" sz="3200" dirty="0" smtClean="0">
                <a:solidFill>
                  <a:srgbClr val="7030A0"/>
                </a:solidFill>
                <a:latin typeface="Times New Roman" pitchFamily="18" charset="0"/>
                <a:cs typeface="Times New Roman" pitchFamily="18" charset="0"/>
              </a:rPr>
              <a:t>Can be divided into three types:</a:t>
            </a:r>
          </a:p>
          <a:p>
            <a:endParaRPr lang="en-US" sz="3200" dirty="0" smtClean="0">
              <a:solidFill>
                <a:srgbClr val="7030A0"/>
              </a:solidFill>
              <a:latin typeface="Times New Roman" pitchFamily="18" charset="0"/>
              <a:cs typeface="Times New Roman" pitchFamily="18" charset="0"/>
            </a:endParaRPr>
          </a:p>
          <a:p>
            <a:r>
              <a:rPr lang="en-US" sz="3200" dirty="0" smtClean="0">
                <a:solidFill>
                  <a:srgbClr val="7030A0"/>
                </a:solidFill>
                <a:latin typeface="Times New Roman" pitchFamily="18" charset="0"/>
                <a:cs typeface="Times New Roman" pitchFamily="18" charset="0"/>
              </a:rPr>
              <a:t>Physical  - pH, turbidity, </a:t>
            </a:r>
            <a:r>
              <a:rPr lang="en-US" sz="3200" dirty="0" err="1" smtClean="0">
                <a:solidFill>
                  <a:srgbClr val="7030A0"/>
                </a:solidFill>
                <a:latin typeface="Times New Roman" pitchFamily="18" charset="0"/>
                <a:cs typeface="Times New Roman" pitchFamily="18" charset="0"/>
              </a:rPr>
              <a:t>colour</a:t>
            </a:r>
            <a:r>
              <a:rPr lang="en-US" sz="3200" dirty="0" smtClean="0">
                <a:solidFill>
                  <a:srgbClr val="7030A0"/>
                </a:solidFill>
                <a:latin typeface="Times New Roman" pitchFamily="18" charset="0"/>
                <a:cs typeface="Times New Roman" pitchFamily="18" charset="0"/>
              </a:rPr>
              <a:t> , </a:t>
            </a:r>
            <a:r>
              <a:rPr lang="en-US" sz="3200" dirty="0" err="1" smtClean="0">
                <a:solidFill>
                  <a:srgbClr val="7030A0"/>
                </a:solidFill>
                <a:latin typeface="Times New Roman" pitchFamily="18" charset="0"/>
                <a:cs typeface="Times New Roman" pitchFamily="18" charset="0"/>
              </a:rPr>
              <a:t>odour</a:t>
            </a:r>
            <a:r>
              <a:rPr lang="en-US" sz="3200" dirty="0" smtClean="0">
                <a:solidFill>
                  <a:srgbClr val="7030A0"/>
                </a:solidFill>
                <a:latin typeface="Times New Roman" pitchFamily="18" charset="0"/>
                <a:cs typeface="Times New Roman" pitchFamily="18" charset="0"/>
              </a:rPr>
              <a:t>, temperature</a:t>
            </a:r>
          </a:p>
          <a:p>
            <a:endParaRPr lang="en-US" sz="3200" dirty="0" smtClean="0">
              <a:solidFill>
                <a:srgbClr val="7030A0"/>
              </a:solidFill>
              <a:latin typeface="Times New Roman" pitchFamily="18" charset="0"/>
              <a:cs typeface="Times New Roman" pitchFamily="18" charset="0"/>
            </a:endParaRPr>
          </a:p>
          <a:p>
            <a:r>
              <a:rPr lang="en-US" sz="3200" dirty="0" smtClean="0">
                <a:solidFill>
                  <a:srgbClr val="7030A0"/>
                </a:solidFill>
                <a:latin typeface="Times New Roman" pitchFamily="18" charset="0"/>
                <a:cs typeface="Times New Roman" pitchFamily="18" charset="0"/>
              </a:rPr>
              <a:t>Chemical – Total Dissolved solids, alkalinity, hardness</a:t>
            </a:r>
          </a:p>
          <a:p>
            <a:endParaRPr lang="en-US" sz="3200" dirty="0" smtClean="0">
              <a:solidFill>
                <a:srgbClr val="7030A0"/>
              </a:solidFill>
              <a:latin typeface="Times New Roman" pitchFamily="18" charset="0"/>
              <a:cs typeface="Times New Roman" pitchFamily="18" charset="0"/>
            </a:endParaRPr>
          </a:p>
          <a:p>
            <a:r>
              <a:rPr lang="en-US" sz="3200" dirty="0" smtClean="0">
                <a:solidFill>
                  <a:srgbClr val="7030A0"/>
                </a:solidFill>
                <a:latin typeface="Times New Roman" pitchFamily="18" charset="0"/>
                <a:cs typeface="Times New Roman" pitchFamily="18" charset="0"/>
              </a:rPr>
              <a:t>Biological – COD, BOD</a:t>
            </a:r>
            <a:endParaRPr lang="en-US" sz="3200" dirty="0">
              <a:solidFill>
                <a:srgbClr val="7030A0"/>
              </a:solidFill>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504" y="116632"/>
            <a:ext cx="9036496" cy="6624736"/>
          </a:xfrm>
        </p:spPr>
        <p:txBody>
          <a:bodyPr>
            <a:normAutofit/>
          </a:bodyPr>
          <a:lstStyle/>
          <a:p>
            <a:r>
              <a:rPr lang="en-US" dirty="0" smtClean="0">
                <a:solidFill>
                  <a:srgbClr val="C00000"/>
                </a:solidFill>
                <a:latin typeface="Times New Roman" pitchFamily="18" charset="0"/>
                <a:cs typeface="Times New Roman" pitchFamily="18" charset="0"/>
              </a:rPr>
              <a:t>Water quality parameters..</a:t>
            </a:r>
          </a:p>
          <a:p>
            <a:r>
              <a:rPr lang="en-US" sz="2000" dirty="0" smtClean="0">
                <a:latin typeface="Times New Roman" pitchFamily="18" charset="0"/>
                <a:cs typeface="Times New Roman" pitchFamily="18" charset="0"/>
              </a:rPr>
              <a:t>Three parameters is used for quality of water.</a:t>
            </a:r>
          </a:p>
          <a:p>
            <a:r>
              <a:rPr lang="en-US" sz="2000" dirty="0" smtClean="0">
                <a:latin typeface="Times New Roman" pitchFamily="18" charset="0"/>
                <a:cs typeface="Times New Roman" pitchFamily="18" charset="0"/>
              </a:rPr>
              <a:t>Physical parameters</a:t>
            </a:r>
          </a:p>
          <a:p>
            <a:r>
              <a:rPr lang="en-US" sz="2000" dirty="0" smtClean="0">
                <a:latin typeface="Times New Roman" pitchFamily="18" charset="0"/>
                <a:cs typeface="Times New Roman" pitchFamily="18" charset="0"/>
              </a:rPr>
              <a:t>Chemical parameters</a:t>
            </a:r>
          </a:p>
          <a:p>
            <a:r>
              <a:rPr lang="en-US" sz="2000" dirty="0" smtClean="0">
                <a:latin typeface="Times New Roman" pitchFamily="18" charset="0"/>
                <a:cs typeface="Times New Roman" pitchFamily="18" charset="0"/>
              </a:rPr>
              <a:t>Biological parameters</a:t>
            </a:r>
          </a:p>
          <a:p>
            <a:r>
              <a:rPr lang="en-US" sz="2000" dirty="0" smtClean="0">
                <a:solidFill>
                  <a:srgbClr val="C00000"/>
                </a:solidFill>
                <a:latin typeface="Times New Roman" pitchFamily="18" charset="0"/>
                <a:cs typeface="Times New Roman" pitchFamily="18" charset="0"/>
              </a:rPr>
              <a:t>Physical parameters…</a:t>
            </a:r>
          </a:p>
          <a:p>
            <a:r>
              <a:rPr lang="en-US" sz="2000" dirty="0" smtClean="0">
                <a:latin typeface="Times New Roman" pitchFamily="18" charset="0"/>
                <a:cs typeface="Times New Roman" pitchFamily="18" charset="0"/>
              </a:rPr>
              <a:t>Physical parameters of water (temperature, </a:t>
            </a:r>
            <a:r>
              <a:rPr lang="en-US" sz="2000" dirty="0" err="1" smtClean="0">
                <a:latin typeface="Times New Roman" pitchFamily="18" charset="0"/>
                <a:cs typeface="Times New Roman" pitchFamily="18" charset="0"/>
              </a:rPr>
              <a:t>colour</a:t>
            </a:r>
            <a:r>
              <a:rPr lang="en-US" sz="2000" dirty="0" smtClean="0">
                <a:latin typeface="Times New Roman" pitchFamily="18" charset="0"/>
                <a:cs typeface="Times New Roman" pitchFamily="18" charset="0"/>
              </a:rPr>
              <a:t>, taste, </a:t>
            </a:r>
            <a:r>
              <a:rPr lang="en-US" sz="2000" dirty="0" err="1" smtClean="0">
                <a:latin typeface="Times New Roman" pitchFamily="18" charset="0"/>
                <a:cs typeface="Times New Roman" pitchFamily="18" charset="0"/>
              </a:rPr>
              <a:t>odour</a:t>
            </a:r>
            <a:r>
              <a:rPr lang="en-US" sz="2000" dirty="0" smtClean="0">
                <a:latin typeface="Times New Roman" pitchFamily="18" charset="0"/>
                <a:cs typeface="Times New Roman" pitchFamily="18" charset="0"/>
              </a:rPr>
              <a:t> and etc.) are determined by senses of touch, sight, smell and taste.</a:t>
            </a:r>
          </a:p>
          <a:p>
            <a:r>
              <a:rPr lang="en-US" sz="2000" dirty="0" smtClean="0">
                <a:latin typeface="Times New Roman" pitchFamily="18" charset="0"/>
                <a:cs typeface="Times New Roman" pitchFamily="18" charset="0"/>
              </a:rPr>
              <a:t> For example temperature by touch, </a:t>
            </a:r>
            <a:r>
              <a:rPr lang="en-US" sz="2000" dirty="0" err="1" smtClean="0">
                <a:latin typeface="Times New Roman" pitchFamily="18" charset="0"/>
                <a:cs typeface="Times New Roman" pitchFamily="18" charset="0"/>
              </a:rPr>
              <a:t>colour</a:t>
            </a:r>
            <a:r>
              <a:rPr lang="en-US" sz="2000" dirty="0" smtClean="0">
                <a:latin typeface="Times New Roman" pitchFamily="18" charset="0"/>
                <a:cs typeface="Times New Roman" pitchFamily="18" charset="0"/>
              </a:rPr>
              <a:t>, floating debris, turbidity and suspended solids by sight, and taste and </a:t>
            </a:r>
            <a:r>
              <a:rPr lang="en-US" sz="2000" dirty="0" err="1" smtClean="0">
                <a:latin typeface="Times New Roman" pitchFamily="18" charset="0"/>
                <a:cs typeface="Times New Roman" pitchFamily="18" charset="0"/>
              </a:rPr>
              <a:t>odour</a:t>
            </a:r>
            <a:r>
              <a:rPr lang="en-US" sz="2000" dirty="0" smtClean="0">
                <a:latin typeface="Times New Roman" pitchFamily="18" charset="0"/>
                <a:cs typeface="Times New Roman" pitchFamily="18" charset="0"/>
              </a:rPr>
              <a:t> by smell</a:t>
            </a:r>
            <a:r>
              <a:rPr lang="en-US" sz="2000" dirty="0" smtClean="0"/>
              <a:t>.</a:t>
            </a:r>
          </a:p>
          <a:p>
            <a:r>
              <a:rPr lang="en-US" sz="2000" dirty="0" smtClean="0">
                <a:solidFill>
                  <a:srgbClr val="C00000"/>
                </a:solidFill>
                <a:latin typeface="Times New Roman" pitchFamily="18" charset="0"/>
                <a:cs typeface="Times New Roman" pitchFamily="18" charset="0"/>
              </a:rPr>
              <a:t>Temperature…</a:t>
            </a:r>
          </a:p>
          <a:p>
            <a:r>
              <a:rPr lang="en-US" sz="2000" dirty="0" smtClean="0">
                <a:latin typeface="Times New Roman" pitchFamily="18" charset="0"/>
                <a:cs typeface="Times New Roman" pitchFamily="18" charset="0"/>
              </a:rPr>
              <a:t>The temperature of water affects some of the important physical properties and characteristics of water: thermal capacity, density, specific weight, viscosity, surface tension, specific conductivity, salinity and solubility of dissolved gases and etc. </a:t>
            </a:r>
          </a:p>
          <a:p>
            <a:r>
              <a:rPr lang="en-US" sz="2000" dirty="0" smtClean="0">
                <a:latin typeface="Times New Roman" pitchFamily="18" charset="0"/>
                <a:cs typeface="Times New Roman" pitchFamily="18" charset="0"/>
              </a:rPr>
              <a:t>Chemical and biological reaction rates increase with increasing temperature. Reaction rates usually assumed to double for an increase in temperature of 10 °C. The temperature of water in streams and rivers throughout the world varies from 0 to 35 °C. </a:t>
            </a:r>
            <a:endParaRPr lang="en-US" sz="2000"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A.R.Sivakumar\Desktop\y1.jpg"/>
          <p:cNvPicPr>
            <a:picLocks noGrp="1" noChangeAspect="1" noChangeArrowheads="1"/>
          </p:cNvPicPr>
          <p:nvPr>
            <p:ph idx="1"/>
          </p:nvPr>
        </p:nvPicPr>
        <p:blipFill>
          <a:blip r:embed="rId2" cstate="print"/>
          <a:srcRect/>
          <a:stretch>
            <a:fillRect/>
          </a:stretch>
        </p:blipFill>
        <p:spPr bwMode="auto">
          <a:xfrm>
            <a:off x="179512" y="188640"/>
            <a:ext cx="3312368" cy="2808312"/>
          </a:xfrm>
          <a:prstGeom prst="rect">
            <a:avLst/>
          </a:prstGeom>
          <a:noFill/>
        </p:spPr>
      </p:pic>
      <p:pic>
        <p:nvPicPr>
          <p:cNvPr id="3075" name="Picture 3" descr="C:\Users\A.R.Sivakumar\Desktop\y2.jpg"/>
          <p:cNvPicPr>
            <a:picLocks noChangeAspect="1" noChangeArrowheads="1"/>
          </p:cNvPicPr>
          <p:nvPr/>
        </p:nvPicPr>
        <p:blipFill>
          <a:blip r:embed="rId3" cstate="print"/>
          <a:srcRect/>
          <a:stretch>
            <a:fillRect/>
          </a:stretch>
        </p:blipFill>
        <p:spPr bwMode="auto">
          <a:xfrm>
            <a:off x="4283968" y="332656"/>
            <a:ext cx="3816424" cy="2703562"/>
          </a:xfrm>
          <a:prstGeom prst="rect">
            <a:avLst/>
          </a:prstGeom>
          <a:noFill/>
        </p:spPr>
      </p:pic>
      <p:pic>
        <p:nvPicPr>
          <p:cNvPr id="3076" name="Picture 4" descr="C:\Users\A.R.Sivakumar\Desktop\y4.jpg"/>
          <p:cNvPicPr>
            <a:picLocks noChangeAspect="1" noChangeArrowheads="1"/>
          </p:cNvPicPr>
          <p:nvPr/>
        </p:nvPicPr>
        <p:blipFill>
          <a:blip r:embed="rId4" cstate="print"/>
          <a:srcRect/>
          <a:stretch>
            <a:fillRect/>
          </a:stretch>
        </p:blipFill>
        <p:spPr bwMode="auto">
          <a:xfrm>
            <a:off x="251520" y="3356992"/>
            <a:ext cx="3888432" cy="3384376"/>
          </a:xfrm>
          <a:prstGeom prst="rect">
            <a:avLst/>
          </a:prstGeom>
          <a:noFill/>
        </p:spPr>
      </p:pic>
      <p:pic>
        <p:nvPicPr>
          <p:cNvPr id="3077" name="Picture 5" descr="C:\Users\A.R.Sivakumar\Desktop\y3.jpg"/>
          <p:cNvPicPr>
            <a:picLocks noChangeAspect="1" noChangeArrowheads="1"/>
          </p:cNvPicPr>
          <p:nvPr/>
        </p:nvPicPr>
        <p:blipFill>
          <a:blip r:embed="rId5" cstate="print"/>
          <a:srcRect/>
          <a:stretch>
            <a:fillRect/>
          </a:stretch>
        </p:blipFill>
        <p:spPr bwMode="auto">
          <a:xfrm>
            <a:off x="4283968" y="3429000"/>
            <a:ext cx="4608512" cy="3168352"/>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504" y="116632"/>
            <a:ext cx="8928992" cy="6741368"/>
          </a:xfrm>
        </p:spPr>
        <p:txBody>
          <a:bodyPr>
            <a:normAutofit/>
          </a:bodyPr>
          <a:lstStyle/>
          <a:p>
            <a:r>
              <a:rPr lang="en-US" sz="2400" dirty="0" err="1" smtClean="0">
                <a:solidFill>
                  <a:srgbClr val="C00000"/>
                </a:solidFill>
                <a:latin typeface="Times New Roman" pitchFamily="18" charset="0"/>
                <a:cs typeface="Times New Roman" pitchFamily="18" charset="0"/>
              </a:rPr>
              <a:t>Colour</a:t>
            </a:r>
            <a:r>
              <a:rPr lang="en-US" sz="2400" dirty="0" smtClean="0">
                <a:solidFill>
                  <a:srgbClr val="C00000"/>
                </a:solidFill>
                <a:latin typeface="Times New Roman" pitchFamily="18" charset="0"/>
                <a:cs typeface="Times New Roman" pitchFamily="18" charset="0"/>
              </a:rPr>
              <a:t>..</a:t>
            </a:r>
          </a:p>
          <a:p>
            <a:r>
              <a:rPr lang="en-US" sz="2000" dirty="0" err="1" smtClean="0">
                <a:latin typeface="Times New Roman" pitchFamily="18" charset="0"/>
                <a:cs typeface="Times New Roman" pitchFamily="18" charset="0"/>
              </a:rPr>
              <a:t>Colour</a:t>
            </a:r>
            <a:r>
              <a:rPr lang="en-US" sz="2000" dirty="0" smtClean="0">
                <a:latin typeface="Times New Roman" pitchFamily="18" charset="0"/>
                <a:cs typeface="Times New Roman" pitchFamily="18" charset="0"/>
              </a:rPr>
              <a:t> in water is primarily a concern of water quality for aesthetic reason. </a:t>
            </a:r>
            <a:r>
              <a:rPr lang="en-US" sz="2000" dirty="0" err="1" smtClean="0">
                <a:latin typeface="Times New Roman" pitchFamily="18" charset="0"/>
                <a:cs typeface="Times New Roman" pitchFamily="18" charset="0"/>
              </a:rPr>
              <a:t>Coloured</a:t>
            </a:r>
            <a:r>
              <a:rPr lang="en-US" sz="2000" dirty="0" smtClean="0">
                <a:latin typeface="Times New Roman" pitchFamily="18" charset="0"/>
                <a:cs typeface="Times New Roman" pitchFamily="18" charset="0"/>
              </a:rPr>
              <a:t> water give the appearance of being unfit to drink, even though the water may be perfectly safe for public use. </a:t>
            </a:r>
          </a:p>
          <a:p>
            <a:r>
              <a:rPr lang="en-US" sz="2000" dirty="0" smtClean="0">
                <a:latin typeface="Times New Roman" pitchFamily="18" charset="0"/>
                <a:cs typeface="Times New Roman" pitchFamily="18" charset="0"/>
              </a:rPr>
              <a:t>On the other hand, </a:t>
            </a:r>
            <a:r>
              <a:rPr lang="en-US" sz="2000" dirty="0" err="1" smtClean="0">
                <a:latin typeface="Times New Roman" pitchFamily="18" charset="0"/>
                <a:cs typeface="Times New Roman" pitchFamily="18" charset="0"/>
              </a:rPr>
              <a:t>colour</a:t>
            </a:r>
            <a:r>
              <a:rPr lang="en-US" sz="2000" dirty="0" smtClean="0">
                <a:latin typeface="Times New Roman" pitchFamily="18" charset="0"/>
                <a:cs typeface="Times New Roman" pitchFamily="18" charset="0"/>
              </a:rPr>
              <a:t> can indicate the presence of organic substances, such as algae or </a:t>
            </a:r>
            <a:r>
              <a:rPr lang="en-US" sz="2000" dirty="0" err="1" smtClean="0">
                <a:latin typeface="Times New Roman" pitchFamily="18" charset="0"/>
                <a:cs typeface="Times New Roman" pitchFamily="18" charset="0"/>
              </a:rPr>
              <a:t>humic</a:t>
            </a:r>
            <a:r>
              <a:rPr lang="en-US" sz="2000" dirty="0" smtClean="0">
                <a:latin typeface="Times New Roman" pitchFamily="18" charset="0"/>
                <a:cs typeface="Times New Roman" pitchFamily="18" charset="0"/>
              </a:rPr>
              <a:t> compounds. More recently, </a:t>
            </a:r>
            <a:r>
              <a:rPr lang="en-US" sz="2000" dirty="0" err="1" smtClean="0">
                <a:latin typeface="Times New Roman" pitchFamily="18" charset="0"/>
                <a:cs typeface="Times New Roman" pitchFamily="18" charset="0"/>
              </a:rPr>
              <a:t>colour</a:t>
            </a:r>
            <a:r>
              <a:rPr lang="en-US" sz="2000" dirty="0" smtClean="0">
                <a:latin typeface="Times New Roman" pitchFamily="18" charset="0"/>
                <a:cs typeface="Times New Roman" pitchFamily="18" charset="0"/>
              </a:rPr>
              <a:t> has been used as a quantitative assessment of the presence of potentially hazardous or toxic organic materials in water</a:t>
            </a:r>
            <a:r>
              <a:rPr lang="en-US" dirty="0" smtClean="0"/>
              <a:t>.</a:t>
            </a:r>
          </a:p>
          <a:p>
            <a:r>
              <a:rPr lang="en-US" sz="2400" dirty="0" smtClean="0">
                <a:solidFill>
                  <a:srgbClr val="C00000"/>
                </a:solidFill>
                <a:latin typeface="Times New Roman" pitchFamily="18" charset="0"/>
                <a:cs typeface="Times New Roman" pitchFamily="18" charset="0"/>
              </a:rPr>
              <a:t>Taste and </a:t>
            </a:r>
            <a:r>
              <a:rPr lang="en-US" sz="2400" dirty="0" err="1" smtClean="0">
                <a:solidFill>
                  <a:srgbClr val="C00000"/>
                </a:solidFill>
                <a:latin typeface="Times New Roman" pitchFamily="18" charset="0"/>
                <a:cs typeface="Times New Roman" pitchFamily="18" charset="0"/>
              </a:rPr>
              <a:t>odour</a:t>
            </a:r>
            <a:r>
              <a:rPr lang="en-US" sz="2400" dirty="0" smtClean="0">
                <a:solidFill>
                  <a:srgbClr val="C00000"/>
                </a:solidFill>
                <a:latin typeface="Times New Roman" pitchFamily="18" charset="0"/>
                <a:cs typeface="Times New Roman" pitchFamily="18" charset="0"/>
              </a:rPr>
              <a:t>..</a:t>
            </a:r>
          </a:p>
          <a:p>
            <a:r>
              <a:rPr lang="en-US" sz="2000" dirty="0" smtClean="0">
                <a:latin typeface="Times New Roman" pitchFamily="18" charset="0"/>
                <a:cs typeface="Times New Roman" pitchFamily="18" charset="0"/>
              </a:rPr>
              <a:t>Taste and </a:t>
            </a:r>
            <a:r>
              <a:rPr lang="en-US" sz="2000" dirty="0" err="1" smtClean="0">
                <a:latin typeface="Times New Roman" pitchFamily="18" charset="0"/>
                <a:cs typeface="Times New Roman" pitchFamily="18" charset="0"/>
              </a:rPr>
              <a:t>odour</a:t>
            </a:r>
            <a:r>
              <a:rPr lang="en-US" sz="2000" dirty="0" smtClean="0">
                <a:latin typeface="Times New Roman" pitchFamily="18" charset="0"/>
                <a:cs typeface="Times New Roman" pitchFamily="18" charset="0"/>
              </a:rPr>
              <a:t> are human perceptions of water quality. </a:t>
            </a:r>
          </a:p>
          <a:p>
            <a:r>
              <a:rPr lang="en-US" sz="2000" dirty="0" smtClean="0">
                <a:latin typeface="Times New Roman" pitchFamily="18" charset="0"/>
                <a:cs typeface="Times New Roman" pitchFamily="18" charset="0"/>
              </a:rPr>
              <a:t>Human perception of taste includes sour (hydrochloric acid), salty (sodium chloride), sweet (sucrose) and bitter (caffeine). </a:t>
            </a:r>
          </a:p>
          <a:p>
            <a:r>
              <a:rPr lang="en-US" sz="2000" dirty="0" smtClean="0">
                <a:latin typeface="Times New Roman" pitchFamily="18" charset="0"/>
                <a:cs typeface="Times New Roman" pitchFamily="18" charset="0"/>
              </a:rPr>
              <a:t>Relatively simple compounds produce sour and salty tastes. </a:t>
            </a:r>
          </a:p>
          <a:p>
            <a:r>
              <a:rPr lang="en-US" sz="2000" dirty="0" smtClean="0">
                <a:latin typeface="Times New Roman" pitchFamily="18" charset="0"/>
                <a:cs typeface="Times New Roman" pitchFamily="18" charset="0"/>
              </a:rPr>
              <a:t>However sweet and bitter tastes are produced by more complex organic compounds. Human detect many more tips of </a:t>
            </a:r>
            <a:r>
              <a:rPr lang="en-US" sz="2000" dirty="0" err="1" smtClean="0">
                <a:latin typeface="Times New Roman" pitchFamily="18" charset="0"/>
                <a:cs typeface="Times New Roman" pitchFamily="18" charset="0"/>
              </a:rPr>
              <a:t>odour</a:t>
            </a:r>
            <a:r>
              <a:rPr lang="en-US" sz="2000" dirty="0" smtClean="0">
                <a:latin typeface="Times New Roman" pitchFamily="18" charset="0"/>
                <a:cs typeface="Times New Roman" pitchFamily="18" charset="0"/>
              </a:rPr>
              <a:t> than tastes.</a:t>
            </a:r>
          </a:p>
          <a:p>
            <a:r>
              <a:rPr lang="en-US" sz="2000" dirty="0" smtClean="0">
                <a:latin typeface="Times New Roman" pitchFamily="18" charset="0"/>
                <a:cs typeface="Times New Roman" pitchFamily="18" charset="0"/>
              </a:rPr>
              <a:t> Organic materials discharged directly to water, such as falling leaves, runoff, etc., are sources of tastes and </a:t>
            </a:r>
            <a:r>
              <a:rPr lang="en-US" sz="2000" dirty="0" err="1" smtClean="0">
                <a:latin typeface="Times New Roman" pitchFamily="18" charset="0"/>
                <a:cs typeface="Times New Roman" pitchFamily="18" charset="0"/>
              </a:rPr>
              <a:t>odour</a:t>
            </a:r>
            <a:r>
              <a:rPr lang="en-US" sz="2000" dirty="0" smtClean="0">
                <a:latin typeface="Times New Roman" pitchFamily="18" charset="0"/>
                <a:cs typeface="Times New Roman" pitchFamily="18" charset="0"/>
              </a:rPr>
              <a:t>-producing compounds released during biodegradation. </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86690"/>
            <a:ext cx="8153400" cy="6494085"/>
          </a:xfrm>
          <a:prstGeom prst="rect">
            <a:avLst/>
          </a:prstGeom>
          <a:noFill/>
        </p:spPr>
        <p:txBody>
          <a:bodyPr wrap="square" rtlCol="0">
            <a:spAutoFit/>
          </a:bodyPr>
          <a:lstStyle/>
          <a:p>
            <a:pPr marL="342900" indent="-342900">
              <a:buAutoNum type="arabicPeriod"/>
            </a:pPr>
            <a:r>
              <a:rPr lang="en-US" sz="3200" dirty="0" smtClean="0">
                <a:solidFill>
                  <a:srgbClr val="FF0000"/>
                </a:solidFill>
                <a:latin typeface="Times New Roman" pitchFamily="18" charset="0"/>
                <a:cs typeface="Times New Roman" pitchFamily="18" charset="0"/>
              </a:rPr>
              <a:t>pH</a:t>
            </a:r>
          </a:p>
          <a:p>
            <a:pPr marL="342900" indent="-342900"/>
            <a:endParaRPr lang="en-US" sz="3200" dirty="0" smtClean="0">
              <a:latin typeface="Times New Roman" pitchFamily="18" charset="0"/>
              <a:cs typeface="Times New Roman" pitchFamily="18" charset="0"/>
            </a:endParaRPr>
          </a:p>
          <a:p>
            <a:r>
              <a:rPr lang="en-US" sz="3200" dirty="0" smtClean="0">
                <a:solidFill>
                  <a:srgbClr val="7030A0"/>
                </a:solidFill>
                <a:latin typeface="Times New Roman" pitchFamily="18" charset="0"/>
                <a:cs typeface="Times New Roman" pitchFamily="18" charset="0"/>
              </a:rPr>
              <a:t>pH value expresses the intensity of the acidic or basic characteristic of water.</a:t>
            </a:r>
          </a:p>
          <a:p>
            <a:r>
              <a:rPr lang="en-US" sz="3200" dirty="0" smtClean="0">
                <a:solidFill>
                  <a:srgbClr val="7030A0"/>
                </a:solidFill>
                <a:latin typeface="Times New Roman" pitchFamily="18" charset="0"/>
                <a:cs typeface="Times New Roman" pitchFamily="18" charset="0"/>
              </a:rPr>
              <a:t>pH is the negative logarithm of the hydrogen ion concentration.  </a:t>
            </a:r>
          </a:p>
          <a:p>
            <a:r>
              <a:rPr lang="en-US" sz="3200" dirty="0" smtClean="0">
                <a:solidFill>
                  <a:srgbClr val="7030A0"/>
                </a:solidFill>
                <a:latin typeface="Times New Roman" pitchFamily="18" charset="0"/>
                <a:cs typeface="Times New Roman" pitchFamily="18" charset="0"/>
              </a:rPr>
              <a:t>pH scale ranges from 0 to 14, with a pH of 7.0 corresponding to the neutral point.  </a:t>
            </a:r>
          </a:p>
          <a:p>
            <a:r>
              <a:rPr lang="en-US" sz="3200" dirty="0" smtClean="0">
                <a:solidFill>
                  <a:srgbClr val="7030A0"/>
                </a:solidFill>
                <a:latin typeface="Times New Roman" pitchFamily="18" charset="0"/>
                <a:cs typeface="Times New Roman" pitchFamily="18" charset="0"/>
              </a:rPr>
              <a:t>Values of pH below 7.0 are acidic </a:t>
            </a:r>
          </a:p>
          <a:p>
            <a:r>
              <a:rPr lang="en-US" sz="3200" dirty="0" smtClean="0">
                <a:solidFill>
                  <a:srgbClr val="7030A0"/>
                </a:solidFill>
                <a:latin typeface="Times New Roman" pitchFamily="18" charset="0"/>
                <a:cs typeface="Times New Roman" pitchFamily="18" charset="0"/>
              </a:rPr>
              <a:t>above 7.0, values are basic or alkaline </a:t>
            </a:r>
          </a:p>
          <a:p>
            <a:r>
              <a:rPr lang="en-US" sz="3200" dirty="0" smtClean="0">
                <a:solidFill>
                  <a:srgbClr val="7030A0"/>
                </a:solidFill>
                <a:latin typeface="Times New Roman" pitchFamily="18" charset="0"/>
                <a:cs typeface="Times New Roman" pitchFamily="18" charset="0"/>
              </a:rPr>
              <a:t>The pH of most groundwater's and surface waters  - between 5 and 9.  </a:t>
            </a:r>
          </a:p>
          <a:p>
            <a:r>
              <a:rPr lang="en-US" sz="3200" dirty="0" smtClean="0">
                <a:solidFill>
                  <a:srgbClr val="7030A0"/>
                </a:solidFill>
                <a:latin typeface="Times New Roman" pitchFamily="18" charset="0"/>
                <a:cs typeface="Times New Roman" pitchFamily="18" charset="0"/>
              </a:rPr>
              <a:t>Seawater  -  pH between 8.0 and 8.5.</a:t>
            </a:r>
            <a:endParaRPr lang="en-US" sz="3200" dirty="0">
              <a:solidFill>
                <a:srgbClr val="7030A0"/>
              </a:solidFill>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A.R.Sivakumar\Desktop\cy2.jpg"/>
          <p:cNvPicPr>
            <a:picLocks noGrp="1" noChangeAspect="1" noChangeArrowheads="1"/>
          </p:cNvPicPr>
          <p:nvPr>
            <p:ph idx="1"/>
          </p:nvPr>
        </p:nvPicPr>
        <p:blipFill>
          <a:blip r:embed="rId2" cstate="print"/>
          <a:srcRect/>
          <a:stretch>
            <a:fillRect/>
          </a:stretch>
        </p:blipFill>
        <p:spPr bwMode="auto">
          <a:xfrm>
            <a:off x="0" y="0"/>
            <a:ext cx="3707904" cy="2636912"/>
          </a:xfrm>
          <a:prstGeom prst="rect">
            <a:avLst/>
          </a:prstGeom>
          <a:noFill/>
        </p:spPr>
      </p:pic>
      <p:pic>
        <p:nvPicPr>
          <p:cNvPr id="6147" name="Picture 3" descr="C:\Users\A.R.Sivakumar\Desktop\cy3.jpg"/>
          <p:cNvPicPr>
            <a:picLocks noChangeAspect="1" noChangeArrowheads="1"/>
          </p:cNvPicPr>
          <p:nvPr/>
        </p:nvPicPr>
        <p:blipFill>
          <a:blip r:embed="rId3" cstate="print"/>
          <a:srcRect/>
          <a:stretch>
            <a:fillRect/>
          </a:stretch>
        </p:blipFill>
        <p:spPr bwMode="auto">
          <a:xfrm>
            <a:off x="4211960" y="0"/>
            <a:ext cx="4320480" cy="2636912"/>
          </a:xfrm>
          <a:prstGeom prst="rect">
            <a:avLst/>
          </a:prstGeom>
          <a:noFill/>
        </p:spPr>
      </p:pic>
      <p:pic>
        <p:nvPicPr>
          <p:cNvPr id="6148" name="Picture 4" descr="C:\Users\A.R.Sivakumar\Desktop\cy4.jpg"/>
          <p:cNvPicPr>
            <a:picLocks noChangeAspect="1" noChangeArrowheads="1"/>
          </p:cNvPicPr>
          <p:nvPr/>
        </p:nvPicPr>
        <p:blipFill>
          <a:blip r:embed="rId4" cstate="print"/>
          <a:srcRect/>
          <a:stretch>
            <a:fillRect/>
          </a:stretch>
        </p:blipFill>
        <p:spPr bwMode="auto">
          <a:xfrm>
            <a:off x="179512" y="2996952"/>
            <a:ext cx="3528392" cy="3312368"/>
          </a:xfrm>
          <a:prstGeom prst="rect">
            <a:avLst/>
          </a:prstGeom>
          <a:noFill/>
        </p:spPr>
      </p:pic>
      <p:pic>
        <p:nvPicPr>
          <p:cNvPr id="6149" name="Picture 5" descr="C:\Users\A.R.Sivakumar\Desktop\cy5.jpg"/>
          <p:cNvPicPr>
            <a:picLocks noChangeAspect="1" noChangeArrowheads="1"/>
          </p:cNvPicPr>
          <p:nvPr/>
        </p:nvPicPr>
        <p:blipFill>
          <a:blip r:embed="rId5" cstate="print"/>
          <a:srcRect/>
          <a:stretch>
            <a:fillRect/>
          </a:stretch>
        </p:blipFill>
        <p:spPr bwMode="auto">
          <a:xfrm>
            <a:off x="4355976" y="3068960"/>
            <a:ext cx="4392488" cy="3789040"/>
          </a:xfrm>
          <a:prstGeom prst="rect">
            <a:avLst/>
          </a:prstGeom>
          <a:noFill/>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86690"/>
            <a:ext cx="8153400" cy="6494085"/>
          </a:xfrm>
          <a:prstGeom prst="rect">
            <a:avLst/>
          </a:prstGeom>
          <a:noFill/>
        </p:spPr>
        <p:txBody>
          <a:bodyPr wrap="square" rtlCol="0">
            <a:spAutoFit/>
          </a:bodyPr>
          <a:lstStyle/>
          <a:p>
            <a:r>
              <a:rPr lang="en-US" sz="3200" dirty="0" smtClean="0">
                <a:solidFill>
                  <a:srgbClr val="7030A0"/>
                </a:solidFill>
                <a:latin typeface="Times New Roman" pitchFamily="18" charset="0"/>
                <a:cs typeface="Times New Roman" pitchFamily="18" charset="0"/>
              </a:rPr>
              <a:t>The optimum pH for the growth and health of most freshwater aquatic animals is in the range of 6.5 to 9.0.</a:t>
            </a:r>
          </a:p>
          <a:p>
            <a:endParaRPr lang="en-US" sz="3200" dirty="0" smtClean="0">
              <a:solidFill>
                <a:srgbClr val="7030A0"/>
              </a:solidFill>
              <a:latin typeface="Times New Roman" pitchFamily="18" charset="0"/>
              <a:cs typeface="Times New Roman" pitchFamily="18" charset="0"/>
            </a:endParaRPr>
          </a:p>
          <a:p>
            <a:r>
              <a:rPr lang="en-US" sz="3200" dirty="0" smtClean="0">
                <a:solidFill>
                  <a:srgbClr val="7030A0"/>
                </a:solidFill>
                <a:latin typeface="Times New Roman" pitchFamily="18" charset="0"/>
                <a:cs typeface="Times New Roman" pitchFamily="18" charset="0"/>
              </a:rPr>
              <a:t>Exposure to extreme pH can be lethal</a:t>
            </a:r>
          </a:p>
          <a:p>
            <a:endParaRPr lang="en-US" sz="3200" dirty="0" smtClean="0">
              <a:solidFill>
                <a:srgbClr val="7030A0"/>
              </a:solidFill>
              <a:latin typeface="Times New Roman" pitchFamily="18" charset="0"/>
              <a:cs typeface="Times New Roman" pitchFamily="18" charset="0"/>
            </a:endParaRPr>
          </a:p>
          <a:p>
            <a:r>
              <a:rPr lang="en-US" sz="3200" dirty="0" smtClean="0">
                <a:solidFill>
                  <a:srgbClr val="7030A0"/>
                </a:solidFill>
                <a:latin typeface="Times New Roman" pitchFamily="18" charset="0"/>
                <a:cs typeface="Times New Roman" pitchFamily="18" charset="0"/>
              </a:rPr>
              <a:t>pH controls a wide variety of solubility and </a:t>
            </a:r>
            <a:r>
              <a:rPr lang="en-US" sz="3200" dirty="0" err="1" smtClean="0">
                <a:solidFill>
                  <a:srgbClr val="7030A0"/>
                </a:solidFill>
                <a:latin typeface="Times New Roman" pitchFamily="18" charset="0"/>
                <a:cs typeface="Times New Roman" pitchFamily="18" charset="0"/>
              </a:rPr>
              <a:t>equilibria</a:t>
            </a:r>
            <a:r>
              <a:rPr lang="en-US" sz="3200" dirty="0" smtClean="0">
                <a:solidFill>
                  <a:srgbClr val="7030A0"/>
                </a:solidFill>
                <a:latin typeface="Times New Roman" pitchFamily="18" charset="0"/>
                <a:cs typeface="Times New Roman" pitchFamily="18" charset="0"/>
              </a:rPr>
              <a:t> reactions, the most important of which is the relationship between the un-ionized and the ionized form of ammonia and nitrite.  </a:t>
            </a:r>
          </a:p>
          <a:p>
            <a:r>
              <a:rPr lang="en-US" sz="3200" dirty="0" smtClean="0">
                <a:solidFill>
                  <a:srgbClr val="7030A0"/>
                </a:solidFill>
                <a:latin typeface="Times New Roman" pitchFamily="18" charset="0"/>
                <a:cs typeface="Times New Roman" pitchFamily="18" charset="0"/>
              </a:rPr>
              <a:t>pH also affects the toxicity of hydrogen sulfide and metals such as copper, cadmium, zinc and aluminum.              </a:t>
            </a:r>
            <a:endParaRPr lang="en-US" sz="3200" dirty="0">
              <a:solidFill>
                <a:srgbClr val="7030A0"/>
              </a:solidFill>
              <a:latin typeface="Times New Roman" pitchFamily="18" charset="0"/>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304800" y="533400"/>
            <a:ext cx="8229600" cy="5410200"/>
          </a:xfrm>
          <a:prstGeom prst="rect">
            <a:avLst/>
          </a:prstGeom>
        </p:spPr>
        <p:txBody>
          <a:bodyPr>
            <a:normAutofit lnSpcReduction="10000"/>
          </a:bodyPr>
          <a:lstStyle/>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1"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2. Turbidity</a:t>
            </a: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Source(s):			</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Inorganic compounds such as clay, sand</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Organic compounds such as plant </a:t>
            </a:r>
            <a:r>
              <a:rPr kumimoji="0" lang="en-US" sz="3200" b="0" i="0" u="none" strike="noStrike" kern="0" cap="none" spc="0" normalizeH="0" baseline="0" noProof="0" dirty="0" err="1" smtClean="0">
                <a:ln>
                  <a:noFill/>
                </a:ln>
                <a:solidFill>
                  <a:srgbClr val="7030A0"/>
                </a:solidFill>
                <a:effectLst/>
                <a:uLnTx/>
                <a:uFillTx/>
                <a:latin typeface="Times New Roman" pitchFamily="18" charset="0"/>
                <a:cs typeface="Times New Roman" pitchFamily="18" charset="0"/>
              </a:rPr>
              <a:t>fibre</a:t>
            </a: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human waste</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Effect(s):			</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Aesthetic</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Adsorption point/centre for chemicals and micro-organisms</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Health aspect</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endParaRPr kumimoji="0" lang="en-US" sz="1800" b="0" i="0" u="none" strike="noStrike" kern="0" cap="none" spc="0" normalizeH="0" baseline="0" noProof="0" dirty="0" smtClean="0">
              <a:ln>
                <a:noFill/>
              </a:ln>
              <a:solidFill>
                <a:srgbClr val="FFFF00"/>
              </a:solidFill>
              <a:effectLst/>
              <a:uLnTx/>
              <a:uFillTx/>
              <a:latin typeface="+mn-lt"/>
              <a:ea typeface="+mn-ea"/>
              <a:cs typeface="+mn-cs"/>
            </a:endParaRP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endParaRPr kumimoji="0" lang="en-US" sz="1800" b="0" i="0" u="none" strike="noStrike" kern="0" cap="none" spc="0" normalizeH="0" baseline="0" noProof="0" dirty="0">
              <a:ln>
                <a:noFill/>
              </a:ln>
              <a:solidFill>
                <a:srgbClr val="FFFF00"/>
              </a:solidFill>
              <a:effectLst/>
              <a:uLnTx/>
              <a:uFillTx/>
              <a:latin typeface="+mn-lt"/>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228600" y="304800"/>
            <a:ext cx="8229600" cy="51816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1"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3.</a:t>
            </a:r>
            <a:r>
              <a:rPr lang="en-US" sz="3200" kern="0" dirty="0" smtClean="0">
                <a:solidFill>
                  <a:srgbClr val="FF0000"/>
                </a:solidFill>
                <a:latin typeface="Times New Roman" pitchFamily="18" charset="0"/>
                <a:cs typeface="Times New Roman" pitchFamily="18" charset="0"/>
              </a:rPr>
              <a:t> </a:t>
            </a:r>
            <a:r>
              <a:rPr kumimoji="0" lang="en-US" sz="3200" b="1" i="0" u="none" strike="noStrike" kern="0" cap="none" spc="0" normalizeH="0" baseline="0" noProof="0" dirty="0" err="1" smtClean="0">
                <a:ln>
                  <a:noFill/>
                </a:ln>
                <a:solidFill>
                  <a:srgbClr val="FF0000"/>
                </a:solidFill>
                <a:effectLst/>
                <a:uLnTx/>
                <a:uFillTx/>
                <a:latin typeface="Times New Roman" pitchFamily="18" charset="0"/>
                <a:cs typeface="Times New Roman" pitchFamily="18" charset="0"/>
              </a:rPr>
              <a:t>Odour</a:t>
            </a:r>
            <a:r>
              <a:rPr kumimoji="0" lang="en-US" sz="3200" b="1"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and Taste</a:t>
            </a: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Source(s):		</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Inorganic compounds such as minerals, metals, salts (all of them give taste to water but no </a:t>
            </a:r>
            <a:r>
              <a:rPr kumimoji="0" lang="en-US" sz="3200" b="0" i="0" u="none" strike="noStrike" kern="0" cap="none" spc="0" normalizeH="0" baseline="0" noProof="0" dirty="0" err="1" smtClean="0">
                <a:ln>
                  <a:noFill/>
                </a:ln>
                <a:solidFill>
                  <a:srgbClr val="7030A0"/>
                </a:solidFill>
                <a:effectLst/>
                <a:uLnTx/>
                <a:uFillTx/>
                <a:latin typeface="Times New Roman" pitchFamily="18" charset="0"/>
                <a:cs typeface="Times New Roman" pitchFamily="18" charset="0"/>
              </a:rPr>
              <a:t>odour</a:t>
            </a: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GB"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Organic compounds from petroleum and/or degradation of organic matters. (odour and taste)</a:t>
            </a:r>
            <a:endPar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endParaRP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Effect(s):		</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Aesthetic</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Health problems [reaction from sources and other chemicals such as chlorine (Cl</a:t>
            </a:r>
            <a:r>
              <a:rPr kumimoji="0" lang="en-US" sz="3200" b="0" i="0" u="none" strike="noStrike" kern="0" cap="none" spc="0" normalizeH="0" baseline="-25000" noProof="0" dirty="0" smtClean="0">
                <a:ln>
                  <a:noFill/>
                </a:ln>
                <a:solidFill>
                  <a:srgbClr val="7030A0"/>
                </a:solidFill>
                <a:effectLst/>
                <a:uLnTx/>
                <a:uFillTx/>
                <a:latin typeface="Times New Roman" pitchFamily="18" charset="0"/>
                <a:cs typeface="Times New Roman" pitchFamily="18" charset="0"/>
              </a:rPr>
              <a:t>2</a:t>
            </a: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endPar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228600" y="381000"/>
            <a:ext cx="8229600" cy="54102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1"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4. Temperature</a:t>
            </a: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Source(s):			</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Effect from ambience</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Industrial activities - cooling system</a:t>
            </a:r>
            <a:endParaRPr kumimoji="0" lang="en-US" sz="3200" b="1" i="1" u="none" strike="noStrike" kern="0" cap="none" spc="0" normalizeH="0" baseline="0" noProof="0" dirty="0" smtClean="0">
              <a:ln>
                <a:noFill/>
              </a:ln>
              <a:solidFill>
                <a:srgbClr val="7030A0"/>
              </a:solidFill>
              <a:effectLst/>
              <a:uLnTx/>
              <a:uFillTx/>
              <a:latin typeface="Times New Roman" pitchFamily="18" charset="0"/>
              <a:cs typeface="Times New Roman" pitchFamily="18" charset="0"/>
            </a:endParaRP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Effect(s):	</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Disturb biological activities such as micro-organism and aquatic life</a:t>
            </a:r>
          </a:p>
          <a:p>
            <a:pPr marL="0" marR="0" lvl="0" indent="0" defTabSz="914400" eaLnBrk="1" fontAlgn="auto" latinLnBrk="0" hangingPunct="1">
              <a:lnSpc>
                <a:spcPct val="100000"/>
              </a:lnSpc>
              <a:spcBef>
                <a:spcPts val="0"/>
              </a:spcBef>
              <a:spcAft>
                <a:spcPts val="0"/>
              </a:spcAft>
              <a:buClrTx/>
              <a:buSzTx/>
              <a:buFont typeface="Wingdings 2" pitchFamily="18" charset="2"/>
              <a:buNone/>
              <a:tabLst/>
              <a:defRPr/>
            </a:pPr>
            <a:r>
              <a:rPr kumimoji="0" lang="en-US" sz="3200" b="0" i="0" u="none" strike="noStrike" kern="0" cap="none" spc="0" normalizeH="0" baseline="0" noProof="0" dirty="0" smtClean="0">
                <a:ln>
                  <a:noFill/>
                </a:ln>
                <a:solidFill>
                  <a:srgbClr val="7030A0"/>
                </a:solidFill>
                <a:effectLst/>
                <a:uLnTx/>
                <a:uFillTx/>
                <a:latin typeface="Times New Roman" pitchFamily="18" charset="0"/>
                <a:cs typeface="Times New Roman" pitchFamily="18" charset="0"/>
              </a:rPr>
              <a:t>-  Chemical properties such as the degree of gas solubility, density and viscosity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A.R.Sivakumar\Desktop\cy1.jpg"/>
          <p:cNvPicPr>
            <a:picLocks noGrp="1" noChangeAspect="1" noChangeArrowheads="1"/>
          </p:cNvPicPr>
          <p:nvPr>
            <p:ph idx="1"/>
          </p:nvPr>
        </p:nvPicPr>
        <p:blipFill>
          <a:blip r:embed="rId2" cstate="print"/>
          <a:srcRect/>
          <a:stretch>
            <a:fillRect/>
          </a:stretch>
        </p:blipFill>
        <p:spPr bwMode="auto">
          <a:xfrm>
            <a:off x="-26806" y="188640"/>
            <a:ext cx="8991294" cy="6669360"/>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52400" y="152400"/>
            <a:ext cx="8686800" cy="5334000"/>
          </a:xfrm>
          <a:prstGeom prst="rect">
            <a:avLst/>
          </a:prstGeom>
        </p:spPr>
        <p:txBody>
          <a:bodyPr>
            <a:noAutofit/>
          </a:bodyPr>
          <a:lstStyle/>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1" i="0" u="sng" strike="noStrike" kern="0" cap="none" spc="0" normalizeH="0" baseline="0" noProof="0" dirty="0" smtClean="0">
                <a:ln>
                  <a:noFill/>
                </a:ln>
                <a:solidFill>
                  <a:srgbClr val="FF0000"/>
                </a:solidFill>
                <a:effectLst/>
                <a:uLnTx/>
                <a:uFillTx/>
                <a:latin typeface="Times New Roman" pitchFamily="18" charset="0"/>
                <a:cs typeface="Times New Roman" pitchFamily="18" charset="0"/>
              </a:rPr>
              <a:t>Chemical Parameters</a:t>
            </a:r>
            <a:endPar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endParaRP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1"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a:t>
            </a:r>
            <a:endPar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endParaRP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lang="en-US" sz="3200" b="1" kern="0" dirty="0" smtClean="0">
                <a:solidFill>
                  <a:srgbClr val="FF0000"/>
                </a:solidFill>
                <a:latin typeface="Times New Roman" pitchFamily="18" charset="0"/>
                <a:cs typeface="Times New Roman" pitchFamily="18" charset="0"/>
              </a:rPr>
              <a:t>1. </a:t>
            </a:r>
            <a:r>
              <a:rPr kumimoji="0" lang="en-US" sz="3200" b="1"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Total dissolved solid (TDS)</a:t>
            </a: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Solid left in water after the water is filtered and dried.</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Source(s):	</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Inorganic compounds - minerals, metals &amp; gases</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Organic compounds – product from degradation of organic matters, organic gas</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Effect(s):	</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Cause taste, </a:t>
            </a:r>
            <a:r>
              <a:rPr kumimoji="0" lang="en-US" sz="3200" b="0" i="0" u="none" strike="noStrike" kern="0" cap="none" spc="0" normalizeH="0" baseline="0" noProof="0" dirty="0" err="1" smtClean="0">
                <a:ln>
                  <a:noFill/>
                </a:ln>
                <a:solidFill>
                  <a:srgbClr val="FF0000"/>
                </a:solidFill>
                <a:effectLst/>
                <a:uLnTx/>
                <a:uFillTx/>
                <a:latin typeface="Times New Roman" pitchFamily="18" charset="0"/>
                <a:cs typeface="Times New Roman" pitchFamily="18" charset="0"/>
              </a:rPr>
              <a:t>colour</a:t>
            </a: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and </a:t>
            </a:r>
            <a:r>
              <a:rPr kumimoji="0" lang="en-US" sz="3200" b="0" i="0" u="none" strike="noStrike" kern="0" cap="none" spc="0" normalizeH="0" baseline="0" noProof="0" dirty="0" err="1" smtClean="0">
                <a:ln>
                  <a:noFill/>
                </a:ln>
                <a:solidFill>
                  <a:srgbClr val="FF0000"/>
                </a:solidFill>
                <a:effectLst/>
                <a:uLnTx/>
                <a:uFillTx/>
                <a:latin typeface="Times New Roman" pitchFamily="18" charset="0"/>
                <a:cs typeface="Times New Roman" pitchFamily="18" charset="0"/>
              </a:rPr>
              <a:t>odour</a:t>
            </a: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problems</a:t>
            </a: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r>
              <a:rPr kumimoji="0" lang="en-US" sz="3200" b="0"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rPr>
              <a:t>-  Health aspect</a:t>
            </a:r>
            <a:endParaRPr kumimoji="0" lang="en-US" sz="3200" b="1" i="0" u="none" strike="noStrike" kern="0" cap="none" spc="0" normalizeH="0" baseline="0" noProof="0" dirty="0" smtClean="0">
              <a:ln>
                <a:noFill/>
              </a:ln>
              <a:solidFill>
                <a:srgbClr val="FF0000"/>
              </a:solidFill>
              <a:effectLst/>
              <a:uLnTx/>
              <a:uFillTx/>
              <a:latin typeface="Times New Roman" pitchFamily="18" charset="0"/>
              <a:cs typeface="Times New Roman" pitchFamily="18" charset="0"/>
            </a:endParaRPr>
          </a:p>
          <a:p>
            <a:pPr marL="274320" marR="0" lvl="0" indent="-274320" defTabSz="914400" eaLnBrk="1" fontAlgn="auto" latinLnBrk="0" hangingPunct="1">
              <a:lnSpc>
                <a:spcPct val="100000"/>
              </a:lnSpc>
              <a:spcBef>
                <a:spcPts val="0"/>
              </a:spcBef>
              <a:spcAft>
                <a:spcPts val="0"/>
              </a:spcAft>
              <a:buClr>
                <a:schemeClr val="accent3"/>
              </a:buClr>
              <a:buSzTx/>
              <a:buFont typeface="Wingdings 2"/>
              <a:buNone/>
              <a:tabLst/>
              <a:defRPr/>
            </a:pPr>
            <a:endParaRPr kumimoji="0" lang="en-US" sz="3200" b="0" i="0" u="none" strike="noStrike" kern="0" cap="none" spc="0" normalizeH="0" baseline="0" noProof="0" dirty="0">
              <a:ln>
                <a:noFill/>
              </a:ln>
              <a:solidFill>
                <a:srgbClr val="FF0000"/>
              </a:solidFill>
              <a:effectLst/>
              <a:uLnTx/>
              <a:uFillTx/>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76200"/>
            <a:ext cx="8153400" cy="6555641"/>
          </a:xfrm>
          <a:prstGeom prst="rect">
            <a:avLst/>
          </a:prstGeom>
          <a:noFill/>
        </p:spPr>
        <p:txBody>
          <a:bodyPr wrap="square" rtlCol="0">
            <a:spAutoFit/>
          </a:bodyPr>
          <a:lstStyle/>
          <a:p>
            <a:r>
              <a:rPr lang="en-US" sz="2800" dirty="0" smtClean="0">
                <a:latin typeface="Times New Roman" pitchFamily="18" charset="0"/>
                <a:cs typeface="Times New Roman" pitchFamily="18" charset="0"/>
              </a:rPr>
              <a:t>TDS Measurement  </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1. The water sample is filtered and the filtrate is collected in a flask.  The minimum sample volume should be 100 ml (C). </a:t>
            </a:r>
          </a:p>
          <a:p>
            <a:r>
              <a:rPr lang="en-US" sz="2800" dirty="0" smtClean="0">
                <a:latin typeface="Times New Roman" pitchFamily="18" charset="0"/>
                <a:cs typeface="Times New Roman" pitchFamily="18" charset="0"/>
              </a:rPr>
              <a:t>2. The filtrate is transferred to a ceramic or glass Pyrex container.  The weight of the empty container should be noted (A). The container with the filtrate is placed in the drying oven and heated to 103 </a:t>
            </a:r>
            <a:r>
              <a:rPr lang="en-US" sz="2800" dirty="0" smtClean="0">
                <a:latin typeface="Times New Roman" pitchFamily="18" charset="0"/>
                <a:cs typeface="Times New Roman" pitchFamily="18" charset="0"/>
                <a:sym typeface="Symbol"/>
              </a:rPr>
              <a:t></a:t>
            </a:r>
            <a:r>
              <a:rPr lang="en-US" sz="2800" dirty="0" smtClean="0">
                <a:latin typeface="Times New Roman" pitchFamily="18" charset="0"/>
                <a:cs typeface="Times New Roman" pitchFamily="18" charset="0"/>
              </a:rPr>
              <a:t>C for 24 hours. Then, it is heated </a:t>
            </a:r>
            <a:r>
              <a:rPr lang="en-US" sz="2800" dirty="0" err="1" smtClean="0">
                <a:latin typeface="Times New Roman" pitchFamily="18" charset="0"/>
                <a:cs typeface="Times New Roman" pitchFamily="18" charset="0"/>
              </a:rPr>
              <a:t>upto</a:t>
            </a:r>
            <a:r>
              <a:rPr lang="en-US" sz="2800" dirty="0" smtClean="0">
                <a:latin typeface="Times New Roman" pitchFamily="18" charset="0"/>
                <a:cs typeface="Times New Roman" pitchFamily="18" charset="0"/>
              </a:rPr>
              <a:t> 180 </a:t>
            </a:r>
            <a:r>
              <a:rPr lang="en-US" sz="2800" dirty="0" smtClean="0">
                <a:latin typeface="Times New Roman" pitchFamily="18" charset="0"/>
                <a:cs typeface="Times New Roman" pitchFamily="18" charset="0"/>
                <a:sym typeface="Symbol"/>
              </a:rPr>
              <a:t></a:t>
            </a:r>
            <a:r>
              <a:rPr lang="en-US" sz="2800" dirty="0" smtClean="0">
                <a:latin typeface="Times New Roman" pitchFamily="18" charset="0"/>
                <a:cs typeface="Times New Roman" pitchFamily="18" charset="0"/>
              </a:rPr>
              <a:t>C for 8 hours.   </a:t>
            </a:r>
          </a:p>
          <a:p>
            <a:r>
              <a:rPr lang="en-US" sz="2800" dirty="0" smtClean="0">
                <a:latin typeface="Times New Roman" pitchFamily="18" charset="0"/>
                <a:cs typeface="Times New Roman" pitchFamily="18" charset="0"/>
              </a:rPr>
              <a:t>3. After the container is cooled, the weight of the container with the residue is noted (B). </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TDS (mg/L) =   ((B - A)/ C)* (1000 mg/g) * (1000 ml/L)</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R.Sivakumar\Desktop\td1.jpg"/>
          <p:cNvPicPr>
            <a:picLocks noGrp="1" noChangeAspect="1" noChangeArrowheads="1"/>
          </p:cNvPicPr>
          <p:nvPr>
            <p:ph idx="1"/>
          </p:nvPr>
        </p:nvPicPr>
        <p:blipFill>
          <a:blip r:embed="rId2" cstate="print"/>
          <a:srcRect/>
          <a:stretch>
            <a:fillRect/>
          </a:stretch>
        </p:blipFill>
        <p:spPr bwMode="auto">
          <a:xfrm>
            <a:off x="251520" y="260648"/>
            <a:ext cx="3528392" cy="2808312"/>
          </a:xfrm>
          <a:prstGeom prst="rect">
            <a:avLst/>
          </a:prstGeom>
          <a:noFill/>
        </p:spPr>
      </p:pic>
      <p:pic>
        <p:nvPicPr>
          <p:cNvPr id="2051" name="Picture 3" descr="C:\Users\A.R.Sivakumar\Desktop\td2.jpg"/>
          <p:cNvPicPr>
            <a:picLocks noChangeAspect="1" noChangeArrowheads="1"/>
          </p:cNvPicPr>
          <p:nvPr/>
        </p:nvPicPr>
        <p:blipFill>
          <a:blip r:embed="rId3" cstate="print"/>
          <a:srcRect/>
          <a:stretch>
            <a:fillRect/>
          </a:stretch>
        </p:blipFill>
        <p:spPr bwMode="auto">
          <a:xfrm>
            <a:off x="4644008" y="332656"/>
            <a:ext cx="3528392" cy="2664296"/>
          </a:xfrm>
          <a:prstGeom prst="rect">
            <a:avLst/>
          </a:prstGeom>
          <a:noFill/>
        </p:spPr>
      </p:pic>
      <p:pic>
        <p:nvPicPr>
          <p:cNvPr id="2052" name="Picture 4" descr="C:\Users\A.R.Sivakumar\Desktop\td3.jpg"/>
          <p:cNvPicPr>
            <a:picLocks noChangeAspect="1" noChangeArrowheads="1"/>
          </p:cNvPicPr>
          <p:nvPr/>
        </p:nvPicPr>
        <p:blipFill>
          <a:blip r:embed="rId4" cstate="print"/>
          <a:srcRect/>
          <a:stretch>
            <a:fillRect/>
          </a:stretch>
        </p:blipFill>
        <p:spPr bwMode="auto">
          <a:xfrm>
            <a:off x="251520" y="3645024"/>
            <a:ext cx="3744416" cy="3024336"/>
          </a:xfrm>
          <a:prstGeom prst="rect">
            <a:avLst/>
          </a:prstGeom>
          <a:noFill/>
        </p:spPr>
      </p:pic>
      <p:pic>
        <p:nvPicPr>
          <p:cNvPr id="2053" name="Picture 5" descr="C:\Users\A.R.Sivakumar\Desktop\td4.jpg"/>
          <p:cNvPicPr>
            <a:picLocks noChangeAspect="1" noChangeArrowheads="1"/>
          </p:cNvPicPr>
          <p:nvPr/>
        </p:nvPicPr>
        <p:blipFill>
          <a:blip r:embed="rId5" cstate="print"/>
          <a:srcRect/>
          <a:stretch>
            <a:fillRect/>
          </a:stretch>
        </p:blipFill>
        <p:spPr bwMode="auto">
          <a:xfrm>
            <a:off x="4572000" y="3645024"/>
            <a:ext cx="4104456" cy="2952328"/>
          </a:xfrm>
          <a:prstGeom prst="rect">
            <a:avLst/>
          </a:prstGeom>
          <a:noFill/>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962085"/>
            <a:ext cx="8229600" cy="4524315"/>
          </a:xfrm>
          <a:prstGeom prst="rect">
            <a:avLst/>
          </a:prstGeom>
          <a:noFill/>
        </p:spPr>
        <p:txBody>
          <a:bodyPr wrap="square" rtlCol="0">
            <a:spAutoFit/>
          </a:bodyPr>
          <a:lstStyle/>
          <a:p>
            <a:r>
              <a:rPr lang="en-US" sz="3200" dirty="0" smtClean="0">
                <a:latin typeface="Times New Roman" pitchFamily="18" charset="0"/>
                <a:cs typeface="Times New Roman" pitchFamily="18" charset="0"/>
              </a:rPr>
              <a:t>Water can be classified by the level of total dissolved solids (TDS) in the water: </a:t>
            </a:r>
          </a:p>
          <a:p>
            <a:r>
              <a:rPr lang="en-US" sz="3200" dirty="0" smtClean="0">
                <a:latin typeface="Times New Roman" pitchFamily="18" charset="0"/>
                <a:cs typeface="Times New Roman" pitchFamily="18" charset="0"/>
                <a:hlinkClick r:id="rId2" tooltip="Fresh water"/>
              </a:rPr>
              <a:t>Fresh water</a:t>
            </a:r>
            <a:r>
              <a:rPr lang="en-US" sz="3200" dirty="0" smtClean="0">
                <a:latin typeface="Times New Roman" pitchFamily="18" charset="0"/>
                <a:cs typeface="Times New Roman" pitchFamily="18" charset="0"/>
              </a:rPr>
              <a:t>: TDS is less than 1,000 mg/L</a:t>
            </a:r>
          </a:p>
          <a:p>
            <a:r>
              <a:rPr lang="en-US" sz="3200" dirty="0" smtClean="0">
                <a:latin typeface="Times New Roman" pitchFamily="18" charset="0"/>
                <a:cs typeface="Times New Roman" pitchFamily="18" charset="0"/>
                <a:hlinkClick r:id="rId3" tooltip="Brackish water"/>
              </a:rPr>
              <a:t>Brackish water</a:t>
            </a:r>
            <a:r>
              <a:rPr lang="en-US" sz="3200" dirty="0" smtClean="0">
                <a:latin typeface="Times New Roman" pitchFamily="18" charset="0"/>
                <a:cs typeface="Times New Roman" pitchFamily="18" charset="0"/>
              </a:rPr>
              <a:t>: TDS = 1,000 to 10,000 mg/L</a:t>
            </a:r>
          </a:p>
          <a:p>
            <a:r>
              <a:rPr lang="en-US" sz="3200" dirty="0" smtClean="0">
                <a:latin typeface="Times New Roman" pitchFamily="18" charset="0"/>
                <a:cs typeface="Times New Roman" pitchFamily="18" charset="0"/>
                <a:hlinkClick r:id="rId4" tooltip="Saline water"/>
              </a:rPr>
              <a:t>Saline water</a:t>
            </a:r>
            <a:r>
              <a:rPr lang="en-US" sz="3200" dirty="0" smtClean="0">
                <a:latin typeface="Times New Roman" pitchFamily="18" charset="0"/>
                <a:cs typeface="Times New Roman" pitchFamily="18" charset="0"/>
              </a:rPr>
              <a:t>: TDS = 10,000 to 35,000 mg/L</a:t>
            </a:r>
          </a:p>
          <a:p>
            <a:r>
              <a:rPr lang="en-US" sz="3200" dirty="0" err="1" smtClean="0">
                <a:latin typeface="Times New Roman" pitchFamily="18" charset="0"/>
                <a:cs typeface="Times New Roman" pitchFamily="18" charset="0"/>
                <a:hlinkClick r:id="rId5" tooltip="Hypersaline"/>
              </a:rPr>
              <a:t>Hypersaline</a:t>
            </a:r>
            <a:r>
              <a:rPr lang="en-US" sz="3200" dirty="0" err="1" smtClean="0">
                <a:latin typeface="Times New Roman" pitchFamily="18" charset="0"/>
                <a:cs typeface="Times New Roman" pitchFamily="18" charset="0"/>
              </a:rPr>
              <a:t>:TDS</a:t>
            </a:r>
            <a:r>
              <a:rPr lang="en-US" sz="3200" dirty="0" smtClean="0">
                <a:latin typeface="Times New Roman" pitchFamily="18" charset="0"/>
                <a:cs typeface="Times New Roman" pitchFamily="18" charset="0"/>
              </a:rPr>
              <a:t> greater than 35,000 mg/L</a:t>
            </a:r>
          </a:p>
          <a:p>
            <a:endParaRPr lang="en-US" sz="3200" dirty="0" smtClean="0">
              <a:latin typeface="Times New Roman" pitchFamily="18" charset="0"/>
              <a:cs typeface="Times New Roman" pitchFamily="18" charset="0"/>
            </a:endParaRPr>
          </a:p>
          <a:p>
            <a:r>
              <a:rPr lang="en-US" sz="3200" dirty="0" smtClean="0">
                <a:latin typeface="Times New Roman" pitchFamily="18" charset="0"/>
                <a:cs typeface="Times New Roman" pitchFamily="18" charset="0"/>
              </a:rPr>
              <a:t>Drinking water generally has a TDS below 500 mg/L. </a:t>
            </a:r>
            <a:endParaRPr lang="en-US" sz="3200" dirty="0">
              <a:latin typeface="Times New Roman" pitchFamily="18" charset="0"/>
              <a:cs typeface="Times New Roman"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28600"/>
            <a:ext cx="5029200" cy="505908"/>
          </a:xfrm>
          <a:prstGeom prst="rect">
            <a:avLst/>
          </a:prstGeom>
        </p:spPr>
        <p:txBody>
          <a:bodyPr vert="horz" wrap="square" lIns="0" tIns="13335" rIns="0" bIns="0" rtlCol="0">
            <a:spAutoFit/>
          </a:bodyPr>
          <a:lstStyle/>
          <a:p>
            <a:pPr marL="12700">
              <a:lnSpc>
                <a:spcPct val="100000"/>
              </a:lnSpc>
              <a:spcBef>
                <a:spcPts val="105"/>
              </a:spcBef>
            </a:pPr>
            <a:r>
              <a:rPr lang="en-US" sz="3200" b="1" spc="5" dirty="0" smtClean="0">
                <a:solidFill>
                  <a:srgbClr val="000000"/>
                </a:solidFill>
                <a:latin typeface="Times New Roman"/>
                <a:cs typeface="Times New Roman"/>
              </a:rPr>
              <a:t>2. </a:t>
            </a:r>
            <a:r>
              <a:rPr sz="3200" b="1" spc="5" smtClean="0">
                <a:solidFill>
                  <a:srgbClr val="000000"/>
                </a:solidFill>
                <a:latin typeface="Times New Roman"/>
                <a:cs typeface="Times New Roman"/>
              </a:rPr>
              <a:t>H</a:t>
            </a:r>
            <a:r>
              <a:rPr sz="2550" b="1" spc="5" smtClean="0">
                <a:solidFill>
                  <a:srgbClr val="000000"/>
                </a:solidFill>
                <a:latin typeface="Times New Roman"/>
                <a:cs typeface="Times New Roman"/>
              </a:rPr>
              <a:t>ARDNESS </a:t>
            </a:r>
            <a:r>
              <a:rPr sz="2550" b="1" spc="5" dirty="0">
                <a:solidFill>
                  <a:srgbClr val="000000"/>
                </a:solidFill>
                <a:latin typeface="Times New Roman"/>
                <a:cs typeface="Times New Roman"/>
              </a:rPr>
              <a:t>OF</a:t>
            </a:r>
            <a:r>
              <a:rPr sz="2550" b="1" spc="110" dirty="0">
                <a:solidFill>
                  <a:srgbClr val="000000"/>
                </a:solidFill>
                <a:latin typeface="Times New Roman"/>
                <a:cs typeface="Times New Roman"/>
              </a:rPr>
              <a:t> </a:t>
            </a:r>
            <a:r>
              <a:rPr sz="3200" b="1" spc="-110" dirty="0">
                <a:solidFill>
                  <a:srgbClr val="000000"/>
                </a:solidFill>
                <a:latin typeface="Times New Roman"/>
                <a:cs typeface="Times New Roman"/>
              </a:rPr>
              <a:t>W</a:t>
            </a:r>
            <a:r>
              <a:rPr sz="2550" b="1" spc="-110" dirty="0">
                <a:solidFill>
                  <a:srgbClr val="000000"/>
                </a:solidFill>
                <a:latin typeface="Times New Roman"/>
                <a:cs typeface="Times New Roman"/>
              </a:rPr>
              <a:t>ATER</a:t>
            </a:r>
            <a:endParaRPr sz="2550">
              <a:latin typeface="Times New Roman"/>
              <a:cs typeface="Times New Roman"/>
            </a:endParaRPr>
          </a:p>
        </p:txBody>
      </p:sp>
      <p:sp>
        <p:nvSpPr>
          <p:cNvPr id="4" name="object 4"/>
          <p:cNvSpPr txBox="1"/>
          <p:nvPr/>
        </p:nvSpPr>
        <p:spPr>
          <a:xfrm>
            <a:off x="8352155" y="5889964"/>
            <a:ext cx="165735" cy="222885"/>
          </a:xfrm>
          <a:prstGeom prst="rect">
            <a:avLst/>
          </a:prstGeom>
        </p:spPr>
        <p:txBody>
          <a:bodyPr vert="horz" wrap="square" lIns="0" tIns="0" rIns="0" bIns="0" rtlCol="0">
            <a:spAutoFit/>
          </a:bodyPr>
          <a:lstStyle/>
          <a:p>
            <a:pPr marL="38100">
              <a:lnSpc>
                <a:spcPts val="1630"/>
              </a:lnSpc>
            </a:pPr>
            <a:fld id="{81D60167-4931-47E6-BA6A-407CBD079E47}" type="slidenum">
              <a:rPr sz="1400" b="1" dirty="0">
                <a:solidFill>
                  <a:srgbClr val="FFFFFF"/>
                </a:solidFill>
                <a:latin typeface="Times New Roman"/>
                <a:cs typeface="Times New Roman"/>
              </a:rPr>
              <a:pPr marL="38100">
                <a:lnSpc>
                  <a:spcPts val="1630"/>
                </a:lnSpc>
              </a:pPr>
              <a:t>49</a:t>
            </a:fld>
            <a:endParaRPr sz="1400">
              <a:latin typeface="Times New Roman"/>
              <a:cs typeface="Times New Roman"/>
            </a:endParaRPr>
          </a:p>
        </p:txBody>
      </p:sp>
      <p:sp>
        <p:nvSpPr>
          <p:cNvPr id="3" name="object 3"/>
          <p:cNvSpPr txBox="1"/>
          <p:nvPr/>
        </p:nvSpPr>
        <p:spPr>
          <a:xfrm>
            <a:off x="533400" y="914400"/>
            <a:ext cx="8153400" cy="3005951"/>
          </a:xfrm>
          <a:prstGeom prst="rect">
            <a:avLst/>
          </a:prstGeom>
        </p:spPr>
        <p:txBody>
          <a:bodyPr vert="horz" wrap="square" lIns="0" tIns="12700" rIns="0" bIns="0" rtlCol="0">
            <a:spAutoFit/>
          </a:bodyPr>
          <a:lstStyle/>
          <a:p>
            <a:pPr marL="12700" marR="5080">
              <a:lnSpc>
                <a:spcPct val="100000"/>
              </a:lnSpc>
              <a:spcBef>
                <a:spcPts val="100"/>
              </a:spcBef>
              <a:buClr>
                <a:srgbClr val="000000"/>
              </a:buClr>
              <a:buSzPct val="75000"/>
              <a:buChar char="•"/>
              <a:tabLst>
                <a:tab pos="149860" algn="l"/>
              </a:tabLst>
            </a:pPr>
            <a:r>
              <a:rPr lang="en-US" sz="2400" spc="-5" dirty="0" smtClean="0">
                <a:solidFill>
                  <a:srgbClr val="660033"/>
                </a:solidFill>
                <a:latin typeface="Times New Roman"/>
                <a:cs typeface="Times New Roman"/>
              </a:rPr>
              <a:t> </a:t>
            </a:r>
            <a:r>
              <a:rPr sz="2400" spc="-5" smtClean="0">
                <a:solidFill>
                  <a:srgbClr val="660033"/>
                </a:solidFill>
                <a:latin typeface="Times New Roman"/>
                <a:cs typeface="Times New Roman"/>
              </a:rPr>
              <a:t>Hardness </a:t>
            </a:r>
            <a:r>
              <a:rPr sz="2400" dirty="0">
                <a:solidFill>
                  <a:srgbClr val="660033"/>
                </a:solidFill>
                <a:latin typeface="Times New Roman"/>
                <a:cs typeface="Times New Roman"/>
              </a:rPr>
              <a:t>in </a:t>
            </a:r>
            <a:r>
              <a:rPr sz="2400" spc="-45" dirty="0">
                <a:solidFill>
                  <a:srgbClr val="660033"/>
                </a:solidFill>
                <a:latin typeface="Times New Roman"/>
                <a:cs typeface="Times New Roman"/>
              </a:rPr>
              <a:t>Water </a:t>
            </a:r>
            <a:r>
              <a:rPr sz="2400">
                <a:solidFill>
                  <a:srgbClr val="660033"/>
                </a:solidFill>
                <a:latin typeface="Times New Roman"/>
                <a:cs typeface="Times New Roman"/>
              </a:rPr>
              <a:t>is </a:t>
            </a:r>
            <a:r>
              <a:rPr lang="en-US" sz="2400" dirty="0" smtClean="0">
                <a:solidFill>
                  <a:srgbClr val="660033"/>
                </a:solidFill>
                <a:latin typeface="Times New Roman"/>
                <a:cs typeface="Times New Roman"/>
              </a:rPr>
              <a:t>a </a:t>
            </a:r>
            <a:r>
              <a:rPr sz="2400" smtClean="0">
                <a:solidFill>
                  <a:srgbClr val="660033"/>
                </a:solidFill>
                <a:latin typeface="Times New Roman"/>
                <a:cs typeface="Times New Roman"/>
              </a:rPr>
              <a:t>characteristic </a:t>
            </a:r>
            <a:r>
              <a:rPr sz="2400" dirty="0">
                <a:solidFill>
                  <a:srgbClr val="660033"/>
                </a:solidFill>
                <a:latin typeface="Times New Roman"/>
                <a:cs typeface="Times New Roman"/>
              </a:rPr>
              <a:t>that prevents the</a:t>
            </a:r>
            <a:r>
              <a:rPr sz="2400" spc="-135" dirty="0">
                <a:solidFill>
                  <a:srgbClr val="660033"/>
                </a:solidFill>
                <a:latin typeface="Times New Roman"/>
                <a:cs typeface="Times New Roman"/>
              </a:rPr>
              <a:t> </a:t>
            </a:r>
            <a:r>
              <a:rPr sz="2400" spc="-5" dirty="0">
                <a:solidFill>
                  <a:srgbClr val="660033"/>
                </a:solidFill>
                <a:latin typeface="Times New Roman"/>
                <a:cs typeface="Times New Roman"/>
              </a:rPr>
              <a:t>‘lathering  </a:t>
            </a:r>
            <a:r>
              <a:rPr sz="2400" dirty="0">
                <a:solidFill>
                  <a:srgbClr val="660033"/>
                </a:solidFill>
                <a:latin typeface="Times New Roman"/>
                <a:cs typeface="Times New Roman"/>
              </a:rPr>
              <a:t>of </a:t>
            </a:r>
            <a:r>
              <a:rPr sz="2400" spc="-5" dirty="0">
                <a:solidFill>
                  <a:srgbClr val="660033"/>
                </a:solidFill>
                <a:latin typeface="Times New Roman"/>
                <a:cs typeface="Times New Roman"/>
              </a:rPr>
              <a:t>soap</a:t>
            </a:r>
            <a:r>
              <a:rPr sz="2400" spc="-5">
                <a:solidFill>
                  <a:srgbClr val="660033"/>
                </a:solidFill>
                <a:latin typeface="Times New Roman"/>
                <a:cs typeface="Times New Roman"/>
              </a:rPr>
              <a:t>’ </a:t>
            </a:r>
            <a:r>
              <a:rPr lang="en-US" sz="2400" spc="-5" dirty="0" smtClean="0">
                <a:solidFill>
                  <a:srgbClr val="660033"/>
                </a:solidFill>
                <a:latin typeface="Times New Roman"/>
                <a:cs typeface="Times New Roman"/>
              </a:rPr>
              <a:t>. The </a:t>
            </a:r>
            <a:r>
              <a:rPr sz="2400" spc="-5" smtClean="0">
                <a:solidFill>
                  <a:srgbClr val="660033"/>
                </a:solidFill>
                <a:latin typeface="Times New Roman"/>
                <a:cs typeface="Times New Roman"/>
              </a:rPr>
              <a:t>water </a:t>
            </a:r>
            <a:r>
              <a:rPr sz="2400" spc="-5" dirty="0">
                <a:solidFill>
                  <a:srgbClr val="660033"/>
                </a:solidFill>
                <a:latin typeface="Times New Roman"/>
                <a:cs typeface="Times New Roman"/>
              </a:rPr>
              <a:t>which </a:t>
            </a:r>
            <a:r>
              <a:rPr sz="2400" dirty="0">
                <a:solidFill>
                  <a:srgbClr val="660033"/>
                </a:solidFill>
                <a:latin typeface="Times New Roman"/>
                <a:cs typeface="Times New Roman"/>
              </a:rPr>
              <a:t>does not produce lather </a:t>
            </a:r>
            <a:r>
              <a:rPr sz="2400" spc="-5" dirty="0">
                <a:solidFill>
                  <a:srgbClr val="660033"/>
                </a:solidFill>
                <a:latin typeface="Times New Roman"/>
                <a:cs typeface="Times New Roman"/>
              </a:rPr>
              <a:t>with soap  </a:t>
            </a:r>
            <a:r>
              <a:rPr sz="2400" dirty="0">
                <a:solidFill>
                  <a:srgbClr val="660033"/>
                </a:solidFill>
                <a:latin typeface="Times New Roman"/>
                <a:cs typeface="Times New Roman"/>
              </a:rPr>
              <a:t>solution </a:t>
            </a:r>
            <a:r>
              <a:rPr sz="2400" spc="-20" dirty="0">
                <a:solidFill>
                  <a:srgbClr val="660033"/>
                </a:solidFill>
                <a:latin typeface="Times New Roman"/>
                <a:cs typeface="Times New Roman"/>
              </a:rPr>
              <a:t>readily, </a:t>
            </a:r>
            <a:r>
              <a:rPr sz="2400" spc="-5" dirty="0">
                <a:solidFill>
                  <a:srgbClr val="660033"/>
                </a:solidFill>
                <a:latin typeface="Times New Roman"/>
                <a:cs typeface="Times New Roman"/>
              </a:rPr>
              <a:t>but </a:t>
            </a:r>
            <a:r>
              <a:rPr sz="2400" spc="-10" dirty="0">
                <a:solidFill>
                  <a:srgbClr val="660033"/>
                </a:solidFill>
                <a:latin typeface="Times New Roman"/>
                <a:cs typeface="Times New Roman"/>
              </a:rPr>
              <a:t>forms </a:t>
            </a:r>
            <a:r>
              <a:rPr sz="2400" dirty="0">
                <a:solidFill>
                  <a:srgbClr val="660033"/>
                </a:solidFill>
                <a:latin typeface="Times New Roman"/>
                <a:cs typeface="Times New Roman"/>
              </a:rPr>
              <a:t>a white curd </a:t>
            </a:r>
            <a:r>
              <a:rPr sz="2400" spc="-5" dirty="0">
                <a:solidFill>
                  <a:srgbClr val="660033"/>
                </a:solidFill>
                <a:latin typeface="Times New Roman"/>
                <a:cs typeface="Times New Roman"/>
              </a:rPr>
              <a:t>is </a:t>
            </a:r>
            <a:r>
              <a:rPr sz="2400" dirty="0">
                <a:solidFill>
                  <a:srgbClr val="660033"/>
                </a:solidFill>
                <a:latin typeface="Times New Roman"/>
                <a:cs typeface="Times New Roman"/>
              </a:rPr>
              <a:t>called hard</a:t>
            </a:r>
            <a:r>
              <a:rPr sz="2400" spc="-85" dirty="0">
                <a:solidFill>
                  <a:srgbClr val="660033"/>
                </a:solidFill>
                <a:latin typeface="Times New Roman"/>
                <a:cs typeface="Times New Roman"/>
              </a:rPr>
              <a:t> </a:t>
            </a:r>
            <a:r>
              <a:rPr sz="2400" spc="-25">
                <a:solidFill>
                  <a:srgbClr val="660033"/>
                </a:solidFill>
                <a:latin typeface="Times New Roman"/>
                <a:cs typeface="Times New Roman"/>
              </a:rPr>
              <a:t>water</a:t>
            </a:r>
            <a:r>
              <a:rPr sz="2400" spc="-25" smtClean="0">
                <a:solidFill>
                  <a:srgbClr val="660033"/>
                </a:solidFill>
                <a:latin typeface="Times New Roman"/>
                <a:cs typeface="Times New Roman"/>
              </a:rPr>
              <a:t>.</a:t>
            </a:r>
            <a:r>
              <a:rPr lang="en-US" sz="2400" spc="-25" dirty="0" smtClean="0">
                <a:solidFill>
                  <a:srgbClr val="660033"/>
                </a:solidFill>
                <a:latin typeface="Times New Roman"/>
                <a:cs typeface="Times New Roman"/>
              </a:rPr>
              <a:t> But the soft water lathers readily with soap.</a:t>
            </a:r>
          </a:p>
          <a:p>
            <a:pPr marL="12700" marR="5080">
              <a:lnSpc>
                <a:spcPct val="100000"/>
              </a:lnSpc>
              <a:spcBef>
                <a:spcPts val="100"/>
              </a:spcBef>
              <a:buClr>
                <a:srgbClr val="000000"/>
              </a:buClr>
              <a:buSzPct val="75000"/>
              <a:buChar char="•"/>
              <a:tabLst>
                <a:tab pos="149860" algn="l"/>
              </a:tabLst>
            </a:pPr>
            <a:endParaRPr lang="en-US" sz="2400" spc="-25" dirty="0" smtClean="0">
              <a:solidFill>
                <a:srgbClr val="660033"/>
              </a:solidFill>
              <a:latin typeface="Times New Roman"/>
              <a:cs typeface="Times New Roman"/>
            </a:endParaRPr>
          </a:p>
          <a:p>
            <a:pPr marL="12700" marR="5080">
              <a:spcBef>
                <a:spcPts val="100"/>
              </a:spcBef>
              <a:buClr>
                <a:srgbClr val="000000"/>
              </a:buClr>
              <a:buSzPct val="75000"/>
              <a:buFontTx/>
              <a:buChar char="•"/>
              <a:tabLst>
                <a:tab pos="149860" algn="l"/>
              </a:tabLst>
            </a:pPr>
            <a:r>
              <a:rPr lang="en-US" sz="2400" spc="-5" dirty="0" smtClean="0">
                <a:latin typeface="Times New Roman"/>
                <a:cs typeface="Times New Roman"/>
              </a:rPr>
              <a:t> Hardness </a:t>
            </a:r>
            <a:r>
              <a:rPr lang="en-US" sz="2400" dirty="0" smtClean="0">
                <a:latin typeface="Times New Roman"/>
                <a:cs typeface="Times New Roman"/>
              </a:rPr>
              <a:t>refers to the  presence of calcium and  </a:t>
            </a:r>
            <a:r>
              <a:rPr lang="en-US" sz="2400" spc="-5" dirty="0" smtClean="0">
                <a:latin typeface="Times New Roman"/>
                <a:cs typeface="Times New Roman"/>
              </a:rPr>
              <a:t>magnesium </a:t>
            </a:r>
            <a:r>
              <a:rPr lang="en-US" sz="2400" dirty="0" smtClean="0">
                <a:latin typeface="Times New Roman"/>
                <a:cs typeface="Times New Roman"/>
              </a:rPr>
              <a:t>ions in</a:t>
            </a:r>
            <a:r>
              <a:rPr lang="en-US" sz="2400" spc="-90" dirty="0" smtClean="0">
                <a:latin typeface="Times New Roman"/>
                <a:cs typeface="Times New Roman"/>
              </a:rPr>
              <a:t> </a:t>
            </a:r>
            <a:r>
              <a:rPr lang="en-US" sz="2400" dirty="0" smtClean="0">
                <a:latin typeface="Times New Roman"/>
                <a:cs typeface="Times New Roman"/>
              </a:rPr>
              <a:t>water  (and </a:t>
            </a:r>
            <a:r>
              <a:rPr lang="en-US" sz="2400" spc="-5" dirty="0" smtClean="0">
                <a:latin typeface="Times New Roman"/>
                <a:cs typeface="Times New Roman"/>
              </a:rPr>
              <a:t>sometimes</a:t>
            </a:r>
            <a:r>
              <a:rPr lang="en-US" sz="2400" spc="-35" dirty="0" smtClean="0">
                <a:latin typeface="Times New Roman"/>
                <a:cs typeface="Times New Roman"/>
              </a:rPr>
              <a:t> </a:t>
            </a:r>
            <a:r>
              <a:rPr lang="en-US" sz="2400" dirty="0" smtClean="0">
                <a:latin typeface="Times New Roman"/>
                <a:cs typeface="Times New Roman"/>
              </a:rPr>
              <a:t>iron).</a:t>
            </a:r>
          </a:p>
          <a:p>
            <a:pPr marL="12700" marR="5080">
              <a:lnSpc>
                <a:spcPct val="100000"/>
              </a:lnSpc>
              <a:spcBef>
                <a:spcPts val="100"/>
              </a:spcBef>
              <a:buClr>
                <a:srgbClr val="000000"/>
              </a:buClr>
              <a:buSzPct val="75000"/>
              <a:buChar char="•"/>
              <a:tabLst>
                <a:tab pos="149860" algn="l"/>
              </a:tabLst>
            </a:pPr>
            <a:endParaRPr sz="2400">
              <a:latin typeface="Times New Roman"/>
              <a:cs typeface="Times New Roman"/>
            </a:endParaRPr>
          </a:p>
        </p:txBody>
      </p:sp>
      <p:sp>
        <p:nvSpPr>
          <p:cNvPr id="5" name="object 2"/>
          <p:cNvSpPr/>
          <p:nvPr/>
        </p:nvSpPr>
        <p:spPr>
          <a:xfrm>
            <a:off x="4495800" y="3387852"/>
            <a:ext cx="4343400" cy="331774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4778628" y="5995110"/>
            <a:ext cx="190500" cy="278765"/>
          </a:xfrm>
          <a:prstGeom prst="rect">
            <a:avLst/>
          </a:prstGeom>
        </p:spPr>
        <p:txBody>
          <a:bodyPr vert="horz" wrap="square" lIns="0" tIns="0" rIns="0" bIns="0" rtlCol="0">
            <a:spAutoFit/>
          </a:bodyPr>
          <a:lstStyle/>
          <a:p>
            <a:pPr marL="38100">
              <a:lnSpc>
                <a:spcPts val="2065"/>
              </a:lnSpc>
            </a:pPr>
            <a:r>
              <a:rPr sz="1800" dirty="0">
                <a:latin typeface="Times New Roman"/>
                <a:cs typeface="Times New Roman"/>
              </a:rPr>
              <a:t>1</a:t>
            </a:r>
            <a:endParaRPr sz="1800">
              <a:latin typeface="Times New Roman"/>
              <a:cs typeface="Times New Roman"/>
            </a:endParaRPr>
          </a:p>
        </p:txBody>
      </p:sp>
      <p:sp>
        <p:nvSpPr>
          <p:cNvPr id="7" name="TextBox 6"/>
          <p:cNvSpPr txBox="1"/>
          <p:nvPr/>
        </p:nvSpPr>
        <p:spPr>
          <a:xfrm>
            <a:off x="609600" y="609600"/>
            <a:ext cx="7086600" cy="1815882"/>
          </a:xfrm>
          <a:prstGeom prst="rect">
            <a:avLst/>
          </a:prstGeom>
          <a:noFill/>
        </p:spPr>
        <p:txBody>
          <a:bodyPr wrap="square" rtlCol="0">
            <a:spAutoFit/>
          </a:bodyPr>
          <a:lstStyle/>
          <a:p>
            <a:pPr>
              <a:lnSpc>
                <a:spcPct val="100000"/>
              </a:lnSpc>
              <a:spcBef>
                <a:spcPts val="5"/>
              </a:spcBef>
              <a:buChar char="•"/>
            </a:pPr>
            <a:endParaRPr lang="en-US" sz="2000" dirty="0" smtClean="0">
              <a:latin typeface="Times New Roman"/>
              <a:cs typeface="Times New Roman"/>
            </a:endParaRPr>
          </a:p>
          <a:p>
            <a:pPr marL="189230" indent="-177165">
              <a:lnSpc>
                <a:spcPct val="100000"/>
              </a:lnSpc>
              <a:buChar char="•"/>
              <a:tabLst>
                <a:tab pos="189865" algn="l"/>
              </a:tabLst>
            </a:pPr>
            <a:r>
              <a:rPr lang="en-US" spc="-45" dirty="0" smtClean="0">
                <a:solidFill>
                  <a:srgbClr val="000066"/>
                </a:solidFill>
                <a:latin typeface="Times New Roman"/>
                <a:cs typeface="Times New Roman"/>
              </a:rPr>
              <a:t>Type </a:t>
            </a:r>
            <a:r>
              <a:rPr lang="en-US" dirty="0" smtClean="0">
                <a:solidFill>
                  <a:srgbClr val="000066"/>
                </a:solidFill>
                <a:latin typeface="Times New Roman"/>
                <a:cs typeface="Times New Roman"/>
              </a:rPr>
              <a:t>of</a:t>
            </a:r>
            <a:r>
              <a:rPr lang="en-US" spc="40" dirty="0" smtClean="0">
                <a:solidFill>
                  <a:srgbClr val="000066"/>
                </a:solidFill>
                <a:latin typeface="Times New Roman"/>
                <a:cs typeface="Times New Roman"/>
              </a:rPr>
              <a:t> </a:t>
            </a:r>
            <a:r>
              <a:rPr lang="en-US" spc="-5" dirty="0" smtClean="0">
                <a:solidFill>
                  <a:srgbClr val="000066"/>
                </a:solidFill>
                <a:latin typeface="Times New Roman"/>
                <a:cs typeface="Times New Roman"/>
              </a:rPr>
              <a:t>Hardness</a:t>
            </a:r>
            <a:endParaRPr lang="en-US" dirty="0" smtClean="0">
              <a:latin typeface="Times New Roman"/>
              <a:cs typeface="Times New Roman"/>
            </a:endParaRPr>
          </a:p>
          <a:p>
            <a:pPr>
              <a:lnSpc>
                <a:spcPct val="100000"/>
              </a:lnSpc>
              <a:spcBef>
                <a:spcPts val="5"/>
              </a:spcBef>
            </a:pPr>
            <a:endParaRPr lang="en-US" sz="2000" dirty="0" smtClean="0">
              <a:latin typeface="Times New Roman"/>
              <a:cs typeface="Times New Roman"/>
            </a:endParaRPr>
          </a:p>
          <a:p>
            <a:pPr marL="234950" indent="-222885">
              <a:lnSpc>
                <a:spcPct val="100000"/>
              </a:lnSpc>
              <a:spcBef>
                <a:spcPts val="5"/>
              </a:spcBef>
              <a:buChar char="–"/>
              <a:tabLst>
                <a:tab pos="235585" algn="l"/>
              </a:tabLst>
            </a:pPr>
            <a:r>
              <a:rPr lang="en-US" spc="-25" dirty="0" smtClean="0">
                <a:solidFill>
                  <a:srgbClr val="0000FF"/>
                </a:solidFill>
                <a:latin typeface="Times New Roman"/>
                <a:cs typeface="Times New Roman"/>
              </a:rPr>
              <a:t>Temporary </a:t>
            </a:r>
            <a:r>
              <a:rPr lang="en-US" dirty="0" smtClean="0">
                <a:solidFill>
                  <a:srgbClr val="0000FF"/>
                </a:solidFill>
                <a:latin typeface="Times New Roman"/>
                <a:cs typeface="Times New Roman"/>
              </a:rPr>
              <a:t>or Carbonate</a:t>
            </a:r>
            <a:r>
              <a:rPr lang="en-US" spc="-5" dirty="0" smtClean="0">
                <a:solidFill>
                  <a:srgbClr val="0000FF"/>
                </a:solidFill>
                <a:latin typeface="Times New Roman"/>
                <a:cs typeface="Times New Roman"/>
              </a:rPr>
              <a:t> </a:t>
            </a:r>
            <a:r>
              <a:rPr lang="en-US" dirty="0" smtClean="0">
                <a:solidFill>
                  <a:srgbClr val="0000FF"/>
                </a:solidFill>
                <a:latin typeface="Times New Roman"/>
                <a:cs typeface="Times New Roman"/>
              </a:rPr>
              <a:t>Hardness</a:t>
            </a:r>
            <a:endParaRPr lang="en-US" dirty="0" smtClean="0">
              <a:latin typeface="Times New Roman"/>
              <a:cs typeface="Times New Roman"/>
            </a:endParaRPr>
          </a:p>
          <a:p>
            <a:pPr marL="241300" indent="-228600">
              <a:lnSpc>
                <a:spcPct val="100000"/>
              </a:lnSpc>
              <a:buChar char="–"/>
              <a:tabLst>
                <a:tab pos="241300" algn="l"/>
              </a:tabLst>
            </a:pPr>
            <a:r>
              <a:rPr lang="en-US" spc="-5" dirty="0" smtClean="0">
                <a:solidFill>
                  <a:srgbClr val="0000FF"/>
                </a:solidFill>
                <a:latin typeface="Times New Roman"/>
                <a:cs typeface="Times New Roman"/>
              </a:rPr>
              <a:t>Permanent </a:t>
            </a:r>
            <a:r>
              <a:rPr lang="en-US" dirty="0" smtClean="0">
                <a:solidFill>
                  <a:srgbClr val="0000FF"/>
                </a:solidFill>
                <a:latin typeface="Times New Roman"/>
                <a:cs typeface="Times New Roman"/>
              </a:rPr>
              <a:t>Hardness or non-carbonate</a:t>
            </a:r>
            <a:r>
              <a:rPr lang="en-US" spc="-50" dirty="0" smtClean="0">
                <a:solidFill>
                  <a:srgbClr val="0000FF"/>
                </a:solidFill>
                <a:latin typeface="Times New Roman"/>
                <a:cs typeface="Times New Roman"/>
              </a:rPr>
              <a:t> </a:t>
            </a:r>
            <a:r>
              <a:rPr lang="en-US" dirty="0" smtClean="0">
                <a:solidFill>
                  <a:srgbClr val="0000FF"/>
                </a:solidFill>
                <a:latin typeface="Times New Roman"/>
                <a:cs typeface="Times New Roman"/>
              </a:rPr>
              <a:t>Hardness.</a:t>
            </a:r>
            <a:endParaRPr lang="en-US" dirty="0" smtClean="0">
              <a:latin typeface="Times New Roman"/>
              <a:cs typeface="Times New Roman"/>
            </a:endParaRP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9119" y="385952"/>
            <a:ext cx="2148205" cy="330835"/>
          </a:xfrm>
          <a:prstGeom prst="rect">
            <a:avLst/>
          </a:prstGeom>
        </p:spPr>
        <p:txBody>
          <a:bodyPr vert="horz" wrap="square" lIns="0" tIns="13335" rIns="0" bIns="0" rtlCol="0">
            <a:spAutoFit/>
          </a:bodyPr>
          <a:lstStyle/>
          <a:p>
            <a:pPr marL="12700">
              <a:lnSpc>
                <a:spcPct val="100000"/>
              </a:lnSpc>
              <a:spcBef>
                <a:spcPts val="105"/>
              </a:spcBef>
            </a:pPr>
            <a:r>
              <a:rPr sz="2000" spc="-20" dirty="0">
                <a:solidFill>
                  <a:srgbClr val="000000"/>
                </a:solidFill>
              </a:rPr>
              <a:t>Temporary</a:t>
            </a:r>
            <a:r>
              <a:rPr sz="2000" spc="-40" dirty="0">
                <a:solidFill>
                  <a:srgbClr val="000000"/>
                </a:solidFill>
              </a:rPr>
              <a:t> </a:t>
            </a:r>
            <a:r>
              <a:rPr sz="2000" dirty="0">
                <a:solidFill>
                  <a:srgbClr val="000000"/>
                </a:solidFill>
              </a:rPr>
              <a:t>Hardness</a:t>
            </a:r>
            <a:endParaRPr sz="2000"/>
          </a:p>
        </p:txBody>
      </p:sp>
      <p:sp>
        <p:nvSpPr>
          <p:cNvPr id="3" name="object 3"/>
          <p:cNvSpPr txBox="1"/>
          <p:nvPr/>
        </p:nvSpPr>
        <p:spPr>
          <a:xfrm>
            <a:off x="852119" y="966291"/>
            <a:ext cx="7854315" cy="3592829"/>
          </a:xfrm>
          <a:prstGeom prst="rect">
            <a:avLst/>
          </a:prstGeom>
        </p:spPr>
        <p:txBody>
          <a:bodyPr vert="horz" wrap="square" lIns="0" tIns="12700" rIns="0" bIns="0" rtlCol="0">
            <a:spAutoFit/>
          </a:bodyPr>
          <a:lstStyle/>
          <a:p>
            <a:pPr marL="139700">
              <a:lnSpc>
                <a:spcPct val="100000"/>
              </a:lnSpc>
              <a:spcBef>
                <a:spcPts val="100"/>
              </a:spcBef>
            </a:pPr>
            <a:r>
              <a:rPr sz="1800" dirty="0">
                <a:latin typeface="Times New Roman"/>
                <a:cs typeface="Times New Roman"/>
              </a:rPr>
              <a:t>– </a:t>
            </a:r>
            <a:r>
              <a:rPr sz="1800" spc="-15" dirty="0">
                <a:solidFill>
                  <a:srgbClr val="990000"/>
                </a:solidFill>
                <a:latin typeface="Times New Roman"/>
                <a:cs typeface="Times New Roman"/>
              </a:rPr>
              <a:t>Temporary </a:t>
            </a:r>
            <a:r>
              <a:rPr sz="1800" spc="-5" dirty="0">
                <a:solidFill>
                  <a:srgbClr val="990000"/>
                </a:solidFill>
                <a:latin typeface="Times New Roman"/>
                <a:cs typeface="Times New Roman"/>
              </a:rPr>
              <a:t>Hardness </a:t>
            </a:r>
            <a:r>
              <a:rPr sz="1800" dirty="0">
                <a:solidFill>
                  <a:srgbClr val="990000"/>
                </a:solidFill>
                <a:latin typeface="Times New Roman"/>
                <a:cs typeface="Times New Roman"/>
              </a:rPr>
              <a:t>is caused by the presence of </a:t>
            </a:r>
            <a:r>
              <a:rPr sz="1800" spc="-5" dirty="0">
                <a:solidFill>
                  <a:srgbClr val="990000"/>
                </a:solidFill>
                <a:latin typeface="Times New Roman"/>
                <a:cs typeface="Times New Roman"/>
              </a:rPr>
              <a:t>dissolved </a:t>
            </a:r>
            <a:r>
              <a:rPr sz="1800" dirty="0">
                <a:solidFill>
                  <a:srgbClr val="990000"/>
                </a:solidFill>
                <a:latin typeface="Times New Roman"/>
                <a:cs typeface="Times New Roman"/>
              </a:rPr>
              <a:t>bicarbonate</a:t>
            </a:r>
            <a:r>
              <a:rPr sz="1800" spc="-80" dirty="0">
                <a:solidFill>
                  <a:srgbClr val="990000"/>
                </a:solidFill>
                <a:latin typeface="Times New Roman"/>
                <a:cs typeface="Times New Roman"/>
              </a:rPr>
              <a:t> </a:t>
            </a:r>
            <a:r>
              <a:rPr sz="1800" dirty="0">
                <a:solidFill>
                  <a:srgbClr val="990000"/>
                </a:solidFill>
                <a:latin typeface="Times New Roman"/>
                <a:cs typeface="Times New Roman"/>
              </a:rPr>
              <a:t>of</a:t>
            </a:r>
            <a:endParaRPr sz="1800">
              <a:latin typeface="Times New Roman"/>
              <a:cs typeface="Times New Roman"/>
            </a:endParaRPr>
          </a:p>
          <a:p>
            <a:pPr marL="139700">
              <a:lnSpc>
                <a:spcPct val="100000"/>
              </a:lnSpc>
              <a:spcBef>
                <a:spcPts val="5"/>
              </a:spcBef>
            </a:pPr>
            <a:r>
              <a:rPr sz="1800" dirty="0">
                <a:solidFill>
                  <a:srgbClr val="990000"/>
                </a:solidFill>
                <a:latin typeface="Times New Roman"/>
                <a:cs typeface="Times New Roman"/>
              </a:rPr>
              <a:t>calcium, </a:t>
            </a:r>
            <a:r>
              <a:rPr sz="1800" spc="-5" dirty="0">
                <a:solidFill>
                  <a:srgbClr val="990000"/>
                </a:solidFill>
                <a:latin typeface="Times New Roman"/>
                <a:cs typeface="Times New Roman"/>
              </a:rPr>
              <a:t>magnesium </a:t>
            </a:r>
            <a:r>
              <a:rPr sz="1800" dirty="0">
                <a:solidFill>
                  <a:srgbClr val="990000"/>
                </a:solidFill>
                <a:latin typeface="Times New Roman"/>
                <a:cs typeface="Times New Roman"/>
              </a:rPr>
              <a:t>and other heavy metals and the carbonate of</a:t>
            </a:r>
            <a:r>
              <a:rPr sz="1800" spc="-70" dirty="0">
                <a:solidFill>
                  <a:srgbClr val="990000"/>
                </a:solidFill>
                <a:latin typeface="Times New Roman"/>
                <a:cs typeface="Times New Roman"/>
              </a:rPr>
              <a:t> </a:t>
            </a:r>
            <a:r>
              <a:rPr sz="1800" dirty="0">
                <a:solidFill>
                  <a:srgbClr val="990000"/>
                </a:solidFill>
                <a:latin typeface="Times New Roman"/>
                <a:cs typeface="Times New Roman"/>
              </a:rPr>
              <a:t>iron.</a:t>
            </a:r>
            <a:endParaRPr sz="1800">
              <a:latin typeface="Times New Roman"/>
              <a:cs typeface="Times New Roman"/>
            </a:endParaRPr>
          </a:p>
          <a:p>
            <a:pPr marL="139700" marR="55880">
              <a:lnSpc>
                <a:spcPct val="100000"/>
              </a:lnSpc>
            </a:pPr>
            <a:r>
              <a:rPr sz="1800" dirty="0">
                <a:solidFill>
                  <a:srgbClr val="990000"/>
                </a:solidFill>
                <a:latin typeface="Times New Roman"/>
                <a:cs typeface="Times New Roman"/>
              </a:rPr>
              <a:t>It </a:t>
            </a:r>
            <a:r>
              <a:rPr sz="1800" spc="-5" dirty="0">
                <a:solidFill>
                  <a:srgbClr val="990000"/>
                </a:solidFill>
                <a:latin typeface="Times New Roman"/>
                <a:cs typeface="Times New Roman"/>
              </a:rPr>
              <a:t>is mostly </a:t>
            </a:r>
            <a:r>
              <a:rPr sz="1800" dirty="0">
                <a:solidFill>
                  <a:srgbClr val="990000"/>
                </a:solidFill>
                <a:latin typeface="Times New Roman"/>
                <a:cs typeface="Times New Roman"/>
              </a:rPr>
              <a:t>destroyed by </a:t>
            </a:r>
            <a:r>
              <a:rPr sz="1800" spc="-5" dirty="0">
                <a:solidFill>
                  <a:srgbClr val="990000"/>
                </a:solidFill>
                <a:latin typeface="Times New Roman"/>
                <a:cs typeface="Times New Roman"/>
              </a:rPr>
              <a:t>more </a:t>
            </a:r>
            <a:r>
              <a:rPr sz="1800" dirty="0">
                <a:solidFill>
                  <a:srgbClr val="990000"/>
                </a:solidFill>
                <a:latin typeface="Times New Roman"/>
                <a:cs typeface="Times New Roman"/>
              </a:rPr>
              <a:t>boiling of </a:t>
            </a:r>
            <a:r>
              <a:rPr sz="1800" spc="-15" dirty="0">
                <a:solidFill>
                  <a:srgbClr val="990000"/>
                </a:solidFill>
                <a:latin typeface="Times New Roman"/>
                <a:cs typeface="Times New Roman"/>
              </a:rPr>
              <a:t>water, </a:t>
            </a:r>
            <a:r>
              <a:rPr sz="1800" dirty="0">
                <a:solidFill>
                  <a:srgbClr val="990000"/>
                </a:solidFill>
                <a:latin typeface="Times New Roman"/>
                <a:cs typeface="Times New Roman"/>
              </a:rPr>
              <a:t>when bicarbonates are </a:t>
            </a:r>
            <a:r>
              <a:rPr sz="1800" spc="-5" dirty="0">
                <a:solidFill>
                  <a:srgbClr val="990000"/>
                </a:solidFill>
                <a:latin typeface="Times New Roman"/>
                <a:cs typeface="Times New Roman"/>
              </a:rPr>
              <a:t>decomposed  </a:t>
            </a:r>
            <a:r>
              <a:rPr sz="1800" dirty="0">
                <a:solidFill>
                  <a:srgbClr val="990000"/>
                </a:solidFill>
                <a:latin typeface="Times New Roman"/>
                <a:cs typeface="Times New Roman"/>
              </a:rPr>
              <a:t>yielding insoluble</a:t>
            </a:r>
            <a:r>
              <a:rPr sz="1800" spc="-50" dirty="0">
                <a:solidFill>
                  <a:srgbClr val="990000"/>
                </a:solidFill>
                <a:latin typeface="Times New Roman"/>
                <a:cs typeface="Times New Roman"/>
              </a:rPr>
              <a:t> </a:t>
            </a:r>
            <a:r>
              <a:rPr sz="1800" dirty="0">
                <a:solidFill>
                  <a:srgbClr val="990000"/>
                </a:solidFill>
                <a:latin typeface="Times New Roman"/>
                <a:cs typeface="Times New Roman"/>
              </a:rPr>
              <a:t>carbonates.</a:t>
            </a:r>
            <a:endParaRPr sz="1800">
              <a:latin typeface="Times New Roman"/>
              <a:cs typeface="Times New Roman"/>
            </a:endParaRPr>
          </a:p>
          <a:p>
            <a:pPr>
              <a:lnSpc>
                <a:spcPct val="100000"/>
              </a:lnSpc>
              <a:spcBef>
                <a:spcPts val="30"/>
              </a:spcBef>
            </a:pPr>
            <a:endParaRPr sz="1850">
              <a:latin typeface="Times New Roman"/>
              <a:cs typeface="Times New Roman"/>
            </a:endParaRPr>
          </a:p>
          <a:p>
            <a:pPr marL="139700">
              <a:lnSpc>
                <a:spcPct val="100000"/>
              </a:lnSpc>
              <a:tabLst>
                <a:tab pos="1695450" algn="l"/>
                <a:tab pos="2527935" algn="l"/>
                <a:tab pos="3346450" algn="l"/>
                <a:tab pos="4109720" algn="l"/>
              </a:tabLst>
            </a:pPr>
            <a:r>
              <a:rPr sz="1800" spc="-5" dirty="0">
                <a:solidFill>
                  <a:srgbClr val="00CC00"/>
                </a:solidFill>
                <a:latin typeface="Times New Roman"/>
                <a:cs typeface="Times New Roman"/>
              </a:rPr>
              <a:t>Ca(HCO</a:t>
            </a:r>
            <a:r>
              <a:rPr sz="1800" spc="-7" baseline="-20833" dirty="0">
                <a:solidFill>
                  <a:srgbClr val="00CC00"/>
                </a:solidFill>
                <a:latin typeface="Times New Roman"/>
                <a:cs typeface="Times New Roman"/>
              </a:rPr>
              <a:t>3</a:t>
            </a:r>
            <a:r>
              <a:rPr sz="1800" spc="-5" dirty="0">
                <a:solidFill>
                  <a:srgbClr val="00CC00"/>
                </a:solidFill>
                <a:latin typeface="Times New Roman"/>
                <a:cs typeface="Times New Roman"/>
              </a:rPr>
              <a:t>)</a:t>
            </a:r>
            <a:r>
              <a:rPr sz="1800" spc="-7" baseline="-20833" dirty="0">
                <a:solidFill>
                  <a:srgbClr val="00CC00"/>
                </a:solidFill>
                <a:latin typeface="Times New Roman"/>
                <a:cs typeface="Times New Roman"/>
              </a:rPr>
              <a:t>2	</a:t>
            </a:r>
            <a:r>
              <a:rPr sz="1800" spc="-5" dirty="0">
                <a:latin typeface="Times New Roman"/>
                <a:cs typeface="Times New Roman"/>
              </a:rPr>
              <a:t>Heat	</a:t>
            </a:r>
            <a:r>
              <a:rPr sz="1800" dirty="0">
                <a:solidFill>
                  <a:srgbClr val="FF0066"/>
                </a:solidFill>
                <a:latin typeface="Times New Roman"/>
                <a:cs typeface="Times New Roman"/>
              </a:rPr>
              <a:t>CaCO</a:t>
            </a:r>
            <a:r>
              <a:rPr sz="1800" baseline="-20833" dirty="0">
                <a:solidFill>
                  <a:srgbClr val="FF0066"/>
                </a:solidFill>
                <a:latin typeface="Times New Roman"/>
                <a:cs typeface="Times New Roman"/>
              </a:rPr>
              <a:t>3	</a:t>
            </a:r>
            <a:r>
              <a:rPr sz="1800" dirty="0">
                <a:latin typeface="Times New Roman"/>
                <a:cs typeface="Times New Roman"/>
              </a:rPr>
              <a:t>+</a:t>
            </a:r>
            <a:r>
              <a:rPr sz="1800" spc="-5" dirty="0">
                <a:latin typeface="Times New Roman"/>
                <a:cs typeface="Times New Roman"/>
              </a:rPr>
              <a:t> H</a:t>
            </a:r>
            <a:r>
              <a:rPr sz="1800" spc="-7" baseline="-20833" dirty="0">
                <a:latin typeface="Times New Roman"/>
                <a:cs typeface="Times New Roman"/>
              </a:rPr>
              <a:t>2</a:t>
            </a:r>
            <a:r>
              <a:rPr sz="1800" spc="-5" dirty="0">
                <a:latin typeface="Times New Roman"/>
                <a:cs typeface="Times New Roman"/>
              </a:rPr>
              <a:t>O	</a:t>
            </a:r>
            <a:r>
              <a:rPr sz="1800" dirty="0">
                <a:latin typeface="Times New Roman"/>
                <a:cs typeface="Times New Roman"/>
              </a:rPr>
              <a:t>+</a:t>
            </a:r>
            <a:r>
              <a:rPr sz="1800" spc="-5" dirty="0">
                <a:latin typeface="Times New Roman"/>
                <a:cs typeface="Times New Roman"/>
              </a:rPr>
              <a:t> CO</a:t>
            </a:r>
            <a:r>
              <a:rPr sz="1800" spc="-7" baseline="-20833" dirty="0">
                <a:latin typeface="Times New Roman"/>
                <a:cs typeface="Times New Roman"/>
              </a:rPr>
              <a:t>2</a:t>
            </a:r>
            <a:endParaRPr sz="1800" baseline="-20833">
              <a:latin typeface="Times New Roman"/>
              <a:cs typeface="Times New Roman"/>
            </a:endParaRPr>
          </a:p>
          <a:p>
            <a:pPr marL="139700">
              <a:lnSpc>
                <a:spcPct val="100000"/>
              </a:lnSpc>
              <a:spcBef>
                <a:spcPts val="600"/>
              </a:spcBef>
              <a:tabLst>
                <a:tab pos="2383155" algn="l"/>
              </a:tabLst>
            </a:pPr>
            <a:r>
              <a:rPr sz="1200" spc="-5" dirty="0">
                <a:solidFill>
                  <a:srgbClr val="FF0066"/>
                </a:solidFill>
                <a:latin typeface="Times New Roman"/>
                <a:cs typeface="Times New Roman"/>
              </a:rPr>
              <a:t>Calcium</a:t>
            </a:r>
            <a:r>
              <a:rPr sz="1200" spc="40" dirty="0">
                <a:solidFill>
                  <a:srgbClr val="FF0066"/>
                </a:solidFill>
                <a:latin typeface="Times New Roman"/>
                <a:cs typeface="Times New Roman"/>
              </a:rPr>
              <a:t> </a:t>
            </a:r>
            <a:r>
              <a:rPr sz="1200" spc="-5" dirty="0">
                <a:solidFill>
                  <a:srgbClr val="FF0066"/>
                </a:solidFill>
                <a:latin typeface="Times New Roman"/>
                <a:cs typeface="Times New Roman"/>
              </a:rPr>
              <a:t>bicarbonate	Calcium</a:t>
            </a:r>
            <a:r>
              <a:rPr sz="1200" spc="20" dirty="0">
                <a:solidFill>
                  <a:srgbClr val="FF0066"/>
                </a:solidFill>
                <a:latin typeface="Times New Roman"/>
                <a:cs typeface="Times New Roman"/>
              </a:rPr>
              <a:t> </a:t>
            </a:r>
            <a:r>
              <a:rPr sz="1200" spc="-5" dirty="0">
                <a:solidFill>
                  <a:srgbClr val="FF0066"/>
                </a:solidFill>
                <a:latin typeface="Times New Roman"/>
                <a:cs typeface="Times New Roman"/>
              </a:rPr>
              <a:t>Carbonate</a:t>
            </a:r>
            <a:endParaRPr sz="1200">
              <a:latin typeface="Times New Roman"/>
              <a:cs typeface="Times New Roman"/>
            </a:endParaRPr>
          </a:p>
          <a:p>
            <a:pPr>
              <a:lnSpc>
                <a:spcPct val="100000"/>
              </a:lnSpc>
              <a:spcBef>
                <a:spcPts val="10"/>
              </a:spcBef>
            </a:pPr>
            <a:endParaRPr sz="1350">
              <a:latin typeface="Times New Roman"/>
              <a:cs typeface="Times New Roman"/>
            </a:endParaRPr>
          </a:p>
          <a:p>
            <a:pPr marL="139700">
              <a:lnSpc>
                <a:spcPct val="100000"/>
              </a:lnSpc>
              <a:tabLst>
                <a:tab pos="1701800" algn="l"/>
                <a:tab pos="2591435" algn="l"/>
                <a:tab pos="3639185" algn="l"/>
              </a:tabLst>
            </a:pPr>
            <a:r>
              <a:rPr sz="1800" spc="-5" dirty="0">
                <a:solidFill>
                  <a:srgbClr val="00CC00"/>
                </a:solidFill>
                <a:latin typeface="Times New Roman"/>
                <a:cs typeface="Times New Roman"/>
              </a:rPr>
              <a:t>Mg(HCO</a:t>
            </a:r>
            <a:r>
              <a:rPr sz="1800" spc="-7" baseline="-20833" dirty="0">
                <a:solidFill>
                  <a:srgbClr val="00CC00"/>
                </a:solidFill>
                <a:latin typeface="Times New Roman"/>
                <a:cs typeface="Times New Roman"/>
              </a:rPr>
              <a:t>3</a:t>
            </a:r>
            <a:r>
              <a:rPr sz="1800" spc="-5" dirty="0">
                <a:solidFill>
                  <a:srgbClr val="00CC00"/>
                </a:solidFill>
                <a:latin typeface="Times New Roman"/>
                <a:cs typeface="Times New Roman"/>
              </a:rPr>
              <a:t>)</a:t>
            </a:r>
            <a:r>
              <a:rPr sz="1800" spc="-7" baseline="-20833" dirty="0">
                <a:solidFill>
                  <a:srgbClr val="00CC00"/>
                </a:solidFill>
                <a:latin typeface="Times New Roman"/>
                <a:cs typeface="Times New Roman"/>
              </a:rPr>
              <a:t>2	</a:t>
            </a:r>
            <a:r>
              <a:rPr sz="1800" spc="-5" dirty="0">
                <a:latin typeface="Times New Roman"/>
                <a:cs typeface="Times New Roman"/>
              </a:rPr>
              <a:t>Heat	</a:t>
            </a:r>
            <a:r>
              <a:rPr sz="1800" spc="-5" dirty="0">
                <a:solidFill>
                  <a:srgbClr val="FF0066"/>
                </a:solidFill>
                <a:latin typeface="Times New Roman"/>
                <a:cs typeface="Times New Roman"/>
              </a:rPr>
              <a:t>Mg(OH)</a:t>
            </a:r>
            <a:r>
              <a:rPr sz="1800" spc="-7" baseline="-20833" dirty="0">
                <a:solidFill>
                  <a:srgbClr val="FF0066"/>
                </a:solidFill>
                <a:latin typeface="Times New Roman"/>
                <a:cs typeface="Times New Roman"/>
              </a:rPr>
              <a:t>2	</a:t>
            </a:r>
            <a:r>
              <a:rPr sz="1800" dirty="0">
                <a:latin typeface="Times New Roman"/>
                <a:cs typeface="Times New Roman"/>
              </a:rPr>
              <a:t>+</a:t>
            </a:r>
            <a:r>
              <a:rPr sz="1800" spc="-5" dirty="0">
                <a:latin typeface="Times New Roman"/>
                <a:cs typeface="Times New Roman"/>
              </a:rPr>
              <a:t> 2CO</a:t>
            </a:r>
            <a:r>
              <a:rPr sz="1800" spc="-7" baseline="-20833" dirty="0">
                <a:latin typeface="Times New Roman"/>
                <a:cs typeface="Times New Roman"/>
              </a:rPr>
              <a:t>2</a:t>
            </a:r>
            <a:endParaRPr sz="1800" baseline="-20833">
              <a:latin typeface="Times New Roman"/>
              <a:cs typeface="Times New Roman"/>
            </a:endParaRPr>
          </a:p>
          <a:p>
            <a:pPr marL="139700">
              <a:lnSpc>
                <a:spcPct val="100000"/>
              </a:lnSpc>
              <a:spcBef>
                <a:spcPts val="600"/>
              </a:spcBef>
              <a:tabLst>
                <a:tab pos="2437765" algn="l"/>
              </a:tabLst>
            </a:pPr>
            <a:r>
              <a:rPr sz="1200" spc="-5" dirty="0">
                <a:solidFill>
                  <a:srgbClr val="FF0066"/>
                </a:solidFill>
                <a:latin typeface="Times New Roman"/>
                <a:cs typeface="Times New Roman"/>
              </a:rPr>
              <a:t>Magnesium</a:t>
            </a:r>
            <a:r>
              <a:rPr sz="1200" spc="35" dirty="0">
                <a:solidFill>
                  <a:srgbClr val="FF0066"/>
                </a:solidFill>
                <a:latin typeface="Times New Roman"/>
                <a:cs typeface="Times New Roman"/>
              </a:rPr>
              <a:t> </a:t>
            </a:r>
            <a:r>
              <a:rPr sz="1200" spc="-5" dirty="0">
                <a:solidFill>
                  <a:srgbClr val="FF0066"/>
                </a:solidFill>
                <a:latin typeface="Times New Roman"/>
                <a:cs typeface="Times New Roman"/>
              </a:rPr>
              <a:t>Bicarbonate	Magnesium</a:t>
            </a:r>
            <a:r>
              <a:rPr sz="1200" spc="15" dirty="0">
                <a:solidFill>
                  <a:srgbClr val="FF0066"/>
                </a:solidFill>
                <a:latin typeface="Times New Roman"/>
                <a:cs typeface="Times New Roman"/>
              </a:rPr>
              <a:t> </a:t>
            </a:r>
            <a:r>
              <a:rPr sz="1200" spc="-5" dirty="0">
                <a:solidFill>
                  <a:srgbClr val="FF0066"/>
                </a:solidFill>
                <a:latin typeface="Times New Roman"/>
                <a:cs typeface="Times New Roman"/>
              </a:rPr>
              <a:t>hydroxide</a:t>
            </a:r>
            <a:endParaRPr sz="1200">
              <a:latin typeface="Times New Roman"/>
              <a:cs typeface="Times New Roman"/>
            </a:endParaRPr>
          </a:p>
          <a:p>
            <a:pPr>
              <a:lnSpc>
                <a:spcPct val="100000"/>
              </a:lnSpc>
            </a:pPr>
            <a:endParaRPr sz="1300">
              <a:latin typeface="Times New Roman"/>
              <a:cs typeface="Times New Roman"/>
            </a:endParaRPr>
          </a:p>
          <a:p>
            <a:pPr>
              <a:lnSpc>
                <a:spcPct val="100000"/>
              </a:lnSpc>
              <a:spcBef>
                <a:spcPts val="10"/>
              </a:spcBef>
            </a:pPr>
            <a:endParaRPr sz="1300">
              <a:latin typeface="Times New Roman"/>
              <a:cs typeface="Times New Roman"/>
            </a:endParaRPr>
          </a:p>
          <a:p>
            <a:pPr marL="139700">
              <a:lnSpc>
                <a:spcPct val="100000"/>
              </a:lnSpc>
            </a:pPr>
            <a:r>
              <a:rPr sz="1800" dirty="0">
                <a:latin typeface="Times New Roman"/>
                <a:cs typeface="Times New Roman"/>
              </a:rPr>
              <a:t>– </a:t>
            </a:r>
            <a:r>
              <a:rPr sz="1800" dirty="0">
                <a:solidFill>
                  <a:srgbClr val="000066"/>
                </a:solidFill>
                <a:latin typeface="Times New Roman"/>
                <a:cs typeface="Times New Roman"/>
              </a:rPr>
              <a:t>Calcium/Magnesium Carbonates thus </a:t>
            </a:r>
            <a:r>
              <a:rPr sz="1800" spc="-5" dirty="0">
                <a:solidFill>
                  <a:srgbClr val="000066"/>
                </a:solidFill>
                <a:latin typeface="Times New Roman"/>
                <a:cs typeface="Times New Roman"/>
              </a:rPr>
              <a:t>formed </a:t>
            </a:r>
            <a:r>
              <a:rPr sz="1800" dirty="0">
                <a:solidFill>
                  <a:srgbClr val="000066"/>
                </a:solidFill>
                <a:latin typeface="Times New Roman"/>
                <a:cs typeface="Times New Roman"/>
              </a:rPr>
              <a:t>being </a:t>
            </a:r>
            <a:r>
              <a:rPr sz="1800" spc="-5" dirty="0">
                <a:solidFill>
                  <a:srgbClr val="000066"/>
                </a:solidFill>
                <a:latin typeface="Times New Roman"/>
                <a:cs typeface="Times New Roman"/>
              </a:rPr>
              <a:t>almost </a:t>
            </a:r>
            <a:r>
              <a:rPr sz="1800" dirty="0">
                <a:solidFill>
                  <a:srgbClr val="000066"/>
                </a:solidFill>
                <a:latin typeface="Times New Roman"/>
                <a:cs typeface="Times New Roman"/>
              </a:rPr>
              <a:t>insoluble,</a:t>
            </a:r>
            <a:r>
              <a:rPr sz="1800" spc="-65" dirty="0">
                <a:solidFill>
                  <a:srgbClr val="000066"/>
                </a:solidFill>
                <a:latin typeface="Times New Roman"/>
                <a:cs typeface="Times New Roman"/>
              </a:rPr>
              <a:t> </a:t>
            </a:r>
            <a:r>
              <a:rPr sz="1800" dirty="0">
                <a:solidFill>
                  <a:srgbClr val="000066"/>
                </a:solidFill>
                <a:latin typeface="Times New Roman"/>
                <a:cs typeface="Times New Roman"/>
              </a:rPr>
              <a:t>are</a:t>
            </a:r>
            <a:endParaRPr sz="1800">
              <a:latin typeface="Times New Roman"/>
              <a:cs typeface="Times New Roman"/>
            </a:endParaRPr>
          </a:p>
          <a:p>
            <a:pPr marL="139700">
              <a:lnSpc>
                <a:spcPct val="100000"/>
              </a:lnSpc>
              <a:spcBef>
                <a:spcPts val="5"/>
              </a:spcBef>
            </a:pPr>
            <a:r>
              <a:rPr sz="1800" dirty="0">
                <a:solidFill>
                  <a:srgbClr val="000066"/>
                </a:solidFill>
                <a:latin typeface="Times New Roman"/>
                <a:cs typeface="Times New Roman"/>
              </a:rPr>
              <a:t>deposited </a:t>
            </a:r>
            <a:r>
              <a:rPr sz="1800" spc="-5" dirty="0">
                <a:solidFill>
                  <a:srgbClr val="000066"/>
                </a:solidFill>
                <a:latin typeface="Times New Roman"/>
                <a:cs typeface="Times New Roman"/>
              </a:rPr>
              <a:t>as </a:t>
            </a:r>
            <a:r>
              <a:rPr sz="1800" dirty="0">
                <a:solidFill>
                  <a:srgbClr val="000066"/>
                </a:solidFill>
                <a:latin typeface="Times New Roman"/>
                <a:cs typeface="Times New Roman"/>
              </a:rPr>
              <a:t>a </a:t>
            </a:r>
            <a:r>
              <a:rPr sz="1800" spc="-5" dirty="0">
                <a:solidFill>
                  <a:srgbClr val="000066"/>
                </a:solidFill>
                <a:latin typeface="Times New Roman"/>
                <a:cs typeface="Times New Roman"/>
              </a:rPr>
              <a:t>scale </a:t>
            </a:r>
            <a:r>
              <a:rPr sz="1800" dirty="0">
                <a:solidFill>
                  <a:srgbClr val="000066"/>
                </a:solidFill>
                <a:latin typeface="Times New Roman"/>
                <a:cs typeface="Times New Roman"/>
              </a:rPr>
              <a:t>at the bottom of </a:t>
            </a:r>
            <a:r>
              <a:rPr sz="1800" spc="-5" dirty="0">
                <a:solidFill>
                  <a:srgbClr val="000066"/>
                </a:solidFill>
                <a:latin typeface="Times New Roman"/>
                <a:cs typeface="Times New Roman"/>
              </a:rPr>
              <a:t>vessel, </a:t>
            </a:r>
            <a:r>
              <a:rPr sz="1800" dirty="0">
                <a:solidFill>
                  <a:srgbClr val="000066"/>
                </a:solidFill>
                <a:latin typeface="Times New Roman"/>
                <a:cs typeface="Times New Roman"/>
              </a:rPr>
              <a:t>while carbon dioxide escapes</a:t>
            </a:r>
            <a:r>
              <a:rPr sz="1800" spc="-75" dirty="0">
                <a:solidFill>
                  <a:srgbClr val="000066"/>
                </a:solidFill>
                <a:latin typeface="Times New Roman"/>
                <a:cs typeface="Times New Roman"/>
              </a:rPr>
              <a:t> </a:t>
            </a:r>
            <a:r>
              <a:rPr sz="1800" dirty="0">
                <a:solidFill>
                  <a:srgbClr val="000066"/>
                </a:solidFill>
                <a:latin typeface="Times New Roman"/>
                <a:cs typeface="Times New Roman"/>
              </a:rPr>
              <a:t>out.</a:t>
            </a:r>
            <a:endParaRPr sz="1800">
              <a:latin typeface="Times New Roman"/>
              <a:cs typeface="Times New Roman"/>
            </a:endParaRPr>
          </a:p>
        </p:txBody>
      </p:sp>
      <p:sp>
        <p:nvSpPr>
          <p:cNvPr id="4" name="object 4"/>
          <p:cNvSpPr/>
          <p:nvPr/>
        </p:nvSpPr>
        <p:spPr>
          <a:xfrm>
            <a:off x="2286000" y="2598420"/>
            <a:ext cx="937260" cy="76200"/>
          </a:xfrm>
          <a:custGeom>
            <a:avLst/>
            <a:gdLst/>
            <a:ahLst/>
            <a:cxnLst/>
            <a:rect l="l" t="t" r="r" b="b"/>
            <a:pathLst>
              <a:path w="937260" h="76200">
                <a:moveTo>
                  <a:pt x="861060" y="0"/>
                </a:moveTo>
                <a:lnTo>
                  <a:pt x="861060" y="76200"/>
                </a:lnTo>
                <a:lnTo>
                  <a:pt x="924560" y="44450"/>
                </a:lnTo>
                <a:lnTo>
                  <a:pt x="873760" y="44450"/>
                </a:lnTo>
                <a:lnTo>
                  <a:pt x="873760" y="31750"/>
                </a:lnTo>
                <a:lnTo>
                  <a:pt x="924560" y="31750"/>
                </a:lnTo>
                <a:lnTo>
                  <a:pt x="861060" y="0"/>
                </a:lnTo>
                <a:close/>
              </a:path>
              <a:path w="937260" h="76200">
                <a:moveTo>
                  <a:pt x="861060" y="31750"/>
                </a:moveTo>
                <a:lnTo>
                  <a:pt x="0" y="31750"/>
                </a:lnTo>
                <a:lnTo>
                  <a:pt x="0" y="44450"/>
                </a:lnTo>
                <a:lnTo>
                  <a:pt x="861060" y="44450"/>
                </a:lnTo>
                <a:lnTo>
                  <a:pt x="861060" y="31750"/>
                </a:lnTo>
                <a:close/>
              </a:path>
              <a:path w="937260" h="76200">
                <a:moveTo>
                  <a:pt x="924560" y="31750"/>
                </a:moveTo>
                <a:lnTo>
                  <a:pt x="873760" y="31750"/>
                </a:lnTo>
                <a:lnTo>
                  <a:pt x="873760" y="44450"/>
                </a:lnTo>
                <a:lnTo>
                  <a:pt x="924560" y="44450"/>
                </a:lnTo>
                <a:lnTo>
                  <a:pt x="937260" y="38100"/>
                </a:lnTo>
                <a:lnTo>
                  <a:pt x="924560" y="31750"/>
                </a:lnTo>
                <a:close/>
              </a:path>
            </a:pathLst>
          </a:custGeom>
          <a:solidFill>
            <a:srgbClr val="000000"/>
          </a:solidFill>
        </p:spPr>
        <p:txBody>
          <a:bodyPr wrap="square" lIns="0" tIns="0" rIns="0" bIns="0" rtlCol="0"/>
          <a:lstStyle/>
          <a:p>
            <a:endParaRPr/>
          </a:p>
        </p:txBody>
      </p:sp>
      <p:sp>
        <p:nvSpPr>
          <p:cNvPr id="5" name="object 5"/>
          <p:cNvSpPr/>
          <p:nvPr/>
        </p:nvSpPr>
        <p:spPr>
          <a:xfrm>
            <a:off x="2286000" y="3322320"/>
            <a:ext cx="935990" cy="76200"/>
          </a:xfrm>
          <a:custGeom>
            <a:avLst/>
            <a:gdLst/>
            <a:ahLst/>
            <a:cxnLst/>
            <a:rect l="l" t="t" r="r" b="b"/>
            <a:pathLst>
              <a:path w="935989" h="76200">
                <a:moveTo>
                  <a:pt x="859535" y="0"/>
                </a:moveTo>
                <a:lnTo>
                  <a:pt x="859535" y="76200"/>
                </a:lnTo>
                <a:lnTo>
                  <a:pt x="923035" y="44450"/>
                </a:lnTo>
                <a:lnTo>
                  <a:pt x="872235" y="44450"/>
                </a:lnTo>
                <a:lnTo>
                  <a:pt x="872235" y="31750"/>
                </a:lnTo>
                <a:lnTo>
                  <a:pt x="923035" y="31750"/>
                </a:lnTo>
                <a:lnTo>
                  <a:pt x="859535" y="0"/>
                </a:lnTo>
                <a:close/>
              </a:path>
              <a:path w="935989" h="76200">
                <a:moveTo>
                  <a:pt x="859535" y="31750"/>
                </a:moveTo>
                <a:lnTo>
                  <a:pt x="0" y="31750"/>
                </a:lnTo>
                <a:lnTo>
                  <a:pt x="0" y="44450"/>
                </a:lnTo>
                <a:lnTo>
                  <a:pt x="859535" y="44450"/>
                </a:lnTo>
                <a:lnTo>
                  <a:pt x="859535" y="31750"/>
                </a:lnTo>
                <a:close/>
              </a:path>
              <a:path w="935989" h="76200">
                <a:moveTo>
                  <a:pt x="923035" y="31750"/>
                </a:moveTo>
                <a:lnTo>
                  <a:pt x="872235" y="31750"/>
                </a:lnTo>
                <a:lnTo>
                  <a:pt x="872235" y="44450"/>
                </a:lnTo>
                <a:lnTo>
                  <a:pt x="923035" y="44450"/>
                </a:lnTo>
                <a:lnTo>
                  <a:pt x="935735" y="38100"/>
                </a:lnTo>
                <a:lnTo>
                  <a:pt x="923035" y="31750"/>
                </a:lnTo>
                <a:close/>
              </a:path>
            </a:pathLst>
          </a:custGeom>
          <a:solidFill>
            <a:srgbClr val="000000"/>
          </a:solidFill>
        </p:spPr>
        <p:txBody>
          <a:bodyPr wrap="square" lIns="0" tIns="0" rIns="0" bIns="0" rtlCol="0"/>
          <a:lstStyle/>
          <a:p>
            <a:endParaRPr/>
          </a:p>
        </p:txBody>
      </p:sp>
      <p:sp>
        <p:nvSpPr>
          <p:cNvPr id="6" name="object 6"/>
          <p:cNvSpPr/>
          <p:nvPr/>
        </p:nvSpPr>
        <p:spPr>
          <a:xfrm>
            <a:off x="5219700" y="3048000"/>
            <a:ext cx="76200" cy="289560"/>
          </a:xfrm>
          <a:custGeom>
            <a:avLst/>
            <a:gdLst/>
            <a:ahLst/>
            <a:cxnLst/>
            <a:rect l="l" t="t" r="r" b="b"/>
            <a:pathLst>
              <a:path w="76200" h="289560">
                <a:moveTo>
                  <a:pt x="44450" y="63500"/>
                </a:moveTo>
                <a:lnTo>
                  <a:pt x="31750" y="63500"/>
                </a:lnTo>
                <a:lnTo>
                  <a:pt x="31750" y="289560"/>
                </a:lnTo>
                <a:lnTo>
                  <a:pt x="44450" y="289560"/>
                </a:lnTo>
                <a:lnTo>
                  <a:pt x="44450" y="63500"/>
                </a:lnTo>
                <a:close/>
              </a:path>
              <a:path w="76200" h="289560">
                <a:moveTo>
                  <a:pt x="38100" y="0"/>
                </a:moveTo>
                <a:lnTo>
                  <a:pt x="0" y="76200"/>
                </a:lnTo>
                <a:lnTo>
                  <a:pt x="31750" y="76200"/>
                </a:lnTo>
                <a:lnTo>
                  <a:pt x="31750" y="63500"/>
                </a:lnTo>
                <a:lnTo>
                  <a:pt x="69850" y="63500"/>
                </a:lnTo>
                <a:lnTo>
                  <a:pt x="38100" y="0"/>
                </a:lnTo>
                <a:close/>
              </a:path>
              <a:path w="76200" h="289560">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7" name="object 7"/>
          <p:cNvSpPr/>
          <p:nvPr/>
        </p:nvSpPr>
        <p:spPr>
          <a:xfrm>
            <a:off x="5562600" y="2362200"/>
            <a:ext cx="76200" cy="289560"/>
          </a:xfrm>
          <a:custGeom>
            <a:avLst/>
            <a:gdLst/>
            <a:ahLst/>
            <a:cxnLst/>
            <a:rect l="l" t="t" r="r" b="b"/>
            <a:pathLst>
              <a:path w="76200" h="289560">
                <a:moveTo>
                  <a:pt x="44450" y="63500"/>
                </a:moveTo>
                <a:lnTo>
                  <a:pt x="31750" y="63500"/>
                </a:lnTo>
                <a:lnTo>
                  <a:pt x="31750" y="289560"/>
                </a:lnTo>
                <a:lnTo>
                  <a:pt x="44450" y="289560"/>
                </a:lnTo>
                <a:lnTo>
                  <a:pt x="44450" y="63500"/>
                </a:lnTo>
                <a:close/>
              </a:path>
              <a:path w="76200" h="289560">
                <a:moveTo>
                  <a:pt x="38100" y="0"/>
                </a:moveTo>
                <a:lnTo>
                  <a:pt x="0" y="76200"/>
                </a:lnTo>
                <a:lnTo>
                  <a:pt x="31750" y="76200"/>
                </a:lnTo>
                <a:lnTo>
                  <a:pt x="31750" y="63500"/>
                </a:lnTo>
                <a:lnTo>
                  <a:pt x="69850" y="63500"/>
                </a:lnTo>
                <a:lnTo>
                  <a:pt x="38100" y="0"/>
                </a:lnTo>
                <a:close/>
              </a:path>
              <a:path w="76200" h="289560">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8" name="object 8"/>
          <p:cNvSpPr/>
          <p:nvPr/>
        </p:nvSpPr>
        <p:spPr>
          <a:xfrm>
            <a:off x="4114800" y="2438400"/>
            <a:ext cx="76200" cy="216408"/>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4343400" y="3124200"/>
            <a:ext cx="76200" cy="216408"/>
          </a:xfrm>
          <a:prstGeom prst="rect">
            <a:avLst/>
          </a:prstGeom>
          <a:blipFill>
            <a:blip r:embed="rId2" cstate="print"/>
            <a:stretch>
              <a:fillRect/>
            </a:stretch>
          </a:blipFill>
        </p:spPr>
        <p:txBody>
          <a:bodyPr wrap="square" lIns="0" tIns="0" rIns="0" bIns="0" rtlCol="0"/>
          <a:lstStyle/>
          <a:p>
            <a:endParaRPr/>
          </a:p>
        </p:txBody>
      </p:sp>
      <p:sp>
        <p:nvSpPr>
          <p:cNvPr id="10" name="object 10"/>
          <p:cNvSpPr txBox="1"/>
          <p:nvPr/>
        </p:nvSpPr>
        <p:spPr>
          <a:xfrm>
            <a:off x="8352155" y="5889964"/>
            <a:ext cx="165735" cy="222885"/>
          </a:xfrm>
          <a:prstGeom prst="rect">
            <a:avLst/>
          </a:prstGeom>
        </p:spPr>
        <p:txBody>
          <a:bodyPr vert="horz" wrap="square" lIns="0" tIns="0" rIns="0" bIns="0" rtlCol="0">
            <a:spAutoFit/>
          </a:bodyPr>
          <a:lstStyle/>
          <a:p>
            <a:pPr marL="38100">
              <a:lnSpc>
                <a:spcPts val="1630"/>
              </a:lnSpc>
            </a:pPr>
            <a:fld id="{81D60167-4931-47E6-BA6A-407CBD079E47}" type="slidenum">
              <a:rPr sz="1400" b="1" dirty="0">
                <a:solidFill>
                  <a:srgbClr val="FFFFFF"/>
                </a:solidFill>
                <a:latin typeface="Times New Roman"/>
                <a:cs typeface="Times New Roman"/>
              </a:rPr>
              <a:pPr marL="38100">
                <a:lnSpc>
                  <a:spcPts val="1630"/>
                </a:lnSpc>
              </a:pPr>
              <a:t>51</a:t>
            </a:fld>
            <a:endParaRPr sz="1400">
              <a:latin typeface="Times New Roman"/>
              <a:cs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1448" y="649986"/>
            <a:ext cx="2830830" cy="360680"/>
          </a:xfrm>
          <a:prstGeom prst="rect">
            <a:avLst/>
          </a:prstGeom>
        </p:spPr>
        <p:txBody>
          <a:bodyPr vert="horz" wrap="square" lIns="0" tIns="12065" rIns="0" bIns="0" rtlCol="0">
            <a:spAutoFit/>
          </a:bodyPr>
          <a:lstStyle/>
          <a:p>
            <a:pPr marL="12700">
              <a:lnSpc>
                <a:spcPct val="100000"/>
              </a:lnSpc>
              <a:spcBef>
                <a:spcPts val="95"/>
              </a:spcBef>
            </a:pPr>
            <a:r>
              <a:rPr sz="2200" b="1" spc="5" dirty="0">
                <a:solidFill>
                  <a:srgbClr val="990000"/>
                </a:solidFill>
                <a:latin typeface="Times New Roman"/>
                <a:cs typeface="Times New Roman"/>
              </a:rPr>
              <a:t>P</a:t>
            </a:r>
            <a:r>
              <a:rPr sz="1750" b="1" spc="5" dirty="0">
                <a:solidFill>
                  <a:srgbClr val="990000"/>
                </a:solidFill>
                <a:latin typeface="Times New Roman"/>
                <a:cs typeface="Times New Roman"/>
              </a:rPr>
              <a:t>ERMANENT</a:t>
            </a:r>
            <a:r>
              <a:rPr sz="1750" b="1" spc="30" dirty="0">
                <a:solidFill>
                  <a:srgbClr val="990000"/>
                </a:solidFill>
                <a:latin typeface="Times New Roman"/>
                <a:cs typeface="Times New Roman"/>
              </a:rPr>
              <a:t> </a:t>
            </a:r>
            <a:r>
              <a:rPr sz="2200" b="1" spc="5" dirty="0">
                <a:solidFill>
                  <a:srgbClr val="990000"/>
                </a:solidFill>
                <a:latin typeface="Times New Roman"/>
                <a:cs typeface="Times New Roman"/>
              </a:rPr>
              <a:t>H</a:t>
            </a:r>
            <a:r>
              <a:rPr sz="1750" b="1" spc="5" dirty="0">
                <a:solidFill>
                  <a:srgbClr val="990000"/>
                </a:solidFill>
                <a:latin typeface="Times New Roman"/>
                <a:cs typeface="Times New Roman"/>
              </a:rPr>
              <a:t>ARDNESS</a:t>
            </a:r>
            <a:endParaRPr sz="1750">
              <a:latin typeface="Times New Roman"/>
              <a:cs typeface="Times New Roman"/>
            </a:endParaRPr>
          </a:p>
        </p:txBody>
      </p:sp>
      <p:sp>
        <p:nvSpPr>
          <p:cNvPr id="3" name="object 3"/>
          <p:cNvSpPr txBox="1"/>
          <p:nvPr/>
        </p:nvSpPr>
        <p:spPr>
          <a:xfrm>
            <a:off x="547217" y="1221105"/>
            <a:ext cx="7268845" cy="636270"/>
          </a:xfrm>
          <a:prstGeom prst="rect">
            <a:avLst/>
          </a:prstGeom>
        </p:spPr>
        <p:txBody>
          <a:bodyPr vert="horz" wrap="square" lIns="0" tIns="13335" rIns="0" bIns="0" rtlCol="0">
            <a:spAutoFit/>
          </a:bodyPr>
          <a:lstStyle/>
          <a:p>
            <a:pPr marL="12700">
              <a:lnSpc>
                <a:spcPct val="100000"/>
              </a:lnSpc>
              <a:spcBef>
                <a:spcPts val="105"/>
              </a:spcBef>
            </a:pPr>
            <a:r>
              <a:rPr sz="2000" spc="5" dirty="0">
                <a:solidFill>
                  <a:srgbClr val="FF0000"/>
                </a:solidFill>
                <a:latin typeface="Times New Roman"/>
                <a:cs typeface="Times New Roman"/>
              </a:rPr>
              <a:t>Non </a:t>
            </a:r>
            <a:r>
              <a:rPr sz="2000" dirty="0">
                <a:solidFill>
                  <a:srgbClr val="FF0000"/>
                </a:solidFill>
                <a:latin typeface="Times New Roman"/>
                <a:cs typeface="Times New Roman"/>
              </a:rPr>
              <a:t>Carbonate Hardness is </a:t>
            </a:r>
            <a:r>
              <a:rPr sz="2000" spc="5" dirty="0">
                <a:solidFill>
                  <a:srgbClr val="FF0000"/>
                </a:solidFill>
                <a:latin typeface="Times New Roman"/>
                <a:cs typeface="Times New Roman"/>
              </a:rPr>
              <a:t>due </a:t>
            </a:r>
            <a:r>
              <a:rPr sz="2000" dirty="0">
                <a:solidFill>
                  <a:srgbClr val="FF0000"/>
                </a:solidFill>
                <a:latin typeface="Times New Roman"/>
                <a:cs typeface="Times New Roman"/>
              </a:rPr>
              <a:t>to the presence of </a:t>
            </a:r>
            <a:r>
              <a:rPr sz="2000" dirty="0">
                <a:solidFill>
                  <a:srgbClr val="000099"/>
                </a:solidFill>
                <a:latin typeface="Times New Roman"/>
                <a:cs typeface="Times New Roman"/>
              </a:rPr>
              <a:t>chlorides, sulfates</a:t>
            </a:r>
            <a:r>
              <a:rPr sz="2000" spc="-260" dirty="0">
                <a:solidFill>
                  <a:srgbClr val="000099"/>
                </a:solidFill>
                <a:latin typeface="Times New Roman"/>
                <a:cs typeface="Times New Roman"/>
              </a:rPr>
              <a:t> </a:t>
            </a:r>
            <a:r>
              <a:rPr sz="2000" dirty="0">
                <a:solidFill>
                  <a:srgbClr val="FF0000"/>
                </a:solidFill>
                <a:latin typeface="Times New Roman"/>
                <a:cs typeface="Times New Roman"/>
              </a:rPr>
              <a:t>of</a:t>
            </a:r>
            <a:endParaRPr sz="2000">
              <a:latin typeface="Times New Roman"/>
              <a:cs typeface="Times New Roman"/>
            </a:endParaRPr>
          </a:p>
          <a:p>
            <a:pPr marL="12700">
              <a:lnSpc>
                <a:spcPct val="100000"/>
              </a:lnSpc>
            </a:pPr>
            <a:r>
              <a:rPr sz="2000" spc="-5" dirty="0">
                <a:solidFill>
                  <a:srgbClr val="000099"/>
                </a:solidFill>
                <a:latin typeface="Times New Roman"/>
                <a:cs typeface="Times New Roman"/>
              </a:rPr>
              <a:t>calcium, Magnesium, </a:t>
            </a:r>
            <a:r>
              <a:rPr sz="2000" dirty="0">
                <a:solidFill>
                  <a:srgbClr val="000099"/>
                </a:solidFill>
                <a:latin typeface="Times New Roman"/>
                <a:cs typeface="Times New Roman"/>
              </a:rPr>
              <a:t>iron </a:t>
            </a:r>
            <a:r>
              <a:rPr sz="2000" dirty="0">
                <a:solidFill>
                  <a:srgbClr val="FF0000"/>
                </a:solidFill>
                <a:latin typeface="Times New Roman"/>
                <a:cs typeface="Times New Roman"/>
              </a:rPr>
              <a:t>and other heavy</a:t>
            </a:r>
            <a:r>
              <a:rPr sz="2000" spc="-95" dirty="0">
                <a:solidFill>
                  <a:srgbClr val="FF0000"/>
                </a:solidFill>
                <a:latin typeface="Times New Roman"/>
                <a:cs typeface="Times New Roman"/>
              </a:rPr>
              <a:t> </a:t>
            </a:r>
            <a:r>
              <a:rPr sz="2000" spc="-5" dirty="0">
                <a:solidFill>
                  <a:srgbClr val="FF0000"/>
                </a:solidFill>
                <a:latin typeface="Times New Roman"/>
                <a:cs typeface="Times New Roman"/>
              </a:rPr>
              <a:t>metals</a:t>
            </a:r>
            <a:endParaRPr sz="2000">
              <a:latin typeface="Times New Roman"/>
              <a:cs typeface="Times New Roman"/>
            </a:endParaRPr>
          </a:p>
        </p:txBody>
      </p:sp>
      <p:sp>
        <p:nvSpPr>
          <p:cNvPr id="4" name="object 4"/>
          <p:cNvSpPr txBox="1"/>
          <p:nvPr/>
        </p:nvSpPr>
        <p:spPr>
          <a:xfrm>
            <a:off x="1096670" y="2159634"/>
            <a:ext cx="2409825" cy="299720"/>
          </a:xfrm>
          <a:prstGeom prst="rect">
            <a:avLst/>
          </a:prstGeom>
        </p:spPr>
        <p:txBody>
          <a:bodyPr vert="horz" wrap="square" lIns="0" tIns="12700" rIns="0" bIns="0" rtlCol="0">
            <a:spAutoFit/>
          </a:bodyPr>
          <a:lstStyle/>
          <a:p>
            <a:pPr marL="38100">
              <a:lnSpc>
                <a:spcPct val="100000"/>
              </a:lnSpc>
              <a:spcBef>
                <a:spcPts val="100"/>
              </a:spcBef>
            </a:pPr>
            <a:r>
              <a:rPr sz="1800" spc="-5" dirty="0">
                <a:latin typeface="Times New Roman"/>
                <a:cs typeface="Times New Roman"/>
              </a:rPr>
              <a:t>2C</a:t>
            </a:r>
            <a:r>
              <a:rPr sz="1800" spc="-7" baseline="-20833" dirty="0">
                <a:latin typeface="Times New Roman"/>
                <a:cs typeface="Times New Roman"/>
              </a:rPr>
              <a:t>17</a:t>
            </a:r>
            <a:r>
              <a:rPr sz="1800" spc="-5" dirty="0">
                <a:latin typeface="Times New Roman"/>
                <a:cs typeface="Times New Roman"/>
              </a:rPr>
              <a:t>H</a:t>
            </a:r>
            <a:r>
              <a:rPr sz="1800" spc="-7" baseline="-20833" dirty="0">
                <a:latin typeface="Times New Roman"/>
                <a:cs typeface="Times New Roman"/>
              </a:rPr>
              <a:t>35</a:t>
            </a:r>
            <a:r>
              <a:rPr sz="1800" spc="-5" dirty="0">
                <a:latin typeface="Times New Roman"/>
                <a:cs typeface="Times New Roman"/>
              </a:rPr>
              <a:t>COONa </a:t>
            </a:r>
            <a:r>
              <a:rPr sz="1800" dirty="0">
                <a:latin typeface="Times New Roman"/>
                <a:cs typeface="Times New Roman"/>
              </a:rPr>
              <a:t>+</a:t>
            </a:r>
            <a:r>
              <a:rPr sz="1800" spc="-30" dirty="0">
                <a:latin typeface="Times New Roman"/>
                <a:cs typeface="Times New Roman"/>
              </a:rPr>
              <a:t> </a:t>
            </a:r>
            <a:r>
              <a:rPr sz="1800" dirty="0">
                <a:latin typeface="Times New Roman"/>
                <a:cs typeface="Times New Roman"/>
              </a:rPr>
              <a:t>CaCl</a:t>
            </a:r>
            <a:r>
              <a:rPr sz="1800" baseline="-20833" dirty="0">
                <a:latin typeface="Times New Roman"/>
                <a:cs typeface="Times New Roman"/>
              </a:rPr>
              <a:t>2</a:t>
            </a:r>
          </a:p>
        </p:txBody>
      </p:sp>
      <p:sp>
        <p:nvSpPr>
          <p:cNvPr id="5" name="object 5"/>
          <p:cNvSpPr txBox="1"/>
          <p:nvPr/>
        </p:nvSpPr>
        <p:spPr>
          <a:xfrm>
            <a:off x="4210558" y="2028379"/>
            <a:ext cx="2560320" cy="975994"/>
          </a:xfrm>
          <a:prstGeom prst="rect">
            <a:avLst/>
          </a:prstGeom>
        </p:spPr>
        <p:txBody>
          <a:bodyPr vert="horz" wrap="square" lIns="0" tIns="143510" rIns="0" bIns="0" rtlCol="0">
            <a:spAutoFit/>
          </a:bodyPr>
          <a:lstStyle/>
          <a:p>
            <a:pPr marL="38100">
              <a:lnSpc>
                <a:spcPct val="100000"/>
              </a:lnSpc>
              <a:spcBef>
                <a:spcPts val="1130"/>
              </a:spcBef>
            </a:pPr>
            <a:r>
              <a:rPr sz="1800" spc="-5" dirty="0">
                <a:latin typeface="Times New Roman"/>
                <a:cs typeface="Times New Roman"/>
              </a:rPr>
              <a:t>(C</a:t>
            </a:r>
            <a:r>
              <a:rPr sz="1800" spc="-7" baseline="-20833" dirty="0">
                <a:latin typeface="Times New Roman"/>
                <a:cs typeface="Times New Roman"/>
              </a:rPr>
              <a:t>17</a:t>
            </a:r>
            <a:r>
              <a:rPr sz="1800" spc="-5" dirty="0">
                <a:latin typeface="Times New Roman"/>
                <a:cs typeface="Times New Roman"/>
              </a:rPr>
              <a:t>H</a:t>
            </a:r>
            <a:r>
              <a:rPr sz="1800" spc="-7" baseline="-20833" dirty="0">
                <a:latin typeface="Times New Roman"/>
                <a:cs typeface="Times New Roman"/>
              </a:rPr>
              <a:t>35</a:t>
            </a:r>
            <a:r>
              <a:rPr sz="1800" spc="-5" dirty="0">
                <a:latin typeface="Times New Roman"/>
                <a:cs typeface="Times New Roman"/>
              </a:rPr>
              <a:t>COO)</a:t>
            </a:r>
            <a:r>
              <a:rPr sz="1800" spc="-7" baseline="-20833" dirty="0">
                <a:latin typeface="Times New Roman"/>
                <a:cs typeface="Times New Roman"/>
              </a:rPr>
              <a:t>2</a:t>
            </a:r>
            <a:r>
              <a:rPr sz="1800" spc="-5" dirty="0">
                <a:latin typeface="Times New Roman"/>
                <a:cs typeface="Times New Roman"/>
              </a:rPr>
              <a:t>Ca </a:t>
            </a:r>
            <a:r>
              <a:rPr sz="1800" dirty="0">
                <a:latin typeface="Times New Roman"/>
                <a:cs typeface="Times New Roman"/>
              </a:rPr>
              <a:t>+</a:t>
            </a:r>
            <a:r>
              <a:rPr sz="1800" spc="-40" dirty="0">
                <a:latin typeface="Times New Roman"/>
                <a:cs typeface="Times New Roman"/>
              </a:rPr>
              <a:t> </a:t>
            </a:r>
            <a:r>
              <a:rPr sz="1800" dirty="0">
                <a:latin typeface="Times New Roman"/>
                <a:cs typeface="Times New Roman"/>
              </a:rPr>
              <a:t>2NaCl</a:t>
            </a:r>
            <a:endParaRPr sz="1800">
              <a:latin typeface="Times New Roman"/>
              <a:cs typeface="Times New Roman"/>
            </a:endParaRPr>
          </a:p>
          <a:p>
            <a:pPr marL="453390" marR="1077595">
              <a:lnSpc>
                <a:spcPts val="2160"/>
              </a:lnSpc>
              <a:spcBef>
                <a:spcPts val="165"/>
              </a:spcBef>
            </a:pPr>
            <a:r>
              <a:rPr sz="1200" spc="-5" dirty="0">
                <a:solidFill>
                  <a:srgbClr val="FF0000"/>
                </a:solidFill>
                <a:latin typeface="Times New Roman"/>
                <a:cs typeface="Times New Roman"/>
              </a:rPr>
              <a:t>Calcium</a:t>
            </a:r>
            <a:r>
              <a:rPr sz="1200" spc="-25" dirty="0">
                <a:solidFill>
                  <a:srgbClr val="FF0000"/>
                </a:solidFill>
                <a:latin typeface="Times New Roman"/>
                <a:cs typeface="Times New Roman"/>
              </a:rPr>
              <a:t> </a:t>
            </a:r>
            <a:r>
              <a:rPr sz="1200" spc="-5" dirty="0">
                <a:solidFill>
                  <a:srgbClr val="FF0000"/>
                </a:solidFill>
                <a:latin typeface="Times New Roman"/>
                <a:cs typeface="Times New Roman"/>
              </a:rPr>
              <a:t>stearate  (Insoluble)</a:t>
            </a:r>
            <a:endParaRPr sz="1200">
              <a:latin typeface="Times New Roman"/>
              <a:cs typeface="Times New Roman"/>
            </a:endParaRPr>
          </a:p>
        </p:txBody>
      </p:sp>
      <p:sp>
        <p:nvSpPr>
          <p:cNvPr id="6" name="object 6"/>
          <p:cNvSpPr/>
          <p:nvPr/>
        </p:nvSpPr>
        <p:spPr>
          <a:xfrm>
            <a:off x="3505200" y="2324100"/>
            <a:ext cx="647700" cy="76200"/>
          </a:xfrm>
          <a:custGeom>
            <a:avLst/>
            <a:gdLst/>
            <a:ahLst/>
            <a:cxnLst/>
            <a:rect l="l" t="t" r="r" b="b"/>
            <a:pathLst>
              <a:path w="647700" h="76200">
                <a:moveTo>
                  <a:pt x="571500" y="0"/>
                </a:moveTo>
                <a:lnTo>
                  <a:pt x="571500" y="76200"/>
                </a:lnTo>
                <a:lnTo>
                  <a:pt x="635000" y="44450"/>
                </a:lnTo>
                <a:lnTo>
                  <a:pt x="584200" y="44450"/>
                </a:lnTo>
                <a:lnTo>
                  <a:pt x="584200" y="31750"/>
                </a:lnTo>
                <a:lnTo>
                  <a:pt x="635000" y="31750"/>
                </a:lnTo>
                <a:lnTo>
                  <a:pt x="571500" y="0"/>
                </a:lnTo>
                <a:close/>
              </a:path>
              <a:path w="647700" h="76200">
                <a:moveTo>
                  <a:pt x="571500" y="31750"/>
                </a:moveTo>
                <a:lnTo>
                  <a:pt x="0" y="31750"/>
                </a:lnTo>
                <a:lnTo>
                  <a:pt x="0" y="44450"/>
                </a:lnTo>
                <a:lnTo>
                  <a:pt x="571500" y="44450"/>
                </a:lnTo>
                <a:lnTo>
                  <a:pt x="571500" y="31750"/>
                </a:lnTo>
                <a:close/>
              </a:path>
              <a:path w="647700" h="76200">
                <a:moveTo>
                  <a:pt x="635000" y="31750"/>
                </a:moveTo>
                <a:lnTo>
                  <a:pt x="584200" y="31750"/>
                </a:lnTo>
                <a:lnTo>
                  <a:pt x="584200" y="44450"/>
                </a:lnTo>
                <a:lnTo>
                  <a:pt x="635000" y="44450"/>
                </a:lnTo>
                <a:lnTo>
                  <a:pt x="647700" y="38100"/>
                </a:lnTo>
                <a:lnTo>
                  <a:pt x="635000" y="31750"/>
                </a:lnTo>
                <a:close/>
              </a:path>
            </a:pathLst>
          </a:custGeom>
          <a:solidFill>
            <a:srgbClr val="000000"/>
          </a:solidFill>
        </p:spPr>
        <p:txBody>
          <a:bodyPr wrap="square" lIns="0" tIns="0" rIns="0" bIns="0" rtlCol="0"/>
          <a:lstStyle/>
          <a:p>
            <a:endParaRPr/>
          </a:p>
        </p:txBody>
      </p:sp>
      <p:sp>
        <p:nvSpPr>
          <p:cNvPr id="7" name="object 7"/>
          <p:cNvSpPr txBox="1"/>
          <p:nvPr/>
        </p:nvSpPr>
        <p:spPr>
          <a:xfrm>
            <a:off x="1096670" y="3160014"/>
            <a:ext cx="2546985" cy="299720"/>
          </a:xfrm>
          <a:prstGeom prst="rect">
            <a:avLst/>
          </a:prstGeom>
        </p:spPr>
        <p:txBody>
          <a:bodyPr vert="horz" wrap="square" lIns="0" tIns="12700" rIns="0" bIns="0" rtlCol="0">
            <a:spAutoFit/>
          </a:bodyPr>
          <a:lstStyle/>
          <a:p>
            <a:pPr marL="38100">
              <a:lnSpc>
                <a:spcPct val="100000"/>
              </a:lnSpc>
              <a:spcBef>
                <a:spcPts val="100"/>
              </a:spcBef>
            </a:pPr>
            <a:r>
              <a:rPr sz="1800" spc="-5" dirty="0">
                <a:latin typeface="Times New Roman"/>
                <a:cs typeface="Times New Roman"/>
              </a:rPr>
              <a:t>2C</a:t>
            </a:r>
            <a:r>
              <a:rPr sz="1800" spc="-7" baseline="-20833" dirty="0">
                <a:latin typeface="Times New Roman"/>
                <a:cs typeface="Times New Roman"/>
              </a:rPr>
              <a:t>17</a:t>
            </a:r>
            <a:r>
              <a:rPr sz="1800" spc="-5" dirty="0">
                <a:latin typeface="Times New Roman"/>
                <a:cs typeface="Times New Roman"/>
              </a:rPr>
              <a:t>H</a:t>
            </a:r>
            <a:r>
              <a:rPr sz="1800" spc="-7" baseline="-20833" dirty="0">
                <a:latin typeface="Times New Roman"/>
                <a:cs typeface="Times New Roman"/>
              </a:rPr>
              <a:t>35</a:t>
            </a:r>
            <a:r>
              <a:rPr sz="1800" spc="-5" dirty="0">
                <a:latin typeface="Times New Roman"/>
                <a:cs typeface="Times New Roman"/>
              </a:rPr>
              <a:t>COONa </a:t>
            </a:r>
            <a:r>
              <a:rPr sz="1800" dirty="0">
                <a:latin typeface="Times New Roman"/>
                <a:cs typeface="Times New Roman"/>
              </a:rPr>
              <a:t>+</a:t>
            </a:r>
            <a:r>
              <a:rPr sz="1800" spc="-30" dirty="0">
                <a:latin typeface="Times New Roman"/>
                <a:cs typeface="Times New Roman"/>
              </a:rPr>
              <a:t> </a:t>
            </a:r>
            <a:r>
              <a:rPr sz="1800" spc="-5" dirty="0">
                <a:latin typeface="Times New Roman"/>
                <a:cs typeface="Times New Roman"/>
              </a:rPr>
              <a:t>MgSO</a:t>
            </a:r>
            <a:r>
              <a:rPr sz="1800" spc="-7" baseline="-20833" dirty="0">
                <a:latin typeface="Times New Roman"/>
                <a:cs typeface="Times New Roman"/>
              </a:rPr>
              <a:t>4</a:t>
            </a:r>
            <a:endParaRPr sz="1800" baseline="-20833">
              <a:latin typeface="Times New Roman"/>
              <a:cs typeface="Times New Roman"/>
            </a:endParaRPr>
          </a:p>
        </p:txBody>
      </p:sp>
      <p:sp>
        <p:nvSpPr>
          <p:cNvPr id="8" name="object 8"/>
          <p:cNvSpPr txBox="1"/>
          <p:nvPr/>
        </p:nvSpPr>
        <p:spPr>
          <a:xfrm>
            <a:off x="4349241" y="3160014"/>
            <a:ext cx="2853690" cy="925830"/>
          </a:xfrm>
          <a:prstGeom prst="rect">
            <a:avLst/>
          </a:prstGeom>
        </p:spPr>
        <p:txBody>
          <a:bodyPr vert="horz" wrap="square" lIns="0" tIns="12700" rIns="0" bIns="0" rtlCol="0">
            <a:spAutoFit/>
          </a:bodyPr>
          <a:lstStyle/>
          <a:p>
            <a:pPr marL="38100">
              <a:lnSpc>
                <a:spcPct val="100000"/>
              </a:lnSpc>
              <a:spcBef>
                <a:spcPts val="100"/>
              </a:spcBef>
            </a:pPr>
            <a:r>
              <a:rPr sz="1800" spc="-5" dirty="0">
                <a:latin typeface="Times New Roman"/>
                <a:cs typeface="Times New Roman"/>
              </a:rPr>
              <a:t>(C</a:t>
            </a:r>
            <a:r>
              <a:rPr sz="1800" spc="-7" baseline="-20833" dirty="0">
                <a:latin typeface="Times New Roman"/>
                <a:cs typeface="Times New Roman"/>
              </a:rPr>
              <a:t>17</a:t>
            </a:r>
            <a:r>
              <a:rPr sz="1800" spc="-5" dirty="0">
                <a:latin typeface="Times New Roman"/>
                <a:cs typeface="Times New Roman"/>
              </a:rPr>
              <a:t>H</a:t>
            </a:r>
            <a:r>
              <a:rPr sz="1800" spc="-7" baseline="-20833" dirty="0">
                <a:latin typeface="Times New Roman"/>
                <a:cs typeface="Times New Roman"/>
              </a:rPr>
              <a:t>35</a:t>
            </a:r>
            <a:r>
              <a:rPr sz="1800" spc="-5" dirty="0">
                <a:latin typeface="Times New Roman"/>
                <a:cs typeface="Times New Roman"/>
              </a:rPr>
              <a:t>COO)</a:t>
            </a:r>
            <a:r>
              <a:rPr sz="1800" spc="-7" baseline="-20833" dirty="0">
                <a:latin typeface="Times New Roman"/>
                <a:cs typeface="Times New Roman"/>
              </a:rPr>
              <a:t>2</a:t>
            </a:r>
            <a:r>
              <a:rPr sz="1800" spc="-5" dirty="0">
                <a:latin typeface="Times New Roman"/>
                <a:cs typeface="Times New Roman"/>
              </a:rPr>
              <a:t>Mg </a:t>
            </a:r>
            <a:r>
              <a:rPr sz="1800" dirty="0">
                <a:latin typeface="Times New Roman"/>
                <a:cs typeface="Times New Roman"/>
              </a:rPr>
              <a:t>+</a:t>
            </a:r>
            <a:r>
              <a:rPr sz="1800" spc="5" dirty="0">
                <a:latin typeface="Times New Roman"/>
                <a:cs typeface="Times New Roman"/>
              </a:rPr>
              <a:t> </a:t>
            </a:r>
            <a:r>
              <a:rPr sz="1800" spc="-5" dirty="0">
                <a:latin typeface="Times New Roman"/>
                <a:cs typeface="Times New Roman"/>
              </a:rPr>
              <a:t>2Na</a:t>
            </a:r>
            <a:r>
              <a:rPr sz="1800" spc="-7" baseline="-20833" dirty="0">
                <a:latin typeface="Times New Roman"/>
                <a:cs typeface="Times New Roman"/>
              </a:rPr>
              <a:t>2</a:t>
            </a:r>
            <a:r>
              <a:rPr sz="1800" spc="-5" dirty="0">
                <a:latin typeface="Times New Roman"/>
                <a:cs typeface="Times New Roman"/>
              </a:rPr>
              <a:t>SO</a:t>
            </a:r>
            <a:r>
              <a:rPr sz="1800" spc="-7" baseline="-20833" dirty="0">
                <a:latin typeface="Times New Roman"/>
                <a:cs typeface="Times New Roman"/>
              </a:rPr>
              <a:t>4</a:t>
            </a:r>
            <a:endParaRPr sz="1800" baseline="-20833">
              <a:latin typeface="Times New Roman"/>
              <a:cs typeface="Times New Roman"/>
            </a:endParaRPr>
          </a:p>
          <a:p>
            <a:pPr marL="386080" marR="1236980">
              <a:lnSpc>
                <a:spcPct val="150000"/>
              </a:lnSpc>
              <a:spcBef>
                <a:spcPts val="605"/>
              </a:spcBef>
            </a:pPr>
            <a:r>
              <a:rPr sz="1200" spc="-5" dirty="0">
                <a:solidFill>
                  <a:srgbClr val="FF0000"/>
                </a:solidFill>
                <a:latin typeface="Times New Roman"/>
                <a:cs typeface="Times New Roman"/>
              </a:rPr>
              <a:t>Magnesium</a:t>
            </a:r>
            <a:r>
              <a:rPr sz="1200" spc="-30" dirty="0">
                <a:solidFill>
                  <a:srgbClr val="FF0000"/>
                </a:solidFill>
                <a:latin typeface="Times New Roman"/>
                <a:cs typeface="Times New Roman"/>
              </a:rPr>
              <a:t> </a:t>
            </a:r>
            <a:r>
              <a:rPr sz="1200" spc="-5" dirty="0">
                <a:solidFill>
                  <a:srgbClr val="FF0000"/>
                </a:solidFill>
                <a:latin typeface="Times New Roman"/>
                <a:cs typeface="Times New Roman"/>
              </a:rPr>
              <a:t>stearate  (Insoluble)</a:t>
            </a:r>
            <a:endParaRPr sz="1200">
              <a:latin typeface="Times New Roman"/>
              <a:cs typeface="Times New Roman"/>
            </a:endParaRPr>
          </a:p>
        </p:txBody>
      </p:sp>
      <p:sp>
        <p:nvSpPr>
          <p:cNvPr id="9" name="object 9"/>
          <p:cNvSpPr/>
          <p:nvPr/>
        </p:nvSpPr>
        <p:spPr>
          <a:xfrm>
            <a:off x="3581400" y="3314700"/>
            <a:ext cx="647700" cy="76200"/>
          </a:xfrm>
          <a:custGeom>
            <a:avLst/>
            <a:gdLst/>
            <a:ahLst/>
            <a:cxnLst/>
            <a:rect l="l" t="t" r="r" b="b"/>
            <a:pathLst>
              <a:path w="647700" h="76200">
                <a:moveTo>
                  <a:pt x="571500" y="0"/>
                </a:moveTo>
                <a:lnTo>
                  <a:pt x="571500" y="76200"/>
                </a:lnTo>
                <a:lnTo>
                  <a:pt x="635000" y="44450"/>
                </a:lnTo>
                <a:lnTo>
                  <a:pt x="584200" y="44450"/>
                </a:lnTo>
                <a:lnTo>
                  <a:pt x="584200" y="31750"/>
                </a:lnTo>
                <a:lnTo>
                  <a:pt x="635000" y="31750"/>
                </a:lnTo>
                <a:lnTo>
                  <a:pt x="571500" y="0"/>
                </a:lnTo>
                <a:close/>
              </a:path>
              <a:path w="647700" h="76200">
                <a:moveTo>
                  <a:pt x="571500" y="31750"/>
                </a:moveTo>
                <a:lnTo>
                  <a:pt x="0" y="31750"/>
                </a:lnTo>
                <a:lnTo>
                  <a:pt x="0" y="44450"/>
                </a:lnTo>
                <a:lnTo>
                  <a:pt x="571500" y="44450"/>
                </a:lnTo>
                <a:lnTo>
                  <a:pt x="571500" y="31750"/>
                </a:lnTo>
                <a:close/>
              </a:path>
              <a:path w="647700" h="76200">
                <a:moveTo>
                  <a:pt x="635000" y="31750"/>
                </a:moveTo>
                <a:lnTo>
                  <a:pt x="584200" y="31750"/>
                </a:lnTo>
                <a:lnTo>
                  <a:pt x="584200" y="44450"/>
                </a:lnTo>
                <a:lnTo>
                  <a:pt x="635000" y="44450"/>
                </a:lnTo>
                <a:lnTo>
                  <a:pt x="647700" y="38100"/>
                </a:lnTo>
                <a:lnTo>
                  <a:pt x="635000" y="31750"/>
                </a:lnTo>
                <a:close/>
              </a:path>
            </a:pathLst>
          </a:custGeom>
          <a:solidFill>
            <a:srgbClr val="000000"/>
          </a:solidFill>
        </p:spPr>
        <p:txBody>
          <a:bodyPr wrap="square" lIns="0" tIns="0" rIns="0" bIns="0" rtlCol="0"/>
          <a:lstStyle/>
          <a:p>
            <a:endParaRPr/>
          </a:p>
        </p:txBody>
      </p:sp>
      <p:sp>
        <p:nvSpPr>
          <p:cNvPr id="10" name="object 10"/>
          <p:cNvSpPr txBox="1"/>
          <p:nvPr/>
        </p:nvSpPr>
        <p:spPr>
          <a:xfrm>
            <a:off x="1266571" y="2430017"/>
            <a:ext cx="1001394" cy="574040"/>
          </a:xfrm>
          <a:prstGeom prst="rect">
            <a:avLst/>
          </a:prstGeom>
        </p:spPr>
        <p:txBody>
          <a:bodyPr vert="horz" wrap="square" lIns="0" tIns="12700" rIns="0" bIns="0" rtlCol="0">
            <a:spAutoFit/>
          </a:bodyPr>
          <a:lstStyle/>
          <a:p>
            <a:pPr marL="12700" marR="5080">
              <a:lnSpc>
                <a:spcPct val="150000"/>
              </a:lnSpc>
              <a:spcBef>
                <a:spcPts val="100"/>
              </a:spcBef>
            </a:pPr>
            <a:r>
              <a:rPr sz="1200" dirty="0">
                <a:solidFill>
                  <a:srgbClr val="FF0000"/>
                </a:solidFill>
                <a:latin typeface="Times New Roman"/>
                <a:cs typeface="Times New Roman"/>
              </a:rPr>
              <a:t>Sodium</a:t>
            </a:r>
            <a:r>
              <a:rPr sz="1200" spc="-85" dirty="0">
                <a:solidFill>
                  <a:srgbClr val="FF0000"/>
                </a:solidFill>
                <a:latin typeface="Times New Roman"/>
                <a:cs typeface="Times New Roman"/>
              </a:rPr>
              <a:t> </a:t>
            </a:r>
            <a:r>
              <a:rPr sz="1200" spc="-5" dirty="0">
                <a:solidFill>
                  <a:srgbClr val="FF0000"/>
                </a:solidFill>
                <a:latin typeface="Times New Roman"/>
                <a:cs typeface="Times New Roman"/>
              </a:rPr>
              <a:t>stearate  </a:t>
            </a:r>
            <a:r>
              <a:rPr sz="1200" dirty="0">
                <a:solidFill>
                  <a:srgbClr val="FF0000"/>
                </a:solidFill>
                <a:latin typeface="Times New Roman"/>
                <a:cs typeface="Times New Roman"/>
              </a:rPr>
              <a:t>(sodium</a:t>
            </a:r>
            <a:r>
              <a:rPr sz="1200" spc="-25" dirty="0">
                <a:solidFill>
                  <a:srgbClr val="FF0000"/>
                </a:solidFill>
                <a:latin typeface="Times New Roman"/>
                <a:cs typeface="Times New Roman"/>
              </a:rPr>
              <a:t> </a:t>
            </a:r>
            <a:r>
              <a:rPr sz="1200" spc="-5" dirty="0">
                <a:solidFill>
                  <a:srgbClr val="FF0000"/>
                </a:solidFill>
                <a:latin typeface="Times New Roman"/>
                <a:cs typeface="Times New Roman"/>
              </a:rPr>
              <a:t>soap)</a:t>
            </a:r>
            <a:endParaRPr sz="1200">
              <a:latin typeface="Times New Roman"/>
              <a:cs typeface="Times New Roman"/>
            </a:endParaRPr>
          </a:p>
        </p:txBody>
      </p:sp>
      <p:sp>
        <p:nvSpPr>
          <p:cNvPr id="11" name="object 11"/>
          <p:cNvSpPr txBox="1"/>
          <p:nvPr/>
        </p:nvSpPr>
        <p:spPr>
          <a:xfrm>
            <a:off x="2850895" y="2594609"/>
            <a:ext cx="59055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0000"/>
                </a:solidFill>
                <a:latin typeface="Times New Roman"/>
                <a:cs typeface="Times New Roman"/>
              </a:rPr>
              <a:t>H</a:t>
            </a:r>
            <a:r>
              <a:rPr sz="1200" spc="-15" dirty="0">
                <a:solidFill>
                  <a:srgbClr val="FF0000"/>
                </a:solidFill>
                <a:latin typeface="Times New Roman"/>
                <a:cs typeface="Times New Roman"/>
              </a:rPr>
              <a:t>a</a:t>
            </a:r>
            <a:r>
              <a:rPr sz="1200" dirty="0">
                <a:solidFill>
                  <a:srgbClr val="FF0000"/>
                </a:solidFill>
                <a:latin typeface="Times New Roman"/>
                <a:cs typeface="Times New Roman"/>
              </a:rPr>
              <a:t>rdn</a:t>
            </a:r>
            <a:r>
              <a:rPr sz="1200" spc="-10" dirty="0">
                <a:solidFill>
                  <a:srgbClr val="FF0000"/>
                </a:solidFill>
                <a:latin typeface="Times New Roman"/>
                <a:cs typeface="Times New Roman"/>
              </a:rPr>
              <a:t>e</a:t>
            </a:r>
            <a:r>
              <a:rPr sz="1200" spc="-5" dirty="0">
                <a:solidFill>
                  <a:srgbClr val="FF0000"/>
                </a:solidFill>
                <a:latin typeface="Times New Roman"/>
                <a:cs typeface="Times New Roman"/>
              </a:rPr>
              <a:t>ss</a:t>
            </a:r>
            <a:endParaRPr sz="1200">
              <a:latin typeface="Times New Roman"/>
              <a:cs typeface="Times New Roman"/>
            </a:endParaRPr>
          </a:p>
        </p:txBody>
      </p:sp>
      <p:sp>
        <p:nvSpPr>
          <p:cNvPr id="12" name="object 12"/>
          <p:cNvSpPr txBox="1"/>
          <p:nvPr/>
        </p:nvSpPr>
        <p:spPr>
          <a:xfrm>
            <a:off x="1266571" y="3511423"/>
            <a:ext cx="1000760" cy="574040"/>
          </a:xfrm>
          <a:prstGeom prst="rect">
            <a:avLst/>
          </a:prstGeom>
        </p:spPr>
        <p:txBody>
          <a:bodyPr vert="horz" wrap="square" lIns="0" tIns="12700" rIns="0" bIns="0" rtlCol="0">
            <a:spAutoFit/>
          </a:bodyPr>
          <a:lstStyle/>
          <a:p>
            <a:pPr marL="12700" marR="5080">
              <a:lnSpc>
                <a:spcPct val="150000"/>
              </a:lnSpc>
              <a:spcBef>
                <a:spcPts val="100"/>
              </a:spcBef>
            </a:pPr>
            <a:r>
              <a:rPr sz="1200" dirty="0">
                <a:solidFill>
                  <a:srgbClr val="FF0000"/>
                </a:solidFill>
                <a:latin typeface="Times New Roman"/>
                <a:cs typeface="Times New Roman"/>
              </a:rPr>
              <a:t>Sodium</a:t>
            </a:r>
            <a:r>
              <a:rPr sz="1200" spc="-85" dirty="0">
                <a:solidFill>
                  <a:srgbClr val="FF0000"/>
                </a:solidFill>
                <a:latin typeface="Times New Roman"/>
                <a:cs typeface="Times New Roman"/>
              </a:rPr>
              <a:t> </a:t>
            </a:r>
            <a:r>
              <a:rPr sz="1200" spc="-5" dirty="0">
                <a:solidFill>
                  <a:srgbClr val="FF0000"/>
                </a:solidFill>
                <a:latin typeface="Times New Roman"/>
                <a:cs typeface="Times New Roman"/>
              </a:rPr>
              <a:t>stearate  </a:t>
            </a:r>
            <a:r>
              <a:rPr sz="1200" dirty="0">
                <a:solidFill>
                  <a:srgbClr val="FF0000"/>
                </a:solidFill>
                <a:latin typeface="Times New Roman"/>
                <a:cs typeface="Times New Roman"/>
              </a:rPr>
              <a:t>(sodium</a:t>
            </a:r>
            <a:r>
              <a:rPr sz="1200" spc="-25" dirty="0">
                <a:solidFill>
                  <a:srgbClr val="FF0000"/>
                </a:solidFill>
                <a:latin typeface="Times New Roman"/>
                <a:cs typeface="Times New Roman"/>
              </a:rPr>
              <a:t> </a:t>
            </a:r>
            <a:r>
              <a:rPr sz="1200" spc="-5" dirty="0">
                <a:solidFill>
                  <a:srgbClr val="FF0000"/>
                </a:solidFill>
                <a:latin typeface="Times New Roman"/>
                <a:cs typeface="Times New Roman"/>
              </a:rPr>
              <a:t>soap)</a:t>
            </a:r>
            <a:endParaRPr sz="1200">
              <a:latin typeface="Times New Roman"/>
              <a:cs typeface="Times New Roman"/>
            </a:endParaRPr>
          </a:p>
        </p:txBody>
      </p:sp>
      <p:sp>
        <p:nvSpPr>
          <p:cNvPr id="13" name="object 13"/>
          <p:cNvSpPr txBox="1"/>
          <p:nvPr/>
        </p:nvSpPr>
        <p:spPr>
          <a:xfrm>
            <a:off x="2922523" y="3674109"/>
            <a:ext cx="59055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0000"/>
                </a:solidFill>
                <a:latin typeface="Times New Roman"/>
                <a:cs typeface="Times New Roman"/>
              </a:rPr>
              <a:t>H</a:t>
            </a:r>
            <a:r>
              <a:rPr sz="1200" spc="-15" dirty="0">
                <a:solidFill>
                  <a:srgbClr val="FF0000"/>
                </a:solidFill>
                <a:latin typeface="Times New Roman"/>
                <a:cs typeface="Times New Roman"/>
              </a:rPr>
              <a:t>a</a:t>
            </a:r>
            <a:r>
              <a:rPr sz="1200" dirty="0">
                <a:solidFill>
                  <a:srgbClr val="FF0000"/>
                </a:solidFill>
                <a:latin typeface="Times New Roman"/>
                <a:cs typeface="Times New Roman"/>
              </a:rPr>
              <a:t>rdn</a:t>
            </a:r>
            <a:r>
              <a:rPr sz="1200" spc="-10" dirty="0">
                <a:solidFill>
                  <a:srgbClr val="FF0000"/>
                </a:solidFill>
                <a:latin typeface="Times New Roman"/>
                <a:cs typeface="Times New Roman"/>
              </a:rPr>
              <a:t>e</a:t>
            </a:r>
            <a:r>
              <a:rPr sz="1200" spc="-5" dirty="0">
                <a:solidFill>
                  <a:srgbClr val="FF0000"/>
                </a:solidFill>
                <a:latin typeface="Times New Roman"/>
                <a:cs typeface="Times New Roman"/>
              </a:rPr>
              <a:t>ss</a:t>
            </a:r>
            <a:endParaRPr sz="1200">
              <a:latin typeface="Times New Roman"/>
              <a:cs typeface="Times New Roman"/>
            </a:endParaRPr>
          </a:p>
        </p:txBody>
      </p:sp>
      <p:sp>
        <p:nvSpPr>
          <p:cNvPr id="14" name="object 14"/>
          <p:cNvSpPr/>
          <p:nvPr/>
        </p:nvSpPr>
        <p:spPr>
          <a:xfrm>
            <a:off x="5753100" y="2209800"/>
            <a:ext cx="76200" cy="288290"/>
          </a:xfrm>
          <a:custGeom>
            <a:avLst/>
            <a:gdLst/>
            <a:ahLst/>
            <a:cxnLst/>
            <a:rect l="l" t="t" r="r" b="b"/>
            <a:pathLst>
              <a:path w="76200" h="288289">
                <a:moveTo>
                  <a:pt x="31750" y="211836"/>
                </a:moveTo>
                <a:lnTo>
                  <a:pt x="0" y="211836"/>
                </a:lnTo>
                <a:lnTo>
                  <a:pt x="38100" y="288036"/>
                </a:lnTo>
                <a:lnTo>
                  <a:pt x="69850" y="224536"/>
                </a:lnTo>
                <a:lnTo>
                  <a:pt x="31750" y="224536"/>
                </a:lnTo>
                <a:lnTo>
                  <a:pt x="31750" y="211836"/>
                </a:lnTo>
                <a:close/>
              </a:path>
              <a:path w="76200" h="288289">
                <a:moveTo>
                  <a:pt x="44450" y="0"/>
                </a:moveTo>
                <a:lnTo>
                  <a:pt x="31750" y="0"/>
                </a:lnTo>
                <a:lnTo>
                  <a:pt x="31750" y="224536"/>
                </a:lnTo>
                <a:lnTo>
                  <a:pt x="44450" y="224536"/>
                </a:lnTo>
                <a:lnTo>
                  <a:pt x="44450" y="0"/>
                </a:lnTo>
                <a:close/>
              </a:path>
              <a:path w="76200" h="288289">
                <a:moveTo>
                  <a:pt x="76200" y="211836"/>
                </a:moveTo>
                <a:lnTo>
                  <a:pt x="44450" y="211836"/>
                </a:lnTo>
                <a:lnTo>
                  <a:pt x="44450" y="224536"/>
                </a:lnTo>
                <a:lnTo>
                  <a:pt x="69850" y="224536"/>
                </a:lnTo>
                <a:lnTo>
                  <a:pt x="76200" y="211836"/>
                </a:lnTo>
                <a:close/>
              </a:path>
            </a:pathLst>
          </a:custGeom>
          <a:solidFill>
            <a:srgbClr val="000000"/>
          </a:solidFill>
        </p:spPr>
        <p:txBody>
          <a:bodyPr wrap="square" lIns="0" tIns="0" rIns="0" bIns="0" rtlCol="0"/>
          <a:lstStyle/>
          <a:p>
            <a:endParaRPr/>
          </a:p>
        </p:txBody>
      </p:sp>
      <p:sp>
        <p:nvSpPr>
          <p:cNvPr id="15" name="object 15"/>
          <p:cNvSpPr/>
          <p:nvPr/>
        </p:nvSpPr>
        <p:spPr>
          <a:xfrm>
            <a:off x="5905500" y="3200400"/>
            <a:ext cx="76200" cy="288290"/>
          </a:xfrm>
          <a:custGeom>
            <a:avLst/>
            <a:gdLst/>
            <a:ahLst/>
            <a:cxnLst/>
            <a:rect l="l" t="t" r="r" b="b"/>
            <a:pathLst>
              <a:path w="76200" h="288289">
                <a:moveTo>
                  <a:pt x="31750" y="211836"/>
                </a:moveTo>
                <a:lnTo>
                  <a:pt x="0" y="211836"/>
                </a:lnTo>
                <a:lnTo>
                  <a:pt x="38100" y="288036"/>
                </a:lnTo>
                <a:lnTo>
                  <a:pt x="69850" y="224536"/>
                </a:lnTo>
                <a:lnTo>
                  <a:pt x="31750" y="224536"/>
                </a:lnTo>
                <a:lnTo>
                  <a:pt x="31750" y="211836"/>
                </a:lnTo>
                <a:close/>
              </a:path>
              <a:path w="76200" h="288289">
                <a:moveTo>
                  <a:pt x="44450" y="0"/>
                </a:moveTo>
                <a:lnTo>
                  <a:pt x="31750" y="0"/>
                </a:lnTo>
                <a:lnTo>
                  <a:pt x="31750" y="224536"/>
                </a:lnTo>
                <a:lnTo>
                  <a:pt x="44450" y="224536"/>
                </a:lnTo>
                <a:lnTo>
                  <a:pt x="44450" y="0"/>
                </a:lnTo>
                <a:close/>
              </a:path>
              <a:path w="76200" h="288289">
                <a:moveTo>
                  <a:pt x="76200" y="211836"/>
                </a:moveTo>
                <a:lnTo>
                  <a:pt x="44450" y="211836"/>
                </a:lnTo>
                <a:lnTo>
                  <a:pt x="44450" y="224536"/>
                </a:lnTo>
                <a:lnTo>
                  <a:pt x="69850" y="224536"/>
                </a:lnTo>
                <a:lnTo>
                  <a:pt x="76200" y="211836"/>
                </a:lnTo>
                <a:close/>
              </a:path>
            </a:pathLst>
          </a:custGeom>
          <a:solidFill>
            <a:srgbClr val="000000"/>
          </a:solidFill>
        </p:spPr>
        <p:txBody>
          <a:bodyPr wrap="square" lIns="0" tIns="0" rIns="0" bIns="0" rtlCol="0"/>
          <a:lstStyle/>
          <a:p>
            <a:endParaRPr/>
          </a:p>
        </p:txBody>
      </p:sp>
      <p:sp>
        <p:nvSpPr>
          <p:cNvPr id="16" name="object 16"/>
          <p:cNvSpPr txBox="1"/>
          <p:nvPr/>
        </p:nvSpPr>
        <p:spPr>
          <a:xfrm>
            <a:off x="8352155" y="5889964"/>
            <a:ext cx="165735" cy="222885"/>
          </a:xfrm>
          <a:prstGeom prst="rect">
            <a:avLst/>
          </a:prstGeom>
        </p:spPr>
        <p:txBody>
          <a:bodyPr vert="horz" wrap="square" lIns="0" tIns="0" rIns="0" bIns="0" rtlCol="0">
            <a:spAutoFit/>
          </a:bodyPr>
          <a:lstStyle/>
          <a:p>
            <a:pPr marL="38100">
              <a:lnSpc>
                <a:spcPts val="1630"/>
              </a:lnSpc>
            </a:pPr>
            <a:fld id="{81D60167-4931-47E6-BA6A-407CBD079E47}" type="slidenum">
              <a:rPr sz="1400" b="1" dirty="0">
                <a:solidFill>
                  <a:srgbClr val="FFFFFF"/>
                </a:solidFill>
                <a:latin typeface="Times New Roman"/>
                <a:cs typeface="Times New Roman"/>
              </a:rPr>
              <a:pPr marL="38100">
                <a:lnSpc>
                  <a:spcPts val="1630"/>
                </a:lnSpc>
              </a:pPr>
              <a:t>52</a:t>
            </a:fld>
            <a:endParaRPr sz="1400">
              <a:latin typeface="Times New Roman"/>
              <a:cs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8964488" cy="6858000"/>
          </a:xfrm>
        </p:spPr>
        <p:txBody>
          <a:bodyPr/>
          <a:lstStyle/>
          <a:p>
            <a:r>
              <a:rPr lang="en-US" dirty="0" smtClean="0">
                <a:solidFill>
                  <a:srgbClr val="C00000"/>
                </a:solidFill>
                <a:latin typeface="Times New Roman" pitchFamily="18" charset="0"/>
                <a:cs typeface="Times New Roman" pitchFamily="18" charset="0"/>
              </a:rPr>
              <a:t>BOD…</a:t>
            </a:r>
          </a:p>
          <a:p>
            <a:r>
              <a:rPr lang="en-US" sz="2000" dirty="0" smtClean="0">
                <a:latin typeface="Times New Roman" pitchFamily="18" charset="0"/>
                <a:cs typeface="Times New Roman" pitchFamily="18" charset="0"/>
              </a:rPr>
              <a:t>BOD is expressed in mg/L or </a:t>
            </a:r>
            <a:r>
              <a:rPr lang="en-US" sz="2000" dirty="0" err="1" smtClean="0">
                <a:latin typeface="Times New Roman" pitchFamily="18" charset="0"/>
                <a:cs typeface="Times New Roman" pitchFamily="18" charset="0"/>
              </a:rPr>
              <a:t>ppm</a:t>
            </a:r>
            <a:r>
              <a:rPr lang="en-US" sz="2000" dirty="0" smtClean="0">
                <a:latin typeface="Times New Roman" pitchFamily="18" charset="0"/>
                <a:cs typeface="Times New Roman" pitchFamily="18" charset="0"/>
              </a:rPr>
              <a:t>.</a:t>
            </a:r>
          </a:p>
          <a:p>
            <a:r>
              <a:rPr lang="en-US" sz="2000" dirty="0" smtClean="0">
                <a:solidFill>
                  <a:srgbClr val="C00000"/>
                </a:solidFill>
                <a:latin typeface="Times New Roman" pitchFamily="18" charset="0"/>
                <a:cs typeface="Times New Roman" pitchFamily="18" charset="0"/>
              </a:rPr>
              <a:t>Determination of BOD..</a:t>
            </a:r>
          </a:p>
          <a:p>
            <a:r>
              <a:rPr lang="en-US" sz="2000" dirty="0" smtClean="0">
                <a:latin typeface="Times New Roman" pitchFamily="18" charset="0"/>
                <a:cs typeface="Times New Roman" pitchFamily="18" charset="0"/>
              </a:rPr>
              <a:t>BOD measurements require taking two samples at each </a:t>
            </a:r>
            <a:r>
              <a:rPr lang="en-US" sz="2000" dirty="0" err="1" smtClean="0">
                <a:latin typeface="Times New Roman" pitchFamily="18" charset="0"/>
                <a:cs typeface="Times New Roman" pitchFamily="18" charset="0"/>
              </a:rPr>
              <a:t>side.One</a:t>
            </a:r>
            <a:r>
              <a:rPr lang="en-US" sz="2000" dirty="0" smtClean="0">
                <a:latin typeface="Times New Roman" pitchFamily="18" charset="0"/>
                <a:cs typeface="Times New Roman" pitchFamily="18" charset="0"/>
              </a:rPr>
              <a:t> is tested immediately for dissolved oxygen and the second is incubated in dark at 20c for 5 days and the tested for the amount of remaining DO.</a:t>
            </a:r>
          </a:p>
          <a:p>
            <a:r>
              <a:rPr lang="en-US" sz="2000" dirty="0" smtClean="0">
                <a:latin typeface="Times New Roman" pitchFamily="18" charset="0"/>
                <a:cs typeface="Times New Roman" pitchFamily="18" charset="0"/>
              </a:rPr>
              <a:t>a). DO content of the sample tested immediately is known as initial DO, D1.</a:t>
            </a:r>
          </a:p>
          <a:p>
            <a:r>
              <a:rPr lang="en-US" sz="2000" dirty="0" smtClean="0">
                <a:latin typeface="Times New Roman" pitchFamily="18" charset="0"/>
                <a:cs typeface="Times New Roman" pitchFamily="18" charset="0"/>
              </a:rPr>
              <a:t>b). DO content of the sample tested after5 days is known as final DO, D2</a:t>
            </a:r>
          </a:p>
          <a:p>
            <a:r>
              <a:rPr lang="en-US" sz="2000" dirty="0" smtClean="0">
                <a:latin typeface="Times New Roman" pitchFamily="18" charset="0"/>
                <a:cs typeface="Times New Roman" pitchFamily="18" charset="0"/>
              </a:rPr>
              <a:t>The differences in oxygen levels between the initial DO and final DO in mg/L is the amount of BOD.</a:t>
            </a:r>
          </a:p>
          <a:p>
            <a:r>
              <a:rPr lang="en-US" sz="2000" dirty="0" smtClean="0">
                <a:latin typeface="Times New Roman" pitchFamily="18" charset="0"/>
                <a:cs typeface="Times New Roman" pitchFamily="18" charset="0"/>
              </a:rPr>
              <a:t>BOD5 = (D2-D1) x dilution factor</a:t>
            </a:r>
          </a:p>
          <a:p>
            <a:r>
              <a:rPr lang="en-US" sz="2000" dirty="0" smtClean="0">
                <a:latin typeface="Times New Roman" pitchFamily="18" charset="0"/>
                <a:cs typeface="Times New Roman" pitchFamily="18" charset="0"/>
              </a:rPr>
              <a:t>Dilution factor  = Volume of the sample/ volume of sample + Diluted water</a:t>
            </a:r>
          </a:p>
          <a:p>
            <a:r>
              <a:rPr lang="en-US" sz="2000" dirty="0" smtClean="0">
                <a:solidFill>
                  <a:srgbClr val="C00000"/>
                </a:solidFill>
                <a:latin typeface="Times New Roman" pitchFamily="18" charset="0"/>
                <a:cs typeface="Times New Roman" pitchFamily="18" charset="0"/>
              </a:rPr>
              <a:t>Why is BOD important?</a:t>
            </a:r>
          </a:p>
          <a:p>
            <a:r>
              <a:rPr lang="en-US" sz="2000" dirty="0" smtClean="0">
                <a:latin typeface="Times New Roman" pitchFamily="18" charset="0"/>
                <a:cs typeface="Times New Roman" pitchFamily="18" charset="0"/>
              </a:rPr>
              <a:t>Water samples having a BOD value greater than 10mg/L are considered to be highly polluted.</a:t>
            </a:r>
          </a:p>
          <a:p>
            <a:r>
              <a:rPr lang="en-US" sz="2000" dirty="0" smtClean="0">
                <a:latin typeface="Times New Roman" pitchFamily="18" charset="0"/>
                <a:cs typeface="Times New Roman" pitchFamily="18" charset="0"/>
              </a:rPr>
              <a:t>The higher the BOD, higher will be stress, suffocation to the microorganisms.</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5360" y="152401"/>
            <a:ext cx="2113279" cy="457200"/>
          </a:xfrm>
        </p:spPr>
        <p:txBody>
          <a:bodyPr/>
          <a:lstStyle/>
          <a:p>
            <a:r>
              <a:rPr lang="en-US" dirty="0" smtClean="0">
                <a:solidFill>
                  <a:srgbClr val="FF0000"/>
                </a:solidFill>
              </a:rPr>
              <a:t>ALKALINITY</a:t>
            </a:r>
            <a:endParaRPr lang="en-US" dirty="0">
              <a:solidFill>
                <a:srgbClr val="FF0000"/>
              </a:solidFill>
            </a:endParaRPr>
          </a:p>
        </p:txBody>
      </p:sp>
      <p:sp>
        <p:nvSpPr>
          <p:cNvPr id="3" name="Text Placeholder 2"/>
          <p:cNvSpPr>
            <a:spLocks noGrp="1"/>
          </p:cNvSpPr>
          <p:nvPr>
            <p:ph type="body" idx="1"/>
          </p:nvPr>
        </p:nvSpPr>
        <p:spPr>
          <a:xfrm>
            <a:off x="152400" y="609600"/>
            <a:ext cx="8991600" cy="7755969"/>
          </a:xfrm>
        </p:spPr>
        <p:txBody>
          <a:bodyPr/>
          <a:lstStyle/>
          <a:p>
            <a:r>
              <a:rPr lang="en-IN" dirty="0" smtClean="0">
                <a:solidFill>
                  <a:srgbClr val="FF0000"/>
                </a:solidFill>
              </a:rPr>
              <a:t>DEFINITION:</a:t>
            </a:r>
          </a:p>
          <a:p>
            <a:r>
              <a:rPr lang="en-IN" dirty="0" smtClean="0"/>
              <a:t>Alkalinity is the acid neutralising ability of water. </a:t>
            </a:r>
            <a:r>
              <a:rPr lang="en-IN" i="1" dirty="0" smtClean="0"/>
              <a:t>Depending on the anions that are responsible for the alkalinity of water, there are three types of alkalinity.</a:t>
            </a:r>
          </a:p>
          <a:p>
            <a:endParaRPr lang="en-IN" i="1" dirty="0" smtClean="0"/>
          </a:p>
          <a:p>
            <a:r>
              <a:rPr lang="en-IN" i="1" dirty="0" smtClean="0">
                <a:solidFill>
                  <a:srgbClr val="FF0000"/>
                </a:solidFill>
              </a:rPr>
              <a:t>TYPES OF ALKALINITY</a:t>
            </a:r>
            <a:r>
              <a:rPr lang="en-IN" i="1" dirty="0" smtClean="0"/>
              <a:t>:</a:t>
            </a:r>
          </a:p>
          <a:p>
            <a:endParaRPr lang="en-IN" i="1" dirty="0" smtClean="0"/>
          </a:p>
          <a:p>
            <a:pPr lvl="0"/>
            <a:r>
              <a:rPr lang="en-IN" dirty="0" smtClean="0"/>
              <a:t>Alkalinity – due to hydroxide ions</a:t>
            </a:r>
            <a:endParaRPr lang="en-US" b="1" i="1" dirty="0" smtClean="0"/>
          </a:p>
          <a:p>
            <a:pPr lvl="0"/>
            <a:r>
              <a:rPr lang="en-US" dirty="0" smtClean="0"/>
              <a:t>Carbonate alkalinity - due to carbonate ions</a:t>
            </a:r>
          </a:p>
          <a:p>
            <a:pPr lvl="0"/>
            <a:r>
              <a:rPr lang="en-US" dirty="0" smtClean="0"/>
              <a:t>Bicarbonate alkalinity - due to </a:t>
            </a:r>
            <a:r>
              <a:rPr lang="en-US" smtClean="0"/>
              <a:t>bicarbonate ions</a:t>
            </a:r>
          </a:p>
          <a:p>
            <a:pPr lvl="0"/>
            <a:endParaRPr lang="en-US" dirty="0" smtClean="0"/>
          </a:p>
          <a:p>
            <a:r>
              <a:rPr lang="en-IN" dirty="0" smtClean="0"/>
              <a:t>The alkalinity due to hydroxide and carbonate can be detected by Phenolphthalein indicator and so they are collectively called as Phenolphthalein Alkalinity, represented by P. The alkalinity due to hydroxide, carbonate and bicarbonate can be detected by Methyl orange indicator and so it is called as in Methyl orange Alkalinity, represented by M.</a:t>
            </a:r>
            <a:endParaRPr lang="en-US" dirty="0" smtClean="0"/>
          </a:p>
          <a:p>
            <a:pPr lvl="0"/>
            <a:endParaRPr lang="en-US" dirty="0" smtClean="0"/>
          </a:p>
          <a:p>
            <a:r>
              <a:rPr lang="en-IN" dirty="0" smtClean="0"/>
              <a:t> </a:t>
            </a:r>
            <a:endParaRPr lang="en-US" dirty="0" smtClean="0"/>
          </a:p>
          <a:p>
            <a:endParaRPr lang="en-US" dirty="0" smtClean="0"/>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02828" y="6273495"/>
            <a:ext cx="20574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Times New Roman"/>
                <a:cs typeface="Times New Roman"/>
              </a:rPr>
              <a:t>10</a:t>
            </a:r>
            <a:endParaRPr sz="1400">
              <a:latin typeface="Times New Roman"/>
              <a:cs typeface="Times New Roman"/>
            </a:endParaRPr>
          </a:p>
        </p:txBody>
      </p:sp>
      <p:sp>
        <p:nvSpPr>
          <p:cNvPr id="3" name="object 3"/>
          <p:cNvSpPr txBox="1">
            <a:spLocks noGrp="1"/>
          </p:cNvSpPr>
          <p:nvPr>
            <p:ph type="title"/>
          </p:nvPr>
        </p:nvSpPr>
        <p:spPr>
          <a:xfrm>
            <a:off x="1607566" y="227203"/>
            <a:ext cx="6104890" cy="391160"/>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006600"/>
                </a:solidFill>
                <a:latin typeface="Times New Roman"/>
                <a:cs typeface="Times New Roman"/>
              </a:rPr>
              <a:t>Draw </a:t>
            </a:r>
            <a:r>
              <a:rPr b="1" dirty="0">
                <a:solidFill>
                  <a:srgbClr val="006600"/>
                </a:solidFill>
                <a:latin typeface="Times New Roman"/>
                <a:cs typeface="Times New Roman"/>
              </a:rPr>
              <a:t>backs (or) </a:t>
            </a:r>
            <a:r>
              <a:rPr b="1" spc="-5" dirty="0">
                <a:solidFill>
                  <a:srgbClr val="006600"/>
                </a:solidFill>
                <a:latin typeface="Times New Roman"/>
                <a:cs typeface="Times New Roman"/>
              </a:rPr>
              <a:t>Disadvantages </a:t>
            </a:r>
            <a:r>
              <a:rPr b="1" dirty="0">
                <a:solidFill>
                  <a:srgbClr val="006600"/>
                </a:solidFill>
                <a:latin typeface="Times New Roman"/>
                <a:cs typeface="Times New Roman"/>
              </a:rPr>
              <a:t>of Hard</a:t>
            </a:r>
            <a:r>
              <a:rPr b="1" spc="-25" dirty="0">
                <a:solidFill>
                  <a:srgbClr val="006600"/>
                </a:solidFill>
                <a:latin typeface="Times New Roman"/>
                <a:cs typeface="Times New Roman"/>
              </a:rPr>
              <a:t> </a:t>
            </a:r>
            <a:r>
              <a:rPr b="1" dirty="0">
                <a:solidFill>
                  <a:srgbClr val="006600"/>
                </a:solidFill>
                <a:latin typeface="Times New Roman"/>
                <a:cs typeface="Times New Roman"/>
              </a:rPr>
              <a:t>Water</a:t>
            </a:r>
          </a:p>
        </p:txBody>
      </p:sp>
      <p:sp>
        <p:nvSpPr>
          <p:cNvPr id="4" name="object 4"/>
          <p:cNvSpPr txBox="1"/>
          <p:nvPr/>
        </p:nvSpPr>
        <p:spPr>
          <a:xfrm>
            <a:off x="900683" y="908303"/>
            <a:ext cx="2087880" cy="376555"/>
          </a:xfrm>
          <a:prstGeom prst="rect">
            <a:avLst/>
          </a:prstGeom>
          <a:solidFill>
            <a:srgbClr val="FFCCCC"/>
          </a:solidFill>
          <a:ln w="9144">
            <a:solidFill>
              <a:srgbClr val="FFFF00"/>
            </a:solidFill>
          </a:ln>
        </p:spPr>
        <p:txBody>
          <a:bodyPr vert="horz" wrap="square" lIns="0" tIns="38100" rIns="0" bIns="0" rtlCol="0">
            <a:spAutoFit/>
          </a:bodyPr>
          <a:lstStyle/>
          <a:p>
            <a:pPr marL="399415">
              <a:lnSpc>
                <a:spcPct val="100000"/>
              </a:lnSpc>
              <a:spcBef>
                <a:spcPts val="300"/>
              </a:spcBef>
            </a:pPr>
            <a:r>
              <a:rPr sz="1800" spc="-5" dirty="0">
                <a:solidFill>
                  <a:srgbClr val="FF0000"/>
                </a:solidFill>
                <a:latin typeface="Times New Roman"/>
                <a:cs typeface="Times New Roman"/>
              </a:rPr>
              <a:t>Domestic</a:t>
            </a:r>
            <a:r>
              <a:rPr sz="1800" spc="-10" dirty="0">
                <a:solidFill>
                  <a:srgbClr val="FF0000"/>
                </a:solidFill>
                <a:latin typeface="Times New Roman"/>
                <a:cs typeface="Times New Roman"/>
              </a:rPr>
              <a:t> </a:t>
            </a:r>
            <a:r>
              <a:rPr sz="1800" spc="-5" dirty="0">
                <a:solidFill>
                  <a:srgbClr val="FF0000"/>
                </a:solidFill>
                <a:latin typeface="Times New Roman"/>
                <a:cs typeface="Times New Roman"/>
              </a:rPr>
              <a:t>Use</a:t>
            </a:r>
            <a:endParaRPr sz="1800">
              <a:latin typeface="Times New Roman"/>
              <a:cs typeface="Times New Roman"/>
            </a:endParaRPr>
          </a:p>
        </p:txBody>
      </p:sp>
      <p:sp>
        <p:nvSpPr>
          <p:cNvPr id="5" name="object 5"/>
          <p:cNvSpPr txBox="1"/>
          <p:nvPr/>
        </p:nvSpPr>
        <p:spPr>
          <a:xfrm>
            <a:off x="5495544" y="908303"/>
            <a:ext cx="2232660" cy="376555"/>
          </a:xfrm>
          <a:prstGeom prst="rect">
            <a:avLst/>
          </a:prstGeom>
          <a:solidFill>
            <a:srgbClr val="CCCCFF"/>
          </a:solidFill>
          <a:ln w="9144">
            <a:solidFill>
              <a:srgbClr val="FFFF00"/>
            </a:solidFill>
          </a:ln>
        </p:spPr>
        <p:txBody>
          <a:bodyPr vert="horz" wrap="square" lIns="0" tIns="38100" rIns="0" bIns="0" rtlCol="0">
            <a:spAutoFit/>
          </a:bodyPr>
          <a:lstStyle/>
          <a:p>
            <a:pPr marL="473075">
              <a:lnSpc>
                <a:spcPct val="100000"/>
              </a:lnSpc>
              <a:spcBef>
                <a:spcPts val="300"/>
              </a:spcBef>
            </a:pPr>
            <a:r>
              <a:rPr sz="1800" dirty="0">
                <a:solidFill>
                  <a:srgbClr val="000099"/>
                </a:solidFill>
                <a:latin typeface="Times New Roman"/>
                <a:cs typeface="Times New Roman"/>
              </a:rPr>
              <a:t>Industrial</a:t>
            </a:r>
            <a:r>
              <a:rPr sz="1800" spc="-25" dirty="0">
                <a:solidFill>
                  <a:srgbClr val="000099"/>
                </a:solidFill>
                <a:latin typeface="Times New Roman"/>
                <a:cs typeface="Times New Roman"/>
              </a:rPr>
              <a:t> </a:t>
            </a:r>
            <a:r>
              <a:rPr sz="1800" spc="-5" dirty="0">
                <a:solidFill>
                  <a:srgbClr val="000099"/>
                </a:solidFill>
                <a:latin typeface="Times New Roman"/>
                <a:cs typeface="Times New Roman"/>
              </a:rPr>
              <a:t>Use</a:t>
            </a:r>
            <a:endParaRPr sz="1800">
              <a:latin typeface="Times New Roman"/>
              <a:cs typeface="Times New Roman"/>
            </a:endParaRPr>
          </a:p>
        </p:txBody>
      </p:sp>
      <p:sp>
        <p:nvSpPr>
          <p:cNvPr id="6" name="object 6"/>
          <p:cNvSpPr txBox="1"/>
          <p:nvPr/>
        </p:nvSpPr>
        <p:spPr>
          <a:xfrm>
            <a:off x="1193393" y="1281176"/>
            <a:ext cx="1079500" cy="1712595"/>
          </a:xfrm>
          <a:prstGeom prst="rect">
            <a:avLst/>
          </a:prstGeom>
        </p:spPr>
        <p:txBody>
          <a:bodyPr vert="horz" wrap="square" lIns="0" tIns="170180" rIns="0" bIns="0" rtlCol="0">
            <a:spAutoFit/>
          </a:bodyPr>
          <a:lstStyle/>
          <a:p>
            <a:pPr marL="257175" indent="-224790">
              <a:lnSpc>
                <a:spcPct val="100000"/>
              </a:lnSpc>
              <a:spcBef>
                <a:spcPts val="1340"/>
              </a:spcBef>
              <a:buAutoNum type="arabicPeriod"/>
              <a:tabLst>
                <a:tab pos="257810" algn="l"/>
              </a:tabLst>
            </a:pPr>
            <a:r>
              <a:rPr sz="1800" spc="-25" dirty="0">
                <a:latin typeface="Times New Roman"/>
                <a:cs typeface="Times New Roman"/>
              </a:rPr>
              <a:t>Washing</a:t>
            </a:r>
            <a:endParaRPr sz="1800">
              <a:latin typeface="Times New Roman"/>
              <a:cs typeface="Times New Roman"/>
            </a:endParaRPr>
          </a:p>
          <a:p>
            <a:pPr marL="240665" indent="-228600">
              <a:lnSpc>
                <a:spcPct val="100000"/>
              </a:lnSpc>
              <a:spcBef>
                <a:spcPts val="1240"/>
              </a:spcBef>
              <a:buAutoNum type="arabicPeriod"/>
              <a:tabLst>
                <a:tab pos="241300" algn="l"/>
              </a:tabLst>
            </a:pPr>
            <a:r>
              <a:rPr sz="1800" dirty="0">
                <a:latin typeface="Times New Roman"/>
                <a:cs typeface="Times New Roman"/>
              </a:rPr>
              <a:t>Bathing</a:t>
            </a:r>
            <a:endParaRPr sz="1800">
              <a:latin typeface="Times New Roman"/>
              <a:cs typeface="Times New Roman"/>
            </a:endParaRPr>
          </a:p>
          <a:p>
            <a:pPr marL="240665" indent="-228600">
              <a:lnSpc>
                <a:spcPct val="100000"/>
              </a:lnSpc>
              <a:spcBef>
                <a:spcPts val="1080"/>
              </a:spcBef>
              <a:buAutoNum type="arabicPeriod"/>
              <a:tabLst>
                <a:tab pos="241300" algn="l"/>
              </a:tabLst>
            </a:pPr>
            <a:r>
              <a:rPr sz="1800" dirty="0">
                <a:latin typeface="Times New Roman"/>
                <a:cs typeface="Times New Roman"/>
              </a:rPr>
              <a:t>Drinking</a:t>
            </a:r>
            <a:endParaRPr sz="1800">
              <a:latin typeface="Times New Roman"/>
              <a:cs typeface="Times New Roman"/>
            </a:endParaRPr>
          </a:p>
          <a:p>
            <a:pPr marL="240665" indent="-228600">
              <a:lnSpc>
                <a:spcPct val="100000"/>
              </a:lnSpc>
              <a:spcBef>
                <a:spcPts val="1080"/>
              </a:spcBef>
              <a:buAutoNum type="arabicPeriod"/>
              <a:tabLst>
                <a:tab pos="241300" algn="l"/>
              </a:tabLst>
            </a:pPr>
            <a:r>
              <a:rPr sz="1800" dirty="0">
                <a:latin typeface="Times New Roman"/>
                <a:cs typeface="Times New Roman"/>
              </a:rPr>
              <a:t>Cooking</a:t>
            </a:r>
            <a:endParaRPr sz="1800">
              <a:latin typeface="Times New Roman"/>
              <a:cs typeface="Times New Roman"/>
            </a:endParaRPr>
          </a:p>
        </p:txBody>
      </p:sp>
      <p:sp>
        <p:nvSpPr>
          <p:cNvPr id="7" name="object 7"/>
          <p:cNvSpPr txBox="1"/>
          <p:nvPr/>
        </p:nvSpPr>
        <p:spPr>
          <a:xfrm>
            <a:off x="5299328" y="1301623"/>
            <a:ext cx="3162935" cy="2494915"/>
          </a:xfrm>
          <a:prstGeom prst="rect">
            <a:avLst/>
          </a:prstGeom>
        </p:spPr>
        <p:txBody>
          <a:bodyPr vert="horz" wrap="square" lIns="0" tIns="149860" rIns="0" bIns="0" rtlCol="0">
            <a:spAutoFit/>
          </a:bodyPr>
          <a:lstStyle/>
          <a:p>
            <a:pPr marL="355600" indent="-342900">
              <a:lnSpc>
                <a:spcPct val="100000"/>
              </a:lnSpc>
              <a:spcBef>
                <a:spcPts val="1180"/>
              </a:spcBef>
              <a:buAutoNum type="arabicPeriod"/>
              <a:tabLst>
                <a:tab pos="354965" algn="l"/>
                <a:tab pos="355600" algn="l"/>
              </a:tabLst>
            </a:pPr>
            <a:r>
              <a:rPr sz="1800" spc="-20" dirty="0">
                <a:latin typeface="Times New Roman"/>
                <a:cs typeface="Times New Roman"/>
              </a:rPr>
              <a:t>Textile</a:t>
            </a:r>
            <a:r>
              <a:rPr sz="1800" spc="-30" dirty="0">
                <a:latin typeface="Times New Roman"/>
                <a:cs typeface="Times New Roman"/>
              </a:rPr>
              <a:t> </a:t>
            </a:r>
            <a:r>
              <a:rPr sz="1800" dirty="0">
                <a:latin typeface="Times New Roman"/>
                <a:cs typeface="Times New Roman"/>
              </a:rPr>
              <a:t>Industry</a:t>
            </a:r>
            <a:endParaRPr sz="1800">
              <a:latin typeface="Times New Roman"/>
              <a:cs typeface="Times New Roman"/>
            </a:endParaRPr>
          </a:p>
          <a:p>
            <a:pPr marL="355600" indent="-342900">
              <a:lnSpc>
                <a:spcPct val="100000"/>
              </a:lnSpc>
              <a:spcBef>
                <a:spcPts val="1080"/>
              </a:spcBef>
              <a:buAutoNum type="arabicPeriod"/>
              <a:tabLst>
                <a:tab pos="354965" algn="l"/>
                <a:tab pos="355600" algn="l"/>
              </a:tabLst>
            </a:pPr>
            <a:r>
              <a:rPr sz="1800" dirty="0">
                <a:latin typeface="Times New Roman"/>
                <a:cs typeface="Times New Roman"/>
              </a:rPr>
              <a:t>Sugar</a:t>
            </a:r>
            <a:r>
              <a:rPr sz="1800" spc="-15" dirty="0">
                <a:latin typeface="Times New Roman"/>
                <a:cs typeface="Times New Roman"/>
              </a:rPr>
              <a:t> </a:t>
            </a:r>
            <a:r>
              <a:rPr sz="1800" dirty="0">
                <a:latin typeface="Times New Roman"/>
                <a:cs typeface="Times New Roman"/>
              </a:rPr>
              <a:t>Industry</a:t>
            </a:r>
            <a:endParaRPr sz="1800">
              <a:latin typeface="Times New Roman"/>
              <a:cs typeface="Times New Roman"/>
            </a:endParaRPr>
          </a:p>
          <a:p>
            <a:pPr marL="355600" indent="-342900">
              <a:lnSpc>
                <a:spcPct val="100000"/>
              </a:lnSpc>
              <a:spcBef>
                <a:spcPts val="1080"/>
              </a:spcBef>
              <a:buAutoNum type="arabicPeriod"/>
              <a:tabLst>
                <a:tab pos="354965" algn="l"/>
                <a:tab pos="355600" algn="l"/>
              </a:tabLst>
            </a:pPr>
            <a:r>
              <a:rPr sz="1800" dirty="0">
                <a:latin typeface="Times New Roman"/>
                <a:cs typeface="Times New Roman"/>
              </a:rPr>
              <a:t>Dyeing</a:t>
            </a:r>
            <a:r>
              <a:rPr sz="1800" spc="-40" dirty="0">
                <a:latin typeface="Times New Roman"/>
                <a:cs typeface="Times New Roman"/>
              </a:rPr>
              <a:t> </a:t>
            </a:r>
            <a:r>
              <a:rPr sz="1800" dirty="0">
                <a:latin typeface="Times New Roman"/>
                <a:cs typeface="Times New Roman"/>
              </a:rPr>
              <a:t>Industry</a:t>
            </a:r>
            <a:endParaRPr sz="1800">
              <a:latin typeface="Times New Roman"/>
              <a:cs typeface="Times New Roman"/>
            </a:endParaRPr>
          </a:p>
          <a:p>
            <a:pPr marL="355600" indent="-342900">
              <a:lnSpc>
                <a:spcPct val="100000"/>
              </a:lnSpc>
              <a:spcBef>
                <a:spcPts val="1080"/>
              </a:spcBef>
              <a:buAutoNum type="arabicPeriod"/>
              <a:tabLst>
                <a:tab pos="354965" algn="l"/>
                <a:tab pos="355600" algn="l"/>
              </a:tabLst>
            </a:pPr>
            <a:r>
              <a:rPr sz="1800" spc="-5" dirty="0">
                <a:latin typeface="Times New Roman"/>
                <a:cs typeface="Times New Roman"/>
              </a:rPr>
              <a:t>Paper</a:t>
            </a:r>
            <a:r>
              <a:rPr sz="1800" spc="-15" dirty="0">
                <a:latin typeface="Times New Roman"/>
                <a:cs typeface="Times New Roman"/>
              </a:rPr>
              <a:t> </a:t>
            </a:r>
            <a:r>
              <a:rPr sz="1800" spc="-5" dirty="0">
                <a:latin typeface="Times New Roman"/>
                <a:cs typeface="Times New Roman"/>
              </a:rPr>
              <a:t>Industry</a:t>
            </a:r>
            <a:endParaRPr sz="1800">
              <a:latin typeface="Times New Roman"/>
              <a:cs typeface="Times New Roman"/>
            </a:endParaRPr>
          </a:p>
          <a:p>
            <a:pPr marL="355600" indent="-342900">
              <a:lnSpc>
                <a:spcPct val="100000"/>
              </a:lnSpc>
              <a:spcBef>
                <a:spcPts val="1080"/>
              </a:spcBef>
              <a:buAutoNum type="arabicPeriod"/>
              <a:tabLst>
                <a:tab pos="354965" algn="l"/>
                <a:tab pos="355600" algn="l"/>
              </a:tabLst>
            </a:pPr>
            <a:r>
              <a:rPr sz="1800" dirty="0">
                <a:latin typeface="Times New Roman"/>
                <a:cs typeface="Times New Roman"/>
              </a:rPr>
              <a:t>Pharmaceutical</a:t>
            </a:r>
            <a:r>
              <a:rPr sz="1800" spc="-35" dirty="0">
                <a:latin typeface="Times New Roman"/>
                <a:cs typeface="Times New Roman"/>
              </a:rPr>
              <a:t> </a:t>
            </a:r>
            <a:r>
              <a:rPr sz="1800" dirty="0">
                <a:latin typeface="Times New Roman"/>
                <a:cs typeface="Times New Roman"/>
              </a:rPr>
              <a:t>Industry</a:t>
            </a:r>
            <a:endParaRPr sz="1800">
              <a:latin typeface="Times New Roman"/>
              <a:cs typeface="Times New Roman"/>
            </a:endParaRPr>
          </a:p>
          <a:p>
            <a:pPr marL="355600" indent="-342900">
              <a:lnSpc>
                <a:spcPct val="100000"/>
              </a:lnSpc>
              <a:spcBef>
                <a:spcPts val="1080"/>
              </a:spcBef>
              <a:buAutoNum type="arabicPeriod"/>
              <a:tabLst>
                <a:tab pos="354965" algn="l"/>
                <a:tab pos="355600" algn="l"/>
              </a:tabLst>
            </a:pPr>
            <a:r>
              <a:rPr sz="1800" dirty="0">
                <a:solidFill>
                  <a:srgbClr val="FF0000"/>
                </a:solidFill>
                <a:latin typeface="Times New Roman"/>
                <a:cs typeface="Times New Roman"/>
              </a:rPr>
              <a:t>In </a:t>
            </a:r>
            <a:r>
              <a:rPr sz="1800" spc="-5" dirty="0">
                <a:solidFill>
                  <a:srgbClr val="FF0000"/>
                </a:solidFill>
                <a:latin typeface="Times New Roman"/>
                <a:cs typeface="Times New Roman"/>
              </a:rPr>
              <a:t>Steam </a:t>
            </a:r>
            <a:r>
              <a:rPr sz="1800" dirty="0">
                <a:solidFill>
                  <a:srgbClr val="FF0000"/>
                </a:solidFill>
                <a:latin typeface="Times New Roman"/>
                <a:cs typeface="Times New Roman"/>
              </a:rPr>
              <a:t>generation in</a:t>
            </a:r>
            <a:r>
              <a:rPr sz="1800" spc="-80" dirty="0">
                <a:solidFill>
                  <a:srgbClr val="FF0000"/>
                </a:solidFill>
                <a:latin typeface="Times New Roman"/>
                <a:cs typeface="Times New Roman"/>
              </a:rPr>
              <a:t> </a:t>
            </a:r>
            <a:r>
              <a:rPr sz="1800" dirty="0">
                <a:solidFill>
                  <a:srgbClr val="FF0000"/>
                </a:solidFill>
                <a:latin typeface="Times New Roman"/>
                <a:cs typeface="Times New Roman"/>
              </a:rPr>
              <a:t>Boilers</a:t>
            </a:r>
            <a:endParaRPr sz="1800">
              <a:latin typeface="Times New Roman"/>
              <a:cs typeface="Times New Roman"/>
            </a:endParaRPr>
          </a:p>
        </p:txBody>
      </p:sp>
      <p:grpSp>
        <p:nvGrpSpPr>
          <p:cNvPr id="8" name="object 8"/>
          <p:cNvGrpSpPr/>
          <p:nvPr/>
        </p:nvGrpSpPr>
        <p:grpSpPr>
          <a:xfrm>
            <a:off x="1037653" y="3279457"/>
            <a:ext cx="3006090" cy="655955"/>
            <a:chOff x="1037653" y="3279457"/>
            <a:chExt cx="3006090" cy="655955"/>
          </a:xfrm>
        </p:grpSpPr>
        <p:sp>
          <p:nvSpPr>
            <p:cNvPr id="9" name="object 9"/>
            <p:cNvSpPr/>
            <p:nvPr/>
          </p:nvSpPr>
          <p:spPr>
            <a:xfrm>
              <a:off x="1042416" y="3284220"/>
              <a:ext cx="2996565" cy="646430"/>
            </a:xfrm>
            <a:custGeom>
              <a:avLst/>
              <a:gdLst/>
              <a:ahLst/>
              <a:cxnLst/>
              <a:rect l="l" t="t" r="r" b="b"/>
              <a:pathLst>
                <a:path w="2996565" h="646429">
                  <a:moveTo>
                    <a:pt x="2996184" y="0"/>
                  </a:moveTo>
                  <a:lnTo>
                    <a:pt x="0" y="0"/>
                  </a:lnTo>
                  <a:lnTo>
                    <a:pt x="0" y="646176"/>
                  </a:lnTo>
                  <a:lnTo>
                    <a:pt x="2996184" y="646176"/>
                  </a:lnTo>
                  <a:lnTo>
                    <a:pt x="2996184" y="0"/>
                  </a:lnTo>
                  <a:close/>
                </a:path>
              </a:pathLst>
            </a:custGeom>
            <a:solidFill>
              <a:srgbClr val="000000"/>
            </a:solidFill>
          </p:spPr>
          <p:txBody>
            <a:bodyPr wrap="square" lIns="0" tIns="0" rIns="0" bIns="0" rtlCol="0"/>
            <a:lstStyle/>
            <a:p>
              <a:endParaRPr/>
            </a:p>
          </p:txBody>
        </p:sp>
        <p:sp>
          <p:nvSpPr>
            <p:cNvPr id="10" name="object 10"/>
            <p:cNvSpPr/>
            <p:nvPr/>
          </p:nvSpPr>
          <p:spPr>
            <a:xfrm>
              <a:off x="1042416" y="3284220"/>
              <a:ext cx="2996565" cy="646430"/>
            </a:xfrm>
            <a:custGeom>
              <a:avLst/>
              <a:gdLst/>
              <a:ahLst/>
              <a:cxnLst/>
              <a:rect l="l" t="t" r="r" b="b"/>
              <a:pathLst>
                <a:path w="2996565" h="646429">
                  <a:moveTo>
                    <a:pt x="0" y="646176"/>
                  </a:moveTo>
                  <a:lnTo>
                    <a:pt x="2996184" y="646176"/>
                  </a:lnTo>
                  <a:lnTo>
                    <a:pt x="2996184" y="0"/>
                  </a:lnTo>
                  <a:lnTo>
                    <a:pt x="0" y="0"/>
                  </a:lnTo>
                  <a:lnTo>
                    <a:pt x="0" y="646176"/>
                  </a:lnTo>
                  <a:close/>
                </a:path>
              </a:pathLst>
            </a:custGeom>
            <a:ln w="9144">
              <a:solidFill>
                <a:srgbClr val="000000"/>
              </a:solidFill>
            </a:ln>
          </p:spPr>
          <p:txBody>
            <a:bodyPr wrap="square" lIns="0" tIns="0" rIns="0" bIns="0" rtlCol="0"/>
            <a:lstStyle/>
            <a:p>
              <a:endParaRPr/>
            </a:p>
          </p:txBody>
        </p:sp>
      </p:grpSp>
      <p:sp>
        <p:nvSpPr>
          <p:cNvPr id="11" name="object 11"/>
          <p:cNvSpPr txBox="1"/>
          <p:nvPr/>
        </p:nvSpPr>
        <p:spPr>
          <a:xfrm>
            <a:off x="1122070" y="3313252"/>
            <a:ext cx="2837815" cy="575310"/>
          </a:xfrm>
          <a:prstGeom prst="rect">
            <a:avLst/>
          </a:prstGeom>
        </p:spPr>
        <p:txBody>
          <a:bodyPr vert="horz" wrap="square" lIns="0" tIns="12700" rIns="0" bIns="0" rtlCol="0">
            <a:spAutoFit/>
          </a:bodyPr>
          <a:lstStyle/>
          <a:p>
            <a:pPr marL="12700" marR="5080" algn="just">
              <a:lnSpc>
                <a:spcPct val="100000"/>
              </a:lnSpc>
              <a:spcBef>
                <a:spcPts val="100"/>
              </a:spcBef>
            </a:pPr>
            <a:r>
              <a:rPr sz="1200" spc="-5" dirty="0">
                <a:solidFill>
                  <a:srgbClr val="66FF33"/>
                </a:solidFill>
                <a:latin typeface="Times New Roman"/>
                <a:cs typeface="Times New Roman"/>
              </a:rPr>
              <a:t>The </a:t>
            </a:r>
            <a:r>
              <a:rPr sz="1200" dirty="0">
                <a:solidFill>
                  <a:srgbClr val="66FF33"/>
                </a:solidFill>
                <a:latin typeface="Times New Roman"/>
                <a:cs typeface="Times New Roman"/>
              </a:rPr>
              <a:t>sticky precipitate </a:t>
            </a:r>
            <a:r>
              <a:rPr sz="1200" spc="-5" dirty="0">
                <a:solidFill>
                  <a:srgbClr val="66FF33"/>
                </a:solidFill>
                <a:latin typeface="Times New Roman"/>
                <a:cs typeface="Times New Roman"/>
              </a:rPr>
              <a:t>adheres on </a:t>
            </a:r>
            <a:r>
              <a:rPr sz="1200" dirty="0">
                <a:solidFill>
                  <a:srgbClr val="66FF33"/>
                </a:solidFill>
                <a:latin typeface="Times New Roman"/>
                <a:cs typeface="Times New Roman"/>
              </a:rPr>
              <a:t>the  fabric/cloth </a:t>
            </a:r>
            <a:r>
              <a:rPr sz="1200" spc="-5" dirty="0">
                <a:solidFill>
                  <a:srgbClr val="66FF33"/>
                </a:solidFill>
                <a:latin typeface="Times New Roman"/>
                <a:cs typeface="Times New Roman"/>
              </a:rPr>
              <a:t>and </a:t>
            </a:r>
            <a:r>
              <a:rPr sz="1200" dirty="0">
                <a:solidFill>
                  <a:srgbClr val="66FF33"/>
                </a:solidFill>
                <a:latin typeface="Times New Roman"/>
                <a:cs typeface="Times New Roman"/>
              </a:rPr>
              <a:t>gives spots </a:t>
            </a:r>
            <a:r>
              <a:rPr sz="1200" spc="-5" dirty="0">
                <a:solidFill>
                  <a:srgbClr val="66FF33"/>
                </a:solidFill>
                <a:latin typeface="Times New Roman"/>
                <a:cs typeface="Times New Roman"/>
              </a:rPr>
              <a:t>and </a:t>
            </a:r>
            <a:r>
              <a:rPr sz="1200" dirty="0">
                <a:solidFill>
                  <a:srgbClr val="66FF33"/>
                </a:solidFill>
                <a:latin typeface="Times New Roman"/>
                <a:cs typeface="Times New Roman"/>
              </a:rPr>
              <a:t>streaks. </a:t>
            </a:r>
            <a:r>
              <a:rPr sz="1200" spc="-5" dirty="0">
                <a:solidFill>
                  <a:srgbClr val="66FF33"/>
                </a:solidFill>
                <a:latin typeface="Times New Roman"/>
                <a:cs typeface="Times New Roman"/>
              </a:rPr>
              <a:t>Fe  salts </a:t>
            </a:r>
            <a:r>
              <a:rPr sz="1200" dirty="0">
                <a:solidFill>
                  <a:srgbClr val="66FF33"/>
                </a:solidFill>
                <a:latin typeface="Times New Roman"/>
                <a:cs typeface="Times New Roman"/>
              </a:rPr>
              <a:t>stain the</a:t>
            </a:r>
            <a:r>
              <a:rPr sz="1200" spc="15" dirty="0">
                <a:solidFill>
                  <a:srgbClr val="66FF33"/>
                </a:solidFill>
                <a:latin typeface="Times New Roman"/>
                <a:cs typeface="Times New Roman"/>
              </a:rPr>
              <a:t> </a:t>
            </a:r>
            <a:r>
              <a:rPr sz="1200" spc="-5" dirty="0">
                <a:solidFill>
                  <a:srgbClr val="66FF33"/>
                </a:solidFill>
                <a:latin typeface="Times New Roman"/>
                <a:cs typeface="Times New Roman"/>
              </a:rPr>
              <a:t>cloths.</a:t>
            </a:r>
            <a:endParaRPr sz="1200">
              <a:latin typeface="Times New Roman"/>
              <a:cs typeface="Times New Roman"/>
            </a:endParaRPr>
          </a:p>
        </p:txBody>
      </p:sp>
      <p:grpSp>
        <p:nvGrpSpPr>
          <p:cNvPr id="12" name="object 12"/>
          <p:cNvGrpSpPr/>
          <p:nvPr/>
        </p:nvGrpSpPr>
        <p:grpSpPr>
          <a:xfrm>
            <a:off x="461581" y="1551241"/>
            <a:ext cx="3582035" cy="3208655"/>
            <a:chOff x="461581" y="1551241"/>
            <a:chExt cx="3582035" cy="3208655"/>
          </a:xfrm>
        </p:grpSpPr>
        <p:sp>
          <p:nvSpPr>
            <p:cNvPr id="13" name="object 13"/>
            <p:cNvSpPr/>
            <p:nvPr/>
          </p:nvSpPr>
          <p:spPr>
            <a:xfrm>
              <a:off x="466344" y="1556003"/>
              <a:ext cx="647700" cy="2952115"/>
            </a:xfrm>
            <a:custGeom>
              <a:avLst/>
              <a:gdLst/>
              <a:ahLst/>
              <a:cxnLst/>
              <a:rect l="l" t="t" r="r" b="b"/>
              <a:pathLst>
                <a:path w="647700" h="2952115">
                  <a:moveTo>
                    <a:pt x="647700" y="0"/>
                  </a:moveTo>
                  <a:lnTo>
                    <a:pt x="0" y="0"/>
                  </a:lnTo>
                  <a:lnTo>
                    <a:pt x="0" y="2232660"/>
                  </a:lnTo>
                  <a:lnTo>
                    <a:pt x="503237" y="2232660"/>
                  </a:lnTo>
                </a:path>
                <a:path w="647700" h="2952115">
                  <a:moveTo>
                    <a:pt x="647700" y="504444"/>
                  </a:moveTo>
                  <a:lnTo>
                    <a:pt x="144779" y="504444"/>
                  </a:lnTo>
                  <a:lnTo>
                    <a:pt x="144779" y="2951988"/>
                  </a:lnTo>
                  <a:lnTo>
                    <a:pt x="503326" y="2951988"/>
                  </a:lnTo>
                </a:path>
              </a:pathLst>
            </a:custGeom>
            <a:ln w="9144">
              <a:solidFill>
                <a:srgbClr val="000000"/>
              </a:solidFill>
            </a:ln>
          </p:spPr>
          <p:txBody>
            <a:bodyPr wrap="square" lIns="0" tIns="0" rIns="0" bIns="0" rtlCol="0"/>
            <a:lstStyle/>
            <a:p>
              <a:endParaRPr/>
            </a:p>
          </p:txBody>
        </p:sp>
        <p:sp>
          <p:nvSpPr>
            <p:cNvPr id="14" name="object 14"/>
            <p:cNvSpPr/>
            <p:nvPr/>
          </p:nvSpPr>
          <p:spPr>
            <a:xfrm>
              <a:off x="1109472" y="4293108"/>
              <a:ext cx="2929255" cy="462280"/>
            </a:xfrm>
            <a:custGeom>
              <a:avLst/>
              <a:gdLst/>
              <a:ahLst/>
              <a:cxnLst/>
              <a:rect l="l" t="t" r="r" b="b"/>
              <a:pathLst>
                <a:path w="2929254" h="462279">
                  <a:moveTo>
                    <a:pt x="2929128" y="0"/>
                  </a:moveTo>
                  <a:lnTo>
                    <a:pt x="0" y="0"/>
                  </a:lnTo>
                  <a:lnTo>
                    <a:pt x="0" y="461771"/>
                  </a:lnTo>
                  <a:lnTo>
                    <a:pt x="2929128" y="461771"/>
                  </a:lnTo>
                  <a:lnTo>
                    <a:pt x="2929128" y="0"/>
                  </a:lnTo>
                  <a:close/>
                </a:path>
              </a:pathLst>
            </a:custGeom>
            <a:solidFill>
              <a:srgbClr val="000000"/>
            </a:solidFill>
          </p:spPr>
          <p:txBody>
            <a:bodyPr wrap="square" lIns="0" tIns="0" rIns="0" bIns="0" rtlCol="0"/>
            <a:lstStyle/>
            <a:p>
              <a:endParaRPr/>
            </a:p>
          </p:txBody>
        </p:sp>
        <p:sp>
          <p:nvSpPr>
            <p:cNvPr id="15" name="object 15"/>
            <p:cNvSpPr/>
            <p:nvPr/>
          </p:nvSpPr>
          <p:spPr>
            <a:xfrm>
              <a:off x="1109472" y="4293108"/>
              <a:ext cx="2929255" cy="462280"/>
            </a:xfrm>
            <a:custGeom>
              <a:avLst/>
              <a:gdLst/>
              <a:ahLst/>
              <a:cxnLst/>
              <a:rect l="l" t="t" r="r" b="b"/>
              <a:pathLst>
                <a:path w="2929254" h="462279">
                  <a:moveTo>
                    <a:pt x="0" y="461771"/>
                  </a:moveTo>
                  <a:lnTo>
                    <a:pt x="2929128" y="461771"/>
                  </a:lnTo>
                  <a:lnTo>
                    <a:pt x="2929128" y="0"/>
                  </a:lnTo>
                  <a:lnTo>
                    <a:pt x="0" y="0"/>
                  </a:lnTo>
                  <a:lnTo>
                    <a:pt x="0" y="461771"/>
                  </a:lnTo>
                  <a:close/>
                </a:path>
              </a:pathLst>
            </a:custGeom>
            <a:ln w="9144">
              <a:solidFill>
                <a:srgbClr val="000000"/>
              </a:solidFill>
            </a:ln>
          </p:spPr>
          <p:txBody>
            <a:bodyPr wrap="square" lIns="0" tIns="0" rIns="0" bIns="0" rtlCol="0"/>
            <a:lstStyle/>
            <a:p>
              <a:endParaRPr/>
            </a:p>
          </p:txBody>
        </p:sp>
      </p:grpSp>
      <p:sp>
        <p:nvSpPr>
          <p:cNvPr id="16" name="object 16"/>
          <p:cNvSpPr txBox="1"/>
          <p:nvPr/>
        </p:nvSpPr>
        <p:spPr>
          <a:xfrm>
            <a:off x="1104900" y="4288535"/>
            <a:ext cx="2938780" cy="471170"/>
          </a:xfrm>
          <a:prstGeom prst="rect">
            <a:avLst/>
          </a:prstGeom>
        </p:spPr>
        <p:txBody>
          <a:bodyPr vert="horz" wrap="square" lIns="0" tIns="45720" rIns="0" bIns="0" rtlCol="0">
            <a:spAutoFit/>
          </a:bodyPr>
          <a:lstStyle/>
          <a:p>
            <a:pPr marL="95885">
              <a:lnSpc>
                <a:spcPct val="100000"/>
              </a:lnSpc>
              <a:spcBef>
                <a:spcPts val="360"/>
              </a:spcBef>
            </a:pPr>
            <a:r>
              <a:rPr sz="1200" spc="-5" dirty="0">
                <a:solidFill>
                  <a:srgbClr val="FF0000"/>
                </a:solidFill>
                <a:latin typeface="Times New Roman"/>
                <a:cs typeface="Times New Roman"/>
              </a:rPr>
              <a:t>Produces sticky scum </a:t>
            </a:r>
            <a:r>
              <a:rPr sz="1200" dirty="0">
                <a:solidFill>
                  <a:srgbClr val="FF0000"/>
                </a:solidFill>
                <a:latin typeface="Times New Roman"/>
                <a:cs typeface="Times New Roman"/>
              </a:rPr>
              <a:t>on the </a:t>
            </a:r>
            <a:r>
              <a:rPr sz="1200" spc="-5" dirty="0">
                <a:solidFill>
                  <a:srgbClr val="FF0000"/>
                </a:solidFill>
                <a:latin typeface="Times New Roman"/>
                <a:cs typeface="Times New Roman"/>
              </a:rPr>
              <a:t>bath </a:t>
            </a:r>
            <a:r>
              <a:rPr sz="1200" dirty="0">
                <a:solidFill>
                  <a:srgbClr val="FF0000"/>
                </a:solidFill>
                <a:latin typeface="Times New Roman"/>
                <a:cs typeface="Times New Roman"/>
              </a:rPr>
              <a:t>tub</a:t>
            </a:r>
            <a:r>
              <a:rPr sz="1200" spc="40" dirty="0">
                <a:solidFill>
                  <a:srgbClr val="FF0000"/>
                </a:solidFill>
                <a:latin typeface="Times New Roman"/>
                <a:cs typeface="Times New Roman"/>
              </a:rPr>
              <a:t> </a:t>
            </a:r>
            <a:r>
              <a:rPr sz="1200" spc="-5" dirty="0">
                <a:solidFill>
                  <a:srgbClr val="FF0000"/>
                </a:solidFill>
                <a:latin typeface="Times New Roman"/>
                <a:cs typeface="Times New Roman"/>
              </a:rPr>
              <a:t>and</a:t>
            </a:r>
            <a:endParaRPr sz="1200">
              <a:latin typeface="Times New Roman"/>
              <a:cs typeface="Times New Roman"/>
            </a:endParaRPr>
          </a:p>
          <a:p>
            <a:pPr marL="95885">
              <a:lnSpc>
                <a:spcPct val="100000"/>
              </a:lnSpc>
              <a:spcBef>
                <a:spcPts val="5"/>
              </a:spcBef>
            </a:pPr>
            <a:r>
              <a:rPr sz="1200" dirty="0">
                <a:solidFill>
                  <a:srgbClr val="FF0000"/>
                </a:solidFill>
                <a:latin typeface="Times New Roman"/>
                <a:cs typeface="Times New Roman"/>
              </a:rPr>
              <a:t>the body</a:t>
            </a:r>
            <a:endParaRPr sz="1200">
              <a:latin typeface="Times New Roman"/>
              <a:cs typeface="Times New Roman"/>
            </a:endParaRPr>
          </a:p>
        </p:txBody>
      </p:sp>
      <p:sp>
        <p:nvSpPr>
          <p:cNvPr id="17" name="object 17"/>
          <p:cNvSpPr/>
          <p:nvPr/>
        </p:nvSpPr>
        <p:spPr>
          <a:xfrm>
            <a:off x="771144" y="2421635"/>
            <a:ext cx="414655" cy="2879090"/>
          </a:xfrm>
          <a:custGeom>
            <a:avLst/>
            <a:gdLst/>
            <a:ahLst/>
            <a:cxnLst/>
            <a:rect l="l" t="t" r="r" b="b"/>
            <a:pathLst>
              <a:path w="414655" h="2879090">
                <a:moveTo>
                  <a:pt x="414528" y="0"/>
                </a:moveTo>
                <a:lnTo>
                  <a:pt x="0" y="0"/>
                </a:lnTo>
                <a:lnTo>
                  <a:pt x="0" y="2878836"/>
                </a:lnTo>
                <a:lnTo>
                  <a:pt x="295528" y="2878836"/>
                </a:lnTo>
              </a:path>
            </a:pathLst>
          </a:custGeom>
          <a:ln w="9144">
            <a:solidFill>
              <a:srgbClr val="000000"/>
            </a:solidFill>
          </a:ln>
        </p:spPr>
        <p:txBody>
          <a:bodyPr wrap="square" lIns="0" tIns="0" rIns="0" bIns="0" rtlCol="0"/>
          <a:lstStyle/>
          <a:p>
            <a:endParaRPr/>
          </a:p>
        </p:txBody>
      </p:sp>
      <p:sp>
        <p:nvSpPr>
          <p:cNvPr id="18" name="object 18"/>
          <p:cNvSpPr txBox="1"/>
          <p:nvPr/>
        </p:nvSpPr>
        <p:spPr>
          <a:xfrm>
            <a:off x="1092708" y="4936235"/>
            <a:ext cx="2950845" cy="658495"/>
          </a:xfrm>
          <a:prstGeom prst="rect">
            <a:avLst/>
          </a:prstGeom>
          <a:solidFill>
            <a:srgbClr val="000000"/>
          </a:solidFill>
        </p:spPr>
        <p:txBody>
          <a:bodyPr vert="horz" wrap="square" lIns="0" tIns="46355" rIns="0" bIns="0" rtlCol="0">
            <a:spAutoFit/>
          </a:bodyPr>
          <a:lstStyle/>
          <a:p>
            <a:pPr marL="95885" marR="387985">
              <a:lnSpc>
                <a:spcPct val="100000"/>
              </a:lnSpc>
              <a:spcBef>
                <a:spcPts val="365"/>
              </a:spcBef>
            </a:pPr>
            <a:r>
              <a:rPr sz="1200" spc="-5" dirty="0">
                <a:solidFill>
                  <a:srgbClr val="FF0000"/>
                </a:solidFill>
                <a:latin typeface="Times New Roman"/>
                <a:cs typeface="Times New Roman"/>
              </a:rPr>
              <a:t>Bad </a:t>
            </a:r>
            <a:r>
              <a:rPr sz="1200" dirty="0">
                <a:solidFill>
                  <a:srgbClr val="FF0000"/>
                </a:solidFill>
                <a:latin typeface="Times New Roman"/>
                <a:cs typeface="Times New Roman"/>
              </a:rPr>
              <a:t>to the </a:t>
            </a:r>
            <a:r>
              <a:rPr sz="1200" spc="-5" dirty="0">
                <a:solidFill>
                  <a:srgbClr val="FF0000"/>
                </a:solidFill>
                <a:latin typeface="Times New Roman"/>
                <a:cs typeface="Times New Roman"/>
              </a:rPr>
              <a:t>digestive </a:t>
            </a:r>
            <a:r>
              <a:rPr sz="1200" spc="-10" dirty="0">
                <a:solidFill>
                  <a:srgbClr val="FF0000"/>
                </a:solidFill>
                <a:latin typeface="Times New Roman"/>
                <a:cs typeface="Times New Roman"/>
              </a:rPr>
              <a:t>system </a:t>
            </a:r>
            <a:r>
              <a:rPr sz="1200" spc="-5" dirty="0">
                <a:solidFill>
                  <a:srgbClr val="FF0000"/>
                </a:solidFill>
                <a:latin typeface="Times New Roman"/>
                <a:cs typeface="Times New Roman"/>
              </a:rPr>
              <a:t>and calcium  oxalate formation is possible </a:t>
            </a:r>
            <a:r>
              <a:rPr sz="1200" dirty="0">
                <a:solidFill>
                  <a:srgbClr val="FF0000"/>
                </a:solidFill>
                <a:latin typeface="Times New Roman"/>
                <a:cs typeface="Times New Roman"/>
              </a:rPr>
              <a:t>in </a:t>
            </a:r>
            <a:r>
              <a:rPr sz="1200" spc="-5" dirty="0">
                <a:solidFill>
                  <a:srgbClr val="FF0000"/>
                </a:solidFill>
                <a:latin typeface="Times New Roman"/>
                <a:cs typeface="Times New Roman"/>
              </a:rPr>
              <a:t>urinary  tracts</a:t>
            </a:r>
            <a:endParaRPr sz="1200">
              <a:latin typeface="Times New Roman"/>
              <a:cs typeface="Times New Roman"/>
            </a:endParaRPr>
          </a:p>
        </p:txBody>
      </p:sp>
      <p:sp>
        <p:nvSpPr>
          <p:cNvPr id="19" name="object 19"/>
          <p:cNvSpPr txBox="1"/>
          <p:nvPr/>
        </p:nvSpPr>
        <p:spPr>
          <a:xfrm>
            <a:off x="1109472" y="5727191"/>
            <a:ext cx="3009900" cy="660400"/>
          </a:xfrm>
          <a:prstGeom prst="rect">
            <a:avLst/>
          </a:prstGeom>
          <a:solidFill>
            <a:srgbClr val="000000"/>
          </a:solidFill>
        </p:spPr>
        <p:txBody>
          <a:bodyPr vert="horz" wrap="square" lIns="0" tIns="47625" rIns="0" bIns="0" rtlCol="0">
            <a:spAutoFit/>
          </a:bodyPr>
          <a:lstStyle/>
          <a:p>
            <a:pPr marL="96520" marR="260350">
              <a:lnSpc>
                <a:spcPct val="100000"/>
              </a:lnSpc>
              <a:spcBef>
                <a:spcPts val="375"/>
              </a:spcBef>
            </a:pPr>
            <a:r>
              <a:rPr sz="1200" spc="-5" dirty="0">
                <a:solidFill>
                  <a:srgbClr val="00FF00"/>
                </a:solidFill>
                <a:latin typeface="Times New Roman"/>
                <a:cs typeface="Times New Roman"/>
              </a:rPr>
              <a:t>Requires </a:t>
            </a:r>
            <a:r>
              <a:rPr sz="1200" dirty="0">
                <a:solidFill>
                  <a:srgbClr val="00FF00"/>
                </a:solidFill>
                <a:latin typeface="Times New Roman"/>
                <a:cs typeface="Times New Roman"/>
              </a:rPr>
              <a:t>more </a:t>
            </a:r>
            <a:r>
              <a:rPr sz="1200" spc="-5" dirty="0">
                <a:solidFill>
                  <a:srgbClr val="00FF00"/>
                </a:solidFill>
                <a:latin typeface="Times New Roman"/>
                <a:cs typeface="Times New Roman"/>
              </a:rPr>
              <a:t>fuel and time. Certains food  </a:t>
            </a:r>
            <a:r>
              <a:rPr sz="1200" spc="-10" dirty="0">
                <a:solidFill>
                  <a:srgbClr val="00FF00"/>
                </a:solidFill>
                <a:latin typeface="Times New Roman"/>
                <a:cs typeface="Times New Roman"/>
              </a:rPr>
              <a:t>don’t </a:t>
            </a:r>
            <a:r>
              <a:rPr sz="1200" spc="-5" dirty="0">
                <a:solidFill>
                  <a:srgbClr val="00FF00"/>
                </a:solidFill>
                <a:latin typeface="Times New Roman"/>
                <a:cs typeface="Times New Roman"/>
              </a:rPr>
              <a:t>cook soft and also </a:t>
            </a:r>
            <a:r>
              <a:rPr sz="1200" dirty="0">
                <a:solidFill>
                  <a:srgbClr val="00FF00"/>
                </a:solidFill>
                <a:latin typeface="Times New Roman"/>
                <a:cs typeface="Times New Roman"/>
              </a:rPr>
              <a:t>gives </a:t>
            </a:r>
            <a:r>
              <a:rPr sz="1200" spc="-5" dirty="0">
                <a:solidFill>
                  <a:srgbClr val="00FF00"/>
                </a:solidFill>
                <a:latin typeface="Times New Roman"/>
                <a:cs typeface="Times New Roman"/>
              </a:rPr>
              <a:t>unpleasant  </a:t>
            </a:r>
            <a:r>
              <a:rPr sz="1200" dirty="0">
                <a:solidFill>
                  <a:srgbClr val="00FF00"/>
                </a:solidFill>
                <a:latin typeface="Times New Roman"/>
                <a:cs typeface="Times New Roman"/>
              </a:rPr>
              <a:t>taste</a:t>
            </a:r>
            <a:endParaRPr sz="1200">
              <a:latin typeface="Times New Roman"/>
              <a:cs typeface="Times New Roman"/>
            </a:endParaRPr>
          </a:p>
        </p:txBody>
      </p:sp>
      <p:grpSp>
        <p:nvGrpSpPr>
          <p:cNvPr id="20" name="object 20"/>
          <p:cNvGrpSpPr/>
          <p:nvPr/>
        </p:nvGrpSpPr>
        <p:grpSpPr>
          <a:xfrm>
            <a:off x="246888" y="2848355"/>
            <a:ext cx="871855" cy="3211195"/>
            <a:chOff x="246888" y="2848355"/>
            <a:chExt cx="871855" cy="3211195"/>
          </a:xfrm>
        </p:grpSpPr>
        <p:sp>
          <p:nvSpPr>
            <p:cNvPr id="21" name="object 21"/>
            <p:cNvSpPr/>
            <p:nvPr/>
          </p:nvSpPr>
          <p:spPr>
            <a:xfrm>
              <a:off x="251460" y="2852927"/>
              <a:ext cx="862965" cy="3168650"/>
            </a:xfrm>
            <a:custGeom>
              <a:avLst/>
              <a:gdLst/>
              <a:ahLst/>
              <a:cxnLst/>
              <a:rect l="l" t="t" r="r" b="b"/>
              <a:pathLst>
                <a:path w="862965" h="3168650">
                  <a:moveTo>
                    <a:pt x="862584" y="0"/>
                  </a:moveTo>
                  <a:lnTo>
                    <a:pt x="0" y="0"/>
                  </a:lnTo>
                  <a:lnTo>
                    <a:pt x="0" y="3168396"/>
                  </a:lnTo>
                  <a:lnTo>
                    <a:pt x="614959" y="3168396"/>
                  </a:lnTo>
                </a:path>
              </a:pathLst>
            </a:custGeom>
            <a:ln w="9144">
              <a:solidFill>
                <a:srgbClr val="000000"/>
              </a:solidFill>
            </a:ln>
          </p:spPr>
          <p:txBody>
            <a:bodyPr wrap="square" lIns="0" tIns="0" rIns="0" bIns="0" rtlCol="0"/>
            <a:lstStyle/>
            <a:p>
              <a:endParaRPr/>
            </a:p>
          </p:txBody>
        </p:sp>
        <p:sp>
          <p:nvSpPr>
            <p:cNvPr id="22" name="object 22"/>
            <p:cNvSpPr/>
            <p:nvPr/>
          </p:nvSpPr>
          <p:spPr>
            <a:xfrm>
              <a:off x="611124" y="5983223"/>
              <a:ext cx="431800" cy="76200"/>
            </a:xfrm>
            <a:custGeom>
              <a:avLst/>
              <a:gdLst/>
              <a:ahLst/>
              <a:cxnLst/>
              <a:rect l="l" t="t" r="r" b="b"/>
              <a:pathLst>
                <a:path w="431800" h="76200">
                  <a:moveTo>
                    <a:pt x="355092" y="0"/>
                  </a:moveTo>
                  <a:lnTo>
                    <a:pt x="355092" y="76199"/>
                  </a:lnTo>
                  <a:lnTo>
                    <a:pt x="418592" y="44450"/>
                  </a:lnTo>
                  <a:lnTo>
                    <a:pt x="367792" y="44450"/>
                  </a:lnTo>
                  <a:lnTo>
                    <a:pt x="367792" y="31750"/>
                  </a:lnTo>
                  <a:lnTo>
                    <a:pt x="418592" y="31750"/>
                  </a:lnTo>
                  <a:lnTo>
                    <a:pt x="355092" y="0"/>
                  </a:lnTo>
                  <a:close/>
                </a:path>
                <a:path w="431800" h="76200">
                  <a:moveTo>
                    <a:pt x="355092" y="31750"/>
                  </a:moveTo>
                  <a:lnTo>
                    <a:pt x="0" y="31750"/>
                  </a:lnTo>
                  <a:lnTo>
                    <a:pt x="0" y="44450"/>
                  </a:lnTo>
                  <a:lnTo>
                    <a:pt x="355092" y="44450"/>
                  </a:lnTo>
                  <a:lnTo>
                    <a:pt x="355092" y="31750"/>
                  </a:lnTo>
                  <a:close/>
                </a:path>
                <a:path w="431800" h="76200">
                  <a:moveTo>
                    <a:pt x="418592" y="31750"/>
                  </a:moveTo>
                  <a:lnTo>
                    <a:pt x="367792" y="31750"/>
                  </a:lnTo>
                  <a:lnTo>
                    <a:pt x="367792" y="44450"/>
                  </a:lnTo>
                  <a:lnTo>
                    <a:pt x="418592" y="44450"/>
                  </a:lnTo>
                  <a:lnTo>
                    <a:pt x="431292" y="38100"/>
                  </a:lnTo>
                  <a:lnTo>
                    <a:pt x="418592" y="31750"/>
                  </a:lnTo>
                  <a:close/>
                </a:path>
              </a:pathLst>
            </a:custGeom>
            <a:solidFill>
              <a:srgbClr val="000000"/>
            </a:solidFill>
          </p:spPr>
          <p:txBody>
            <a:bodyPr wrap="square" lIns="0" tIns="0" rIns="0" bIns="0" rtlCol="0"/>
            <a:lstStyle/>
            <a:p>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08923" y="6273495"/>
            <a:ext cx="193040" cy="239395"/>
          </a:xfrm>
          <a:prstGeom prst="rect">
            <a:avLst/>
          </a:prstGeom>
        </p:spPr>
        <p:txBody>
          <a:bodyPr vert="horz" wrap="square" lIns="0" tIns="12700" rIns="0" bIns="0" rtlCol="0">
            <a:spAutoFit/>
          </a:bodyPr>
          <a:lstStyle/>
          <a:p>
            <a:pPr marL="12700">
              <a:lnSpc>
                <a:spcPct val="100000"/>
              </a:lnSpc>
              <a:spcBef>
                <a:spcPts val="100"/>
              </a:spcBef>
            </a:pPr>
            <a:r>
              <a:rPr sz="1400" spc="-45" dirty="0">
                <a:latin typeface="Times New Roman"/>
                <a:cs typeface="Times New Roman"/>
              </a:rPr>
              <a:t>11</a:t>
            </a:r>
            <a:endParaRPr sz="1400">
              <a:latin typeface="Times New Roman"/>
              <a:cs typeface="Times New Roman"/>
            </a:endParaRPr>
          </a:p>
        </p:txBody>
      </p:sp>
      <p:sp>
        <p:nvSpPr>
          <p:cNvPr id="3" name="object 3"/>
          <p:cNvSpPr txBox="1">
            <a:spLocks noGrp="1"/>
          </p:cNvSpPr>
          <p:nvPr>
            <p:ph type="title"/>
          </p:nvPr>
        </p:nvSpPr>
        <p:spPr>
          <a:xfrm>
            <a:off x="1953767" y="274320"/>
            <a:ext cx="5210810" cy="562610"/>
          </a:xfrm>
          <a:prstGeom prst="rect">
            <a:avLst/>
          </a:prstGeom>
          <a:solidFill>
            <a:srgbClr val="00CCFF"/>
          </a:solidFill>
          <a:ln w="9144">
            <a:solidFill>
              <a:srgbClr val="FFFF00"/>
            </a:solidFill>
          </a:ln>
        </p:spPr>
        <p:txBody>
          <a:bodyPr vert="horz" wrap="square" lIns="0" tIns="87630" rIns="0" bIns="0" rtlCol="0">
            <a:spAutoFit/>
          </a:bodyPr>
          <a:lstStyle/>
          <a:p>
            <a:pPr marL="357505">
              <a:lnSpc>
                <a:spcPct val="100000"/>
              </a:lnSpc>
              <a:spcBef>
                <a:spcPts val="690"/>
              </a:spcBef>
            </a:pPr>
            <a:r>
              <a:rPr b="1" dirty="0">
                <a:solidFill>
                  <a:srgbClr val="000099"/>
                </a:solidFill>
                <a:latin typeface="Times New Roman"/>
                <a:cs typeface="Times New Roman"/>
              </a:rPr>
              <a:t>Boiler troubles </a:t>
            </a:r>
            <a:r>
              <a:rPr b="1" spc="-5" dirty="0">
                <a:solidFill>
                  <a:srgbClr val="000099"/>
                </a:solidFill>
                <a:latin typeface="Times New Roman"/>
                <a:cs typeface="Times New Roman"/>
              </a:rPr>
              <a:t>due </a:t>
            </a:r>
            <a:r>
              <a:rPr b="1" dirty="0">
                <a:solidFill>
                  <a:srgbClr val="000099"/>
                </a:solidFill>
                <a:latin typeface="Times New Roman"/>
                <a:cs typeface="Times New Roman"/>
              </a:rPr>
              <a:t>to Hard</a:t>
            </a:r>
            <a:r>
              <a:rPr b="1" spc="-80" dirty="0">
                <a:solidFill>
                  <a:srgbClr val="000099"/>
                </a:solidFill>
                <a:latin typeface="Times New Roman"/>
                <a:cs typeface="Times New Roman"/>
              </a:rPr>
              <a:t> </a:t>
            </a:r>
            <a:r>
              <a:rPr b="1" dirty="0">
                <a:solidFill>
                  <a:srgbClr val="000099"/>
                </a:solidFill>
                <a:latin typeface="Times New Roman"/>
                <a:cs typeface="Times New Roman"/>
              </a:rPr>
              <a:t>Water</a:t>
            </a:r>
          </a:p>
        </p:txBody>
      </p:sp>
      <p:sp>
        <p:nvSpPr>
          <p:cNvPr id="4" name="object 4"/>
          <p:cNvSpPr txBox="1"/>
          <p:nvPr/>
        </p:nvSpPr>
        <p:spPr>
          <a:xfrm>
            <a:off x="667512" y="1196339"/>
            <a:ext cx="2520950" cy="376555"/>
          </a:xfrm>
          <a:prstGeom prst="rect">
            <a:avLst/>
          </a:prstGeom>
          <a:ln w="9144">
            <a:solidFill>
              <a:srgbClr val="FFFF00"/>
            </a:solidFill>
          </a:ln>
        </p:spPr>
        <p:txBody>
          <a:bodyPr vert="horz" wrap="square" lIns="0" tIns="38735" rIns="0" bIns="0" rtlCol="0">
            <a:spAutoFit/>
          </a:bodyPr>
          <a:lstStyle/>
          <a:p>
            <a:pPr marL="90805">
              <a:lnSpc>
                <a:spcPct val="100000"/>
              </a:lnSpc>
              <a:spcBef>
                <a:spcPts val="305"/>
              </a:spcBef>
            </a:pPr>
            <a:r>
              <a:rPr sz="1800" dirty="0">
                <a:solidFill>
                  <a:srgbClr val="FF6699"/>
                </a:solidFill>
                <a:latin typeface="Times New Roman"/>
                <a:cs typeface="Times New Roman"/>
              </a:rPr>
              <a:t>1. Scale and</a:t>
            </a:r>
            <a:r>
              <a:rPr sz="1800" spc="-40" dirty="0">
                <a:solidFill>
                  <a:srgbClr val="FF6699"/>
                </a:solidFill>
                <a:latin typeface="Times New Roman"/>
                <a:cs typeface="Times New Roman"/>
              </a:rPr>
              <a:t> </a:t>
            </a:r>
            <a:r>
              <a:rPr sz="1800" dirty="0">
                <a:solidFill>
                  <a:srgbClr val="FF6699"/>
                </a:solidFill>
                <a:latin typeface="Times New Roman"/>
                <a:cs typeface="Times New Roman"/>
              </a:rPr>
              <a:t>Sludge</a:t>
            </a:r>
            <a:endParaRPr sz="1800">
              <a:latin typeface="Times New Roman"/>
              <a:cs typeface="Times New Roman"/>
            </a:endParaRPr>
          </a:p>
        </p:txBody>
      </p:sp>
      <p:sp>
        <p:nvSpPr>
          <p:cNvPr id="5" name="object 5"/>
          <p:cNvSpPr txBox="1"/>
          <p:nvPr/>
        </p:nvSpPr>
        <p:spPr>
          <a:xfrm>
            <a:off x="667512" y="1693164"/>
            <a:ext cx="3023870" cy="376555"/>
          </a:xfrm>
          <a:prstGeom prst="rect">
            <a:avLst/>
          </a:prstGeom>
          <a:ln w="9144">
            <a:solidFill>
              <a:srgbClr val="FFFF00"/>
            </a:solidFill>
          </a:ln>
        </p:spPr>
        <p:txBody>
          <a:bodyPr vert="horz" wrap="square" lIns="0" tIns="39370" rIns="0" bIns="0" rtlCol="0">
            <a:spAutoFit/>
          </a:bodyPr>
          <a:lstStyle/>
          <a:p>
            <a:pPr marL="90805">
              <a:lnSpc>
                <a:spcPct val="100000"/>
              </a:lnSpc>
              <a:spcBef>
                <a:spcPts val="310"/>
              </a:spcBef>
            </a:pPr>
            <a:r>
              <a:rPr sz="1800" dirty="0">
                <a:solidFill>
                  <a:srgbClr val="003399"/>
                </a:solidFill>
                <a:latin typeface="Times New Roman"/>
                <a:cs typeface="Times New Roman"/>
              </a:rPr>
              <a:t>2. Caustic</a:t>
            </a:r>
            <a:r>
              <a:rPr sz="1800" spc="-35" dirty="0">
                <a:solidFill>
                  <a:srgbClr val="003399"/>
                </a:solidFill>
                <a:latin typeface="Times New Roman"/>
                <a:cs typeface="Times New Roman"/>
              </a:rPr>
              <a:t> </a:t>
            </a:r>
            <a:r>
              <a:rPr sz="1800" dirty="0">
                <a:solidFill>
                  <a:srgbClr val="003399"/>
                </a:solidFill>
                <a:latin typeface="Times New Roman"/>
                <a:cs typeface="Times New Roman"/>
              </a:rPr>
              <a:t>embitterment</a:t>
            </a:r>
            <a:endParaRPr sz="1800">
              <a:latin typeface="Times New Roman"/>
              <a:cs typeface="Times New Roman"/>
            </a:endParaRPr>
          </a:p>
        </p:txBody>
      </p:sp>
      <p:sp>
        <p:nvSpPr>
          <p:cNvPr id="6" name="object 6"/>
          <p:cNvSpPr txBox="1"/>
          <p:nvPr/>
        </p:nvSpPr>
        <p:spPr>
          <a:xfrm>
            <a:off x="667512" y="2276855"/>
            <a:ext cx="2952115" cy="376555"/>
          </a:xfrm>
          <a:prstGeom prst="rect">
            <a:avLst/>
          </a:prstGeom>
          <a:ln w="9144">
            <a:solidFill>
              <a:srgbClr val="FFFF00"/>
            </a:solidFill>
          </a:ln>
        </p:spPr>
        <p:txBody>
          <a:bodyPr vert="horz" wrap="square" lIns="0" tIns="38100" rIns="0" bIns="0" rtlCol="0">
            <a:spAutoFit/>
          </a:bodyPr>
          <a:lstStyle/>
          <a:p>
            <a:pPr marL="90805">
              <a:lnSpc>
                <a:spcPct val="100000"/>
              </a:lnSpc>
              <a:spcBef>
                <a:spcPts val="300"/>
              </a:spcBef>
            </a:pPr>
            <a:r>
              <a:rPr sz="1800" dirty="0">
                <a:solidFill>
                  <a:srgbClr val="006600"/>
                </a:solidFill>
                <a:latin typeface="Times New Roman"/>
                <a:cs typeface="Times New Roman"/>
              </a:rPr>
              <a:t>3. </a:t>
            </a:r>
            <a:r>
              <a:rPr sz="1800" spc="-5" dirty="0">
                <a:solidFill>
                  <a:srgbClr val="006600"/>
                </a:solidFill>
                <a:latin typeface="Times New Roman"/>
                <a:cs typeface="Times New Roman"/>
              </a:rPr>
              <a:t>Priming </a:t>
            </a:r>
            <a:r>
              <a:rPr sz="1800" dirty="0">
                <a:solidFill>
                  <a:srgbClr val="006600"/>
                </a:solidFill>
                <a:latin typeface="Times New Roman"/>
                <a:cs typeface="Times New Roman"/>
              </a:rPr>
              <a:t>and</a:t>
            </a:r>
            <a:r>
              <a:rPr sz="1800" spc="-10" dirty="0">
                <a:solidFill>
                  <a:srgbClr val="006600"/>
                </a:solidFill>
                <a:latin typeface="Times New Roman"/>
                <a:cs typeface="Times New Roman"/>
              </a:rPr>
              <a:t> </a:t>
            </a:r>
            <a:r>
              <a:rPr sz="1800" spc="-5" dirty="0">
                <a:solidFill>
                  <a:srgbClr val="006600"/>
                </a:solidFill>
                <a:latin typeface="Times New Roman"/>
                <a:cs typeface="Times New Roman"/>
              </a:rPr>
              <a:t>Foaming</a:t>
            </a:r>
            <a:endParaRPr sz="1800">
              <a:latin typeface="Times New Roman"/>
              <a:cs typeface="Times New Roman"/>
            </a:endParaRPr>
          </a:p>
        </p:txBody>
      </p:sp>
      <p:sp>
        <p:nvSpPr>
          <p:cNvPr id="7" name="object 7"/>
          <p:cNvSpPr txBox="1"/>
          <p:nvPr/>
        </p:nvSpPr>
        <p:spPr>
          <a:xfrm>
            <a:off x="653795" y="2846832"/>
            <a:ext cx="2377440" cy="376555"/>
          </a:xfrm>
          <a:prstGeom prst="rect">
            <a:avLst/>
          </a:prstGeom>
          <a:ln w="9144">
            <a:solidFill>
              <a:srgbClr val="FFFF00"/>
            </a:solidFill>
          </a:ln>
        </p:spPr>
        <p:txBody>
          <a:bodyPr vert="horz" wrap="square" lIns="0" tIns="38100" rIns="0" bIns="0" rtlCol="0">
            <a:spAutoFit/>
          </a:bodyPr>
          <a:lstStyle/>
          <a:p>
            <a:pPr marL="91440">
              <a:lnSpc>
                <a:spcPct val="100000"/>
              </a:lnSpc>
              <a:spcBef>
                <a:spcPts val="300"/>
              </a:spcBef>
            </a:pPr>
            <a:r>
              <a:rPr sz="1800" dirty="0">
                <a:solidFill>
                  <a:srgbClr val="990000"/>
                </a:solidFill>
                <a:latin typeface="Times New Roman"/>
                <a:cs typeface="Times New Roman"/>
              </a:rPr>
              <a:t>4. Boiler</a:t>
            </a:r>
            <a:r>
              <a:rPr sz="1800" spc="-40" dirty="0">
                <a:solidFill>
                  <a:srgbClr val="990000"/>
                </a:solidFill>
                <a:latin typeface="Times New Roman"/>
                <a:cs typeface="Times New Roman"/>
              </a:rPr>
              <a:t> </a:t>
            </a:r>
            <a:r>
              <a:rPr sz="1800" dirty="0">
                <a:solidFill>
                  <a:srgbClr val="990000"/>
                </a:solidFill>
                <a:latin typeface="Times New Roman"/>
                <a:cs typeface="Times New Roman"/>
              </a:rPr>
              <a:t>corrosion</a:t>
            </a:r>
            <a:endParaRPr sz="1800">
              <a:latin typeface="Times New Roman"/>
              <a:cs typeface="Times New Roman"/>
            </a:endParaRPr>
          </a:p>
        </p:txBody>
      </p:sp>
      <p:grpSp>
        <p:nvGrpSpPr>
          <p:cNvPr id="8" name="object 8"/>
          <p:cNvGrpSpPr/>
          <p:nvPr/>
        </p:nvGrpSpPr>
        <p:grpSpPr>
          <a:xfrm>
            <a:off x="3701796" y="1769364"/>
            <a:ext cx="3607435" cy="2312035"/>
            <a:chOff x="3701796" y="1769364"/>
            <a:chExt cx="3607435" cy="2312035"/>
          </a:xfrm>
        </p:grpSpPr>
        <p:sp>
          <p:nvSpPr>
            <p:cNvPr id="9" name="object 9"/>
            <p:cNvSpPr/>
            <p:nvPr/>
          </p:nvSpPr>
          <p:spPr>
            <a:xfrm>
              <a:off x="3706368" y="1773936"/>
              <a:ext cx="2304415" cy="2303145"/>
            </a:xfrm>
            <a:custGeom>
              <a:avLst/>
              <a:gdLst/>
              <a:ahLst/>
              <a:cxnLst/>
              <a:rect l="l" t="t" r="r" b="b"/>
              <a:pathLst>
                <a:path w="2304415" h="2303145">
                  <a:moveTo>
                    <a:pt x="1152144" y="0"/>
                  </a:moveTo>
                  <a:lnTo>
                    <a:pt x="1103444" y="1010"/>
                  </a:lnTo>
                  <a:lnTo>
                    <a:pt x="1055259" y="4013"/>
                  </a:lnTo>
                  <a:lnTo>
                    <a:pt x="1007629" y="8970"/>
                  </a:lnTo>
                  <a:lnTo>
                    <a:pt x="960594" y="15841"/>
                  </a:lnTo>
                  <a:lnTo>
                    <a:pt x="914194" y="24586"/>
                  </a:lnTo>
                  <a:lnTo>
                    <a:pt x="868469" y="35164"/>
                  </a:lnTo>
                  <a:lnTo>
                    <a:pt x="823459" y="47536"/>
                  </a:lnTo>
                  <a:lnTo>
                    <a:pt x="779204" y="61661"/>
                  </a:lnTo>
                  <a:lnTo>
                    <a:pt x="735744" y="77501"/>
                  </a:lnTo>
                  <a:lnTo>
                    <a:pt x="693119" y="95014"/>
                  </a:lnTo>
                  <a:lnTo>
                    <a:pt x="651368" y="114161"/>
                  </a:lnTo>
                  <a:lnTo>
                    <a:pt x="610533" y="134902"/>
                  </a:lnTo>
                  <a:lnTo>
                    <a:pt x="570653" y="157197"/>
                  </a:lnTo>
                  <a:lnTo>
                    <a:pt x="531767" y="181006"/>
                  </a:lnTo>
                  <a:lnTo>
                    <a:pt x="493917" y="206289"/>
                  </a:lnTo>
                  <a:lnTo>
                    <a:pt x="457142" y="233006"/>
                  </a:lnTo>
                  <a:lnTo>
                    <a:pt x="421481" y="261117"/>
                  </a:lnTo>
                  <a:lnTo>
                    <a:pt x="386975" y="290583"/>
                  </a:lnTo>
                  <a:lnTo>
                    <a:pt x="353665" y="321362"/>
                  </a:lnTo>
                  <a:lnTo>
                    <a:pt x="321589" y="353416"/>
                  </a:lnTo>
                  <a:lnTo>
                    <a:pt x="290789" y="386704"/>
                  </a:lnTo>
                  <a:lnTo>
                    <a:pt x="261303" y="421186"/>
                  </a:lnTo>
                  <a:lnTo>
                    <a:pt x="233172" y="456822"/>
                  </a:lnTo>
                  <a:lnTo>
                    <a:pt x="206437" y="493573"/>
                  </a:lnTo>
                  <a:lnTo>
                    <a:pt x="181136" y="531398"/>
                  </a:lnTo>
                  <a:lnTo>
                    <a:pt x="157310" y="570258"/>
                  </a:lnTo>
                  <a:lnTo>
                    <a:pt x="134999" y="610112"/>
                  </a:lnTo>
                  <a:lnTo>
                    <a:pt x="114244" y="650920"/>
                  </a:lnTo>
                  <a:lnTo>
                    <a:pt x="95083" y="692643"/>
                  </a:lnTo>
                  <a:lnTo>
                    <a:pt x="77557" y="735241"/>
                  </a:lnTo>
                  <a:lnTo>
                    <a:pt x="61706" y="778673"/>
                  </a:lnTo>
                  <a:lnTo>
                    <a:pt x="47570" y="822900"/>
                  </a:lnTo>
                  <a:lnTo>
                    <a:pt x="35190" y="867882"/>
                  </a:lnTo>
                  <a:lnTo>
                    <a:pt x="24604" y="913578"/>
                  </a:lnTo>
                  <a:lnTo>
                    <a:pt x="15853" y="959949"/>
                  </a:lnTo>
                  <a:lnTo>
                    <a:pt x="8977" y="1006955"/>
                  </a:lnTo>
                  <a:lnTo>
                    <a:pt x="4016" y="1054556"/>
                  </a:lnTo>
                  <a:lnTo>
                    <a:pt x="1010" y="1102711"/>
                  </a:lnTo>
                  <a:lnTo>
                    <a:pt x="0" y="1151381"/>
                  </a:lnTo>
                  <a:lnTo>
                    <a:pt x="1010" y="1200052"/>
                  </a:lnTo>
                  <a:lnTo>
                    <a:pt x="4016" y="1248207"/>
                  </a:lnTo>
                  <a:lnTo>
                    <a:pt x="8977" y="1295808"/>
                  </a:lnTo>
                  <a:lnTo>
                    <a:pt x="15853" y="1342814"/>
                  </a:lnTo>
                  <a:lnTo>
                    <a:pt x="24604" y="1389185"/>
                  </a:lnTo>
                  <a:lnTo>
                    <a:pt x="35190" y="1434881"/>
                  </a:lnTo>
                  <a:lnTo>
                    <a:pt x="47570" y="1479863"/>
                  </a:lnTo>
                  <a:lnTo>
                    <a:pt x="61706" y="1524090"/>
                  </a:lnTo>
                  <a:lnTo>
                    <a:pt x="77557" y="1567522"/>
                  </a:lnTo>
                  <a:lnTo>
                    <a:pt x="95083" y="1610120"/>
                  </a:lnTo>
                  <a:lnTo>
                    <a:pt x="114244" y="1651843"/>
                  </a:lnTo>
                  <a:lnTo>
                    <a:pt x="134999" y="1692651"/>
                  </a:lnTo>
                  <a:lnTo>
                    <a:pt x="157310" y="1732505"/>
                  </a:lnTo>
                  <a:lnTo>
                    <a:pt x="181136" y="1771365"/>
                  </a:lnTo>
                  <a:lnTo>
                    <a:pt x="206437" y="1809190"/>
                  </a:lnTo>
                  <a:lnTo>
                    <a:pt x="233172" y="1845941"/>
                  </a:lnTo>
                  <a:lnTo>
                    <a:pt x="261303" y="1881577"/>
                  </a:lnTo>
                  <a:lnTo>
                    <a:pt x="290789" y="1916059"/>
                  </a:lnTo>
                  <a:lnTo>
                    <a:pt x="321589" y="1949347"/>
                  </a:lnTo>
                  <a:lnTo>
                    <a:pt x="353665" y="1981401"/>
                  </a:lnTo>
                  <a:lnTo>
                    <a:pt x="386975" y="2012180"/>
                  </a:lnTo>
                  <a:lnTo>
                    <a:pt x="421481" y="2041646"/>
                  </a:lnTo>
                  <a:lnTo>
                    <a:pt x="457142" y="2069757"/>
                  </a:lnTo>
                  <a:lnTo>
                    <a:pt x="493917" y="2096474"/>
                  </a:lnTo>
                  <a:lnTo>
                    <a:pt x="531767" y="2121757"/>
                  </a:lnTo>
                  <a:lnTo>
                    <a:pt x="570653" y="2145566"/>
                  </a:lnTo>
                  <a:lnTo>
                    <a:pt x="610533" y="2167861"/>
                  </a:lnTo>
                  <a:lnTo>
                    <a:pt x="651368" y="2188602"/>
                  </a:lnTo>
                  <a:lnTo>
                    <a:pt x="693119" y="2207749"/>
                  </a:lnTo>
                  <a:lnTo>
                    <a:pt x="735744" y="2225262"/>
                  </a:lnTo>
                  <a:lnTo>
                    <a:pt x="779204" y="2241102"/>
                  </a:lnTo>
                  <a:lnTo>
                    <a:pt x="823459" y="2255227"/>
                  </a:lnTo>
                  <a:lnTo>
                    <a:pt x="868469" y="2267599"/>
                  </a:lnTo>
                  <a:lnTo>
                    <a:pt x="914194" y="2278177"/>
                  </a:lnTo>
                  <a:lnTo>
                    <a:pt x="960594" y="2286922"/>
                  </a:lnTo>
                  <a:lnTo>
                    <a:pt x="1007629" y="2293793"/>
                  </a:lnTo>
                  <a:lnTo>
                    <a:pt x="1055259" y="2298750"/>
                  </a:lnTo>
                  <a:lnTo>
                    <a:pt x="1103444" y="2301753"/>
                  </a:lnTo>
                  <a:lnTo>
                    <a:pt x="1152144" y="2302764"/>
                  </a:lnTo>
                  <a:lnTo>
                    <a:pt x="1200843" y="2301753"/>
                  </a:lnTo>
                  <a:lnTo>
                    <a:pt x="1249028" y="2298750"/>
                  </a:lnTo>
                  <a:lnTo>
                    <a:pt x="1296658" y="2293793"/>
                  </a:lnTo>
                  <a:lnTo>
                    <a:pt x="1343693" y="2286922"/>
                  </a:lnTo>
                  <a:lnTo>
                    <a:pt x="1390093" y="2278177"/>
                  </a:lnTo>
                  <a:lnTo>
                    <a:pt x="1435818" y="2267599"/>
                  </a:lnTo>
                  <a:lnTo>
                    <a:pt x="1480828" y="2255227"/>
                  </a:lnTo>
                  <a:lnTo>
                    <a:pt x="1525083" y="2241102"/>
                  </a:lnTo>
                  <a:lnTo>
                    <a:pt x="1568543" y="2225262"/>
                  </a:lnTo>
                  <a:lnTo>
                    <a:pt x="1611168" y="2207749"/>
                  </a:lnTo>
                  <a:lnTo>
                    <a:pt x="1652919" y="2188602"/>
                  </a:lnTo>
                  <a:lnTo>
                    <a:pt x="1693754" y="2167861"/>
                  </a:lnTo>
                  <a:lnTo>
                    <a:pt x="1733634" y="2145566"/>
                  </a:lnTo>
                  <a:lnTo>
                    <a:pt x="1772520" y="2121757"/>
                  </a:lnTo>
                  <a:lnTo>
                    <a:pt x="1810370" y="2096474"/>
                  </a:lnTo>
                  <a:lnTo>
                    <a:pt x="1847145" y="2069757"/>
                  </a:lnTo>
                  <a:lnTo>
                    <a:pt x="1882806" y="2041646"/>
                  </a:lnTo>
                  <a:lnTo>
                    <a:pt x="1917312" y="2012180"/>
                  </a:lnTo>
                  <a:lnTo>
                    <a:pt x="1950622" y="1981401"/>
                  </a:lnTo>
                  <a:lnTo>
                    <a:pt x="1982698" y="1949347"/>
                  </a:lnTo>
                  <a:lnTo>
                    <a:pt x="2013498" y="1916059"/>
                  </a:lnTo>
                  <a:lnTo>
                    <a:pt x="2042984" y="1881577"/>
                  </a:lnTo>
                  <a:lnTo>
                    <a:pt x="2071115" y="1845941"/>
                  </a:lnTo>
                  <a:lnTo>
                    <a:pt x="2097850" y="1809190"/>
                  </a:lnTo>
                  <a:lnTo>
                    <a:pt x="2123151" y="1771365"/>
                  </a:lnTo>
                  <a:lnTo>
                    <a:pt x="2146977" y="1732505"/>
                  </a:lnTo>
                  <a:lnTo>
                    <a:pt x="2169288" y="1692651"/>
                  </a:lnTo>
                  <a:lnTo>
                    <a:pt x="2190043" y="1651843"/>
                  </a:lnTo>
                  <a:lnTo>
                    <a:pt x="2209204" y="1610120"/>
                  </a:lnTo>
                  <a:lnTo>
                    <a:pt x="2226730" y="1567522"/>
                  </a:lnTo>
                  <a:lnTo>
                    <a:pt x="2242581" y="1524090"/>
                  </a:lnTo>
                  <a:lnTo>
                    <a:pt x="2256717" y="1479863"/>
                  </a:lnTo>
                  <a:lnTo>
                    <a:pt x="2269097" y="1434881"/>
                  </a:lnTo>
                  <a:lnTo>
                    <a:pt x="2279683" y="1389185"/>
                  </a:lnTo>
                  <a:lnTo>
                    <a:pt x="2288434" y="1342814"/>
                  </a:lnTo>
                  <a:lnTo>
                    <a:pt x="2295310" y="1295808"/>
                  </a:lnTo>
                  <a:lnTo>
                    <a:pt x="2300271" y="1248207"/>
                  </a:lnTo>
                  <a:lnTo>
                    <a:pt x="2303277" y="1200052"/>
                  </a:lnTo>
                  <a:lnTo>
                    <a:pt x="2304288" y="1151381"/>
                  </a:lnTo>
                  <a:lnTo>
                    <a:pt x="2303277" y="1102711"/>
                  </a:lnTo>
                  <a:lnTo>
                    <a:pt x="2300271" y="1054556"/>
                  </a:lnTo>
                  <a:lnTo>
                    <a:pt x="2295310" y="1006955"/>
                  </a:lnTo>
                  <a:lnTo>
                    <a:pt x="2288434" y="959949"/>
                  </a:lnTo>
                  <a:lnTo>
                    <a:pt x="2279683" y="913578"/>
                  </a:lnTo>
                  <a:lnTo>
                    <a:pt x="2269097" y="867882"/>
                  </a:lnTo>
                  <a:lnTo>
                    <a:pt x="2256717" y="822900"/>
                  </a:lnTo>
                  <a:lnTo>
                    <a:pt x="2242581" y="778673"/>
                  </a:lnTo>
                  <a:lnTo>
                    <a:pt x="2226730" y="735241"/>
                  </a:lnTo>
                  <a:lnTo>
                    <a:pt x="2209204" y="692643"/>
                  </a:lnTo>
                  <a:lnTo>
                    <a:pt x="2190043" y="650920"/>
                  </a:lnTo>
                  <a:lnTo>
                    <a:pt x="2169288" y="610112"/>
                  </a:lnTo>
                  <a:lnTo>
                    <a:pt x="2146977" y="570258"/>
                  </a:lnTo>
                  <a:lnTo>
                    <a:pt x="2123151" y="531398"/>
                  </a:lnTo>
                  <a:lnTo>
                    <a:pt x="2097850" y="493573"/>
                  </a:lnTo>
                  <a:lnTo>
                    <a:pt x="2071115" y="456822"/>
                  </a:lnTo>
                  <a:lnTo>
                    <a:pt x="2042984" y="421186"/>
                  </a:lnTo>
                  <a:lnTo>
                    <a:pt x="2013498" y="386704"/>
                  </a:lnTo>
                  <a:lnTo>
                    <a:pt x="1982698" y="353416"/>
                  </a:lnTo>
                  <a:lnTo>
                    <a:pt x="1950622" y="321362"/>
                  </a:lnTo>
                  <a:lnTo>
                    <a:pt x="1917312" y="290583"/>
                  </a:lnTo>
                  <a:lnTo>
                    <a:pt x="1882806" y="261117"/>
                  </a:lnTo>
                  <a:lnTo>
                    <a:pt x="1847145" y="233006"/>
                  </a:lnTo>
                  <a:lnTo>
                    <a:pt x="1810370" y="206289"/>
                  </a:lnTo>
                  <a:lnTo>
                    <a:pt x="1772520" y="181006"/>
                  </a:lnTo>
                  <a:lnTo>
                    <a:pt x="1733634" y="157197"/>
                  </a:lnTo>
                  <a:lnTo>
                    <a:pt x="1693754" y="134902"/>
                  </a:lnTo>
                  <a:lnTo>
                    <a:pt x="1652919" y="114161"/>
                  </a:lnTo>
                  <a:lnTo>
                    <a:pt x="1611168" y="95014"/>
                  </a:lnTo>
                  <a:lnTo>
                    <a:pt x="1568543" y="77501"/>
                  </a:lnTo>
                  <a:lnTo>
                    <a:pt x="1525083" y="61661"/>
                  </a:lnTo>
                  <a:lnTo>
                    <a:pt x="1480828" y="47536"/>
                  </a:lnTo>
                  <a:lnTo>
                    <a:pt x="1435818" y="35164"/>
                  </a:lnTo>
                  <a:lnTo>
                    <a:pt x="1390093" y="24586"/>
                  </a:lnTo>
                  <a:lnTo>
                    <a:pt x="1343693" y="15841"/>
                  </a:lnTo>
                  <a:lnTo>
                    <a:pt x="1296658" y="8970"/>
                  </a:lnTo>
                  <a:lnTo>
                    <a:pt x="1249028" y="4013"/>
                  </a:lnTo>
                  <a:lnTo>
                    <a:pt x="1200843" y="1010"/>
                  </a:lnTo>
                  <a:lnTo>
                    <a:pt x="1152144" y="0"/>
                  </a:lnTo>
                  <a:close/>
                </a:path>
              </a:pathLst>
            </a:custGeom>
            <a:solidFill>
              <a:srgbClr val="FF9900"/>
            </a:solidFill>
          </p:spPr>
          <p:txBody>
            <a:bodyPr wrap="square" lIns="0" tIns="0" rIns="0" bIns="0" rtlCol="0"/>
            <a:lstStyle/>
            <a:p>
              <a:endParaRPr/>
            </a:p>
          </p:txBody>
        </p:sp>
        <p:sp>
          <p:nvSpPr>
            <p:cNvPr id="10" name="object 10"/>
            <p:cNvSpPr/>
            <p:nvPr/>
          </p:nvSpPr>
          <p:spPr>
            <a:xfrm>
              <a:off x="3706368" y="1773936"/>
              <a:ext cx="2304415" cy="2303145"/>
            </a:xfrm>
            <a:custGeom>
              <a:avLst/>
              <a:gdLst/>
              <a:ahLst/>
              <a:cxnLst/>
              <a:rect l="l" t="t" r="r" b="b"/>
              <a:pathLst>
                <a:path w="2304415" h="2303145">
                  <a:moveTo>
                    <a:pt x="0" y="1151381"/>
                  </a:moveTo>
                  <a:lnTo>
                    <a:pt x="1010" y="1102711"/>
                  </a:lnTo>
                  <a:lnTo>
                    <a:pt x="4016" y="1054556"/>
                  </a:lnTo>
                  <a:lnTo>
                    <a:pt x="8977" y="1006955"/>
                  </a:lnTo>
                  <a:lnTo>
                    <a:pt x="15853" y="959949"/>
                  </a:lnTo>
                  <a:lnTo>
                    <a:pt x="24604" y="913578"/>
                  </a:lnTo>
                  <a:lnTo>
                    <a:pt x="35190" y="867882"/>
                  </a:lnTo>
                  <a:lnTo>
                    <a:pt x="47570" y="822900"/>
                  </a:lnTo>
                  <a:lnTo>
                    <a:pt x="61706" y="778673"/>
                  </a:lnTo>
                  <a:lnTo>
                    <a:pt x="77557" y="735241"/>
                  </a:lnTo>
                  <a:lnTo>
                    <a:pt x="95083" y="692643"/>
                  </a:lnTo>
                  <a:lnTo>
                    <a:pt x="114244" y="650920"/>
                  </a:lnTo>
                  <a:lnTo>
                    <a:pt x="134999" y="610112"/>
                  </a:lnTo>
                  <a:lnTo>
                    <a:pt x="157310" y="570258"/>
                  </a:lnTo>
                  <a:lnTo>
                    <a:pt x="181136" y="531398"/>
                  </a:lnTo>
                  <a:lnTo>
                    <a:pt x="206437" y="493573"/>
                  </a:lnTo>
                  <a:lnTo>
                    <a:pt x="233172" y="456822"/>
                  </a:lnTo>
                  <a:lnTo>
                    <a:pt x="261303" y="421186"/>
                  </a:lnTo>
                  <a:lnTo>
                    <a:pt x="290789" y="386704"/>
                  </a:lnTo>
                  <a:lnTo>
                    <a:pt x="321589" y="353416"/>
                  </a:lnTo>
                  <a:lnTo>
                    <a:pt x="353665" y="321362"/>
                  </a:lnTo>
                  <a:lnTo>
                    <a:pt x="386975" y="290583"/>
                  </a:lnTo>
                  <a:lnTo>
                    <a:pt x="421481" y="261117"/>
                  </a:lnTo>
                  <a:lnTo>
                    <a:pt x="457142" y="233006"/>
                  </a:lnTo>
                  <a:lnTo>
                    <a:pt x="493917" y="206289"/>
                  </a:lnTo>
                  <a:lnTo>
                    <a:pt x="531767" y="181006"/>
                  </a:lnTo>
                  <a:lnTo>
                    <a:pt x="570653" y="157197"/>
                  </a:lnTo>
                  <a:lnTo>
                    <a:pt x="610533" y="134902"/>
                  </a:lnTo>
                  <a:lnTo>
                    <a:pt x="651368" y="114161"/>
                  </a:lnTo>
                  <a:lnTo>
                    <a:pt x="693119" y="95014"/>
                  </a:lnTo>
                  <a:lnTo>
                    <a:pt x="735744" y="77501"/>
                  </a:lnTo>
                  <a:lnTo>
                    <a:pt x="779204" y="61661"/>
                  </a:lnTo>
                  <a:lnTo>
                    <a:pt x="823459" y="47536"/>
                  </a:lnTo>
                  <a:lnTo>
                    <a:pt x="868469" y="35164"/>
                  </a:lnTo>
                  <a:lnTo>
                    <a:pt x="914194" y="24586"/>
                  </a:lnTo>
                  <a:lnTo>
                    <a:pt x="960594" y="15841"/>
                  </a:lnTo>
                  <a:lnTo>
                    <a:pt x="1007629" y="8970"/>
                  </a:lnTo>
                  <a:lnTo>
                    <a:pt x="1055259" y="4013"/>
                  </a:lnTo>
                  <a:lnTo>
                    <a:pt x="1103444" y="1010"/>
                  </a:lnTo>
                  <a:lnTo>
                    <a:pt x="1152144" y="0"/>
                  </a:lnTo>
                  <a:lnTo>
                    <a:pt x="1200843" y="1010"/>
                  </a:lnTo>
                  <a:lnTo>
                    <a:pt x="1249028" y="4013"/>
                  </a:lnTo>
                  <a:lnTo>
                    <a:pt x="1296658" y="8970"/>
                  </a:lnTo>
                  <a:lnTo>
                    <a:pt x="1343693" y="15841"/>
                  </a:lnTo>
                  <a:lnTo>
                    <a:pt x="1390093" y="24586"/>
                  </a:lnTo>
                  <a:lnTo>
                    <a:pt x="1435818" y="35164"/>
                  </a:lnTo>
                  <a:lnTo>
                    <a:pt x="1480828" y="47536"/>
                  </a:lnTo>
                  <a:lnTo>
                    <a:pt x="1525083" y="61661"/>
                  </a:lnTo>
                  <a:lnTo>
                    <a:pt x="1568543" y="77501"/>
                  </a:lnTo>
                  <a:lnTo>
                    <a:pt x="1611168" y="95014"/>
                  </a:lnTo>
                  <a:lnTo>
                    <a:pt x="1652919" y="114161"/>
                  </a:lnTo>
                  <a:lnTo>
                    <a:pt x="1693754" y="134902"/>
                  </a:lnTo>
                  <a:lnTo>
                    <a:pt x="1733634" y="157197"/>
                  </a:lnTo>
                  <a:lnTo>
                    <a:pt x="1772520" y="181006"/>
                  </a:lnTo>
                  <a:lnTo>
                    <a:pt x="1810370" y="206289"/>
                  </a:lnTo>
                  <a:lnTo>
                    <a:pt x="1847145" y="233006"/>
                  </a:lnTo>
                  <a:lnTo>
                    <a:pt x="1882806" y="261117"/>
                  </a:lnTo>
                  <a:lnTo>
                    <a:pt x="1917312" y="290583"/>
                  </a:lnTo>
                  <a:lnTo>
                    <a:pt x="1950622" y="321362"/>
                  </a:lnTo>
                  <a:lnTo>
                    <a:pt x="1982698" y="353416"/>
                  </a:lnTo>
                  <a:lnTo>
                    <a:pt x="2013498" y="386704"/>
                  </a:lnTo>
                  <a:lnTo>
                    <a:pt x="2042984" y="421186"/>
                  </a:lnTo>
                  <a:lnTo>
                    <a:pt x="2071115" y="456822"/>
                  </a:lnTo>
                  <a:lnTo>
                    <a:pt x="2097850" y="493573"/>
                  </a:lnTo>
                  <a:lnTo>
                    <a:pt x="2123151" y="531398"/>
                  </a:lnTo>
                  <a:lnTo>
                    <a:pt x="2146977" y="570258"/>
                  </a:lnTo>
                  <a:lnTo>
                    <a:pt x="2169288" y="610112"/>
                  </a:lnTo>
                  <a:lnTo>
                    <a:pt x="2190043" y="650920"/>
                  </a:lnTo>
                  <a:lnTo>
                    <a:pt x="2209204" y="692643"/>
                  </a:lnTo>
                  <a:lnTo>
                    <a:pt x="2226730" y="735241"/>
                  </a:lnTo>
                  <a:lnTo>
                    <a:pt x="2242581" y="778673"/>
                  </a:lnTo>
                  <a:lnTo>
                    <a:pt x="2256717" y="822900"/>
                  </a:lnTo>
                  <a:lnTo>
                    <a:pt x="2269097" y="867882"/>
                  </a:lnTo>
                  <a:lnTo>
                    <a:pt x="2279683" y="913578"/>
                  </a:lnTo>
                  <a:lnTo>
                    <a:pt x="2288434" y="959949"/>
                  </a:lnTo>
                  <a:lnTo>
                    <a:pt x="2295310" y="1006955"/>
                  </a:lnTo>
                  <a:lnTo>
                    <a:pt x="2300271" y="1054556"/>
                  </a:lnTo>
                  <a:lnTo>
                    <a:pt x="2303277" y="1102711"/>
                  </a:lnTo>
                  <a:lnTo>
                    <a:pt x="2304288" y="1151381"/>
                  </a:lnTo>
                  <a:lnTo>
                    <a:pt x="2303277" y="1200052"/>
                  </a:lnTo>
                  <a:lnTo>
                    <a:pt x="2300271" y="1248207"/>
                  </a:lnTo>
                  <a:lnTo>
                    <a:pt x="2295310" y="1295808"/>
                  </a:lnTo>
                  <a:lnTo>
                    <a:pt x="2288434" y="1342814"/>
                  </a:lnTo>
                  <a:lnTo>
                    <a:pt x="2279683" y="1389185"/>
                  </a:lnTo>
                  <a:lnTo>
                    <a:pt x="2269097" y="1434881"/>
                  </a:lnTo>
                  <a:lnTo>
                    <a:pt x="2256717" y="1479863"/>
                  </a:lnTo>
                  <a:lnTo>
                    <a:pt x="2242581" y="1524090"/>
                  </a:lnTo>
                  <a:lnTo>
                    <a:pt x="2226730" y="1567522"/>
                  </a:lnTo>
                  <a:lnTo>
                    <a:pt x="2209204" y="1610120"/>
                  </a:lnTo>
                  <a:lnTo>
                    <a:pt x="2190043" y="1651843"/>
                  </a:lnTo>
                  <a:lnTo>
                    <a:pt x="2169288" y="1692651"/>
                  </a:lnTo>
                  <a:lnTo>
                    <a:pt x="2146977" y="1732505"/>
                  </a:lnTo>
                  <a:lnTo>
                    <a:pt x="2123151" y="1771365"/>
                  </a:lnTo>
                  <a:lnTo>
                    <a:pt x="2097850" y="1809190"/>
                  </a:lnTo>
                  <a:lnTo>
                    <a:pt x="2071115" y="1845941"/>
                  </a:lnTo>
                  <a:lnTo>
                    <a:pt x="2042984" y="1881577"/>
                  </a:lnTo>
                  <a:lnTo>
                    <a:pt x="2013498" y="1916059"/>
                  </a:lnTo>
                  <a:lnTo>
                    <a:pt x="1982698" y="1949347"/>
                  </a:lnTo>
                  <a:lnTo>
                    <a:pt x="1950622" y="1981401"/>
                  </a:lnTo>
                  <a:lnTo>
                    <a:pt x="1917312" y="2012180"/>
                  </a:lnTo>
                  <a:lnTo>
                    <a:pt x="1882806" y="2041646"/>
                  </a:lnTo>
                  <a:lnTo>
                    <a:pt x="1847145" y="2069757"/>
                  </a:lnTo>
                  <a:lnTo>
                    <a:pt x="1810370" y="2096474"/>
                  </a:lnTo>
                  <a:lnTo>
                    <a:pt x="1772520" y="2121757"/>
                  </a:lnTo>
                  <a:lnTo>
                    <a:pt x="1733634" y="2145566"/>
                  </a:lnTo>
                  <a:lnTo>
                    <a:pt x="1693754" y="2167861"/>
                  </a:lnTo>
                  <a:lnTo>
                    <a:pt x="1652919" y="2188602"/>
                  </a:lnTo>
                  <a:lnTo>
                    <a:pt x="1611168" y="2207749"/>
                  </a:lnTo>
                  <a:lnTo>
                    <a:pt x="1568543" y="2225262"/>
                  </a:lnTo>
                  <a:lnTo>
                    <a:pt x="1525083" y="2241102"/>
                  </a:lnTo>
                  <a:lnTo>
                    <a:pt x="1480828" y="2255227"/>
                  </a:lnTo>
                  <a:lnTo>
                    <a:pt x="1435818" y="2267599"/>
                  </a:lnTo>
                  <a:lnTo>
                    <a:pt x="1390093" y="2278177"/>
                  </a:lnTo>
                  <a:lnTo>
                    <a:pt x="1343693" y="2286922"/>
                  </a:lnTo>
                  <a:lnTo>
                    <a:pt x="1296658" y="2293793"/>
                  </a:lnTo>
                  <a:lnTo>
                    <a:pt x="1249028" y="2298750"/>
                  </a:lnTo>
                  <a:lnTo>
                    <a:pt x="1200843" y="2301753"/>
                  </a:lnTo>
                  <a:lnTo>
                    <a:pt x="1152144" y="2302764"/>
                  </a:lnTo>
                  <a:lnTo>
                    <a:pt x="1103444" y="2301753"/>
                  </a:lnTo>
                  <a:lnTo>
                    <a:pt x="1055259" y="2298750"/>
                  </a:lnTo>
                  <a:lnTo>
                    <a:pt x="1007629" y="2293793"/>
                  </a:lnTo>
                  <a:lnTo>
                    <a:pt x="960594" y="2286922"/>
                  </a:lnTo>
                  <a:lnTo>
                    <a:pt x="914194" y="2278177"/>
                  </a:lnTo>
                  <a:lnTo>
                    <a:pt x="868469" y="2267599"/>
                  </a:lnTo>
                  <a:lnTo>
                    <a:pt x="823459" y="2255227"/>
                  </a:lnTo>
                  <a:lnTo>
                    <a:pt x="779204" y="2241102"/>
                  </a:lnTo>
                  <a:lnTo>
                    <a:pt x="735744" y="2225262"/>
                  </a:lnTo>
                  <a:lnTo>
                    <a:pt x="693119" y="2207749"/>
                  </a:lnTo>
                  <a:lnTo>
                    <a:pt x="651368" y="2188602"/>
                  </a:lnTo>
                  <a:lnTo>
                    <a:pt x="610533" y="2167861"/>
                  </a:lnTo>
                  <a:lnTo>
                    <a:pt x="570653" y="2145566"/>
                  </a:lnTo>
                  <a:lnTo>
                    <a:pt x="531767" y="2121757"/>
                  </a:lnTo>
                  <a:lnTo>
                    <a:pt x="493917" y="2096474"/>
                  </a:lnTo>
                  <a:lnTo>
                    <a:pt x="457142" y="2069757"/>
                  </a:lnTo>
                  <a:lnTo>
                    <a:pt x="421481" y="2041646"/>
                  </a:lnTo>
                  <a:lnTo>
                    <a:pt x="386975" y="2012180"/>
                  </a:lnTo>
                  <a:lnTo>
                    <a:pt x="353665" y="1981401"/>
                  </a:lnTo>
                  <a:lnTo>
                    <a:pt x="321589" y="1949347"/>
                  </a:lnTo>
                  <a:lnTo>
                    <a:pt x="290789" y="1916059"/>
                  </a:lnTo>
                  <a:lnTo>
                    <a:pt x="261303" y="1881577"/>
                  </a:lnTo>
                  <a:lnTo>
                    <a:pt x="233172" y="1845941"/>
                  </a:lnTo>
                  <a:lnTo>
                    <a:pt x="206437" y="1809190"/>
                  </a:lnTo>
                  <a:lnTo>
                    <a:pt x="181136" y="1771365"/>
                  </a:lnTo>
                  <a:lnTo>
                    <a:pt x="157310" y="1732505"/>
                  </a:lnTo>
                  <a:lnTo>
                    <a:pt x="134999" y="1692651"/>
                  </a:lnTo>
                  <a:lnTo>
                    <a:pt x="114244" y="1651843"/>
                  </a:lnTo>
                  <a:lnTo>
                    <a:pt x="95083" y="1610120"/>
                  </a:lnTo>
                  <a:lnTo>
                    <a:pt x="77557" y="1567522"/>
                  </a:lnTo>
                  <a:lnTo>
                    <a:pt x="61706" y="1524090"/>
                  </a:lnTo>
                  <a:lnTo>
                    <a:pt x="47570" y="1479863"/>
                  </a:lnTo>
                  <a:lnTo>
                    <a:pt x="35190" y="1434881"/>
                  </a:lnTo>
                  <a:lnTo>
                    <a:pt x="24604" y="1389185"/>
                  </a:lnTo>
                  <a:lnTo>
                    <a:pt x="15853" y="1342814"/>
                  </a:lnTo>
                  <a:lnTo>
                    <a:pt x="8977" y="1295808"/>
                  </a:lnTo>
                  <a:lnTo>
                    <a:pt x="4016" y="1248207"/>
                  </a:lnTo>
                  <a:lnTo>
                    <a:pt x="1010" y="1200052"/>
                  </a:lnTo>
                  <a:lnTo>
                    <a:pt x="0" y="1151381"/>
                  </a:lnTo>
                  <a:close/>
                </a:path>
              </a:pathLst>
            </a:custGeom>
            <a:ln w="9144">
              <a:solidFill>
                <a:srgbClr val="000000"/>
              </a:solidFill>
            </a:ln>
          </p:spPr>
          <p:txBody>
            <a:bodyPr wrap="square" lIns="0" tIns="0" rIns="0" bIns="0" rtlCol="0"/>
            <a:lstStyle/>
            <a:p>
              <a:endParaRPr/>
            </a:p>
          </p:txBody>
        </p:sp>
        <p:sp>
          <p:nvSpPr>
            <p:cNvPr id="11" name="object 11"/>
            <p:cNvSpPr/>
            <p:nvPr/>
          </p:nvSpPr>
          <p:spPr>
            <a:xfrm>
              <a:off x="3851148" y="1915668"/>
              <a:ext cx="2016760" cy="2016760"/>
            </a:xfrm>
            <a:custGeom>
              <a:avLst/>
              <a:gdLst/>
              <a:ahLst/>
              <a:cxnLst/>
              <a:rect l="l" t="t" r="r" b="b"/>
              <a:pathLst>
                <a:path w="2016760" h="2016760">
                  <a:moveTo>
                    <a:pt x="1008126" y="0"/>
                  </a:moveTo>
                  <a:lnTo>
                    <a:pt x="959281" y="1162"/>
                  </a:lnTo>
                  <a:lnTo>
                    <a:pt x="911037" y="4614"/>
                  </a:lnTo>
                  <a:lnTo>
                    <a:pt x="863445" y="10304"/>
                  </a:lnTo>
                  <a:lnTo>
                    <a:pt x="816559" y="18178"/>
                  </a:lnTo>
                  <a:lnTo>
                    <a:pt x="770432" y="28183"/>
                  </a:lnTo>
                  <a:lnTo>
                    <a:pt x="725115" y="40267"/>
                  </a:lnTo>
                  <a:lnTo>
                    <a:pt x="680663" y="54376"/>
                  </a:lnTo>
                  <a:lnTo>
                    <a:pt x="637127" y="70459"/>
                  </a:lnTo>
                  <a:lnTo>
                    <a:pt x="594561" y="88462"/>
                  </a:lnTo>
                  <a:lnTo>
                    <a:pt x="553017" y="108332"/>
                  </a:lnTo>
                  <a:lnTo>
                    <a:pt x="512548" y="130017"/>
                  </a:lnTo>
                  <a:lnTo>
                    <a:pt x="473208" y="153463"/>
                  </a:lnTo>
                  <a:lnTo>
                    <a:pt x="435048" y="178619"/>
                  </a:lnTo>
                  <a:lnTo>
                    <a:pt x="398122" y="205431"/>
                  </a:lnTo>
                  <a:lnTo>
                    <a:pt x="362483" y="233846"/>
                  </a:lnTo>
                  <a:lnTo>
                    <a:pt x="328183" y="263811"/>
                  </a:lnTo>
                  <a:lnTo>
                    <a:pt x="295274" y="295275"/>
                  </a:lnTo>
                  <a:lnTo>
                    <a:pt x="263811" y="328183"/>
                  </a:lnTo>
                  <a:lnTo>
                    <a:pt x="233846" y="362483"/>
                  </a:lnTo>
                  <a:lnTo>
                    <a:pt x="205431" y="398122"/>
                  </a:lnTo>
                  <a:lnTo>
                    <a:pt x="178619" y="435048"/>
                  </a:lnTo>
                  <a:lnTo>
                    <a:pt x="153463" y="473208"/>
                  </a:lnTo>
                  <a:lnTo>
                    <a:pt x="130017" y="512548"/>
                  </a:lnTo>
                  <a:lnTo>
                    <a:pt x="108332" y="553017"/>
                  </a:lnTo>
                  <a:lnTo>
                    <a:pt x="88462" y="594561"/>
                  </a:lnTo>
                  <a:lnTo>
                    <a:pt x="70459" y="637127"/>
                  </a:lnTo>
                  <a:lnTo>
                    <a:pt x="54376" y="680663"/>
                  </a:lnTo>
                  <a:lnTo>
                    <a:pt x="40267" y="725115"/>
                  </a:lnTo>
                  <a:lnTo>
                    <a:pt x="28183" y="770432"/>
                  </a:lnTo>
                  <a:lnTo>
                    <a:pt x="18178" y="816559"/>
                  </a:lnTo>
                  <a:lnTo>
                    <a:pt x="10304" y="863445"/>
                  </a:lnTo>
                  <a:lnTo>
                    <a:pt x="4614" y="911037"/>
                  </a:lnTo>
                  <a:lnTo>
                    <a:pt x="1162" y="959281"/>
                  </a:lnTo>
                  <a:lnTo>
                    <a:pt x="0" y="1008126"/>
                  </a:lnTo>
                  <a:lnTo>
                    <a:pt x="1162" y="1056970"/>
                  </a:lnTo>
                  <a:lnTo>
                    <a:pt x="4614" y="1105214"/>
                  </a:lnTo>
                  <a:lnTo>
                    <a:pt x="10304" y="1152806"/>
                  </a:lnTo>
                  <a:lnTo>
                    <a:pt x="18178" y="1199692"/>
                  </a:lnTo>
                  <a:lnTo>
                    <a:pt x="28183" y="1245819"/>
                  </a:lnTo>
                  <a:lnTo>
                    <a:pt x="40267" y="1291136"/>
                  </a:lnTo>
                  <a:lnTo>
                    <a:pt x="54376" y="1335588"/>
                  </a:lnTo>
                  <a:lnTo>
                    <a:pt x="70459" y="1379124"/>
                  </a:lnTo>
                  <a:lnTo>
                    <a:pt x="88462" y="1421690"/>
                  </a:lnTo>
                  <a:lnTo>
                    <a:pt x="108332" y="1463234"/>
                  </a:lnTo>
                  <a:lnTo>
                    <a:pt x="130017" y="1503703"/>
                  </a:lnTo>
                  <a:lnTo>
                    <a:pt x="153463" y="1543043"/>
                  </a:lnTo>
                  <a:lnTo>
                    <a:pt x="178619" y="1581203"/>
                  </a:lnTo>
                  <a:lnTo>
                    <a:pt x="205431" y="1618129"/>
                  </a:lnTo>
                  <a:lnTo>
                    <a:pt x="233846" y="1653768"/>
                  </a:lnTo>
                  <a:lnTo>
                    <a:pt x="263811" y="1688068"/>
                  </a:lnTo>
                  <a:lnTo>
                    <a:pt x="295275" y="1720977"/>
                  </a:lnTo>
                  <a:lnTo>
                    <a:pt x="328183" y="1752440"/>
                  </a:lnTo>
                  <a:lnTo>
                    <a:pt x="362483" y="1782405"/>
                  </a:lnTo>
                  <a:lnTo>
                    <a:pt x="398122" y="1810820"/>
                  </a:lnTo>
                  <a:lnTo>
                    <a:pt x="435048" y="1837632"/>
                  </a:lnTo>
                  <a:lnTo>
                    <a:pt x="473208" y="1862788"/>
                  </a:lnTo>
                  <a:lnTo>
                    <a:pt x="512548" y="1886234"/>
                  </a:lnTo>
                  <a:lnTo>
                    <a:pt x="553017" y="1907919"/>
                  </a:lnTo>
                  <a:lnTo>
                    <a:pt x="594561" y="1927789"/>
                  </a:lnTo>
                  <a:lnTo>
                    <a:pt x="637127" y="1945792"/>
                  </a:lnTo>
                  <a:lnTo>
                    <a:pt x="680663" y="1961875"/>
                  </a:lnTo>
                  <a:lnTo>
                    <a:pt x="725115" y="1975984"/>
                  </a:lnTo>
                  <a:lnTo>
                    <a:pt x="770432" y="1988068"/>
                  </a:lnTo>
                  <a:lnTo>
                    <a:pt x="816559" y="1998073"/>
                  </a:lnTo>
                  <a:lnTo>
                    <a:pt x="863445" y="2005947"/>
                  </a:lnTo>
                  <a:lnTo>
                    <a:pt x="911037" y="2011637"/>
                  </a:lnTo>
                  <a:lnTo>
                    <a:pt x="959281" y="2015089"/>
                  </a:lnTo>
                  <a:lnTo>
                    <a:pt x="1008126" y="2016252"/>
                  </a:lnTo>
                  <a:lnTo>
                    <a:pt x="1056970" y="2015089"/>
                  </a:lnTo>
                  <a:lnTo>
                    <a:pt x="1105214" y="2011637"/>
                  </a:lnTo>
                  <a:lnTo>
                    <a:pt x="1152806" y="2005947"/>
                  </a:lnTo>
                  <a:lnTo>
                    <a:pt x="1199692" y="1998073"/>
                  </a:lnTo>
                  <a:lnTo>
                    <a:pt x="1245819" y="1988068"/>
                  </a:lnTo>
                  <a:lnTo>
                    <a:pt x="1291136" y="1975984"/>
                  </a:lnTo>
                  <a:lnTo>
                    <a:pt x="1335588" y="1961875"/>
                  </a:lnTo>
                  <a:lnTo>
                    <a:pt x="1379124" y="1945792"/>
                  </a:lnTo>
                  <a:lnTo>
                    <a:pt x="1421690" y="1927789"/>
                  </a:lnTo>
                  <a:lnTo>
                    <a:pt x="1463234" y="1907919"/>
                  </a:lnTo>
                  <a:lnTo>
                    <a:pt x="1503703" y="1886234"/>
                  </a:lnTo>
                  <a:lnTo>
                    <a:pt x="1543043" y="1862788"/>
                  </a:lnTo>
                  <a:lnTo>
                    <a:pt x="1581203" y="1837632"/>
                  </a:lnTo>
                  <a:lnTo>
                    <a:pt x="1618129" y="1810820"/>
                  </a:lnTo>
                  <a:lnTo>
                    <a:pt x="1653768" y="1782405"/>
                  </a:lnTo>
                  <a:lnTo>
                    <a:pt x="1688068" y="1752440"/>
                  </a:lnTo>
                  <a:lnTo>
                    <a:pt x="1720977" y="1720977"/>
                  </a:lnTo>
                  <a:lnTo>
                    <a:pt x="1752440" y="1688068"/>
                  </a:lnTo>
                  <a:lnTo>
                    <a:pt x="1782405" y="1653768"/>
                  </a:lnTo>
                  <a:lnTo>
                    <a:pt x="1810820" y="1618129"/>
                  </a:lnTo>
                  <a:lnTo>
                    <a:pt x="1837632" y="1581203"/>
                  </a:lnTo>
                  <a:lnTo>
                    <a:pt x="1862788" y="1543043"/>
                  </a:lnTo>
                  <a:lnTo>
                    <a:pt x="1886234" y="1503703"/>
                  </a:lnTo>
                  <a:lnTo>
                    <a:pt x="1907919" y="1463234"/>
                  </a:lnTo>
                  <a:lnTo>
                    <a:pt x="1927789" y="1421690"/>
                  </a:lnTo>
                  <a:lnTo>
                    <a:pt x="1945792" y="1379124"/>
                  </a:lnTo>
                  <a:lnTo>
                    <a:pt x="1961875" y="1335588"/>
                  </a:lnTo>
                  <a:lnTo>
                    <a:pt x="1975984" y="1291136"/>
                  </a:lnTo>
                  <a:lnTo>
                    <a:pt x="1988068" y="1245819"/>
                  </a:lnTo>
                  <a:lnTo>
                    <a:pt x="1998073" y="1199692"/>
                  </a:lnTo>
                  <a:lnTo>
                    <a:pt x="2005947" y="1152806"/>
                  </a:lnTo>
                  <a:lnTo>
                    <a:pt x="2011637" y="1105214"/>
                  </a:lnTo>
                  <a:lnTo>
                    <a:pt x="2015089" y="1056970"/>
                  </a:lnTo>
                  <a:lnTo>
                    <a:pt x="2016252" y="1008126"/>
                  </a:lnTo>
                  <a:lnTo>
                    <a:pt x="2015089" y="959281"/>
                  </a:lnTo>
                  <a:lnTo>
                    <a:pt x="2011637" y="911037"/>
                  </a:lnTo>
                  <a:lnTo>
                    <a:pt x="2005947" y="863445"/>
                  </a:lnTo>
                  <a:lnTo>
                    <a:pt x="1998073" y="816559"/>
                  </a:lnTo>
                  <a:lnTo>
                    <a:pt x="1988068" y="770432"/>
                  </a:lnTo>
                  <a:lnTo>
                    <a:pt x="1975984" y="725115"/>
                  </a:lnTo>
                  <a:lnTo>
                    <a:pt x="1961875" y="680663"/>
                  </a:lnTo>
                  <a:lnTo>
                    <a:pt x="1945792" y="637127"/>
                  </a:lnTo>
                  <a:lnTo>
                    <a:pt x="1927789" y="594561"/>
                  </a:lnTo>
                  <a:lnTo>
                    <a:pt x="1907919" y="553017"/>
                  </a:lnTo>
                  <a:lnTo>
                    <a:pt x="1886234" y="512548"/>
                  </a:lnTo>
                  <a:lnTo>
                    <a:pt x="1862788" y="473208"/>
                  </a:lnTo>
                  <a:lnTo>
                    <a:pt x="1837632" y="435048"/>
                  </a:lnTo>
                  <a:lnTo>
                    <a:pt x="1810820" y="398122"/>
                  </a:lnTo>
                  <a:lnTo>
                    <a:pt x="1782405" y="362483"/>
                  </a:lnTo>
                  <a:lnTo>
                    <a:pt x="1752440" y="328183"/>
                  </a:lnTo>
                  <a:lnTo>
                    <a:pt x="1720976" y="295274"/>
                  </a:lnTo>
                  <a:lnTo>
                    <a:pt x="1688068" y="263811"/>
                  </a:lnTo>
                  <a:lnTo>
                    <a:pt x="1653768" y="233846"/>
                  </a:lnTo>
                  <a:lnTo>
                    <a:pt x="1618129" y="205431"/>
                  </a:lnTo>
                  <a:lnTo>
                    <a:pt x="1581203" y="178619"/>
                  </a:lnTo>
                  <a:lnTo>
                    <a:pt x="1543043" y="153463"/>
                  </a:lnTo>
                  <a:lnTo>
                    <a:pt x="1503703" y="130017"/>
                  </a:lnTo>
                  <a:lnTo>
                    <a:pt x="1463234" y="108332"/>
                  </a:lnTo>
                  <a:lnTo>
                    <a:pt x="1421690" y="88462"/>
                  </a:lnTo>
                  <a:lnTo>
                    <a:pt x="1379124" y="70459"/>
                  </a:lnTo>
                  <a:lnTo>
                    <a:pt x="1335588" y="54376"/>
                  </a:lnTo>
                  <a:lnTo>
                    <a:pt x="1291136" y="40267"/>
                  </a:lnTo>
                  <a:lnTo>
                    <a:pt x="1245819" y="28183"/>
                  </a:lnTo>
                  <a:lnTo>
                    <a:pt x="1199692" y="18178"/>
                  </a:lnTo>
                  <a:lnTo>
                    <a:pt x="1152806" y="10304"/>
                  </a:lnTo>
                  <a:lnTo>
                    <a:pt x="1105214" y="4614"/>
                  </a:lnTo>
                  <a:lnTo>
                    <a:pt x="1056970" y="1162"/>
                  </a:lnTo>
                  <a:lnTo>
                    <a:pt x="1008126" y="0"/>
                  </a:lnTo>
                  <a:close/>
                </a:path>
              </a:pathLst>
            </a:custGeom>
            <a:solidFill>
              <a:srgbClr val="BADFE2"/>
            </a:solidFill>
          </p:spPr>
          <p:txBody>
            <a:bodyPr wrap="square" lIns="0" tIns="0" rIns="0" bIns="0" rtlCol="0"/>
            <a:lstStyle/>
            <a:p>
              <a:endParaRPr/>
            </a:p>
          </p:txBody>
        </p:sp>
        <p:sp>
          <p:nvSpPr>
            <p:cNvPr id="12" name="object 12"/>
            <p:cNvSpPr/>
            <p:nvPr/>
          </p:nvSpPr>
          <p:spPr>
            <a:xfrm>
              <a:off x="3851148" y="1915668"/>
              <a:ext cx="2016760" cy="2016760"/>
            </a:xfrm>
            <a:custGeom>
              <a:avLst/>
              <a:gdLst/>
              <a:ahLst/>
              <a:cxnLst/>
              <a:rect l="l" t="t" r="r" b="b"/>
              <a:pathLst>
                <a:path w="2016760" h="2016760">
                  <a:moveTo>
                    <a:pt x="0" y="1008126"/>
                  </a:moveTo>
                  <a:lnTo>
                    <a:pt x="1162" y="959281"/>
                  </a:lnTo>
                  <a:lnTo>
                    <a:pt x="4614" y="911037"/>
                  </a:lnTo>
                  <a:lnTo>
                    <a:pt x="10304" y="863445"/>
                  </a:lnTo>
                  <a:lnTo>
                    <a:pt x="18178" y="816559"/>
                  </a:lnTo>
                  <a:lnTo>
                    <a:pt x="28183" y="770432"/>
                  </a:lnTo>
                  <a:lnTo>
                    <a:pt x="40267" y="725115"/>
                  </a:lnTo>
                  <a:lnTo>
                    <a:pt x="54376" y="680663"/>
                  </a:lnTo>
                  <a:lnTo>
                    <a:pt x="70459" y="637127"/>
                  </a:lnTo>
                  <a:lnTo>
                    <a:pt x="88462" y="594561"/>
                  </a:lnTo>
                  <a:lnTo>
                    <a:pt x="108332" y="553017"/>
                  </a:lnTo>
                  <a:lnTo>
                    <a:pt x="130017" y="512548"/>
                  </a:lnTo>
                  <a:lnTo>
                    <a:pt x="153463" y="473208"/>
                  </a:lnTo>
                  <a:lnTo>
                    <a:pt x="178619" y="435048"/>
                  </a:lnTo>
                  <a:lnTo>
                    <a:pt x="205431" y="398122"/>
                  </a:lnTo>
                  <a:lnTo>
                    <a:pt x="233846" y="362483"/>
                  </a:lnTo>
                  <a:lnTo>
                    <a:pt x="263811" y="328183"/>
                  </a:lnTo>
                  <a:lnTo>
                    <a:pt x="295274" y="295275"/>
                  </a:lnTo>
                  <a:lnTo>
                    <a:pt x="328183" y="263811"/>
                  </a:lnTo>
                  <a:lnTo>
                    <a:pt x="362483" y="233846"/>
                  </a:lnTo>
                  <a:lnTo>
                    <a:pt x="398122" y="205431"/>
                  </a:lnTo>
                  <a:lnTo>
                    <a:pt x="435048" y="178619"/>
                  </a:lnTo>
                  <a:lnTo>
                    <a:pt x="473208" y="153463"/>
                  </a:lnTo>
                  <a:lnTo>
                    <a:pt x="512548" y="130017"/>
                  </a:lnTo>
                  <a:lnTo>
                    <a:pt x="553017" y="108332"/>
                  </a:lnTo>
                  <a:lnTo>
                    <a:pt x="594561" y="88462"/>
                  </a:lnTo>
                  <a:lnTo>
                    <a:pt x="637127" y="70459"/>
                  </a:lnTo>
                  <a:lnTo>
                    <a:pt x="680663" y="54376"/>
                  </a:lnTo>
                  <a:lnTo>
                    <a:pt x="725115" y="40267"/>
                  </a:lnTo>
                  <a:lnTo>
                    <a:pt x="770432" y="28183"/>
                  </a:lnTo>
                  <a:lnTo>
                    <a:pt x="816559" y="18178"/>
                  </a:lnTo>
                  <a:lnTo>
                    <a:pt x="863445" y="10304"/>
                  </a:lnTo>
                  <a:lnTo>
                    <a:pt x="911037" y="4614"/>
                  </a:lnTo>
                  <a:lnTo>
                    <a:pt x="959281" y="1162"/>
                  </a:lnTo>
                  <a:lnTo>
                    <a:pt x="1008126" y="0"/>
                  </a:lnTo>
                  <a:lnTo>
                    <a:pt x="1056970" y="1162"/>
                  </a:lnTo>
                  <a:lnTo>
                    <a:pt x="1105214" y="4614"/>
                  </a:lnTo>
                  <a:lnTo>
                    <a:pt x="1152806" y="10304"/>
                  </a:lnTo>
                  <a:lnTo>
                    <a:pt x="1199692" y="18178"/>
                  </a:lnTo>
                  <a:lnTo>
                    <a:pt x="1245819" y="28183"/>
                  </a:lnTo>
                  <a:lnTo>
                    <a:pt x="1291136" y="40267"/>
                  </a:lnTo>
                  <a:lnTo>
                    <a:pt x="1335588" y="54376"/>
                  </a:lnTo>
                  <a:lnTo>
                    <a:pt x="1379124" y="70459"/>
                  </a:lnTo>
                  <a:lnTo>
                    <a:pt x="1421690" y="88462"/>
                  </a:lnTo>
                  <a:lnTo>
                    <a:pt x="1463234" y="108332"/>
                  </a:lnTo>
                  <a:lnTo>
                    <a:pt x="1503703" y="130017"/>
                  </a:lnTo>
                  <a:lnTo>
                    <a:pt x="1543043" y="153463"/>
                  </a:lnTo>
                  <a:lnTo>
                    <a:pt x="1581203" y="178619"/>
                  </a:lnTo>
                  <a:lnTo>
                    <a:pt x="1618129" y="205431"/>
                  </a:lnTo>
                  <a:lnTo>
                    <a:pt x="1653768" y="233846"/>
                  </a:lnTo>
                  <a:lnTo>
                    <a:pt x="1688068" y="263811"/>
                  </a:lnTo>
                  <a:lnTo>
                    <a:pt x="1720976" y="295274"/>
                  </a:lnTo>
                  <a:lnTo>
                    <a:pt x="1752440" y="328183"/>
                  </a:lnTo>
                  <a:lnTo>
                    <a:pt x="1782405" y="362483"/>
                  </a:lnTo>
                  <a:lnTo>
                    <a:pt x="1810820" y="398122"/>
                  </a:lnTo>
                  <a:lnTo>
                    <a:pt x="1837632" y="435048"/>
                  </a:lnTo>
                  <a:lnTo>
                    <a:pt x="1862788" y="473208"/>
                  </a:lnTo>
                  <a:lnTo>
                    <a:pt x="1886234" y="512548"/>
                  </a:lnTo>
                  <a:lnTo>
                    <a:pt x="1907919" y="553017"/>
                  </a:lnTo>
                  <a:lnTo>
                    <a:pt x="1927789" y="594561"/>
                  </a:lnTo>
                  <a:lnTo>
                    <a:pt x="1945792" y="637127"/>
                  </a:lnTo>
                  <a:lnTo>
                    <a:pt x="1961875" y="680663"/>
                  </a:lnTo>
                  <a:lnTo>
                    <a:pt x="1975984" y="725115"/>
                  </a:lnTo>
                  <a:lnTo>
                    <a:pt x="1988068" y="770432"/>
                  </a:lnTo>
                  <a:lnTo>
                    <a:pt x="1998073" y="816559"/>
                  </a:lnTo>
                  <a:lnTo>
                    <a:pt x="2005947" y="863445"/>
                  </a:lnTo>
                  <a:lnTo>
                    <a:pt x="2011637" y="911037"/>
                  </a:lnTo>
                  <a:lnTo>
                    <a:pt x="2015089" y="959281"/>
                  </a:lnTo>
                  <a:lnTo>
                    <a:pt x="2016252" y="1008126"/>
                  </a:lnTo>
                  <a:lnTo>
                    <a:pt x="2015089" y="1056970"/>
                  </a:lnTo>
                  <a:lnTo>
                    <a:pt x="2011637" y="1105214"/>
                  </a:lnTo>
                  <a:lnTo>
                    <a:pt x="2005947" y="1152806"/>
                  </a:lnTo>
                  <a:lnTo>
                    <a:pt x="1998073" y="1199692"/>
                  </a:lnTo>
                  <a:lnTo>
                    <a:pt x="1988068" y="1245819"/>
                  </a:lnTo>
                  <a:lnTo>
                    <a:pt x="1975984" y="1291136"/>
                  </a:lnTo>
                  <a:lnTo>
                    <a:pt x="1961875" y="1335588"/>
                  </a:lnTo>
                  <a:lnTo>
                    <a:pt x="1945792" y="1379124"/>
                  </a:lnTo>
                  <a:lnTo>
                    <a:pt x="1927789" y="1421690"/>
                  </a:lnTo>
                  <a:lnTo>
                    <a:pt x="1907919" y="1463234"/>
                  </a:lnTo>
                  <a:lnTo>
                    <a:pt x="1886234" y="1503703"/>
                  </a:lnTo>
                  <a:lnTo>
                    <a:pt x="1862788" y="1543043"/>
                  </a:lnTo>
                  <a:lnTo>
                    <a:pt x="1837632" y="1581203"/>
                  </a:lnTo>
                  <a:lnTo>
                    <a:pt x="1810820" y="1618129"/>
                  </a:lnTo>
                  <a:lnTo>
                    <a:pt x="1782405" y="1653768"/>
                  </a:lnTo>
                  <a:lnTo>
                    <a:pt x="1752440" y="1688068"/>
                  </a:lnTo>
                  <a:lnTo>
                    <a:pt x="1720977" y="1720977"/>
                  </a:lnTo>
                  <a:lnTo>
                    <a:pt x="1688068" y="1752440"/>
                  </a:lnTo>
                  <a:lnTo>
                    <a:pt x="1653768" y="1782405"/>
                  </a:lnTo>
                  <a:lnTo>
                    <a:pt x="1618129" y="1810820"/>
                  </a:lnTo>
                  <a:lnTo>
                    <a:pt x="1581203" y="1837632"/>
                  </a:lnTo>
                  <a:lnTo>
                    <a:pt x="1543043" y="1862788"/>
                  </a:lnTo>
                  <a:lnTo>
                    <a:pt x="1503703" y="1886234"/>
                  </a:lnTo>
                  <a:lnTo>
                    <a:pt x="1463234" y="1907919"/>
                  </a:lnTo>
                  <a:lnTo>
                    <a:pt x="1421690" y="1927789"/>
                  </a:lnTo>
                  <a:lnTo>
                    <a:pt x="1379124" y="1945792"/>
                  </a:lnTo>
                  <a:lnTo>
                    <a:pt x="1335588" y="1961875"/>
                  </a:lnTo>
                  <a:lnTo>
                    <a:pt x="1291136" y="1975984"/>
                  </a:lnTo>
                  <a:lnTo>
                    <a:pt x="1245819" y="1988068"/>
                  </a:lnTo>
                  <a:lnTo>
                    <a:pt x="1199692" y="1998073"/>
                  </a:lnTo>
                  <a:lnTo>
                    <a:pt x="1152806" y="2005947"/>
                  </a:lnTo>
                  <a:lnTo>
                    <a:pt x="1105214" y="2011637"/>
                  </a:lnTo>
                  <a:lnTo>
                    <a:pt x="1056970" y="2015089"/>
                  </a:lnTo>
                  <a:lnTo>
                    <a:pt x="1008126" y="2016252"/>
                  </a:lnTo>
                  <a:lnTo>
                    <a:pt x="959281" y="2015089"/>
                  </a:lnTo>
                  <a:lnTo>
                    <a:pt x="911037" y="2011637"/>
                  </a:lnTo>
                  <a:lnTo>
                    <a:pt x="863445" y="2005947"/>
                  </a:lnTo>
                  <a:lnTo>
                    <a:pt x="816559" y="1998073"/>
                  </a:lnTo>
                  <a:lnTo>
                    <a:pt x="770432" y="1988068"/>
                  </a:lnTo>
                  <a:lnTo>
                    <a:pt x="725115" y="1975984"/>
                  </a:lnTo>
                  <a:lnTo>
                    <a:pt x="680663" y="1961875"/>
                  </a:lnTo>
                  <a:lnTo>
                    <a:pt x="637127" y="1945792"/>
                  </a:lnTo>
                  <a:lnTo>
                    <a:pt x="594561" y="1927789"/>
                  </a:lnTo>
                  <a:lnTo>
                    <a:pt x="553017" y="1907919"/>
                  </a:lnTo>
                  <a:lnTo>
                    <a:pt x="512548" y="1886234"/>
                  </a:lnTo>
                  <a:lnTo>
                    <a:pt x="473208" y="1862788"/>
                  </a:lnTo>
                  <a:lnTo>
                    <a:pt x="435048" y="1837632"/>
                  </a:lnTo>
                  <a:lnTo>
                    <a:pt x="398122" y="1810820"/>
                  </a:lnTo>
                  <a:lnTo>
                    <a:pt x="362483" y="1782405"/>
                  </a:lnTo>
                  <a:lnTo>
                    <a:pt x="328183" y="1752440"/>
                  </a:lnTo>
                  <a:lnTo>
                    <a:pt x="295275" y="1720977"/>
                  </a:lnTo>
                  <a:lnTo>
                    <a:pt x="263811" y="1688068"/>
                  </a:lnTo>
                  <a:lnTo>
                    <a:pt x="233846" y="1653768"/>
                  </a:lnTo>
                  <a:lnTo>
                    <a:pt x="205431" y="1618129"/>
                  </a:lnTo>
                  <a:lnTo>
                    <a:pt x="178619" y="1581203"/>
                  </a:lnTo>
                  <a:lnTo>
                    <a:pt x="153463" y="1543043"/>
                  </a:lnTo>
                  <a:lnTo>
                    <a:pt x="130017" y="1503703"/>
                  </a:lnTo>
                  <a:lnTo>
                    <a:pt x="108332" y="1463234"/>
                  </a:lnTo>
                  <a:lnTo>
                    <a:pt x="88462" y="1421690"/>
                  </a:lnTo>
                  <a:lnTo>
                    <a:pt x="70459" y="1379124"/>
                  </a:lnTo>
                  <a:lnTo>
                    <a:pt x="54376" y="1335588"/>
                  </a:lnTo>
                  <a:lnTo>
                    <a:pt x="40267" y="1291136"/>
                  </a:lnTo>
                  <a:lnTo>
                    <a:pt x="28183" y="1245819"/>
                  </a:lnTo>
                  <a:lnTo>
                    <a:pt x="18178" y="1199692"/>
                  </a:lnTo>
                  <a:lnTo>
                    <a:pt x="10304" y="1152806"/>
                  </a:lnTo>
                  <a:lnTo>
                    <a:pt x="4614" y="1105214"/>
                  </a:lnTo>
                  <a:lnTo>
                    <a:pt x="1162" y="1056970"/>
                  </a:lnTo>
                  <a:lnTo>
                    <a:pt x="0" y="1008126"/>
                  </a:lnTo>
                  <a:close/>
                </a:path>
              </a:pathLst>
            </a:custGeom>
            <a:ln w="76200">
              <a:solidFill>
                <a:srgbClr val="000000"/>
              </a:solidFill>
            </a:ln>
          </p:spPr>
          <p:txBody>
            <a:bodyPr wrap="square" lIns="0" tIns="0" rIns="0" bIns="0" rtlCol="0"/>
            <a:lstStyle/>
            <a:p>
              <a:endParaRPr/>
            </a:p>
          </p:txBody>
        </p:sp>
        <p:sp>
          <p:nvSpPr>
            <p:cNvPr id="13" name="object 13"/>
            <p:cNvSpPr/>
            <p:nvPr/>
          </p:nvSpPr>
          <p:spPr>
            <a:xfrm>
              <a:off x="4140708" y="2048256"/>
              <a:ext cx="1728470" cy="1666875"/>
            </a:xfrm>
            <a:custGeom>
              <a:avLst/>
              <a:gdLst/>
              <a:ahLst/>
              <a:cxnLst/>
              <a:rect l="l" t="t" r="r" b="b"/>
              <a:pathLst>
                <a:path w="1728470" h="1666875">
                  <a:moveTo>
                    <a:pt x="359663" y="385572"/>
                  </a:moveTo>
                  <a:lnTo>
                    <a:pt x="405241" y="378523"/>
                  </a:lnTo>
                  <a:lnTo>
                    <a:pt x="424434" y="374904"/>
                  </a:lnTo>
                  <a:lnTo>
                    <a:pt x="435244" y="373570"/>
                  </a:lnTo>
                  <a:lnTo>
                    <a:pt x="455675" y="373380"/>
                  </a:lnTo>
                </a:path>
                <a:path w="1728470" h="1666875">
                  <a:moveTo>
                    <a:pt x="647700" y="138684"/>
                  </a:moveTo>
                  <a:lnTo>
                    <a:pt x="661015" y="117758"/>
                  </a:lnTo>
                  <a:lnTo>
                    <a:pt x="673449" y="100822"/>
                  </a:lnTo>
                  <a:lnTo>
                    <a:pt x="690026" y="89481"/>
                  </a:lnTo>
                  <a:lnTo>
                    <a:pt x="715771" y="85344"/>
                  </a:lnTo>
                  <a:lnTo>
                    <a:pt x="731341" y="87546"/>
                  </a:lnTo>
                  <a:lnTo>
                    <a:pt x="748506" y="92392"/>
                  </a:lnTo>
                  <a:lnTo>
                    <a:pt x="762384" y="97238"/>
                  </a:lnTo>
                  <a:lnTo>
                    <a:pt x="768095" y="99441"/>
                  </a:lnTo>
                </a:path>
                <a:path w="1728470" h="1666875">
                  <a:moveTo>
                    <a:pt x="862583" y="355092"/>
                  </a:moveTo>
                  <a:lnTo>
                    <a:pt x="876055" y="334166"/>
                  </a:lnTo>
                  <a:lnTo>
                    <a:pt x="888634" y="317230"/>
                  </a:lnTo>
                  <a:lnTo>
                    <a:pt x="905428" y="305889"/>
                  </a:lnTo>
                  <a:lnTo>
                    <a:pt x="931544" y="301752"/>
                  </a:lnTo>
                  <a:lnTo>
                    <a:pt x="947267" y="303954"/>
                  </a:lnTo>
                  <a:lnTo>
                    <a:pt x="964644" y="308800"/>
                  </a:lnTo>
                  <a:lnTo>
                    <a:pt x="978711" y="313646"/>
                  </a:lnTo>
                  <a:lnTo>
                    <a:pt x="984503" y="315849"/>
                  </a:lnTo>
                </a:path>
                <a:path w="1728470" h="1666875">
                  <a:moveTo>
                    <a:pt x="1176527" y="210312"/>
                  </a:moveTo>
                  <a:lnTo>
                    <a:pt x="1189843" y="189386"/>
                  </a:lnTo>
                  <a:lnTo>
                    <a:pt x="1202277" y="172450"/>
                  </a:lnTo>
                  <a:lnTo>
                    <a:pt x="1218854" y="161109"/>
                  </a:lnTo>
                  <a:lnTo>
                    <a:pt x="1244600" y="156972"/>
                  </a:lnTo>
                  <a:lnTo>
                    <a:pt x="1260169" y="159174"/>
                  </a:lnTo>
                  <a:lnTo>
                    <a:pt x="1277334" y="164020"/>
                  </a:lnTo>
                  <a:lnTo>
                    <a:pt x="1291212" y="168866"/>
                  </a:lnTo>
                  <a:lnTo>
                    <a:pt x="1296924" y="171069"/>
                  </a:lnTo>
                </a:path>
                <a:path w="1728470" h="1666875">
                  <a:moveTo>
                    <a:pt x="1295400" y="786384"/>
                  </a:moveTo>
                  <a:lnTo>
                    <a:pt x="1308715" y="765458"/>
                  </a:lnTo>
                  <a:lnTo>
                    <a:pt x="1321149" y="748522"/>
                  </a:lnTo>
                  <a:lnTo>
                    <a:pt x="1337726" y="737181"/>
                  </a:lnTo>
                  <a:lnTo>
                    <a:pt x="1363471" y="733044"/>
                  </a:lnTo>
                  <a:lnTo>
                    <a:pt x="1379041" y="735246"/>
                  </a:lnTo>
                  <a:lnTo>
                    <a:pt x="1396206" y="740092"/>
                  </a:lnTo>
                  <a:lnTo>
                    <a:pt x="1410084" y="744938"/>
                  </a:lnTo>
                  <a:lnTo>
                    <a:pt x="1415795" y="747141"/>
                  </a:lnTo>
                </a:path>
                <a:path w="1728470" h="1666875">
                  <a:moveTo>
                    <a:pt x="1510283" y="1002792"/>
                  </a:moveTo>
                  <a:lnTo>
                    <a:pt x="1523755" y="981866"/>
                  </a:lnTo>
                  <a:lnTo>
                    <a:pt x="1536334" y="964930"/>
                  </a:lnTo>
                  <a:lnTo>
                    <a:pt x="1553128" y="953589"/>
                  </a:lnTo>
                  <a:lnTo>
                    <a:pt x="1579244" y="949452"/>
                  </a:lnTo>
                  <a:lnTo>
                    <a:pt x="1594967" y="951654"/>
                  </a:lnTo>
                  <a:lnTo>
                    <a:pt x="1612344" y="956500"/>
                  </a:lnTo>
                  <a:lnTo>
                    <a:pt x="1626411" y="961346"/>
                  </a:lnTo>
                  <a:lnTo>
                    <a:pt x="1632203" y="963549"/>
                  </a:lnTo>
                </a:path>
                <a:path w="1728470" h="1666875">
                  <a:moveTo>
                    <a:pt x="768095" y="1164336"/>
                  </a:moveTo>
                  <a:lnTo>
                    <a:pt x="813006" y="1157287"/>
                  </a:lnTo>
                  <a:lnTo>
                    <a:pt x="831913" y="1153668"/>
                  </a:lnTo>
                  <a:lnTo>
                    <a:pt x="842533" y="1152334"/>
                  </a:lnTo>
                  <a:lnTo>
                    <a:pt x="862583" y="1152144"/>
                  </a:lnTo>
                </a:path>
                <a:path w="1728470" h="1666875">
                  <a:moveTo>
                    <a:pt x="1056131" y="530352"/>
                  </a:moveTo>
                  <a:lnTo>
                    <a:pt x="1101709" y="522422"/>
                  </a:lnTo>
                  <a:lnTo>
                    <a:pt x="1120902" y="518350"/>
                  </a:lnTo>
                  <a:lnTo>
                    <a:pt x="1131712" y="516850"/>
                  </a:lnTo>
                  <a:lnTo>
                    <a:pt x="1152143" y="516636"/>
                  </a:lnTo>
                </a:path>
                <a:path w="1728470" h="1666875">
                  <a:moveTo>
                    <a:pt x="1417319" y="530352"/>
                  </a:moveTo>
                  <a:lnTo>
                    <a:pt x="1462230" y="522422"/>
                  </a:lnTo>
                  <a:lnTo>
                    <a:pt x="1481137" y="518350"/>
                  </a:lnTo>
                  <a:lnTo>
                    <a:pt x="1491757" y="516850"/>
                  </a:lnTo>
                  <a:lnTo>
                    <a:pt x="1511807" y="516636"/>
                  </a:lnTo>
                </a:path>
                <a:path w="1728470" h="1666875">
                  <a:moveTo>
                    <a:pt x="790955" y="1380744"/>
                  </a:moveTo>
                  <a:lnTo>
                    <a:pt x="836533" y="1373695"/>
                  </a:lnTo>
                  <a:lnTo>
                    <a:pt x="855726" y="1370076"/>
                  </a:lnTo>
                  <a:lnTo>
                    <a:pt x="866536" y="1368742"/>
                  </a:lnTo>
                  <a:lnTo>
                    <a:pt x="886967" y="1368552"/>
                  </a:lnTo>
                </a:path>
                <a:path w="1728470" h="1666875">
                  <a:moveTo>
                    <a:pt x="1223771" y="1321308"/>
                  </a:moveTo>
                  <a:lnTo>
                    <a:pt x="1268682" y="1314259"/>
                  </a:lnTo>
                  <a:lnTo>
                    <a:pt x="1287589" y="1310640"/>
                  </a:lnTo>
                  <a:lnTo>
                    <a:pt x="1298209" y="1309306"/>
                  </a:lnTo>
                  <a:lnTo>
                    <a:pt x="1318259" y="1309116"/>
                  </a:lnTo>
                </a:path>
                <a:path w="1728470" h="1666875">
                  <a:moveTo>
                    <a:pt x="644651" y="877824"/>
                  </a:moveTo>
                  <a:lnTo>
                    <a:pt x="679602" y="900431"/>
                  </a:lnTo>
                  <a:lnTo>
                    <a:pt x="719089" y="929528"/>
                  </a:lnTo>
                  <a:lnTo>
                    <a:pt x="757934" y="947314"/>
                  </a:lnTo>
                  <a:lnTo>
                    <a:pt x="790955" y="935990"/>
                  </a:lnTo>
                </a:path>
                <a:path w="1728470" h="1666875">
                  <a:moveTo>
                    <a:pt x="143255" y="733044"/>
                  </a:moveTo>
                  <a:lnTo>
                    <a:pt x="178605" y="755987"/>
                  </a:lnTo>
                  <a:lnTo>
                    <a:pt x="218503" y="785526"/>
                  </a:lnTo>
                  <a:lnTo>
                    <a:pt x="257734" y="803588"/>
                  </a:lnTo>
                  <a:lnTo>
                    <a:pt x="291083" y="792099"/>
                  </a:lnTo>
                </a:path>
                <a:path w="1728470" h="1666875">
                  <a:moveTo>
                    <a:pt x="431291" y="1380744"/>
                  </a:moveTo>
                  <a:lnTo>
                    <a:pt x="466641" y="1403687"/>
                  </a:lnTo>
                  <a:lnTo>
                    <a:pt x="506539" y="1433226"/>
                  </a:lnTo>
                  <a:lnTo>
                    <a:pt x="545770" y="1451288"/>
                  </a:lnTo>
                  <a:lnTo>
                    <a:pt x="579119" y="1439799"/>
                  </a:lnTo>
                </a:path>
                <a:path w="1728470" h="1666875">
                  <a:moveTo>
                    <a:pt x="934212" y="1597152"/>
                  </a:moveTo>
                  <a:lnTo>
                    <a:pt x="969561" y="1619759"/>
                  </a:lnTo>
                  <a:lnTo>
                    <a:pt x="1009459" y="1648856"/>
                  </a:lnTo>
                  <a:lnTo>
                    <a:pt x="1048690" y="1666642"/>
                  </a:lnTo>
                  <a:lnTo>
                    <a:pt x="1082039" y="1655318"/>
                  </a:lnTo>
                </a:path>
                <a:path w="1728470" h="1666875">
                  <a:moveTo>
                    <a:pt x="0" y="949452"/>
                  </a:moveTo>
                  <a:lnTo>
                    <a:pt x="35349" y="972059"/>
                  </a:lnTo>
                  <a:lnTo>
                    <a:pt x="75247" y="1001156"/>
                  </a:lnTo>
                  <a:lnTo>
                    <a:pt x="114478" y="1018942"/>
                  </a:lnTo>
                  <a:lnTo>
                    <a:pt x="147827" y="1007618"/>
                  </a:lnTo>
                </a:path>
                <a:path w="1728470" h="1666875">
                  <a:moveTo>
                    <a:pt x="359663" y="659892"/>
                  </a:moveTo>
                  <a:lnTo>
                    <a:pt x="395013" y="682835"/>
                  </a:lnTo>
                  <a:lnTo>
                    <a:pt x="434911" y="712374"/>
                  </a:lnTo>
                  <a:lnTo>
                    <a:pt x="474142" y="730436"/>
                  </a:lnTo>
                  <a:lnTo>
                    <a:pt x="507491" y="718947"/>
                  </a:lnTo>
                </a:path>
                <a:path w="1728470" h="1666875">
                  <a:moveTo>
                    <a:pt x="1435607" y="1350264"/>
                  </a:moveTo>
                  <a:lnTo>
                    <a:pt x="1470957" y="1373207"/>
                  </a:lnTo>
                  <a:lnTo>
                    <a:pt x="1510855" y="1402746"/>
                  </a:lnTo>
                  <a:lnTo>
                    <a:pt x="1550086" y="1420808"/>
                  </a:lnTo>
                  <a:lnTo>
                    <a:pt x="1583436" y="1409319"/>
                  </a:lnTo>
                </a:path>
                <a:path w="1728470" h="1666875">
                  <a:moveTo>
                    <a:pt x="1633727" y="745236"/>
                  </a:moveTo>
                  <a:lnTo>
                    <a:pt x="1678638" y="738187"/>
                  </a:lnTo>
                  <a:lnTo>
                    <a:pt x="1697545" y="734568"/>
                  </a:lnTo>
                  <a:lnTo>
                    <a:pt x="1708165" y="733234"/>
                  </a:lnTo>
                  <a:lnTo>
                    <a:pt x="1728215" y="733044"/>
                  </a:lnTo>
                </a:path>
                <a:path w="1728470" h="1666875">
                  <a:moveTo>
                    <a:pt x="1368552" y="313944"/>
                  </a:moveTo>
                  <a:lnTo>
                    <a:pt x="1413462" y="306895"/>
                  </a:lnTo>
                  <a:lnTo>
                    <a:pt x="1432369" y="303276"/>
                  </a:lnTo>
                  <a:lnTo>
                    <a:pt x="1442989" y="301942"/>
                  </a:lnTo>
                  <a:lnTo>
                    <a:pt x="1463039" y="301752"/>
                  </a:lnTo>
                </a:path>
                <a:path w="1728470" h="1666875">
                  <a:moveTo>
                    <a:pt x="1007363" y="12192"/>
                  </a:moveTo>
                  <a:lnTo>
                    <a:pt x="1052941" y="5143"/>
                  </a:lnTo>
                  <a:lnTo>
                    <a:pt x="1072134" y="1524"/>
                  </a:lnTo>
                  <a:lnTo>
                    <a:pt x="1082944" y="190"/>
                  </a:lnTo>
                  <a:lnTo>
                    <a:pt x="1103376" y="0"/>
                  </a:lnTo>
                </a:path>
                <a:path w="1728470" h="1666875">
                  <a:moveTo>
                    <a:pt x="1078991" y="1021080"/>
                  </a:moveTo>
                  <a:lnTo>
                    <a:pt x="1124569" y="1013150"/>
                  </a:lnTo>
                  <a:lnTo>
                    <a:pt x="1143762" y="1009078"/>
                  </a:lnTo>
                  <a:lnTo>
                    <a:pt x="1154572" y="1007578"/>
                  </a:lnTo>
                  <a:lnTo>
                    <a:pt x="1175003" y="1007364"/>
                  </a:lnTo>
                </a:path>
                <a:path w="1728470" h="1666875">
                  <a:moveTo>
                    <a:pt x="1583436" y="1164336"/>
                  </a:moveTo>
                  <a:lnTo>
                    <a:pt x="1629013" y="1157287"/>
                  </a:lnTo>
                  <a:lnTo>
                    <a:pt x="1648206" y="1153668"/>
                  </a:lnTo>
                  <a:lnTo>
                    <a:pt x="1659016" y="1152334"/>
                  </a:lnTo>
                  <a:lnTo>
                    <a:pt x="1679447" y="1152144"/>
                  </a:lnTo>
                </a:path>
                <a:path w="1728470" h="1666875">
                  <a:moveTo>
                    <a:pt x="143255" y="1164336"/>
                  </a:moveTo>
                  <a:lnTo>
                    <a:pt x="188833" y="1157287"/>
                  </a:lnTo>
                  <a:lnTo>
                    <a:pt x="208025" y="1153668"/>
                  </a:lnTo>
                  <a:lnTo>
                    <a:pt x="218836" y="1152334"/>
                  </a:lnTo>
                  <a:lnTo>
                    <a:pt x="239267" y="1152144"/>
                  </a:lnTo>
                </a:path>
                <a:path w="1728470" h="1666875">
                  <a:moveTo>
                    <a:pt x="647700" y="601980"/>
                  </a:moveTo>
                  <a:lnTo>
                    <a:pt x="692610" y="594050"/>
                  </a:lnTo>
                  <a:lnTo>
                    <a:pt x="711517" y="589978"/>
                  </a:lnTo>
                  <a:lnTo>
                    <a:pt x="722137" y="588478"/>
                  </a:lnTo>
                  <a:lnTo>
                    <a:pt x="742188" y="588264"/>
                  </a:lnTo>
                </a:path>
              </a:pathLst>
            </a:custGeom>
            <a:ln w="9144">
              <a:solidFill>
                <a:srgbClr val="000000"/>
              </a:solidFill>
            </a:ln>
          </p:spPr>
          <p:txBody>
            <a:bodyPr wrap="square" lIns="0" tIns="0" rIns="0" bIns="0" rtlCol="0"/>
            <a:lstStyle/>
            <a:p>
              <a:endParaRPr/>
            </a:p>
          </p:txBody>
        </p:sp>
        <p:sp>
          <p:nvSpPr>
            <p:cNvPr id="14" name="object 14"/>
            <p:cNvSpPr/>
            <p:nvPr/>
          </p:nvSpPr>
          <p:spPr>
            <a:xfrm>
              <a:off x="5509260" y="1838451"/>
              <a:ext cx="1294765" cy="1893570"/>
            </a:xfrm>
            <a:custGeom>
              <a:avLst/>
              <a:gdLst/>
              <a:ahLst/>
              <a:cxnLst/>
              <a:rect l="l" t="t" r="r" b="b"/>
              <a:pathLst>
                <a:path w="1294765" h="1893570">
                  <a:moveTo>
                    <a:pt x="1226693" y="11176"/>
                  </a:moveTo>
                  <a:lnTo>
                    <a:pt x="1220851" y="0"/>
                  </a:lnTo>
                  <a:lnTo>
                    <a:pt x="64427" y="612051"/>
                  </a:lnTo>
                  <a:lnTo>
                    <a:pt x="49530" y="583946"/>
                  </a:lnTo>
                  <a:lnTo>
                    <a:pt x="0" y="653288"/>
                  </a:lnTo>
                  <a:lnTo>
                    <a:pt x="85217" y="651256"/>
                  </a:lnTo>
                  <a:lnTo>
                    <a:pt x="73494" y="629158"/>
                  </a:lnTo>
                  <a:lnTo>
                    <a:pt x="70332" y="623189"/>
                  </a:lnTo>
                  <a:lnTo>
                    <a:pt x="1226693" y="11176"/>
                  </a:lnTo>
                  <a:close/>
                </a:path>
                <a:path w="1294765" h="1893570">
                  <a:moveTo>
                    <a:pt x="1294765" y="1881886"/>
                  </a:moveTo>
                  <a:lnTo>
                    <a:pt x="499478" y="1549958"/>
                  </a:lnTo>
                  <a:lnTo>
                    <a:pt x="501510" y="1545082"/>
                  </a:lnTo>
                  <a:lnTo>
                    <a:pt x="511683" y="1520698"/>
                  </a:lnTo>
                  <a:lnTo>
                    <a:pt x="426720" y="1526540"/>
                  </a:lnTo>
                  <a:lnTo>
                    <a:pt x="482346" y="1591056"/>
                  </a:lnTo>
                  <a:lnTo>
                    <a:pt x="494550" y="1561782"/>
                  </a:lnTo>
                  <a:lnTo>
                    <a:pt x="1289939" y="1893570"/>
                  </a:lnTo>
                  <a:lnTo>
                    <a:pt x="1294765" y="1881886"/>
                  </a:lnTo>
                  <a:close/>
                </a:path>
              </a:pathLst>
            </a:custGeom>
            <a:solidFill>
              <a:srgbClr val="000000"/>
            </a:solidFill>
          </p:spPr>
          <p:txBody>
            <a:bodyPr wrap="square" lIns="0" tIns="0" rIns="0" bIns="0" rtlCol="0"/>
            <a:lstStyle/>
            <a:p>
              <a:endParaRPr/>
            </a:p>
          </p:txBody>
        </p:sp>
        <p:sp>
          <p:nvSpPr>
            <p:cNvPr id="15" name="object 15"/>
            <p:cNvSpPr/>
            <p:nvPr/>
          </p:nvSpPr>
          <p:spPr>
            <a:xfrm>
              <a:off x="5868924" y="2959608"/>
              <a:ext cx="1440180" cy="76200"/>
            </a:xfrm>
            <a:custGeom>
              <a:avLst/>
              <a:gdLst/>
              <a:ahLst/>
              <a:cxnLst/>
              <a:rect l="l" t="t" r="r" b="b"/>
              <a:pathLst>
                <a:path w="1440179" h="76200">
                  <a:moveTo>
                    <a:pt x="76200" y="0"/>
                  </a:moveTo>
                  <a:lnTo>
                    <a:pt x="0" y="38100"/>
                  </a:lnTo>
                  <a:lnTo>
                    <a:pt x="76200" y="76200"/>
                  </a:lnTo>
                  <a:lnTo>
                    <a:pt x="76200" y="44450"/>
                  </a:lnTo>
                  <a:lnTo>
                    <a:pt x="63500" y="44450"/>
                  </a:lnTo>
                  <a:lnTo>
                    <a:pt x="63500" y="31750"/>
                  </a:lnTo>
                  <a:lnTo>
                    <a:pt x="76200" y="31750"/>
                  </a:lnTo>
                  <a:lnTo>
                    <a:pt x="76200" y="0"/>
                  </a:lnTo>
                  <a:close/>
                </a:path>
                <a:path w="1440179" h="76200">
                  <a:moveTo>
                    <a:pt x="76200" y="31750"/>
                  </a:moveTo>
                  <a:lnTo>
                    <a:pt x="63500" y="31750"/>
                  </a:lnTo>
                  <a:lnTo>
                    <a:pt x="63500" y="44450"/>
                  </a:lnTo>
                  <a:lnTo>
                    <a:pt x="76200" y="44450"/>
                  </a:lnTo>
                  <a:lnTo>
                    <a:pt x="76200" y="31750"/>
                  </a:lnTo>
                  <a:close/>
                </a:path>
                <a:path w="1440179" h="76200">
                  <a:moveTo>
                    <a:pt x="1440179" y="31750"/>
                  </a:moveTo>
                  <a:lnTo>
                    <a:pt x="76200" y="31750"/>
                  </a:lnTo>
                  <a:lnTo>
                    <a:pt x="76200" y="44450"/>
                  </a:lnTo>
                  <a:lnTo>
                    <a:pt x="1440179" y="44450"/>
                  </a:lnTo>
                  <a:lnTo>
                    <a:pt x="1440179" y="31750"/>
                  </a:lnTo>
                  <a:close/>
                </a:path>
              </a:pathLst>
            </a:custGeom>
            <a:solidFill>
              <a:srgbClr val="000000"/>
            </a:solidFill>
          </p:spPr>
          <p:txBody>
            <a:bodyPr wrap="square" lIns="0" tIns="0" rIns="0" bIns="0" rtlCol="0"/>
            <a:lstStyle/>
            <a:p>
              <a:endParaRPr/>
            </a:p>
          </p:txBody>
        </p:sp>
      </p:grpSp>
      <p:sp>
        <p:nvSpPr>
          <p:cNvPr id="16" name="object 16"/>
          <p:cNvSpPr txBox="1"/>
          <p:nvPr/>
        </p:nvSpPr>
        <p:spPr>
          <a:xfrm>
            <a:off x="6922134" y="3655314"/>
            <a:ext cx="82105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003399"/>
                </a:solidFill>
                <a:latin typeface="Times New Roman"/>
                <a:cs typeface="Times New Roman"/>
              </a:rPr>
              <a:t>Boiler</a:t>
            </a:r>
            <a:r>
              <a:rPr sz="1400" spc="-80" dirty="0">
                <a:solidFill>
                  <a:srgbClr val="003399"/>
                </a:solidFill>
                <a:latin typeface="Times New Roman"/>
                <a:cs typeface="Times New Roman"/>
              </a:rPr>
              <a:t> </a:t>
            </a:r>
            <a:r>
              <a:rPr sz="1400" spc="-5" dirty="0">
                <a:solidFill>
                  <a:srgbClr val="003399"/>
                </a:solidFill>
                <a:latin typeface="Times New Roman"/>
                <a:cs typeface="Times New Roman"/>
              </a:rPr>
              <a:t>wall</a:t>
            </a:r>
            <a:endParaRPr sz="1400">
              <a:latin typeface="Times New Roman"/>
              <a:cs typeface="Times New Roman"/>
            </a:endParaRPr>
          </a:p>
        </p:txBody>
      </p:sp>
      <p:sp>
        <p:nvSpPr>
          <p:cNvPr id="17" name="object 17"/>
          <p:cNvSpPr txBox="1"/>
          <p:nvPr/>
        </p:nvSpPr>
        <p:spPr>
          <a:xfrm>
            <a:off x="6884034" y="1440307"/>
            <a:ext cx="2134235" cy="452755"/>
          </a:xfrm>
          <a:prstGeom prst="rect">
            <a:avLst/>
          </a:prstGeom>
        </p:spPr>
        <p:txBody>
          <a:bodyPr vert="horz" wrap="square" lIns="0" tIns="13335" rIns="0" bIns="0" rtlCol="0">
            <a:spAutoFit/>
          </a:bodyPr>
          <a:lstStyle/>
          <a:p>
            <a:pPr marL="12700" marR="5080">
              <a:lnSpc>
                <a:spcPct val="100000"/>
              </a:lnSpc>
              <a:spcBef>
                <a:spcPts val="105"/>
              </a:spcBef>
            </a:pPr>
            <a:r>
              <a:rPr sz="1400" spc="-5" dirty="0">
                <a:solidFill>
                  <a:srgbClr val="990000"/>
                </a:solidFill>
                <a:latin typeface="Times New Roman"/>
                <a:cs typeface="Times New Roman"/>
              </a:rPr>
              <a:t>Slimy </a:t>
            </a:r>
            <a:r>
              <a:rPr sz="1400" dirty="0">
                <a:solidFill>
                  <a:srgbClr val="990000"/>
                </a:solidFill>
                <a:latin typeface="Times New Roman"/>
                <a:cs typeface="Times New Roman"/>
              </a:rPr>
              <a:t>loose precipitate</a:t>
            </a:r>
            <a:r>
              <a:rPr sz="1400" spc="-135" dirty="0">
                <a:solidFill>
                  <a:srgbClr val="990000"/>
                </a:solidFill>
                <a:latin typeface="Times New Roman"/>
                <a:cs typeface="Times New Roman"/>
              </a:rPr>
              <a:t> </a:t>
            </a:r>
            <a:r>
              <a:rPr sz="1400" dirty="0">
                <a:solidFill>
                  <a:srgbClr val="990000"/>
                </a:solidFill>
                <a:latin typeface="Times New Roman"/>
                <a:cs typeface="Times New Roman"/>
              </a:rPr>
              <a:t>called  sludge suspended in</a:t>
            </a:r>
            <a:r>
              <a:rPr sz="1400" spc="-105" dirty="0">
                <a:solidFill>
                  <a:srgbClr val="990000"/>
                </a:solidFill>
                <a:latin typeface="Times New Roman"/>
                <a:cs typeface="Times New Roman"/>
              </a:rPr>
              <a:t> </a:t>
            </a:r>
            <a:r>
              <a:rPr sz="1400" spc="-5" dirty="0">
                <a:solidFill>
                  <a:srgbClr val="990000"/>
                </a:solidFill>
                <a:latin typeface="Times New Roman"/>
                <a:cs typeface="Times New Roman"/>
              </a:rPr>
              <a:t>water</a:t>
            </a:r>
            <a:endParaRPr sz="1400">
              <a:latin typeface="Times New Roman"/>
              <a:cs typeface="Times New Roman"/>
            </a:endParaRPr>
          </a:p>
        </p:txBody>
      </p:sp>
      <p:sp>
        <p:nvSpPr>
          <p:cNvPr id="18" name="object 18"/>
          <p:cNvSpPr txBox="1"/>
          <p:nvPr/>
        </p:nvSpPr>
        <p:spPr>
          <a:xfrm>
            <a:off x="4428744" y="1126236"/>
            <a:ext cx="1297305" cy="375285"/>
          </a:xfrm>
          <a:prstGeom prst="rect">
            <a:avLst/>
          </a:prstGeom>
          <a:solidFill>
            <a:srgbClr val="FFFF99"/>
          </a:solidFill>
          <a:ln w="9144">
            <a:solidFill>
              <a:srgbClr val="000000"/>
            </a:solidFill>
          </a:ln>
        </p:spPr>
        <p:txBody>
          <a:bodyPr vert="horz" wrap="square" lIns="0" tIns="37465" rIns="0" bIns="0" rtlCol="0">
            <a:spAutoFit/>
          </a:bodyPr>
          <a:lstStyle/>
          <a:p>
            <a:pPr marL="92075">
              <a:lnSpc>
                <a:spcPct val="100000"/>
              </a:lnSpc>
              <a:spcBef>
                <a:spcPts val="295"/>
              </a:spcBef>
            </a:pPr>
            <a:r>
              <a:rPr sz="1800" dirty="0">
                <a:solidFill>
                  <a:srgbClr val="990000"/>
                </a:solidFill>
                <a:latin typeface="Times New Roman"/>
                <a:cs typeface="Times New Roman"/>
              </a:rPr>
              <a:t>1.</a:t>
            </a:r>
            <a:r>
              <a:rPr sz="1800" spc="-20" dirty="0">
                <a:solidFill>
                  <a:srgbClr val="990000"/>
                </a:solidFill>
                <a:latin typeface="Times New Roman"/>
                <a:cs typeface="Times New Roman"/>
              </a:rPr>
              <a:t> </a:t>
            </a:r>
            <a:r>
              <a:rPr sz="1800" dirty="0">
                <a:solidFill>
                  <a:srgbClr val="990000"/>
                </a:solidFill>
                <a:latin typeface="Times New Roman"/>
                <a:cs typeface="Times New Roman"/>
              </a:rPr>
              <a:t>Sludge</a:t>
            </a:r>
            <a:endParaRPr sz="1800">
              <a:latin typeface="Times New Roman"/>
              <a:cs typeface="Times New Roman"/>
            </a:endParaRPr>
          </a:p>
        </p:txBody>
      </p:sp>
      <p:sp>
        <p:nvSpPr>
          <p:cNvPr id="19" name="object 19"/>
          <p:cNvSpPr txBox="1"/>
          <p:nvPr/>
        </p:nvSpPr>
        <p:spPr>
          <a:xfrm>
            <a:off x="7258811" y="2784348"/>
            <a:ext cx="914400" cy="376555"/>
          </a:xfrm>
          <a:prstGeom prst="rect">
            <a:avLst/>
          </a:prstGeom>
          <a:ln w="9144">
            <a:solidFill>
              <a:srgbClr val="FFFF00"/>
            </a:solidFill>
          </a:ln>
        </p:spPr>
        <p:txBody>
          <a:bodyPr vert="horz" wrap="square" lIns="0" tIns="38735" rIns="0" bIns="0" rtlCol="0">
            <a:spAutoFit/>
          </a:bodyPr>
          <a:lstStyle/>
          <a:p>
            <a:pPr marL="92075">
              <a:lnSpc>
                <a:spcPct val="100000"/>
              </a:lnSpc>
              <a:spcBef>
                <a:spcPts val="305"/>
              </a:spcBef>
            </a:pPr>
            <a:r>
              <a:rPr sz="1800" dirty="0">
                <a:solidFill>
                  <a:srgbClr val="990000"/>
                </a:solidFill>
                <a:latin typeface="Times New Roman"/>
                <a:cs typeface="Times New Roman"/>
              </a:rPr>
              <a:t>water</a:t>
            </a:r>
            <a:endParaRPr sz="1800">
              <a:latin typeface="Times New Roman"/>
              <a:cs typeface="Times New Roman"/>
            </a:endParaRPr>
          </a:p>
        </p:txBody>
      </p:sp>
      <p:sp>
        <p:nvSpPr>
          <p:cNvPr id="20" name="object 20"/>
          <p:cNvSpPr txBox="1"/>
          <p:nvPr/>
        </p:nvSpPr>
        <p:spPr>
          <a:xfrm>
            <a:off x="521817" y="4102989"/>
            <a:ext cx="7827009" cy="1946275"/>
          </a:xfrm>
          <a:prstGeom prst="rect">
            <a:avLst/>
          </a:prstGeom>
        </p:spPr>
        <p:txBody>
          <a:bodyPr vert="horz" wrap="square" lIns="0" tIns="12700" rIns="0" bIns="0" rtlCol="0">
            <a:spAutoFit/>
          </a:bodyPr>
          <a:lstStyle/>
          <a:p>
            <a:pPr marL="38100" marR="42545">
              <a:lnSpc>
                <a:spcPct val="100000"/>
              </a:lnSpc>
              <a:spcBef>
                <a:spcPts val="100"/>
              </a:spcBef>
            </a:pPr>
            <a:r>
              <a:rPr sz="1800" dirty="0">
                <a:latin typeface="Times New Roman"/>
                <a:cs typeface="Times New Roman"/>
              </a:rPr>
              <a:t>Sludge </a:t>
            </a:r>
            <a:r>
              <a:rPr sz="1800" spc="-5" dirty="0">
                <a:latin typeface="Times New Roman"/>
                <a:cs typeface="Times New Roman"/>
              </a:rPr>
              <a:t>is </a:t>
            </a:r>
            <a:r>
              <a:rPr sz="1800" dirty="0">
                <a:latin typeface="Times New Roman"/>
                <a:cs typeface="Times New Roman"/>
              </a:rPr>
              <a:t>a soft, loose and </a:t>
            </a:r>
            <a:r>
              <a:rPr sz="1800" spc="-5" dirty="0">
                <a:latin typeface="Times New Roman"/>
                <a:cs typeface="Times New Roman"/>
              </a:rPr>
              <a:t>slimy </a:t>
            </a:r>
            <a:r>
              <a:rPr sz="1800" dirty="0">
                <a:latin typeface="Times New Roman"/>
                <a:cs typeface="Times New Roman"/>
              </a:rPr>
              <a:t>precipitate </a:t>
            </a:r>
            <a:r>
              <a:rPr sz="1800" spc="-5" dirty="0">
                <a:latin typeface="Times New Roman"/>
                <a:cs typeface="Times New Roman"/>
              </a:rPr>
              <a:t>formed </a:t>
            </a:r>
            <a:r>
              <a:rPr sz="1800" dirty="0">
                <a:latin typeface="Times New Roman"/>
                <a:cs typeface="Times New Roman"/>
              </a:rPr>
              <a:t>within the </a:t>
            </a:r>
            <a:r>
              <a:rPr sz="1800" spc="-15" dirty="0">
                <a:latin typeface="Times New Roman"/>
                <a:cs typeface="Times New Roman"/>
              </a:rPr>
              <a:t>boiler. </a:t>
            </a:r>
            <a:r>
              <a:rPr sz="1800" dirty="0">
                <a:latin typeface="Times New Roman"/>
                <a:cs typeface="Times New Roman"/>
              </a:rPr>
              <a:t>It can be easily  scrapped </a:t>
            </a:r>
            <a:r>
              <a:rPr sz="1800" spc="-15" dirty="0">
                <a:latin typeface="Times New Roman"/>
                <a:cs typeface="Times New Roman"/>
              </a:rPr>
              <a:t>off </a:t>
            </a:r>
            <a:r>
              <a:rPr sz="1800" dirty="0">
                <a:latin typeface="Times New Roman"/>
                <a:cs typeface="Times New Roman"/>
              </a:rPr>
              <a:t>with a </a:t>
            </a:r>
            <a:r>
              <a:rPr sz="1800" spc="-5" dirty="0">
                <a:latin typeface="Times New Roman"/>
                <a:cs typeface="Times New Roman"/>
              </a:rPr>
              <a:t>wire</a:t>
            </a:r>
            <a:r>
              <a:rPr sz="1800" spc="15" dirty="0">
                <a:latin typeface="Times New Roman"/>
                <a:cs typeface="Times New Roman"/>
              </a:rPr>
              <a:t> </a:t>
            </a:r>
            <a:r>
              <a:rPr sz="1800" dirty="0">
                <a:latin typeface="Times New Roman"/>
                <a:cs typeface="Times New Roman"/>
              </a:rPr>
              <a:t>brush.</a:t>
            </a:r>
            <a:endParaRPr sz="1800">
              <a:latin typeface="Times New Roman"/>
              <a:cs typeface="Times New Roman"/>
            </a:endParaRPr>
          </a:p>
          <a:p>
            <a:pPr marL="38100">
              <a:lnSpc>
                <a:spcPct val="100000"/>
              </a:lnSpc>
              <a:spcBef>
                <a:spcPts val="1080"/>
              </a:spcBef>
            </a:pPr>
            <a:r>
              <a:rPr sz="1800" dirty="0">
                <a:latin typeface="Times New Roman"/>
                <a:cs typeface="Times New Roman"/>
              </a:rPr>
              <a:t>It is </a:t>
            </a:r>
            <a:r>
              <a:rPr sz="1800" spc="-5" dirty="0">
                <a:latin typeface="Times New Roman"/>
                <a:cs typeface="Times New Roman"/>
              </a:rPr>
              <a:t>formed </a:t>
            </a:r>
            <a:r>
              <a:rPr sz="1800" dirty="0">
                <a:latin typeface="Times New Roman"/>
                <a:cs typeface="Times New Roman"/>
              </a:rPr>
              <a:t>at </a:t>
            </a:r>
            <a:r>
              <a:rPr sz="1800" spc="-5" dirty="0">
                <a:latin typeface="Times New Roman"/>
                <a:cs typeface="Times New Roman"/>
              </a:rPr>
              <a:t>comparatively </a:t>
            </a:r>
            <a:r>
              <a:rPr sz="1800" dirty="0">
                <a:latin typeface="Times New Roman"/>
                <a:cs typeface="Times New Roman"/>
              </a:rPr>
              <a:t>colder </a:t>
            </a:r>
            <a:r>
              <a:rPr sz="1800" spc="-5" dirty="0">
                <a:latin typeface="Times New Roman"/>
                <a:cs typeface="Times New Roman"/>
              </a:rPr>
              <a:t>portions </a:t>
            </a:r>
            <a:r>
              <a:rPr sz="1800" dirty="0">
                <a:latin typeface="Times New Roman"/>
                <a:cs typeface="Times New Roman"/>
              </a:rPr>
              <a:t>of the boiler and collects in areas of</a:t>
            </a:r>
            <a:r>
              <a:rPr sz="1800" spc="-20" dirty="0">
                <a:latin typeface="Times New Roman"/>
                <a:cs typeface="Times New Roman"/>
              </a:rPr>
              <a:t> </a:t>
            </a:r>
            <a:r>
              <a:rPr sz="1800" dirty="0">
                <a:latin typeface="Times New Roman"/>
                <a:cs typeface="Times New Roman"/>
              </a:rPr>
              <a:t>the</a:t>
            </a:r>
            <a:endParaRPr sz="1800">
              <a:latin typeface="Times New Roman"/>
              <a:cs typeface="Times New Roman"/>
            </a:endParaRPr>
          </a:p>
          <a:p>
            <a:pPr marL="38100">
              <a:lnSpc>
                <a:spcPct val="100000"/>
              </a:lnSpc>
            </a:pPr>
            <a:r>
              <a:rPr sz="1800" dirty="0">
                <a:latin typeface="Times New Roman"/>
                <a:cs typeface="Times New Roman"/>
              </a:rPr>
              <a:t>system, </a:t>
            </a:r>
            <a:r>
              <a:rPr sz="1800" spc="-5" dirty="0">
                <a:latin typeface="Times New Roman"/>
                <a:cs typeface="Times New Roman"/>
              </a:rPr>
              <a:t>where the flow </a:t>
            </a:r>
            <a:r>
              <a:rPr sz="1800" dirty="0">
                <a:latin typeface="Times New Roman"/>
                <a:cs typeface="Times New Roman"/>
              </a:rPr>
              <a:t>rate </a:t>
            </a:r>
            <a:r>
              <a:rPr sz="1800" spc="-5" dirty="0">
                <a:latin typeface="Times New Roman"/>
                <a:cs typeface="Times New Roman"/>
              </a:rPr>
              <a:t>is slow </a:t>
            </a:r>
            <a:r>
              <a:rPr sz="1800" dirty="0">
                <a:latin typeface="Times New Roman"/>
                <a:cs typeface="Times New Roman"/>
              </a:rPr>
              <a:t>or at</a:t>
            </a:r>
            <a:r>
              <a:rPr sz="1800" spc="-20" dirty="0">
                <a:latin typeface="Times New Roman"/>
                <a:cs typeface="Times New Roman"/>
              </a:rPr>
              <a:t> </a:t>
            </a:r>
            <a:r>
              <a:rPr sz="1800" dirty="0">
                <a:latin typeface="Times New Roman"/>
                <a:cs typeface="Times New Roman"/>
              </a:rPr>
              <a:t>bends.</a:t>
            </a:r>
            <a:endParaRPr sz="1800">
              <a:latin typeface="Times New Roman"/>
              <a:cs typeface="Times New Roman"/>
            </a:endParaRPr>
          </a:p>
          <a:p>
            <a:pPr marL="38100" marR="260985">
              <a:lnSpc>
                <a:spcPct val="100000"/>
              </a:lnSpc>
              <a:spcBef>
                <a:spcPts val="1080"/>
              </a:spcBef>
            </a:pPr>
            <a:r>
              <a:rPr sz="1800" dirty="0">
                <a:latin typeface="Times New Roman"/>
                <a:cs typeface="Times New Roman"/>
              </a:rPr>
              <a:t>It </a:t>
            </a:r>
            <a:r>
              <a:rPr sz="1800" spc="-5" dirty="0">
                <a:latin typeface="Times New Roman"/>
                <a:cs typeface="Times New Roman"/>
              </a:rPr>
              <a:t>is </a:t>
            </a:r>
            <a:r>
              <a:rPr sz="1800" dirty="0">
                <a:latin typeface="Times New Roman"/>
                <a:cs typeface="Times New Roman"/>
              </a:rPr>
              <a:t>formed by </a:t>
            </a:r>
            <a:r>
              <a:rPr sz="1800" spc="-5" dirty="0">
                <a:latin typeface="Times New Roman"/>
                <a:cs typeface="Times New Roman"/>
              </a:rPr>
              <a:t>substances </a:t>
            </a:r>
            <a:r>
              <a:rPr sz="1800" dirty="0">
                <a:latin typeface="Times New Roman"/>
                <a:cs typeface="Times New Roman"/>
              </a:rPr>
              <a:t>which have greater solubility's in hot </a:t>
            </a:r>
            <a:r>
              <a:rPr sz="1800" spc="-5" dirty="0">
                <a:latin typeface="Times New Roman"/>
                <a:cs typeface="Times New Roman"/>
              </a:rPr>
              <a:t>water </a:t>
            </a:r>
            <a:r>
              <a:rPr sz="1800" dirty="0">
                <a:latin typeface="Times New Roman"/>
                <a:cs typeface="Times New Roman"/>
              </a:rPr>
              <a:t>than in cold  </a:t>
            </a:r>
            <a:r>
              <a:rPr sz="1800" spc="-15" dirty="0">
                <a:latin typeface="Times New Roman"/>
                <a:cs typeface="Times New Roman"/>
              </a:rPr>
              <a:t>water, </a:t>
            </a:r>
            <a:r>
              <a:rPr sz="1800" dirty="0">
                <a:latin typeface="Times New Roman"/>
                <a:cs typeface="Times New Roman"/>
              </a:rPr>
              <a:t>e.g. </a:t>
            </a:r>
            <a:r>
              <a:rPr sz="1800" spc="-5" dirty="0">
                <a:latin typeface="Times New Roman"/>
                <a:cs typeface="Times New Roman"/>
              </a:rPr>
              <a:t>MgCO</a:t>
            </a:r>
            <a:r>
              <a:rPr sz="1800" spc="-7" baseline="-20833" dirty="0">
                <a:latin typeface="Times New Roman"/>
                <a:cs typeface="Times New Roman"/>
              </a:rPr>
              <a:t>3</a:t>
            </a:r>
            <a:r>
              <a:rPr sz="1800" spc="-5" dirty="0">
                <a:latin typeface="Times New Roman"/>
                <a:cs typeface="Times New Roman"/>
              </a:rPr>
              <a:t>, </a:t>
            </a:r>
            <a:r>
              <a:rPr sz="1800" dirty="0">
                <a:latin typeface="Times New Roman"/>
                <a:cs typeface="Times New Roman"/>
              </a:rPr>
              <a:t>MgCl</a:t>
            </a:r>
            <a:r>
              <a:rPr sz="1800" baseline="-20833" dirty="0">
                <a:latin typeface="Times New Roman"/>
                <a:cs typeface="Times New Roman"/>
              </a:rPr>
              <a:t>2</a:t>
            </a:r>
            <a:r>
              <a:rPr sz="1800" dirty="0">
                <a:latin typeface="Times New Roman"/>
                <a:cs typeface="Times New Roman"/>
              </a:rPr>
              <a:t>, CaCl</a:t>
            </a:r>
            <a:r>
              <a:rPr sz="1800" baseline="-20833" dirty="0">
                <a:latin typeface="Times New Roman"/>
                <a:cs typeface="Times New Roman"/>
              </a:rPr>
              <a:t>2</a:t>
            </a:r>
            <a:r>
              <a:rPr sz="1800" dirty="0">
                <a:latin typeface="Times New Roman"/>
                <a:cs typeface="Times New Roman"/>
              </a:rPr>
              <a:t>, </a:t>
            </a:r>
            <a:r>
              <a:rPr sz="1800" spc="-5" dirty="0">
                <a:latin typeface="Times New Roman"/>
                <a:cs typeface="Times New Roman"/>
              </a:rPr>
              <a:t>MgSO</a:t>
            </a:r>
            <a:r>
              <a:rPr sz="1800" spc="-7" baseline="-20833" dirty="0">
                <a:latin typeface="Times New Roman"/>
                <a:cs typeface="Times New Roman"/>
              </a:rPr>
              <a:t>4</a:t>
            </a:r>
            <a:r>
              <a:rPr sz="1800" spc="202" baseline="-20833" dirty="0">
                <a:latin typeface="Times New Roman"/>
                <a:cs typeface="Times New Roman"/>
              </a:rPr>
              <a:t> </a:t>
            </a:r>
            <a:r>
              <a:rPr sz="1800" dirty="0">
                <a:latin typeface="Times New Roman"/>
                <a:cs typeface="Times New Roman"/>
              </a:rPr>
              <a:t>etc.,</a:t>
            </a:r>
            <a:endParaRPr sz="1800">
              <a:latin typeface="Times New Roman"/>
              <a:cs typeface="Times New Roman"/>
            </a:endParaRPr>
          </a:p>
        </p:txBody>
      </p:sp>
      <p:sp>
        <p:nvSpPr>
          <p:cNvPr id="21" name="object 21"/>
          <p:cNvSpPr txBox="1"/>
          <p:nvPr/>
        </p:nvSpPr>
        <p:spPr>
          <a:xfrm>
            <a:off x="532891" y="6328968"/>
            <a:ext cx="5892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Times New Roman"/>
                <a:cs typeface="Times New Roman"/>
              </a:rPr>
              <a:t>Remedy: </a:t>
            </a:r>
            <a:r>
              <a:rPr sz="1800" dirty="0">
                <a:latin typeface="Times New Roman"/>
                <a:cs typeface="Times New Roman"/>
              </a:rPr>
              <a:t>Sludges can be removed </a:t>
            </a:r>
            <a:r>
              <a:rPr sz="1800" spc="-5" dirty="0">
                <a:latin typeface="Times New Roman"/>
                <a:cs typeface="Times New Roman"/>
              </a:rPr>
              <a:t>using </a:t>
            </a:r>
            <a:r>
              <a:rPr sz="1800" dirty="0">
                <a:latin typeface="Times New Roman"/>
                <a:cs typeface="Times New Roman"/>
              </a:rPr>
              <a:t>wire brush or </a:t>
            </a:r>
            <a:r>
              <a:rPr sz="1800" spc="-5" dirty="0">
                <a:latin typeface="Times New Roman"/>
                <a:cs typeface="Times New Roman"/>
              </a:rPr>
              <a:t>mild</a:t>
            </a:r>
            <a:r>
              <a:rPr sz="1800" spc="10" dirty="0">
                <a:latin typeface="Times New Roman"/>
                <a:cs typeface="Times New Roman"/>
              </a:rPr>
              <a:t> </a:t>
            </a:r>
            <a:r>
              <a:rPr sz="1800" dirty="0">
                <a:latin typeface="Times New Roman"/>
                <a:cs typeface="Times New Roman"/>
              </a:rPr>
              <a:t>acid</a:t>
            </a:r>
            <a:endParaRPr sz="1800">
              <a:latin typeface="Times New Roman"/>
              <a:cs typeface="Times New Roman"/>
            </a:endParaRPr>
          </a:p>
        </p:txBody>
      </p:sp>
      <p:sp>
        <p:nvSpPr>
          <p:cNvPr id="22" name="object 22"/>
          <p:cNvSpPr txBox="1"/>
          <p:nvPr/>
        </p:nvSpPr>
        <p:spPr>
          <a:xfrm>
            <a:off x="3432175" y="3531489"/>
            <a:ext cx="1397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4</a:t>
            </a:r>
            <a:endParaRPr sz="1800">
              <a:latin typeface="Times New Roman"/>
              <a:cs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740790"/>
            <a:ext cx="4157345" cy="330835"/>
          </a:xfrm>
          <a:prstGeom prst="rect">
            <a:avLst/>
          </a:prstGeom>
        </p:spPr>
        <p:txBody>
          <a:bodyPr vert="horz" wrap="square" lIns="0" tIns="13335" rIns="0" bIns="0" rtlCol="0">
            <a:spAutoFit/>
          </a:bodyPr>
          <a:lstStyle/>
          <a:p>
            <a:pPr marL="12700">
              <a:lnSpc>
                <a:spcPct val="100000"/>
              </a:lnSpc>
              <a:spcBef>
                <a:spcPts val="105"/>
              </a:spcBef>
            </a:pPr>
            <a:r>
              <a:rPr sz="2000" spc="-30" dirty="0">
                <a:solidFill>
                  <a:srgbClr val="0076A2"/>
                </a:solidFill>
              </a:rPr>
              <a:t>D</a:t>
            </a:r>
            <a:r>
              <a:rPr sz="1600" spc="-30" dirty="0">
                <a:solidFill>
                  <a:srgbClr val="0076A2"/>
                </a:solidFill>
              </a:rPr>
              <a:t>ISADVANTAGE </a:t>
            </a:r>
            <a:r>
              <a:rPr sz="2000" dirty="0">
                <a:solidFill>
                  <a:srgbClr val="0076A2"/>
                </a:solidFill>
              </a:rPr>
              <a:t>O</a:t>
            </a:r>
            <a:r>
              <a:rPr sz="1600" dirty="0">
                <a:solidFill>
                  <a:srgbClr val="0076A2"/>
                </a:solidFill>
              </a:rPr>
              <a:t>F </a:t>
            </a:r>
            <a:r>
              <a:rPr sz="1600" spc="-5" dirty="0">
                <a:solidFill>
                  <a:srgbClr val="0076A2"/>
                </a:solidFill>
              </a:rPr>
              <a:t>SLUDGE</a:t>
            </a:r>
            <a:r>
              <a:rPr sz="1600" spc="260" dirty="0">
                <a:solidFill>
                  <a:srgbClr val="0076A2"/>
                </a:solidFill>
              </a:rPr>
              <a:t> </a:t>
            </a:r>
            <a:r>
              <a:rPr sz="1600" spc="-25" dirty="0">
                <a:solidFill>
                  <a:srgbClr val="0076A2"/>
                </a:solidFill>
              </a:rPr>
              <a:t>FORMATION</a:t>
            </a:r>
            <a:r>
              <a:rPr sz="2000" spc="-25" dirty="0"/>
              <a:t>:</a:t>
            </a:r>
            <a:endParaRPr sz="2000"/>
          </a:p>
        </p:txBody>
      </p:sp>
      <p:sp>
        <p:nvSpPr>
          <p:cNvPr id="3" name="object 3"/>
          <p:cNvSpPr txBox="1"/>
          <p:nvPr/>
        </p:nvSpPr>
        <p:spPr>
          <a:xfrm>
            <a:off x="535940" y="1548023"/>
            <a:ext cx="5215255" cy="2694305"/>
          </a:xfrm>
          <a:prstGeom prst="rect">
            <a:avLst/>
          </a:prstGeom>
        </p:spPr>
        <p:txBody>
          <a:bodyPr vert="horz" wrap="square" lIns="0" tIns="89535" rIns="0" bIns="0" rtlCol="0">
            <a:spAutoFit/>
          </a:bodyPr>
          <a:lstStyle/>
          <a:p>
            <a:pPr marL="12700">
              <a:lnSpc>
                <a:spcPct val="100000"/>
              </a:lnSpc>
              <a:spcBef>
                <a:spcPts val="705"/>
              </a:spcBef>
            </a:pPr>
            <a:r>
              <a:rPr sz="2000" dirty="0">
                <a:latin typeface="Times New Roman"/>
                <a:cs typeface="Times New Roman"/>
              </a:rPr>
              <a:t>-poor conductor of</a:t>
            </a:r>
            <a:r>
              <a:rPr sz="2000" spc="-90" dirty="0">
                <a:latin typeface="Times New Roman"/>
                <a:cs typeface="Times New Roman"/>
              </a:rPr>
              <a:t> </a:t>
            </a:r>
            <a:r>
              <a:rPr sz="2000" dirty="0">
                <a:latin typeface="Times New Roman"/>
                <a:cs typeface="Times New Roman"/>
              </a:rPr>
              <a:t>heat</a:t>
            </a:r>
            <a:endParaRPr sz="2000">
              <a:latin typeface="Times New Roman"/>
              <a:cs typeface="Times New Roman"/>
            </a:endParaRPr>
          </a:p>
          <a:p>
            <a:pPr marL="12700">
              <a:lnSpc>
                <a:spcPct val="100000"/>
              </a:lnSpc>
              <a:spcBef>
                <a:spcPts val="600"/>
              </a:spcBef>
            </a:pPr>
            <a:r>
              <a:rPr sz="2000" dirty="0">
                <a:latin typeface="Times New Roman"/>
                <a:cs typeface="Times New Roman"/>
              </a:rPr>
              <a:t>-disturbs the working of</a:t>
            </a:r>
            <a:r>
              <a:rPr sz="2000" spc="-114" dirty="0">
                <a:latin typeface="Times New Roman"/>
                <a:cs typeface="Times New Roman"/>
              </a:rPr>
              <a:t> </a:t>
            </a:r>
            <a:r>
              <a:rPr sz="2000" spc="-15" dirty="0">
                <a:latin typeface="Times New Roman"/>
                <a:cs typeface="Times New Roman"/>
              </a:rPr>
              <a:t>boiler.</a:t>
            </a:r>
            <a:endParaRPr sz="2000">
              <a:latin typeface="Times New Roman"/>
              <a:cs typeface="Times New Roman"/>
            </a:endParaRPr>
          </a:p>
          <a:p>
            <a:pPr marL="12700">
              <a:lnSpc>
                <a:spcPct val="100000"/>
              </a:lnSpc>
              <a:spcBef>
                <a:spcPts val="600"/>
              </a:spcBef>
            </a:pPr>
            <a:r>
              <a:rPr sz="2000" dirty="0">
                <a:latin typeface="Times New Roman"/>
                <a:cs typeface="Times New Roman"/>
              </a:rPr>
              <a:t>- If along with </a:t>
            </a:r>
            <a:r>
              <a:rPr sz="2000" spc="-5" dirty="0">
                <a:latin typeface="Times New Roman"/>
                <a:cs typeface="Times New Roman"/>
              </a:rPr>
              <a:t>scales </a:t>
            </a:r>
            <a:r>
              <a:rPr sz="2000" dirty="0">
                <a:latin typeface="Times New Roman"/>
                <a:cs typeface="Times New Roman"/>
              </a:rPr>
              <a:t>: both get deposited as</a:t>
            </a:r>
            <a:r>
              <a:rPr sz="2000" spc="-185" dirty="0">
                <a:latin typeface="Times New Roman"/>
                <a:cs typeface="Times New Roman"/>
              </a:rPr>
              <a:t> </a:t>
            </a:r>
            <a:r>
              <a:rPr sz="2000" dirty="0">
                <a:latin typeface="Times New Roman"/>
                <a:cs typeface="Times New Roman"/>
              </a:rPr>
              <a:t>scales.</a:t>
            </a:r>
            <a:endParaRPr sz="2000">
              <a:latin typeface="Times New Roman"/>
              <a:cs typeface="Times New Roman"/>
            </a:endParaRPr>
          </a:p>
          <a:p>
            <a:pPr>
              <a:lnSpc>
                <a:spcPct val="100000"/>
              </a:lnSpc>
              <a:spcBef>
                <a:spcPts val="35"/>
              </a:spcBef>
            </a:pPr>
            <a:endParaRPr sz="3100">
              <a:latin typeface="Times New Roman"/>
              <a:cs typeface="Times New Roman"/>
            </a:endParaRPr>
          </a:p>
          <a:p>
            <a:pPr marL="287020" indent="-274955">
              <a:lnSpc>
                <a:spcPct val="100000"/>
              </a:lnSpc>
              <a:buClr>
                <a:srgbClr val="0E6EC5"/>
              </a:buClr>
              <a:buSzPct val="70000"/>
              <a:buFont typeface="Wingdings"/>
              <a:buChar char=""/>
              <a:tabLst>
                <a:tab pos="287655" algn="l"/>
              </a:tabLst>
            </a:pPr>
            <a:r>
              <a:rPr sz="2000" spc="-5" dirty="0">
                <a:solidFill>
                  <a:srgbClr val="C00000"/>
                </a:solidFill>
                <a:latin typeface="Times New Roman"/>
                <a:cs typeface="Times New Roman"/>
              </a:rPr>
              <a:t>Preventation </a:t>
            </a:r>
            <a:r>
              <a:rPr sz="2000" dirty="0">
                <a:solidFill>
                  <a:srgbClr val="C00000"/>
                </a:solidFill>
                <a:latin typeface="Times New Roman"/>
                <a:cs typeface="Times New Roman"/>
              </a:rPr>
              <a:t>of Sludge</a:t>
            </a:r>
            <a:r>
              <a:rPr sz="2000" spc="-80" dirty="0">
                <a:solidFill>
                  <a:srgbClr val="C00000"/>
                </a:solidFill>
                <a:latin typeface="Times New Roman"/>
                <a:cs typeface="Times New Roman"/>
              </a:rPr>
              <a:t> </a:t>
            </a:r>
            <a:r>
              <a:rPr sz="2000" dirty="0">
                <a:solidFill>
                  <a:srgbClr val="C00000"/>
                </a:solidFill>
                <a:latin typeface="Times New Roman"/>
                <a:cs typeface="Times New Roman"/>
              </a:rPr>
              <a:t>formation</a:t>
            </a:r>
            <a:r>
              <a:rPr sz="2000" dirty="0">
                <a:latin typeface="Times New Roman"/>
                <a:cs typeface="Times New Roman"/>
              </a:rPr>
              <a:t>:</a:t>
            </a:r>
            <a:endParaRPr sz="2000">
              <a:latin typeface="Times New Roman"/>
              <a:cs typeface="Times New Roman"/>
            </a:endParaRPr>
          </a:p>
          <a:p>
            <a:pPr marL="287020" indent="-274955">
              <a:lnSpc>
                <a:spcPct val="100000"/>
              </a:lnSpc>
              <a:spcBef>
                <a:spcPts val="605"/>
              </a:spcBef>
              <a:buClr>
                <a:srgbClr val="0E6EC5"/>
              </a:buClr>
              <a:buSzPct val="70000"/>
              <a:buChar char="-"/>
              <a:tabLst>
                <a:tab pos="287020" algn="l"/>
                <a:tab pos="287655" algn="l"/>
              </a:tabLst>
            </a:pPr>
            <a:r>
              <a:rPr sz="2000" spc="-40" dirty="0">
                <a:latin typeface="Times New Roman"/>
                <a:cs typeface="Times New Roman"/>
              </a:rPr>
              <a:t>Well </a:t>
            </a:r>
            <a:r>
              <a:rPr sz="2000" dirty="0">
                <a:latin typeface="Times New Roman"/>
                <a:cs typeface="Times New Roman"/>
              </a:rPr>
              <a:t>softened</a:t>
            </a:r>
            <a:r>
              <a:rPr sz="2000" spc="-45" dirty="0">
                <a:latin typeface="Times New Roman"/>
                <a:cs typeface="Times New Roman"/>
              </a:rPr>
              <a:t> </a:t>
            </a:r>
            <a:r>
              <a:rPr sz="2000" dirty="0">
                <a:latin typeface="Times New Roman"/>
                <a:cs typeface="Times New Roman"/>
              </a:rPr>
              <a:t>water</a:t>
            </a:r>
            <a:endParaRPr sz="2000">
              <a:latin typeface="Times New Roman"/>
              <a:cs typeface="Times New Roman"/>
            </a:endParaRPr>
          </a:p>
          <a:p>
            <a:pPr marL="287020" indent="-274955">
              <a:lnSpc>
                <a:spcPct val="100000"/>
              </a:lnSpc>
              <a:spcBef>
                <a:spcPts val="600"/>
              </a:spcBef>
              <a:buClr>
                <a:srgbClr val="0E6EC5"/>
              </a:buClr>
              <a:buSzPct val="70000"/>
              <a:buChar char="-"/>
              <a:tabLst>
                <a:tab pos="287020" algn="l"/>
                <a:tab pos="287655" algn="l"/>
              </a:tabLst>
            </a:pPr>
            <a:r>
              <a:rPr sz="2000" dirty="0">
                <a:latin typeface="Times New Roman"/>
                <a:cs typeface="Times New Roman"/>
              </a:rPr>
              <a:t>Drawing </a:t>
            </a:r>
            <a:r>
              <a:rPr sz="2000" spc="-10" dirty="0">
                <a:latin typeface="Times New Roman"/>
                <a:cs typeface="Times New Roman"/>
              </a:rPr>
              <a:t>off </a:t>
            </a:r>
            <a:r>
              <a:rPr sz="2000" dirty="0">
                <a:latin typeface="Times New Roman"/>
                <a:cs typeface="Times New Roman"/>
              </a:rPr>
              <a:t>a portion of concentrated</a:t>
            </a:r>
            <a:r>
              <a:rPr sz="2000" spc="-150" dirty="0">
                <a:latin typeface="Times New Roman"/>
                <a:cs typeface="Times New Roman"/>
              </a:rPr>
              <a:t> </a:t>
            </a:r>
            <a:r>
              <a:rPr sz="2000" spc="-20" dirty="0">
                <a:latin typeface="Times New Roman"/>
                <a:cs typeface="Times New Roman"/>
              </a:rPr>
              <a:t>water.</a:t>
            </a:r>
            <a:endParaRPr sz="2000">
              <a:latin typeface="Times New Roman"/>
              <a:cs typeface="Times New Roman"/>
            </a:endParaRPr>
          </a:p>
        </p:txBody>
      </p:sp>
      <p:sp>
        <p:nvSpPr>
          <p:cNvPr id="4" name="object 4"/>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12</a:t>
            </a:r>
            <a:endParaRPr sz="1400">
              <a:latin typeface="Times New Roman"/>
              <a:cs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02828" y="6273495"/>
            <a:ext cx="20574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Times New Roman"/>
                <a:cs typeface="Times New Roman"/>
              </a:rPr>
              <a:t>13</a:t>
            </a:r>
            <a:endParaRPr sz="1400">
              <a:latin typeface="Times New Roman"/>
              <a:cs typeface="Times New Roman"/>
            </a:endParaRPr>
          </a:p>
        </p:txBody>
      </p:sp>
      <p:sp>
        <p:nvSpPr>
          <p:cNvPr id="3" name="object 3"/>
          <p:cNvSpPr txBox="1"/>
          <p:nvPr/>
        </p:nvSpPr>
        <p:spPr>
          <a:xfrm>
            <a:off x="1187196" y="548640"/>
            <a:ext cx="1297305" cy="376555"/>
          </a:xfrm>
          <a:prstGeom prst="rect">
            <a:avLst/>
          </a:prstGeom>
          <a:solidFill>
            <a:srgbClr val="FFFF99"/>
          </a:solidFill>
          <a:ln w="9144">
            <a:solidFill>
              <a:srgbClr val="000000"/>
            </a:solidFill>
          </a:ln>
        </p:spPr>
        <p:txBody>
          <a:bodyPr vert="horz" wrap="square" lIns="0" tIns="38735" rIns="0" bIns="0" rtlCol="0">
            <a:spAutoFit/>
          </a:bodyPr>
          <a:lstStyle/>
          <a:p>
            <a:pPr marL="92075">
              <a:lnSpc>
                <a:spcPct val="100000"/>
              </a:lnSpc>
              <a:spcBef>
                <a:spcPts val="305"/>
              </a:spcBef>
            </a:pPr>
            <a:r>
              <a:rPr sz="1800" dirty="0">
                <a:solidFill>
                  <a:srgbClr val="990000"/>
                </a:solidFill>
                <a:latin typeface="Times New Roman"/>
                <a:cs typeface="Times New Roman"/>
              </a:rPr>
              <a:t>1.</a:t>
            </a:r>
            <a:r>
              <a:rPr sz="1800" spc="-15" dirty="0">
                <a:solidFill>
                  <a:srgbClr val="990000"/>
                </a:solidFill>
                <a:latin typeface="Times New Roman"/>
                <a:cs typeface="Times New Roman"/>
              </a:rPr>
              <a:t> </a:t>
            </a:r>
            <a:r>
              <a:rPr sz="1800" dirty="0">
                <a:solidFill>
                  <a:srgbClr val="990000"/>
                </a:solidFill>
                <a:latin typeface="Times New Roman"/>
                <a:cs typeface="Times New Roman"/>
              </a:rPr>
              <a:t>Scale</a:t>
            </a:r>
            <a:endParaRPr sz="1800">
              <a:latin typeface="Times New Roman"/>
              <a:cs typeface="Times New Roman"/>
            </a:endParaRPr>
          </a:p>
        </p:txBody>
      </p:sp>
      <p:sp>
        <p:nvSpPr>
          <p:cNvPr id="4" name="object 4"/>
          <p:cNvSpPr/>
          <p:nvPr/>
        </p:nvSpPr>
        <p:spPr>
          <a:xfrm>
            <a:off x="1758823" y="1407033"/>
            <a:ext cx="3608451" cy="2674111"/>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5156453" y="3310890"/>
            <a:ext cx="5340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003399"/>
                </a:solidFill>
                <a:latin typeface="Times New Roman"/>
                <a:cs typeface="Times New Roman"/>
              </a:rPr>
              <a:t>wat</a:t>
            </a:r>
            <a:r>
              <a:rPr sz="1800" dirty="0">
                <a:solidFill>
                  <a:srgbClr val="003399"/>
                </a:solidFill>
                <a:latin typeface="Times New Roman"/>
                <a:cs typeface="Times New Roman"/>
              </a:rPr>
              <a:t>e</a:t>
            </a:r>
            <a:r>
              <a:rPr sz="1800" spc="-5" dirty="0">
                <a:solidFill>
                  <a:srgbClr val="003399"/>
                </a:solidFill>
                <a:latin typeface="Times New Roman"/>
                <a:cs typeface="Times New Roman"/>
              </a:rPr>
              <a:t>r</a:t>
            </a:r>
            <a:endParaRPr sz="1800">
              <a:latin typeface="Times New Roman"/>
              <a:cs typeface="Times New Roman"/>
            </a:endParaRPr>
          </a:p>
        </p:txBody>
      </p:sp>
      <p:sp>
        <p:nvSpPr>
          <p:cNvPr id="6" name="object 6"/>
          <p:cNvSpPr txBox="1"/>
          <p:nvPr/>
        </p:nvSpPr>
        <p:spPr>
          <a:xfrm>
            <a:off x="1199794" y="3836289"/>
            <a:ext cx="4353560" cy="574040"/>
          </a:xfrm>
          <a:prstGeom prst="rect">
            <a:avLst/>
          </a:prstGeom>
        </p:spPr>
        <p:txBody>
          <a:bodyPr vert="horz" wrap="square" lIns="0" tIns="12700" rIns="0" bIns="0" rtlCol="0">
            <a:spAutoFit/>
          </a:bodyPr>
          <a:lstStyle/>
          <a:p>
            <a:pPr marL="12700">
              <a:lnSpc>
                <a:spcPct val="100000"/>
              </a:lnSpc>
              <a:spcBef>
                <a:spcPts val="100"/>
              </a:spcBef>
              <a:tabLst>
                <a:tab pos="4225925" algn="l"/>
              </a:tabLst>
            </a:pPr>
            <a:r>
              <a:rPr sz="1800" dirty="0">
                <a:solidFill>
                  <a:srgbClr val="003399"/>
                </a:solidFill>
                <a:latin typeface="Times New Roman"/>
                <a:cs typeface="Times New Roman"/>
              </a:rPr>
              <a:t>Boi</a:t>
            </a:r>
            <a:r>
              <a:rPr sz="1800" spc="5" dirty="0">
                <a:solidFill>
                  <a:srgbClr val="003399"/>
                </a:solidFill>
                <a:latin typeface="Times New Roman"/>
                <a:cs typeface="Times New Roman"/>
              </a:rPr>
              <a:t>l</a:t>
            </a:r>
            <a:r>
              <a:rPr sz="1800" dirty="0">
                <a:solidFill>
                  <a:srgbClr val="003399"/>
                </a:solidFill>
                <a:latin typeface="Times New Roman"/>
                <a:cs typeface="Times New Roman"/>
              </a:rPr>
              <a:t>er	</a:t>
            </a:r>
            <a:r>
              <a:rPr sz="1800" dirty="0">
                <a:latin typeface="Times New Roman"/>
                <a:cs typeface="Times New Roman"/>
              </a:rPr>
              <a:t>6</a:t>
            </a:r>
            <a:endParaRPr sz="1800">
              <a:latin typeface="Times New Roman"/>
              <a:cs typeface="Times New Roman"/>
            </a:endParaRPr>
          </a:p>
          <a:p>
            <a:pPr marL="12700">
              <a:lnSpc>
                <a:spcPct val="100000"/>
              </a:lnSpc>
            </a:pPr>
            <a:r>
              <a:rPr sz="1800" spc="-5" dirty="0">
                <a:solidFill>
                  <a:srgbClr val="003399"/>
                </a:solidFill>
                <a:latin typeface="Times New Roman"/>
                <a:cs typeface="Times New Roman"/>
              </a:rPr>
              <a:t>wall</a:t>
            </a:r>
            <a:endParaRPr sz="1800">
              <a:latin typeface="Times New Roman"/>
              <a:cs typeface="Times New Roman"/>
            </a:endParaRPr>
          </a:p>
        </p:txBody>
      </p:sp>
      <p:sp>
        <p:nvSpPr>
          <p:cNvPr id="7" name="object 7"/>
          <p:cNvSpPr txBox="1"/>
          <p:nvPr/>
        </p:nvSpPr>
        <p:spPr>
          <a:xfrm>
            <a:off x="5515483" y="1006855"/>
            <a:ext cx="2869565"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solidFill>
                  <a:srgbClr val="990000"/>
                </a:solidFill>
                <a:latin typeface="Times New Roman"/>
                <a:cs typeface="Times New Roman"/>
              </a:rPr>
              <a:t>Hard adherent </a:t>
            </a:r>
            <a:r>
              <a:rPr sz="1800" dirty="0">
                <a:solidFill>
                  <a:srgbClr val="990000"/>
                </a:solidFill>
                <a:latin typeface="Times New Roman"/>
                <a:cs typeface="Times New Roman"/>
              </a:rPr>
              <a:t>coating </a:t>
            </a:r>
            <a:r>
              <a:rPr sz="1800" spc="-5" dirty="0">
                <a:solidFill>
                  <a:srgbClr val="990000"/>
                </a:solidFill>
                <a:latin typeface="Times New Roman"/>
                <a:cs typeface="Times New Roman"/>
              </a:rPr>
              <a:t>on</a:t>
            </a:r>
            <a:r>
              <a:rPr sz="1800" spc="-40" dirty="0">
                <a:solidFill>
                  <a:srgbClr val="990000"/>
                </a:solidFill>
                <a:latin typeface="Times New Roman"/>
                <a:cs typeface="Times New Roman"/>
              </a:rPr>
              <a:t> </a:t>
            </a:r>
            <a:r>
              <a:rPr sz="1800" dirty="0">
                <a:solidFill>
                  <a:srgbClr val="990000"/>
                </a:solidFill>
                <a:latin typeface="Times New Roman"/>
                <a:cs typeface="Times New Roman"/>
              </a:rPr>
              <a:t>inner  walls of</a:t>
            </a:r>
            <a:r>
              <a:rPr sz="1800" spc="-20" dirty="0">
                <a:solidFill>
                  <a:srgbClr val="990000"/>
                </a:solidFill>
                <a:latin typeface="Times New Roman"/>
                <a:cs typeface="Times New Roman"/>
              </a:rPr>
              <a:t> </a:t>
            </a:r>
            <a:r>
              <a:rPr sz="1800" dirty="0">
                <a:solidFill>
                  <a:srgbClr val="990000"/>
                </a:solidFill>
                <a:latin typeface="Times New Roman"/>
                <a:cs typeface="Times New Roman"/>
              </a:rPr>
              <a:t>boiler</a:t>
            </a:r>
            <a:endParaRPr sz="1800">
              <a:latin typeface="Times New Roman"/>
              <a:cs typeface="Times New Roman"/>
            </a:endParaRPr>
          </a:p>
        </p:txBody>
      </p:sp>
      <p:sp>
        <p:nvSpPr>
          <p:cNvPr id="8" name="object 8"/>
          <p:cNvSpPr/>
          <p:nvPr/>
        </p:nvSpPr>
        <p:spPr>
          <a:xfrm>
            <a:off x="179831" y="4472940"/>
            <a:ext cx="8569960" cy="2308860"/>
          </a:xfrm>
          <a:custGeom>
            <a:avLst/>
            <a:gdLst/>
            <a:ahLst/>
            <a:cxnLst/>
            <a:rect l="l" t="t" r="r" b="b"/>
            <a:pathLst>
              <a:path w="8569960" h="2308859">
                <a:moveTo>
                  <a:pt x="0" y="2308860"/>
                </a:moveTo>
                <a:lnTo>
                  <a:pt x="8569452" y="2308860"/>
                </a:lnTo>
                <a:lnTo>
                  <a:pt x="8569452" y="0"/>
                </a:lnTo>
                <a:lnTo>
                  <a:pt x="0" y="0"/>
                </a:lnTo>
                <a:lnTo>
                  <a:pt x="0" y="2308860"/>
                </a:lnTo>
                <a:close/>
              </a:path>
            </a:pathLst>
          </a:custGeom>
          <a:ln w="9144">
            <a:solidFill>
              <a:srgbClr val="000000"/>
            </a:solidFill>
          </a:ln>
        </p:spPr>
        <p:txBody>
          <a:bodyPr wrap="square" lIns="0" tIns="0" rIns="0" bIns="0" rtlCol="0"/>
          <a:lstStyle/>
          <a:p>
            <a:endParaRPr/>
          </a:p>
        </p:txBody>
      </p:sp>
      <p:sp>
        <p:nvSpPr>
          <p:cNvPr id="9" name="object 9"/>
          <p:cNvSpPr txBox="1"/>
          <p:nvPr/>
        </p:nvSpPr>
        <p:spPr>
          <a:xfrm>
            <a:off x="232867" y="4496816"/>
            <a:ext cx="8099425" cy="2220595"/>
          </a:xfrm>
          <a:prstGeom prst="rect">
            <a:avLst/>
          </a:prstGeom>
        </p:spPr>
        <p:txBody>
          <a:bodyPr vert="horz" wrap="square" lIns="0" tIns="12700" rIns="0" bIns="0" rtlCol="0">
            <a:spAutoFit/>
          </a:bodyPr>
          <a:lstStyle/>
          <a:p>
            <a:pPr marL="38100" marR="326390">
              <a:lnSpc>
                <a:spcPct val="100000"/>
              </a:lnSpc>
              <a:spcBef>
                <a:spcPts val="100"/>
              </a:spcBef>
            </a:pPr>
            <a:r>
              <a:rPr sz="2400" dirty="0">
                <a:solidFill>
                  <a:srgbClr val="FF3300"/>
                </a:solidFill>
                <a:latin typeface="Times New Roman"/>
                <a:cs typeface="Times New Roman"/>
              </a:rPr>
              <a:t>Scales are hard substances which sticks very </a:t>
            </a:r>
            <a:r>
              <a:rPr sz="2400" spc="-5" dirty="0">
                <a:solidFill>
                  <a:srgbClr val="FF3300"/>
                </a:solidFill>
                <a:latin typeface="Times New Roman"/>
                <a:cs typeface="Times New Roman"/>
              </a:rPr>
              <a:t>firmly </a:t>
            </a:r>
            <a:r>
              <a:rPr sz="2400" dirty="0">
                <a:solidFill>
                  <a:srgbClr val="FF3300"/>
                </a:solidFill>
                <a:latin typeface="Times New Roman"/>
                <a:cs typeface="Times New Roman"/>
              </a:rPr>
              <a:t>to the</a:t>
            </a:r>
            <a:r>
              <a:rPr sz="2400" spc="-185" dirty="0">
                <a:solidFill>
                  <a:srgbClr val="FF3300"/>
                </a:solidFill>
                <a:latin typeface="Times New Roman"/>
                <a:cs typeface="Times New Roman"/>
              </a:rPr>
              <a:t> </a:t>
            </a:r>
            <a:r>
              <a:rPr sz="2400" dirty="0">
                <a:solidFill>
                  <a:srgbClr val="FF3300"/>
                </a:solidFill>
                <a:latin typeface="Times New Roman"/>
                <a:cs typeface="Times New Roman"/>
              </a:rPr>
              <a:t>inner  surfaces of the boiler</a:t>
            </a:r>
            <a:r>
              <a:rPr sz="2400" spc="-60" dirty="0">
                <a:solidFill>
                  <a:srgbClr val="FF3300"/>
                </a:solidFill>
                <a:latin typeface="Times New Roman"/>
                <a:cs typeface="Times New Roman"/>
              </a:rPr>
              <a:t> </a:t>
            </a:r>
            <a:r>
              <a:rPr sz="2400" dirty="0">
                <a:solidFill>
                  <a:srgbClr val="FF3300"/>
                </a:solidFill>
                <a:latin typeface="Times New Roman"/>
                <a:cs typeface="Times New Roman"/>
              </a:rPr>
              <a:t>wall.</a:t>
            </a:r>
            <a:endParaRPr sz="2400">
              <a:latin typeface="Times New Roman"/>
              <a:cs typeface="Times New Roman"/>
            </a:endParaRPr>
          </a:p>
          <a:p>
            <a:pPr marL="38100" marR="30480">
              <a:lnSpc>
                <a:spcPct val="100000"/>
              </a:lnSpc>
              <a:spcBef>
                <a:spcPts val="1440"/>
              </a:spcBef>
            </a:pPr>
            <a:r>
              <a:rPr sz="2400" dirty="0">
                <a:solidFill>
                  <a:srgbClr val="FF3300"/>
                </a:solidFill>
                <a:latin typeface="Times New Roman"/>
                <a:cs typeface="Times New Roman"/>
              </a:rPr>
              <a:t>Scales are </a:t>
            </a:r>
            <a:r>
              <a:rPr sz="2400" spc="-10" dirty="0">
                <a:solidFill>
                  <a:srgbClr val="FF3300"/>
                </a:solidFill>
                <a:latin typeface="Times New Roman"/>
                <a:cs typeface="Times New Roman"/>
              </a:rPr>
              <a:t>difficult </a:t>
            </a:r>
            <a:r>
              <a:rPr sz="2400" dirty="0">
                <a:solidFill>
                  <a:srgbClr val="FF3300"/>
                </a:solidFill>
                <a:latin typeface="Times New Roman"/>
                <a:cs typeface="Times New Roman"/>
              </a:rPr>
              <a:t>to </a:t>
            </a:r>
            <a:r>
              <a:rPr sz="2400" spc="-5" dirty="0">
                <a:solidFill>
                  <a:srgbClr val="FF3300"/>
                </a:solidFill>
                <a:latin typeface="Times New Roman"/>
                <a:cs typeface="Times New Roman"/>
              </a:rPr>
              <a:t>remove </a:t>
            </a:r>
            <a:r>
              <a:rPr sz="2400" dirty="0">
                <a:solidFill>
                  <a:srgbClr val="FF3300"/>
                </a:solidFill>
                <a:latin typeface="Times New Roman"/>
                <a:cs typeface="Times New Roman"/>
              </a:rPr>
              <a:t>even </a:t>
            </a:r>
            <a:r>
              <a:rPr sz="2400" spc="-5" dirty="0">
                <a:solidFill>
                  <a:srgbClr val="FF3300"/>
                </a:solidFill>
                <a:latin typeface="Times New Roman"/>
                <a:cs typeface="Times New Roman"/>
              </a:rPr>
              <a:t>with </a:t>
            </a:r>
            <a:r>
              <a:rPr sz="2400" dirty="0">
                <a:solidFill>
                  <a:srgbClr val="FF3300"/>
                </a:solidFill>
                <a:latin typeface="Times New Roman"/>
                <a:cs typeface="Times New Roman"/>
              </a:rPr>
              <a:t>the help of a </a:t>
            </a:r>
            <a:r>
              <a:rPr sz="2400" spc="-10" dirty="0">
                <a:solidFill>
                  <a:srgbClr val="FF3300"/>
                </a:solidFill>
                <a:latin typeface="Times New Roman"/>
                <a:cs typeface="Times New Roman"/>
              </a:rPr>
              <a:t>hammer</a:t>
            </a:r>
            <a:r>
              <a:rPr sz="2400" spc="-70" dirty="0">
                <a:solidFill>
                  <a:srgbClr val="FF3300"/>
                </a:solidFill>
                <a:latin typeface="Times New Roman"/>
                <a:cs typeface="Times New Roman"/>
              </a:rPr>
              <a:t> </a:t>
            </a:r>
            <a:r>
              <a:rPr sz="2400" dirty="0">
                <a:solidFill>
                  <a:srgbClr val="FF3300"/>
                </a:solidFill>
                <a:latin typeface="Times New Roman"/>
                <a:cs typeface="Times New Roman"/>
              </a:rPr>
              <a:t>and  chisel.</a:t>
            </a:r>
            <a:endParaRPr sz="2400">
              <a:latin typeface="Times New Roman"/>
              <a:cs typeface="Times New Roman"/>
            </a:endParaRPr>
          </a:p>
          <a:p>
            <a:pPr marL="38100">
              <a:lnSpc>
                <a:spcPct val="100000"/>
              </a:lnSpc>
              <a:spcBef>
                <a:spcPts val="1440"/>
              </a:spcBef>
            </a:pPr>
            <a:r>
              <a:rPr sz="2400" spc="-5" dirty="0">
                <a:solidFill>
                  <a:srgbClr val="FF3300"/>
                </a:solidFill>
                <a:latin typeface="Times New Roman"/>
                <a:cs typeface="Times New Roman"/>
              </a:rPr>
              <a:t>Examples: CaSO</a:t>
            </a:r>
            <a:r>
              <a:rPr sz="2400" spc="-7" baseline="-20833" dirty="0">
                <a:solidFill>
                  <a:srgbClr val="FF3300"/>
                </a:solidFill>
                <a:latin typeface="Times New Roman"/>
                <a:cs typeface="Times New Roman"/>
              </a:rPr>
              <a:t>4</a:t>
            </a:r>
            <a:r>
              <a:rPr sz="2400" spc="-5" dirty="0">
                <a:solidFill>
                  <a:srgbClr val="FF3300"/>
                </a:solidFill>
                <a:latin typeface="Times New Roman"/>
                <a:cs typeface="Times New Roman"/>
              </a:rPr>
              <a:t>, CaCO</a:t>
            </a:r>
            <a:r>
              <a:rPr sz="2400" spc="-7" baseline="-20833" dirty="0">
                <a:solidFill>
                  <a:srgbClr val="FF3300"/>
                </a:solidFill>
                <a:latin typeface="Times New Roman"/>
                <a:cs typeface="Times New Roman"/>
              </a:rPr>
              <a:t>3</a:t>
            </a:r>
            <a:r>
              <a:rPr sz="2400" spc="-5" dirty="0">
                <a:solidFill>
                  <a:srgbClr val="FF3300"/>
                </a:solidFill>
                <a:latin typeface="Times New Roman"/>
                <a:cs typeface="Times New Roman"/>
              </a:rPr>
              <a:t>,</a:t>
            </a:r>
            <a:r>
              <a:rPr sz="2400" spc="5" dirty="0">
                <a:solidFill>
                  <a:srgbClr val="FF3300"/>
                </a:solidFill>
                <a:latin typeface="Times New Roman"/>
                <a:cs typeface="Times New Roman"/>
              </a:rPr>
              <a:t> </a:t>
            </a:r>
            <a:r>
              <a:rPr sz="2400" spc="-5" dirty="0">
                <a:solidFill>
                  <a:srgbClr val="FF3300"/>
                </a:solidFill>
                <a:latin typeface="Times New Roman"/>
                <a:cs typeface="Times New Roman"/>
              </a:rPr>
              <a:t>Mg(OH)</a:t>
            </a:r>
            <a:r>
              <a:rPr sz="2400" spc="-7" baseline="-20833" dirty="0">
                <a:solidFill>
                  <a:srgbClr val="FF3300"/>
                </a:solidFill>
                <a:latin typeface="Times New Roman"/>
                <a:cs typeface="Times New Roman"/>
              </a:rPr>
              <a:t>2</a:t>
            </a:r>
            <a:endParaRPr sz="2400" baseline="-20833">
              <a:latin typeface="Times New Roman"/>
              <a:cs typeface="Times New Roman"/>
            </a:endParaRPr>
          </a:p>
        </p:txBody>
      </p:sp>
      <p:sp>
        <p:nvSpPr>
          <p:cNvPr id="10" name="object 10"/>
          <p:cNvSpPr/>
          <p:nvPr/>
        </p:nvSpPr>
        <p:spPr>
          <a:xfrm>
            <a:off x="5867400" y="1700783"/>
            <a:ext cx="3252683" cy="2334768"/>
          </a:xfrm>
          <a:prstGeom prst="rect">
            <a:avLst/>
          </a:prstGeom>
          <a:blipFill>
            <a:blip r:embed="rId3" cstate="print"/>
            <a:stretch>
              <a:fillRect/>
            </a:stretch>
          </a:blipFill>
        </p:spPr>
        <p:txBody>
          <a:bodyPr wrap="square" lIns="0" tIns="0" rIns="0" bIns="0" rtlCol="0"/>
          <a:lstStyle/>
          <a:p>
            <a:endParaRPr/>
          </a:p>
        </p:txBody>
      </p:sp>
      <p:sp>
        <p:nvSpPr>
          <p:cNvPr id="11" name="object 11"/>
          <p:cNvSpPr txBox="1"/>
          <p:nvPr/>
        </p:nvSpPr>
        <p:spPr>
          <a:xfrm>
            <a:off x="2974975" y="4064889"/>
            <a:ext cx="1397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5</a:t>
            </a:r>
            <a:endParaRPr sz="1800">
              <a:latin typeface="Times New Roman"/>
              <a:cs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484120" y="333756"/>
            <a:ext cx="3828415" cy="490855"/>
          </a:xfrm>
          <a:prstGeom prst="rect">
            <a:avLst/>
          </a:prstGeom>
          <a:ln w="9144">
            <a:solidFill>
              <a:srgbClr val="FFFF00"/>
            </a:solidFill>
          </a:ln>
        </p:spPr>
        <p:txBody>
          <a:bodyPr vert="horz" wrap="square" lIns="0" tIns="116205" rIns="0" bIns="0" rtlCol="0">
            <a:spAutoFit/>
          </a:bodyPr>
          <a:lstStyle/>
          <a:p>
            <a:pPr algn="ctr">
              <a:lnSpc>
                <a:spcPct val="100000"/>
              </a:lnSpc>
              <a:spcBef>
                <a:spcPts val="915"/>
              </a:spcBef>
            </a:pPr>
            <a:r>
              <a:rPr sz="1600" b="1" spc="-5" dirty="0">
                <a:solidFill>
                  <a:srgbClr val="FF3300"/>
                </a:solidFill>
                <a:latin typeface="Times New Roman"/>
                <a:cs typeface="Times New Roman"/>
              </a:rPr>
              <a:t>Reasons for formation of</a:t>
            </a:r>
            <a:r>
              <a:rPr sz="1600" b="1" spc="50" dirty="0">
                <a:solidFill>
                  <a:srgbClr val="FF3300"/>
                </a:solidFill>
                <a:latin typeface="Times New Roman"/>
                <a:cs typeface="Times New Roman"/>
              </a:rPr>
              <a:t> </a:t>
            </a:r>
            <a:r>
              <a:rPr sz="1600" b="1" spc="-5" dirty="0">
                <a:solidFill>
                  <a:srgbClr val="FF3300"/>
                </a:solidFill>
                <a:latin typeface="Times New Roman"/>
                <a:cs typeface="Times New Roman"/>
              </a:rPr>
              <a:t>scale</a:t>
            </a:r>
            <a:endParaRPr sz="1600">
              <a:latin typeface="Times New Roman"/>
              <a:cs typeface="Times New Roman"/>
            </a:endParaRPr>
          </a:p>
        </p:txBody>
      </p:sp>
      <p:sp>
        <p:nvSpPr>
          <p:cNvPr id="3" name="object 3"/>
          <p:cNvSpPr txBox="1"/>
          <p:nvPr/>
        </p:nvSpPr>
        <p:spPr>
          <a:xfrm>
            <a:off x="972311" y="1066800"/>
            <a:ext cx="5039995" cy="307975"/>
          </a:xfrm>
          <a:prstGeom prst="rect">
            <a:avLst/>
          </a:prstGeom>
          <a:ln w="9144">
            <a:solidFill>
              <a:srgbClr val="FFFF00"/>
            </a:solidFill>
          </a:ln>
        </p:spPr>
        <p:txBody>
          <a:bodyPr vert="horz" wrap="square" lIns="0" tIns="40005" rIns="0" bIns="0" rtlCol="0">
            <a:spAutoFit/>
          </a:bodyPr>
          <a:lstStyle/>
          <a:p>
            <a:pPr marL="90805">
              <a:lnSpc>
                <a:spcPct val="100000"/>
              </a:lnSpc>
              <a:spcBef>
                <a:spcPts val="315"/>
              </a:spcBef>
            </a:pPr>
            <a:r>
              <a:rPr sz="1400" dirty="0">
                <a:solidFill>
                  <a:srgbClr val="FF3300"/>
                </a:solidFill>
                <a:latin typeface="Times New Roman"/>
                <a:cs typeface="Times New Roman"/>
              </a:rPr>
              <a:t>1. Presence of Ca(HCO</a:t>
            </a:r>
            <a:r>
              <a:rPr sz="1350" baseline="-21604" dirty="0">
                <a:solidFill>
                  <a:srgbClr val="FF3300"/>
                </a:solidFill>
                <a:latin typeface="Times New Roman"/>
                <a:cs typeface="Times New Roman"/>
              </a:rPr>
              <a:t>3</a:t>
            </a:r>
            <a:r>
              <a:rPr sz="1400" dirty="0">
                <a:solidFill>
                  <a:srgbClr val="FF3300"/>
                </a:solidFill>
                <a:latin typeface="Times New Roman"/>
                <a:cs typeface="Times New Roman"/>
              </a:rPr>
              <a:t>)</a:t>
            </a:r>
            <a:r>
              <a:rPr sz="1350" baseline="-21604" dirty="0">
                <a:solidFill>
                  <a:srgbClr val="FF3300"/>
                </a:solidFill>
                <a:latin typeface="Times New Roman"/>
                <a:cs typeface="Times New Roman"/>
              </a:rPr>
              <a:t>2 </a:t>
            </a:r>
            <a:r>
              <a:rPr sz="1400" dirty="0">
                <a:solidFill>
                  <a:srgbClr val="FF3300"/>
                </a:solidFill>
                <a:latin typeface="Times New Roman"/>
                <a:cs typeface="Times New Roman"/>
              </a:rPr>
              <a:t>in low pressure</a:t>
            </a:r>
            <a:r>
              <a:rPr sz="1400" spc="-215" dirty="0">
                <a:solidFill>
                  <a:srgbClr val="FF3300"/>
                </a:solidFill>
                <a:latin typeface="Times New Roman"/>
                <a:cs typeface="Times New Roman"/>
              </a:rPr>
              <a:t> </a:t>
            </a:r>
            <a:r>
              <a:rPr sz="1400" dirty="0">
                <a:solidFill>
                  <a:srgbClr val="FF3300"/>
                </a:solidFill>
                <a:latin typeface="Times New Roman"/>
                <a:cs typeface="Times New Roman"/>
              </a:rPr>
              <a:t>boilers</a:t>
            </a:r>
            <a:endParaRPr sz="1400">
              <a:latin typeface="Times New Roman"/>
              <a:cs typeface="Times New Roman"/>
            </a:endParaRPr>
          </a:p>
        </p:txBody>
      </p:sp>
      <p:sp>
        <p:nvSpPr>
          <p:cNvPr id="4" name="object 4"/>
          <p:cNvSpPr txBox="1"/>
          <p:nvPr/>
        </p:nvSpPr>
        <p:spPr>
          <a:xfrm>
            <a:off x="915619" y="1611884"/>
            <a:ext cx="4258310" cy="673100"/>
          </a:xfrm>
          <a:prstGeom prst="rect">
            <a:avLst/>
          </a:prstGeom>
        </p:spPr>
        <p:txBody>
          <a:bodyPr vert="horz" wrap="square" lIns="0" tIns="127000" rIns="0" bIns="0" rtlCol="0">
            <a:spAutoFit/>
          </a:bodyPr>
          <a:lstStyle/>
          <a:p>
            <a:pPr marL="76200">
              <a:lnSpc>
                <a:spcPct val="100000"/>
              </a:lnSpc>
              <a:spcBef>
                <a:spcPts val="1000"/>
              </a:spcBef>
              <a:tabLst>
                <a:tab pos="2145665" algn="l"/>
                <a:tab pos="2965450" algn="l"/>
              </a:tabLst>
            </a:pPr>
            <a:r>
              <a:rPr sz="1800" spc="-5" dirty="0">
                <a:solidFill>
                  <a:srgbClr val="00CC00"/>
                </a:solidFill>
                <a:latin typeface="Times New Roman"/>
                <a:cs typeface="Times New Roman"/>
              </a:rPr>
              <a:t>Ca(HCO</a:t>
            </a:r>
            <a:r>
              <a:rPr sz="1800" spc="-7" baseline="-20833" dirty="0">
                <a:solidFill>
                  <a:srgbClr val="00CC00"/>
                </a:solidFill>
                <a:latin typeface="Times New Roman"/>
                <a:cs typeface="Times New Roman"/>
              </a:rPr>
              <a:t>3</a:t>
            </a:r>
            <a:r>
              <a:rPr sz="1800" spc="-5" dirty="0">
                <a:solidFill>
                  <a:srgbClr val="00CC00"/>
                </a:solidFill>
                <a:latin typeface="Times New Roman"/>
                <a:cs typeface="Times New Roman"/>
              </a:rPr>
              <a:t>)</a:t>
            </a:r>
            <a:r>
              <a:rPr sz="1800" spc="-7" baseline="-20833" dirty="0">
                <a:solidFill>
                  <a:srgbClr val="00CC00"/>
                </a:solidFill>
                <a:latin typeface="Times New Roman"/>
                <a:cs typeface="Times New Roman"/>
              </a:rPr>
              <a:t>2	</a:t>
            </a:r>
            <a:r>
              <a:rPr sz="1800" dirty="0">
                <a:solidFill>
                  <a:srgbClr val="FF0066"/>
                </a:solidFill>
                <a:latin typeface="Times New Roman"/>
                <a:cs typeface="Times New Roman"/>
              </a:rPr>
              <a:t>CaCO</a:t>
            </a:r>
            <a:r>
              <a:rPr sz="1800" baseline="-20833" dirty="0">
                <a:solidFill>
                  <a:srgbClr val="FF0066"/>
                </a:solidFill>
                <a:latin typeface="Times New Roman"/>
                <a:cs typeface="Times New Roman"/>
              </a:rPr>
              <a:t>3	</a:t>
            </a:r>
            <a:r>
              <a:rPr sz="1800" dirty="0">
                <a:latin typeface="Times New Roman"/>
                <a:cs typeface="Times New Roman"/>
              </a:rPr>
              <a:t>+ </a:t>
            </a:r>
            <a:r>
              <a:rPr sz="1800" spc="-5" dirty="0">
                <a:latin typeface="Times New Roman"/>
                <a:cs typeface="Times New Roman"/>
              </a:rPr>
              <a:t>H</a:t>
            </a:r>
            <a:r>
              <a:rPr sz="1800" spc="-7" baseline="-20833" dirty="0">
                <a:latin typeface="Times New Roman"/>
                <a:cs typeface="Times New Roman"/>
              </a:rPr>
              <a:t>2</a:t>
            </a:r>
            <a:r>
              <a:rPr sz="1800" spc="-5" dirty="0">
                <a:latin typeface="Times New Roman"/>
                <a:cs typeface="Times New Roman"/>
              </a:rPr>
              <a:t>O </a:t>
            </a:r>
            <a:r>
              <a:rPr sz="1800" dirty="0">
                <a:latin typeface="Times New Roman"/>
                <a:cs typeface="Times New Roman"/>
              </a:rPr>
              <a:t>+</a:t>
            </a:r>
            <a:r>
              <a:rPr sz="1800" spc="-55" dirty="0">
                <a:latin typeface="Times New Roman"/>
                <a:cs typeface="Times New Roman"/>
              </a:rPr>
              <a:t> </a:t>
            </a:r>
            <a:r>
              <a:rPr sz="1800" spc="-5" dirty="0">
                <a:latin typeface="Times New Roman"/>
                <a:cs typeface="Times New Roman"/>
              </a:rPr>
              <a:t>CO</a:t>
            </a:r>
            <a:r>
              <a:rPr sz="1800" spc="-7" baseline="-20833" dirty="0">
                <a:latin typeface="Times New Roman"/>
                <a:cs typeface="Times New Roman"/>
              </a:rPr>
              <a:t>2</a:t>
            </a:r>
            <a:endParaRPr sz="1800" baseline="-20833">
              <a:latin typeface="Times New Roman"/>
              <a:cs typeface="Times New Roman"/>
            </a:endParaRPr>
          </a:p>
          <a:p>
            <a:pPr marL="76200">
              <a:lnSpc>
                <a:spcPct val="100000"/>
              </a:lnSpc>
              <a:spcBef>
                <a:spcPts val="600"/>
              </a:spcBef>
              <a:tabLst>
                <a:tab pos="2146935" algn="l"/>
              </a:tabLst>
            </a:pPr>
            <a:r>
              <a:rPr sz="1200" spc="-5" dirty="0">
                <a:solidFill>
                  <a:srgbClr val="FF0066"/>
                </a:solidFill>
                <a:latin typeface="Times New Roman"/>
                <a:cs typeface="Times New Roman"/>
              </a:rPr>
              <a:t>Calcium</a:t>
            </a:r>
            <a:r>
              <a:rPr sz="1200" spc="45" dirty="0">
                <a:solidFill>
                  <a:srgbClr val="FF0066"/>
                </a:solidFill>
                <a:latin typeface="Times New Roman"/>
                <a:cs typeface="Times New Roman"/>
              </a:rPr>
              <a:t> </a:t>
            </a:r>
            <a:r>
              <a:rPr sz="1200" spc="-5" dirty="0">
                <a:solidFill>
                  <a:srgbClr val="FF0066"/>
                </a:solidFill>
                <a:latin typeface="Times New Roman"/>
                <a:cs typeface="Times New Roman"/>
              </a:rPr>
              <a:t>bicarbonate	Calcium Carbonate</a:t>
            </a:r>
            <a:r>
              <a:rPr sz="1200" spc="55" dirty="0">
                <a:solidFill>
                  <a:srgbClr val="FF0066"/>
                </a:solidFill>
                <a:latin typeface="Times New Roman"/>
                <a:cs typeface="Times New Roman"/>
              </a:rPr>
              <a:t> </a:t>
            </a:r>
            <a:r>
              <a:rPr sz="1200" spc="-5" dirty="0">
                <a:solidFill>
                  <a:srgbClr val="FF0066"/>
                </a:solidFill>
                <a:latin typeface="Times New Roman"/>
                <a:cs typeface="Times New Roman"/>
              </a:rPr>
              <a:t>(scale)</a:t>
            </a:r>
            <a:endParaRPr sz="1200">
              <a:latin typeface="Times New Roman"/>
              <a:cs typeface="Times New Roman"/>
            </a:endParaRPr>
          </a:p>
        </p:txBody>
      </p:sp>
      <p:sp>
        <p:nvSpPr>
          <p:cNvPr id="5" name="object 5"/>
          <p:cNvSpPr/>
          <p:nvPr/>
        </p:nvSpPr>
        <p:spPr>
          <a:xfrm>
            <a:off x="2133600" y="1866900"/>
            <a:ext cx="719455" cy="76200"/>
          </a:xfrm>
          <a:custGeom>
            <a:avLst/>
            <a:gdLst/>
            <a:ahLst/>
            <a:cxnLst/>
            <a:rect l="l" t="t" r="r" b="b"/>
            <a:pathLst>
              <a:path w="719455" h="76200">
                <a:moveTo>
                  <a:pt x="643127" y="0"/>
                </a:moveTo>
                <a:lnTo>
                  <a:pt x="643127" y="76200"/>
                </a:lnTo>
                <a:lnTo>
                  <a:pt x="706627" y="44450"/>
                </a:lnTo>
                <a:lnTo>
                  <a:pt x="655827" y="44450"/>
                </a:lnTo>
                <a:lnTo>
                  <a:pt x="655827" y="31750"/>
                </a:lnTo>
                <a:lnTo>
                  <a:pt x="706627" y="31750"/>
                </a:lnTo>
                <a:lnTo>
                  <a:pt x="643127" y="0"/>
                </a:lnTo>
                <a:close/>
              </a:path>
              <a:path w="719455" h="76200">
                <a:moveTo>
                  <a:pt x="643127" y="31750"/>
                </a:moveTo>
                <a:lnTo>
                  <a:pt x="0" y="31750"/>
                </a:lnTo>
                <a:lnTo>
                  <a:pt x="0" y="44450"/>
                </a:lnTo>
                <a:lnTo>
                  <a:pt x="643127" y="44450"/>
                </a:lnTo>
                <a:lnTo>
                  <a:pt x="643127" y="31750"/>
                </a:lnTo>
                <a:close/>
              </a:path>
              <a:path w="719455" h="76200">
                <a:moveTo>
                  <a:pt x="706627" y="31750"/>
                </a:moveTo>
                <a:lnTo>
                  <a:pt x="655827" y="31750"/>
                </a:lnTo>
                <a:lnTo>
                  <a:pt x="655827" y="44450"/>
                </a:lnTo>
                <a:lnTo>
                  <a:pt x="706627" y="44450"/>
                </a:lnTo>
                <a:lnTo>
                  <a:pt x="719327" y="38100"/>
                </a:lnTo>
                <a:lnTo>
                  <a:pt x="706627" y="31750"/>
                </a:lnTo>
                <a:close/>
              </a:path>
            </a:pathLst>
          </a:custGeom>
          <a:solidFill>
            <a:srgbClr val="000000"/>
          </a:solidFill>
        </p:spPr>
        <p:txBody>
          <a:bodyPr wrap="square" lIns="0" tIns="0" rIns="0" bIns="0" rtlCol="0"/>
          <a:lstStyle/>
          <a:p>
            <a:endParaRPr/>
          </a:p>
        </p:txBody>
      </p:sp>
      <p:sp>
        <p:nvSpPr>
          <p:cNvPr id="6" name="object 6"/>
          <p:cNvSpPr/>
          <p:nvPr/>
        </p:nvSpPr>
        <p:spPr>
          <a:xfrm>
            <a:off x="3771900" y="1676400"/>
            <a:ext cx="76200" cy="289560"/>
          </a:xfrm>
          <a:custGeom>
            <a:avLst/>
            <a:gdLst/>
            <a:ahLst/>
            <a:cxnLst/>
            <a:rect l="l" t="t" r="r" b="b"/>
            <a:pathLst>
              <a:path w="76200" h="289560">
                <a:moveTo>
                  <a:pt x="31750" y="213360"/>
                </a:moveTo>
                <a:lnTo>
                  <a:pt x="0" y="213360"/>
                </a:lnTo>
                <a:lnTo>
                  <a:pt x="38100" y="289560"/>
                </a:lnTo>
                <a:lnTo>
                  <a:pt x="69850" y="226060"/>
                </a:lnTo>
                <a:lnTo>
                  <a:pt x="31750" y="226060"/>
                </a:lnTo>
                <a:lnTo>
                  <a:pt x="31750" y="213360"/>
                </a:lnTo>
                <a:close/>
              </a:path>
              <a:path w="76200" h="289560">
                <a:moveTo>
                  <a:pt x="44450" y="0"/>
                </a:moveTo>
                <a:lnTo>
                  <a:pt x="31750" y="0"/>
                </a:lnTo>
                <a:lnTo>
                  <a:pt x="31750" y="226060"/>
                </a:lnTo>
                <a:lnTo>
                  <a:pt x="44450" y="226060"/>
                </a:lnTo>
                <a:lnTo>
                  <a:pt x="44450" y="0"/>
                </a:lnTo>
                <a:close/>
              </a:path>
              <a:path w="76200" h="289560">
                <a:moveTo>
                  <a:pt x="76200" y="213360"/>
                </a:moveTo>
                <a:lnTo>
                  <a:pt x="44450" y="213360"/>
                </a:lnTo>
                <a:lnTo>
                  <a:pt x="44450" y="226060"/>
                </a:lnTo>
                <a:lnTo>
                  <a:pt x="69850" y="226060"/>
                </a:lnTo>
                <a:lnTo>
                  <a:pt x="76200" y="213360"/>
                </a:lnTo>
                <a:close/>
              </a:path>
            </a:pathLst>
          </a:custGeom>
          <a:solidFill>
            <a:srgbClr val="000000"/>
          </a:solidFill>
        </p:spPr>
        <p:txBody>
          <a:bodyPr wrap="square" lIns="0" tIns="0" rIns="0" bIns="0" rtlCol="0"/>
          <a:lstStyle/>
          <a:p>
            <a:endParaRPr/>
          </a:p>
        </p:txBody>
      </p:sp>
      <p:sp>
        <p:nvSpPr>
          <p:cNvPr id="7" name="object 7"/>
          <p:cNvSpPr/>
          <p:nvPr/>
        </p:nvSpPr>
        <p:spPr>
          <a:xfrm>
            <a:off x="5143500" y="1752600"/>
            <a:ext cx="76200" cy="216408"/>
          </a:xfrm>
          <a:prstGeom prst="rect">
            <a:avLst/>
          </a:prstGeom>
          <a:blipFill>
            <a:blip r:embed="rId2" cstate="print"/>
            <a:stretch>
              <a:fillRect/>
            </a:stretch>
          </a:blipFill>
        </p:spPr>
        <p:txBody>
          <a:bodyPr wrap="square" lIns="0" tIns="0" rIns="0" bIns="0" rtlCol="0"/>
          <a:lstStyle/>
          <a:p>
            <a:endParaRPr/>
          </a:p>
        </p:txBody>
      </p:sp>
      <p:sp>
        <p:nvSpPr>
          <p:cNvPr id="8" name="object 8"/>
          <p:cNvSpPr txBox="1"/>
          <p:nvPr/>
        </p:nvSpPr>
        <p:spPr>
          <a:xfrm>
            <a:off x="6012179" y="1700783"/>
            <a:ext cx="2880360" cy="649605"/>
          </a:xfrm>
          <a:prstGeom prst="rect">
            <a:avLst/>
          </a:prstGeom>
          <a:ln w="9144">
            <a:solidFill>
              <a:srgbClr val="FFFF00"/>
            </a:solidFill>
          </a:ln>
        </p:spPr>
        <p:txBody>
          <a:bodyPr vert="horz" wrap="square" lIns="0" tIns="40640" rIns="0" bIns="0" rtlCol="0">
            <a:spAutoFit/>
          </a:bodyPr>
          <a:lstStyle/>
          <a:p>
            <a:pPr marL="92075">
              <a:lnSpc>
                <a:spcPct val="100000"/>
              </a:lnSpc>
              <a:spcBef>
                <a:spcPts val="320"/>
              </a:spcBef>
            </a:pPr>
            <a:r>
              <a:rPr sz="1200" spc="-10" dirty="0">
                <a:latin typeface="Times New Roman"/>
                <a:cs typeface="Times New Roman"/>
              </a:rPr>
              <a:t>Low </a:t>
            </a:r>
            <a:r>
              <a:rPr sz="1200" spc="-5" dirty="0">
                <a:latin typeface="Times New Roman"/>
                <a:cs typeface="Times New Roman"/>
              </a:rPr>
              <a:t>pressure boilers </a:t>
            </a:r>
            <a:r>
              <a:rPr sz="1200" dirty="0">
                <a:latin typeface="Times New Roman"/>
                <a:cs typeface="Times New Roman"/>
              </a:rPr>
              <a:t>but in high</a:t>
            </a:r>
            <a:r>
              <a:rPr sz="1200" spc="50" dirty="0">
                <a:latin typeface="Times New Roman"/>
                <a:cs typeface="Times New Roman"/>
              </a:rPr>
              <a:t> </a:t>
            </a:r>
            <a:r>
              <a:rPr sz="1200" spc="-5" dirty="0">
                <a:latin typeface="Times New Roman"/>
                <a:cs typeface="Times New Roman"/>
              </a:rPr>
              <a:t>pressure</a:t>
            </a:r>
            <a:endParaRPr sz="1200">
              <a:latin typeface="Times New Roman"/>
              <a:cs typeface="Times New Roman"/>
            </a:endParaRPr>
          </a:p>
          <a:p>
            <a:pPr marL="92075">
              <a:lnSpc>
                <a:spcPct val="100000"/>
              </a:lnSpc>
            </a:pPr>
            <a:r>
              <a:rPr sz="1200" spc="-5" dirty="0">
                <a:latin typeface="Times New Roman"/>
                <a:cs typeface="Times New Roman"/>
              </a:rPr>
              <a:t>boilers </a:t>
            </a:r>
            <a:r>
              <a:rPr sz="1200" dirty="0">
                <a:latin typeface="Times New Roman"/>
                <a:cs typeface="Times New Roman"/>
              </a:rPr>
              <a:t>it </a:t>
            </a:r>
            <a:r>
              <a:rPr sz="1200" spc="-5" dirty="0">
                <a:latin typeface="Times New Roman"/>
                <a:cs typeface="Times New Roman"/>
              </a:rPr>
              <a:t>is </a:t>
            </a:r>
            <a:r>
              <a:rPr sz="1200" dirty="0">
                <a:latin typeface="Times New Roman"/>
                <a:cs typeface="Times New Roman"/>
              </a:rPr>
              <a:t>soluble by </a:t>
            </a:r>
            <a:r>
              <a:rPr sz="1200" spc="-5" dirty="0">
                <a:latin typeface="Times New Roman"/>
                <a:cs typeface="Times New Roman"/>
              </a:rPr>
              <a:t>forming</a:t>
            </a:r>
            <a:r>
              <a:rPr sz="1200" spc="10" dirty="0">
                <a:latin typeface="Times New Roman"/>
                <a:cs typeface="Times New Roman"/>
              </a:rPr>
              <a:t> </a:t>
            </a:r>
            <a:r>
              <a:rPr sz="1200" spc="-5" dirty="0">
                <a:latin typeface="Times New Roman"/>
                <a:cs typeface="Times New Roman"/>
              </a:rPr>
              <a:t>Ca(OH)</a:t>
            </a:r>
            <a:r>
              <a:rPr sz="1200" spc="-7" baseline="-20833" dirty="0">
                <a:latin typeface="Times New Roman"/>
                <a:cs typeface="Times New Roman"/>
              </a:rPr>
              <a:t>2</a:t>
            </a:r>
            <a:endParaRPr sz="1200" baseline="-20833">
              <a:latin typeface="Times New Roman"/>
              <a:cs typeface="Times New Roman"/>
            </a:endParaRPr>
          </a:p>
        </p:txBody>
      </p:sp>
      <p:sp>
        <p:nvSpPr>
          <p:cNvPr id="9" name="object 9"/>
          <p:cNvSpPr txBox="1"/>
          <p:nvPr/>
        </p:nvSpPr>
        <p:spPr>
          <a:xfrm>
            <a:off x="984503" y="2470404"/>
            <a:ext cx="4883150" cy="314325"/>
          </a:xfrm>
          <a:prstGeom prst="rect">
            <a:avLst/>
          </a:prstGeom>
          <a:ln w="9144">
            <a:solidFill>
              <a:srgbClr val="FFFF00"/>
            </a:solidFill>
          </a:ln>
        </p:spPr>
        <p:txBody>
          <a:bodyPr vert="horz" wrap="square" lIns="0" tIns="40005" rIns="0" bIns="0" rtlCol="0">
            <a:spAutoFit/>
          </a:bodyPr>
          <a:lstStyle/>
          <a:p>
            <a:pPr marL="91440">
              <a:lnSpc>
                <a:spcPct val="100000"/>
              </a:lnSpc>
              <a:spcBef>
                <a:spcPts val="315"/>
              </a:spcBef>
            </a:pPr>
            <a:r>
              <a:rPr sz="1400" dirty="0">
                <a:solidFill>
                  <a:srgbClr val="FF3300"/>
                </a:solidFill>
                <a:latin typeface="Times New Roman"/>
                <a:cs typeface="Times New Roman"/>
              </a:rPr>
              <a:t>2. Presence of </a:t>
            </a:r>
            <a:r>
              <a:rPr sz="1400" spc="5" dirty="0">
                <a:solidFill>
                  <a:srgbClr val="FF3300"/>
                </a:solidFill>
                <a:latin typeface="Times New Roman"/>
                <a:cs typeface="Times New Roman"/>
              </a:rPr>
              <a:t>CaSO</a:t>
            </a:r>
            <a:r>
              <a:rPr sz="1350" spc="7" baseline="-21604" dirty="0">
                <a:solidFill>
                  <a:srgbClr val="FF3300"/>
                </a:solidFill>
                <a:latin typeface="Times New Roman"/>
                <a:cs typeface="Times New Roman"/>
              </a:rPr>
              <a:t>4 </a:t>
            </a:r>
            <a:r>
              <a:rPr sz="1400" dirty="0">
                <a:solidFill>
                  <a:srgbClr val="FF3300"/>
                </a:solidFill>
                <a:latin typeface="Times New Roman"/>
                <a:cs typeface="Times New Roman"/>
              </a:rPr>
              <a:t>in high pressure</a:t>
            </a:r>
            <a:r>
              <a:rPr sz="1400" spc="-250" dirty="0">
                <a:solidFill>
                  <a:srgbClr val="FF3300"/>
                </a:solidFill>
                <a:latin typeface="Times New Roman"/>
                <a:cs typeface="Times New Roman"/>
              </a:rPr>
              <a:t> </a:t>
            </a:r>
            <a:r>
              <a:rPr sz="1400" dirty="0">
                <a:solidFill>
                  <a:srgbClr val="FF3300"/>
                </a:solidFill>
                <a:latin typeface="Times New Roman"/>
                <a:cs typeface="Times New Roman"/>
              </a:rPr>
              <a:t>boilers</a:t>
            </a:r>
            <a:endParaRPr sz="1400">
              <a:latin typeface="Times New Roman"/>
              <a:cs typeface="Times New Roman"/>
            </a:endParaRPr>
          </a:p>
        </p:txBody>
      </p:sp>
      <p:sp>
        <p:nvSpPr>
          <p:cNvPr id="10" name="object 10"/>
          <p:cNvSpPr txBox="1"/>
          <p:nvPr/>
        </p:nvSpPr>
        <p:spPr>
          <a:xfrm>
            <a:off x="1042416" y="2924555"/>
            <a:ext cx="3385185" cy="1656714"/>
          </a:xfrm>
          <a:prstGeom prst="rect">
            <a:avLst/>
          </a:prstGeom>
          <a:solidFill>
            <a:srgbClr val="FFFF66"/>
          </a:solidFill>
          <a:ln w="9144">
            <a:solidFill>
              <a:srgbClr val="000000"/>
            </a:solidFill>
          </a:ln>
        </p:spPr>
        <p:txBody>
          <a:bodyPr vert="horz" wrap="square" lIns="0" tIns="41275" rIns="0" bIns="0" rtlCol="0">
            <a:spAutoFit/>
          </a:bodyPr>
          <a:lstStyle/>
          <a:p>
            <a:pPr marL="92075">
              <a:lnSpc>
                <a:spcPct val="100000"/>
              </a:lnSpc>
              <a:spcBef>
                <a:spcPts val="325"/>
              </a:spcBef>
              <a:tabLst>
                <a:tab pos="1463675" algn="l"/>
              </a:tabLst>
            </a:pPr>
            <a:r>
              <a:rPr sz="1200" spc="-35" dirty="0">
                <a:solidFill>
                  <a:srgbClr val="FF3300"/>
                </a:solidFill>
                <a:latin typeface="Times New Roman"/>
                <a:cs typeface="Times New Roman"/>
              </a:rPr>
              <a:t>T</a:t>
            </a:r>
            <a:r>
              <a:rPr sz="1200" spc="-52" baseline="24305" dirty="0">
                <a:solidFill>
                  <a:srgbClr val="FF3300"/>
                </a:solidFill>
                <a:latin typeface="Times New Roman"/>
                <a:cs typeface="Times New Roman"/>
              </a:rPr>
              <a:t>o</a:t>
            </a:r>
            <a:r>
              <a:rPr sz="1200" spc="-35" dirty="0">
                <a:solidFill>
                  <a:srgbClr val="FF3300"/>
                </a:solidFill>
                <a:latin typeface="Times New Roman"/>
                <a:cs typeface="Times New Roman"/>
              </a:rPr>
              <a:t>C	</a:t>
            </a:r>
            <a:r>
              <a:rPr sz="1200" dirty="0">
                <a:solidFill>
                  <a:srgbClr val="FF3300"/>
                </a:solidFill>
                <a:latin typeface="Times New Roman"/>
                <a:cs typeface="Times New Roman"/>
              </a:rPr>
              <a:t>Solubility of</a:t>
            </a:r>
            <a:r>
              <a:rPr sz="1200" spc="-10" dirty="0">
                <a:solidFill>
                  <a:srgbClr val="FF3300"/>
                </a:solidFill>
                <a:latin typeface="Times New Roman"/>
                <a:cs typeface="Times New Roman"/>
              </a:rPr>
              <a:t> </a:t>
            </a:r>
            <a:r>
              <a:rPr sz="1200" dirty="0">
                <a:solidFill>
                  <a:srgbClr val="FF3300"/>
                </a:solidFill>
                <a:latin typeface="Times New Roman"/>
                <a:cs typeface="Times New Roman"/>
              </a:rPr>
              <a:t>CaSO</a:t>
            </a:r>
            <a:r>
              <a:rPr sz="1200" baseline="-20833" dirty="0">
                <a:solidFill>
                  <a:srgbClr val="FF3300"/>
                </a:solidFill>
                <a:latin typeface="Times New Roman"/>
                <a:cs typeface="Times New Roman"/>
              </a:rPr>
              <a:t>4</a:t>
            </a:r>
            <a:endParaRPr sz="1200" baseline="-20833">
              <a:latin typeface="Times New Roman"/>
              <a:cs typeface="Times New Roman"/>
            </a:endParaRPr>
          </a:p>
          <a:p>
            <a:pPr marL="92075">
              <a:lnSpc>
                <a:spcPct val="100000"/>
              </a:lnSpc>
              <a:spcBef>
                <a:spcPts val="720"/>
              </a:spcBef>
              <a:tabLst>
                <a:tab pos="1806575" algn="l"/>
              </a:tabLst>
            </a:pPr>
            <a:r>
              <a:rPr sz="1200" dirty="0">
                <a:latin typeface="Times New Roman"/>
                <a:cs typeface="Times New Roman"/>
              </a:rPr>
              <a:t>15	3200</a:t>
            </a:r>
            <a:r>
              <a:rPr sz="1200" spc="-5" dirty="0">
                <a:latin typeface="Times New Roman"/>
                <a:cs typeface="Times New Roman"/>
              </a:rPr>
              <a:t> </a:t>
            </a:r>
            <a:r>
              <a:rPr sz="1200" dirty="0">
                <a:latin typeface="Times New Roman"/>
                <a:cs typeface="Times New Roman"/>
              </a:rPr>
              <a:t>ppm</a:t>
            </a:r>
            <a:endParaRPr sz="1200">
              <a:latin typeface="Times New Roman"/>
              <a:cs typeface="Times New Roman"/>
            </a:endParaRPr>
          </a:p>
          <a:p>
            <a:pPr marL="92075">
              <a:lnSpc>
                <a:spcPct val="100000"/>
              </a:lnSpc>
              <a:spcBef>
                <a:spcPts val="720"/>
              </a:spcBef>
              <a:tabLst>
                <a:tab pos="1806575" algn="l"/>
              </a:tabLst>
            </a:pPr>
            <a:r>
              <a:rPr sz="1200" dirty="0">
                <a:latin typeface="Times New Roman"/>
                <a:cs typeface="Times New Roman"/>
              </a:rPr>
              <a:t>230	15</a:t>
            </a:r>
            <a:r>
              <a:rPr sz="1200" spc="-100" dirty="0">
                <a:latin typeface="Times New Roman"/>
                <a:cs typeface="Times New Roman"/>
              </a:rPr>
              <a:t> </a:t>
            </a:r>
            <a:r>
              <a:rPr sz="1200" dirty="0">
                <a:latin typeface="Times New Roman"/>
                <a:cs typeface="Times New Roman"/>
              </a:rPr>
              <a:t>ppm</a:t>
            </a:r>
            <a:endParaRPr sz="1200">
              <a:latin typeface="Times New Roman"/>
              <a:cs typeface="Times New Roman"/>
            </a:endParaRPr>
          </a:p>
          <a:p>
            <a:pPr marL="92075">
              <a:lnSpc>
                <a:spcPct val="100000"/>
              </a:lnSpc>
              <a:spcBef>
                <a:spcPts val="720"/>
              </a:spcBef>
              <a:tabLst>
                <a:tab pos="1806575" algn="l"/>
              </a:tabLst>
            </a:pPr>
            <a:r>
              <a:rPr sz="1200" spc="-5" dirty="0">
                <a:latin typeface="Times New Roman"/>
                <a:cs typeface="Times New Roman"/>
              </a:rPr>
              <a:t>320	27</a:t>
            </a:r>
            <a:r>
              <a:rPr sz="1200" spc="-95" dirty="0">
                <a:latin typeface="Times New Roman"/>
                <a:cs typeface="Times New Roman"/>
              </a:rPr>
              <a:t> </a:t>
            </a:r>
            <a:r>
              <a:rPr sz="1200" spc="-5" dirty="0">
                <a:latin typeface="Times New Roman"/>
                <a:cs typeface="Times New Roman"/>
              </a:rPr>
              <a:t>ppm</a:t>
            </a:r>
            <a:endParaRPr sz="1200">
              <a:latin typeface="Times New Roman"/>
              <a:cs typeface="Times New Roman"/>
            </a:endParaRPr>
          </a:p>
          <a:p>
            <a:pPr marL="92075">
              <a:lnSpc>
                <a:spcPct val="100000"/>
              </a:lnSpc>
              <a:spcBef>
                <a:spcPts val="725"/>
              </a:spcBef>
              <a:tabLst>
                <a:tab pos="1642745" algn="l"/>
              </a:tabLst>
            </a:pPr>
            <a:r>
              <a:rPr sz="1200" dirty="0">
                <a:latin typeface="Times New Roman"/>
                <a:cs typeface="Times New Roman"/>
              </a:rPr>
              <a:t>Cold</a:t>
            </a:r>
            <a:r>
              <a:rPr sz="1200" spc="5" dirty="0">
                <a:latin typeface="Times New Roman"/>
                <a:cs typeface="Times New Roman"/>
              </a:rPr>
              <a:t> </a:t>
            </a:r>
            <a:r>
              <a:rPr sz="1200" spc="-5" dirty="0">
                <a:latin typeface="Times New Roman"/>
                <a:cs typeface="Times New Roman"/>
              </a:rPr>
              <a:t>water	</a:t>
            </a:r>
            <a:r>
              <a:rPr sz="1200" dirty="0">
                <a:latin typeface="Times New Roman"/>
                <a:cs typeface="Times New Roman"/>
              </a:rPr>
              <a:t>soluble</a:t>
            </a:r>
            <a:endParaRPr sz="1200">
              <a:latin typeface="Times New Roman"/>
              <a:cs typeface="Times New Roman"/>
            </a:endParaRPr>
          </a:p>
          <a:p>
            <a:pPr marL="92075">
              <a:lnSpc>
                <a:spcPct val="100000"/>
              </a:lnSpc>
              <a:spcBef>
                <a:spcPts val="720"/>
              </a:spcBef>
              <a:tabLst>
                <a:tab pos="1568450" algn="l"/>
              </a:tabLst>
            </a:pPr>
            <a:r>
              <a:rPr sz="1200" spc="-5" dirty="0">
                <a:latin typeface="Times New Roman"/>
                <a:cs typeface="Times New Roman"/>
              </a:rPr>
              <a:t>Super</a:t>
            </a:r>
            <a:r>
              <a:rPr sz="1200" spc="10" dirty="0">
                <a:latin typeface="Times New Roman"/>
                <a:cs typeface="Times New Roman"/>
              </a:rPr>
              <a:t> </a:t>
            </a:r>
            <a:r>
              <a:rPr sz="1200" spc="-5" dirty="0">
                <a:latin typeface="Times New Roman"/>
                <a:cs typeface="Times New Roman"/>
              </a:rPr>
              <a:t>heated</a:t>
            </a:r>
            <a:r>
              <a:rPr sz="1200" spc="40" dirty="0">
                <a:latin typeface="Times New Roman"/>
                <a:cs typeface="Times New Roman"/>
              </a:rPr>
              <a:t> </a:t>
            </a:r>
            <a:r>
              <a:rPr sz="1200" spc="-5" dirty="0">
                <a:latin typeface="Times New Roman"/>
                <a:cs typeface="Times New Roman"/>
              </a:rPr>
              <a:t>water	Insoluble</a:t>
            </a:r>
            <a:r>
              <a:rPr sz="1200" spc="30" dirty="0">
                <a:latin typeface="Times New Roman"/>
                <a:cs typeface="Times New Roman"/>
              </a:rPr>
              <a:t> </a:t>
            </a:r>
            <a:r>
              <a:rPr sz="1200" spc="-5" dirty="0">
                <a:latin typeface="Times New Roman"/>
                <a:cs typeface="Times New Roman"/>
              </a:rPr>
              <a:t>(scale)</a:t>
            </a:r>
            <a:endParaRPr sz="1200">
              <a:latin typeface="Times New Roman"/>
              <a:cs typeface="Times New Roman"/>
            </a:endParaRPr>
          </a:p>
        </p:txBody>
      </p:sp>
      <p:sp>
        <p:nvSpPr>
          <p:cNvPr id="11" name="object 11"/>
          <p:cNvSpPr txBox="1"/>
          <p:nvPr/>
        </p:nvSpPr>
        <p:spPr>
          <a:xfrm>
            <a:off x="755904" y="4797552"/>
            <a:ext cx="4883150" cy="314325"/>
          </a:xfrm>
          <a:prstGeom prst="rect">
            <a:avLst/>
          </a:prstGeom>
          <a:ln w="9144">
            <a:solidFill>
              <a:srgbClr val="FFFF00"/>
            </a:solidFill>
          </a:ln>
        </p:spPr>
        <p:txBody>
          <a:bodyPr vert="horz" wrap="square" lIns="0" tIns="40640" rIns="0" bIns="0" rtlCol="0">
            <a:spAutoFit/>
          </a:bodyPr>
          <a:lstStyle/>
          <a:p>
            <a:pPr marL="90805">
              <a:lnSpc>
                <a:spcPct val="100000"/>
              </a:lnSpc>
              <a:spcBef>
                <a:spcPts val="320"/>
              </a:spcBef>
            </a:pPr>
            <a:r>
              <a:rPr sz="1400" dirty="0">
                <a:solidFill>
                  <a:srgbClr val="FF3300"/>
                </a:solidFill>
                <a:latin typeface="Times New Roman"/>
                <a:cs typeface="Times New Roman"/>
              </a:rPr>
              <a:t>3. Presence of </a:t>
            </a:r>
            <a:r>
              <a:rPr sz="1400" spc="5" dirty="0">
                <a:solidFill>
                  <a:srgbClr val="FF3300"/>
                </a:solidFill>
                <a:latin typeface="Times New Roman"/>
                <a:cs typeface="Times New Roman"/>
              </a:rPr>
              <a:t>MgCl</a:t>
            </a:r>
            <a:r>
              <a:rPr sz="1350" spc="7" baseline="-21604" dirty="0">
                <a:solidFill>
                  <a:srgbClr val="FF3300"/>
                </a:solidFill>
                <a:latin typeface="Times New Roman"/>
                <a:cs typeface="Times New Roman"/>
              </a:rPr>
              <a:t>2 </a:t>
            </a:r>
            <a:r>
              <a:rPr sz="1400" dirty="0">
                <a:solidFill>
                  <a:srgbClr val="FF3300"/>
                </a:solidFill>
                <a:latin typeface="Times New Roman"/>
                <a:cs typeface="Times New Roman"/>
              </a:rPr>
              <a:t>in high </a:t>
            </a:r>
            <a:r>
              <a:rPr sz="1400" spc="-5" dirty="0">
                <a:solidFill>
                  <a:srgbClr val="FF3300"/>
                </a:solidFill>
                <a:latin typeface="Times New Roman"/>
                <a:cs typeface="Times New Roman"/>
              </a:rPr>
              <a:t>temperature</a:t>
            </a:r>
            <a:r>
              <a:rPr sz="1400" spc="-235" dirty="0">
                <a:solidFill>
                  <a:srgbClr val="FF3300"/>
                </a:solidFill>
                <a:latin typeface="Times New Roman"/>
                <a:cs typeface="Times New Roman"/>
              </a:rPr>
              <a:t> </a:t>
            </a:r>
            <a:r>
              <a:rPr sz="1400" dirty="0">
                <a:solidFill>
                  <a:srgbClr val="FF3300"/>
                </a:solidFill>
                <a:latin typeface="Times New Roman"/>
                <a:cs typeface="Times New Roman"/>
              </a:rPr>
              <a:t>boilers</a:t>
            </a:r>
            <a:endParaRPr sz="1400">
              <a:latin typeface="Times New Roman"/>
              <a:cs typeface="Times New Roman"/>
            </a:endParaRPr>
          </a:p>
        </p:txBody>
      </p:sp>
      <p:sp>
        <p:nvSpPr>
          <p:cNvPr id="12" name="object 12"/>
          <p:cNvSpPr txBox="1"/>
          <p:nvPr/>
        </p:nvSpPr>
        <p:spPr>
          <a:xfrm>
            <a:off x="880567" y="5212094"/>
            <a:ext cx="1506855" cy="674370"/>
          </a:xfrm>
          <a:prstGeom prst="rect">
            <a:avLst/>
          </a:prstGeom>
        </p:spPr>
        <p:txBody>
          <a:bodyPr vert="horz" wrap="square" lIns="0" tIns="127635" rIns="0" bIns="0" rtlCol="0">
            <a:spAutoFit/>
          </a:bodyPr>
          <a:lstStyle/>
          <a:p>
            <a:pPr marL="38100">
              <a:lnSpc>
                <a:spcPct val="100000"/>
              </a:lnSpc>
              <a:spcBef>
                <a:spcPts val="1005"/>
              </a:spcBef>
            </a:pPr>
            <a:r>
              <a:rPr sz="1800" spc="-5" dirty="0">
                <a:solidFill>
                  <a:srgbClr val="00CC00"/>
                </a:solidFill>
                <a:latin typeface="Times New Roman"/>
                <a:cs typeface="Times New Roman"/>
              </a:rPr>
              <a:t>MgCl</a:t>
            </a:r>
            <a:r>
              <a:rPr sz="1800" spc="-7" baseline="-20833" dirty="0">
                <a:solidFill>
                  <a:srgbClr val="00CC00"/>
                </a:solidFill>
                <a:latin typeface="Times New Roman"/>
                <a:cs typeface="Times New Roman"/>
              </a:rPr>
              <a:t>2 </a:t>
            </a:r>
            <a:r>
              <a:rPr sz="1800" dirty="0">
                <a:solidFill>
                  <a:srgbClr val="00CC00"/>
                </a:solidFill>
                <a:latin typeface="Times New Roman"/>
                <a:cs typeface="Times New Roman"/>
              </a:rPr>
              <a:t>+ 2</a:t>
            </a:r>
            <a:r>
              <a:rPr sz="1800" spc="-210" dirty="0">
                <a:solidFill>
                  <a:srgbClr val="00CC00"/>
                </a:solidFill>
                <a:latin typeface="Times New Roman"/>
                <a:cs typeface="Times New Roman"/>
              </a:rPr>
              <a:t> </a:t>
            </a:r>
            <a:r>
              <a:rPr sz="1800" spc="-5" dirty="0">
                <a:solidFill>
                  <a:srgbClr val="00CC00"/>
                </a:solidFill>
                <a:latin typeface="Times New Roman"/>
                <a:cs typeface="Times New Roman"/>
              </a:rPr>
              <a:t>H</a:t>
            </a:r>
            <a:r>
              <a:rPr sz="1800" spc="-7" baseline="-20833" dirty="0">
                <a:solidFill>
                  <a:srgbClr val="00CC00"/>
                </a:solidFill>
                <a:latin typeface="Times New Roman"/>
                <a:cs typeface="Times New Roman"/>
              </a:rPr>
              <a:t>2</a:t>
            </a:r>
            <a:r>
              <a:rPr sz="1800" spc="-5" dirty="0">
                <a:solidFill>
                  <a:srgbClr val="00CC00"/>
                </a:solidFill>
                <a:latin typeface="Times New Roman"/>
                <a:cs typeface="Times New Roman"/>
              </a:rPr>
              <a:t>O</a:t>
            </a:r>
            <a:endParaRPr sz="1800">
              <a:latin typeface="Times New Roman"/>
              <a:cs typeface="Times New Roman"/>
            </a:endParaRPr>
          </a:p>
          <a:p>
            <a:pPr marL="38100">
              <a:lnSpc>
                <a:spcPct val="100000"/>
              </a:lnSpc>
              <a:spcBef>
                <a:spcPts val="600"/>
              </a:spcBef>
            </a:pPr>
            <a:r>
              <a:rPr sz="1200" spc="-5" dirty="0">
                <a:solidFill>
                  <a:srgbClr val="FF0066"/>
                </a:solidFill>
                <a:latin typeface="Times New Roman"/>
                <a:cs typeface="Times New Roman"/>
              </a:rPr>
              <a:t>Magnesium</a:t>
            </a:r>
            <a:r>
              <a:rPr sz="1200" spc="10" dirty="0">
                <a:solidFill>
                  <a:srgbClr val="FF0066"/>
                </a:solidFill>
                <a:latin typeface="Times New Roman"/>
                <a:cs typeface="Times New Roman"/>
              </a:rPr>
              <a:t> </a:t>
            </a:r>
            <a:r>
              <a:rPr sz="1200" spc="-5" dirty="0">
                <a:solidFill>
                  <a:srgbClr val="FF0066"/>
                </a:solidFill>
                <a:latin typeface="Times New Roman"/>
                <a:cs typeface="Times New Roman"/>
              </a:rPr>
              <a:t>chloride</a:t>
            </a:r>
            <a:endParaRPr sz="1200">
              <a:latin typeface="Times New Roman"/>
              <a:cs typeface="Times New Roman"/>
            </a:endParaRPr>
          </a:p>
        </p:txBody>
      </p:sp>
      <p:sp>
        <p:nvSpPr>
          <p:cNvPr id="13" name="object 13"/>
          <p:cNvSpPr txBox="1"/>
          <p:nvPr/>
        </p:nvSpPr>
        <p:spPr>
          <a:xfrm>
            <a:off x="3081020" y="5212094"/>
            <a:ext cx="1892300" cy="674370"/>
          </a:xfrm>
          <a:prstGeom prst="rect">
            <a:avLst/>
          </a:prstGeom>
        </p:spPr>
        <p:txBody>
          <a:bodyPr vert="horz" wrap="square" lIns="0" tIns="127635" rIns="0" bIns="0" rtlCol="0">
            <a:spAutoFit/>
          </a:bodyPr>
          <a:lstStyle/>
          <a:p>
            <a:pPr marL="68580">
              <a:lnSpc>
                <a:spcPct val="100000"/>
              </a:lnSpc>
              <a:spcBef>
                <a:spcPts val="1005"/>
              </a:spcBef>
              <a:tabLst>
                <a:tab pos="1174115" algn="l"/>
              </a:tabLst>
            </a:pPr>
            <a:r>
              <a:rPr sz="1800" dirty="0">
                <a:latin typeface="Times New Roman"/>
                <a:cs typeface="Times New Roman"/>
              </a:rPr>
              <a:t>Mg</a:t>
            </a:r>
            <a:r>
              <a:rPr sz="1800" spc="-15" dirty="0">
                <a:latin typeface="Times New Roman"/>
                <a:cs typeface="Times New Roman"/>
              </a:rPr>
              <a:t> </a:t>
            </a:r>
            <a:r>
              <a:rPr sz="1800" spc="-5" dirty="0">
                <a:latin typeface="Times New Roman"/>
                <a:cs typeface="Times New Roman"/>
              </a:rPr>
              <a:t>(OH)</a:t>
            </a:r>
            <a:r>
              <a:rPr sz="1800" spc="-7" baseline="-20833" dirty="0">
                <a:latin typeface="Times New Roman"/>
                <a:cs typeface="Times New Roman"/>
              </a:rPr>
              <a:t>2	</a:t>
            </a:r>
            <a:r>
              <a:rPr sz="1800" dirty="0">
                <a:latin typeface="Times New Roman"/>
                <a:cs typeface="Times New Roman"/>
              </a:rPr>
              <a:t>+</a:t>
            </a:r>
            <a:r>
              <a:rPr sz="1800" spc="-65" dirty="0">
                <a:latin typeface="Times New Roman"/>
                <a:cs typeface="Times New Roman"/>
              </a:rPr>
              <a:t> </a:t>
            </a:r>
            <a:r>
              <a:rPr sz="1800" spc="-5" dirty="0">
                <a:latin typeface="Times New Roman"/>
                <a:cs typeface="Times New Roman"/>
              </a:rPr>
              <a:t>2HCl</a:t>
            </a:r>
            <a:endParaRPr sz="1800">
              <a:latin typeface="Times New Roman"/>
              <a:cs typeface="Times New Roman"/>
            </a:endParaRPr>
          </a:p>
          <a:p>
            <a:pPr marL="50800">
              <a:lnSpc>
                <a:spcPct val="100000"/>
              </a:lnSpc>
              <a:spcBef>
                <a:spcPts val="600"/>
              </a:spcBef>
            </a:pPr>
            <a:r>
              <a:rPr sz="1200" spc="-5" dirty="0">
                <a:solidFill>
                  <a:srgbClr val="FF0066"/>
                </a:solidFill>
                <a:latin typeface="Times New Roman"/>
                <a:cs typeface="Times New Roman"/>
              </a:rPr>
              <a:t>scale</a:t>
            </a:r>
            <a:endParaRPr sz="1200">
              <a:latin typeface="Times New Roman"/>
              <a:cs typeface="Times New Roman"/>
            </a:endParaRPr>
          </a:p>
        </p:txBody>
      </p:sp>
      <p:sp>
        <p:nvSpPr>
          <p:cNvPr id="14" name="object 14"/>
          <p:cNvSpPr/>
          <p:nvPr/>
        </p:nvSpPr>
        <p:spPr>
          <a:xfrm>
            <a:off x="2438400" y="5448300"/>
            <a:ext cx="719455" cy="76200"/>
          </a:xfrm>
          <a:custGeom>
            <a:avLst/>
            <a:gdLst/>
            <a:ahLst/>
            <a:cxnLst/>
            <a:rect l="l" t="t" r="r" b="b"/>
            <a:pathLst>
              <a:path w="719455" h="76200">
                <a:moveTo>
                  <a:pt x="643127" y="0"/>
                </a:moveTo>
                <a:lnTo>
                  <a:pt x="643127" y="76200"/>
                </a:lnTo>
                <a:lnTo>
                  <a:pt x="706627" y="44450"/>
                </a:lnTo>
                <a:lnTo>
                  <a:pt x="655827" y="44450"/>
                </a:lnTo>
                <a:lnTo>
                  <a:pt x="655827" y="31750"/>
                </a:lnTo>
                <a:lnTo>
                  <a:pt x="706627" y="31750"/>
                </a:lnTo>
                <a:lnTo>
                  <a:pt x="643127" y="0"/>
                </a:lnTo>
                <a:close/>
              </a:path>
              <a:path w="719455" h="76200">
                <a:moveTo>
                  <a:pt x="643127" y="31750"/>
                </a:moveTo>
                <a:lnTo>
                  <a:pt x="0" y="31750"/>
                </a:lnTo>
                <a:lnTo>
                  <a:pt x="0" y="44450"/>
                </a:lnTo>
                <a:lnTo>
                  <a:pt x="643127" y="44450"/>
                </a:lnTo>
                <a:lnTo>
                  <a:pt x="643127" y="31750"/>
                </a:lnTo>
                <a:close/>
              </a:path>
              <a:path w="719455" h="76200">
                <a:moveTo>
                  <a:pt x="706627" y="31750"/>
                </a:moveTo>
                <a:lnTo>
                  <a:pt x="655827" y="31750"/>
                </a:lnTo>
                <a:lnTo>
                  <a:pt x="655827" y="44450"/>
                </a:lnTo>
                <a:lnTo>
                  <a:pt x="706627" y="44450"/>
                </a:lnTo>
                <a:lnTo>
                  <a:pt x="719327" y="38100"/>
                </a:lnTo>
                <a:lnTo>
                  <a:pt x="706627" y="31750"/>
                </a:lnTo>
                <a:close/>
              </a:path>
            </a:pathLst>
          </a:custGeom>
          <a:solidFill>
            <a:srgbClr val="000000"/>
          </a:solidFill>
        </p:spPr>
        <p:txBody>
          <a:bodyPr wrap="square" lIns="0" tIns="0" rIns="0" bIns="0" rtlCol="0"/>
          <a:lstStyle/>
          <a:p>
            <a:endParaRPr/>
          </a:p>
        </p:txBody>
      </p:sp>
      <p:sp>
        <p:nvSpPr>
          <p:cNvPr id="15" name="object 15"/>
          <p:cNvSpPr/>
          <p:nvPr/>
        </p:nvSpPr>
        <p:spPr>
          <a:xfrm>
            <a:off x="4152900" y="5334000"/>
            <a:ext cx="76200" cy="289560"/>
          </a:xfrm>
          <a:custGeom>
            <a:avLst/>
            <a:gdLst/>
            <a:ahLst/>
            <a:cxnLst/>
            <a:rect l="l" t="t" r="r" b="b"/>
            <a:pathLst>
              <a:path w="76200" h="289560">
                <a:moveTo>
                  <a:pt x="31750" y="213359"/>
                </a:moveTo>
                <a:lnTo>
                  <a:pt x="0" y="213359"/>
                </a:lnTo>
                <a:lnTo>
                  <a:pt x="38100" y="289559"/>
                </a:lnTo>
                <a:lnTo>
                  <a:pt x="69850" y="226059"/>
                </a:lnTo>
                <a:lnTo>
                  <a:pt x="31750" y="226059"/>
                </a:lnTo>
                <a:lnTo>
                  <a:pt x="31750" y="213359"/>
                </a:lnTo>
                <a:close/>
              </a:path>
              <a:path w="76200" h="289560">
                <a:moveTo>
                  <a:pt x="44450" y="0"/>
                </a:moveTo>
                <a:lnTo>
                  <a:pt x="31750" y="0"/>
                </a:lnTo>
                <a:lnTo>
                  <a:pt x="31750" y="226059"/>
                </a:lnTo>
                <a:lnTo>
                  <a:pt x="44450" y="226059"/>
                </a:lnTo>
                <a:lnTo>
                  <a:pt x="44450" y="0"/>
                </a:lnTo>
                <a:close/>
              </a:path>
              <a:path w="76200" h="289560">
                <a:moveTo>
                  <a:pt x="76200" y="213359"/>
                </a:moveTo>
                <a:lnTo>
                  <a:pt x="44450" y="213359"/>
                </a:lnTo>
                <a:lnTo>
                  <a:pt x="44450" y="226059"/>
                </a:lnTo>
                <a:lnTo>
                  <a:pt x="69850" y="226059"/>
                </a:lnTo>
                <a:lnTo>
                  <a:pt x="76200" y="213359"/>
                </a:lnTo>
                <a:close/>
              </a:path>
            </a:pathLst>
          </a:custGeom>
          <a:solidFill>
            <a:srgbClr val="000000"/>
          </a:solidFill>
        </p:spPr>
        <p:txBody>
          <a:bodyPr wrap="square" lIns="0" tIns="0" rIns="0" bIns="0" rtlCol="0"/>
          <a:lstStyle/>
          <a:p>
            <a:endParaRPr/>
          </a:p>
        </p:txBody>
      </p:sp>
      <p:sp>
        <p:nvSpPr>
          <p:cNvPr id="16" name="object 16"/>
          <p:cNvSpPr/>
          <p:nvPr/>
        </p:nvSpPr>
        <p:spPr>
          <a:xfrm>
            <a:off x="4991100" y="5334000"/>
            <a:ext cx="76200" cy="216408"/>
          </a:xfrm>
          <a:prstGeom prst="rect">
            <a:avLst/>
          </a:prstGeom>
          <a:blipFill>
            <a:blip r:embed="rId2" cstate="print"/>
            <a:stretch>
              <a:fillRect/>
            </a:stretch>
          </a:blipFill>
        </p:spPr>
        <p:txBody>
          <a:bodyPr wrap="square" lIns="0" tIns="0" rIns="0" bIns="0" rtlCol="0"/>
          <a:lstStyle/>
          <a:p>
            <a:endParaRPr/>
          </a:p>
        </p:txBody>
      </p:sp>
      <p:sp>
        <p:nvSpPr>
          <p:cNvPr id="17" name="object 17"/>
          <p:cNvSpPr txBox="1"/>
          <p:nvPr/>
        </p:nvSpPr>
        <p:spPr>
          <a:xfrm>
            <a:off x="5940552" y="3069335"/>
            <a:ext cx="2089785" cy="314325"/>
          </a:xfrm>
          <a:prstGeom prst="rect">
            <a:avLst/>
          </a:prstGeom>
          <a:ln w="9144">
            <a:solidFill>
              <a:srgbClr val="FFFF00"/>
            </a:solidFill>
          </a:ln>
        </p:spPr>
        <p:txBody>
          <a:bodyPr vert="horz" wrap="square" lIns="0" tIns="40005" rIns="0" bIns="0" rtlCol="0">
            <a:spAutoFit/>
          </a:bodyPr>
          <a:lstStyle/>
          <a:p>
            <a:pPr marL="92075">
              <a:lnSpc>
                <a:spcPct val="100000"/>
              </a:lnSpc>
              <a:spcBef>
                <a:spcPts val="315"/>
              </a:spcBef>
            </a:pPr>
            <a:r>
              <a:rPr sz="1400" dirty="0">
                <a:solidFill>
                  <a:srgbClr val="FF3300"/>
                </a:solidFill>
                <a:latin typeface="Times New Roman"/>
                <a:cs typeface="Times New Roman"/>
              </a:rPr>
              <a:t>4. Presence of</a:t>
            </a:r>
            <a:r>
              <a:rPr sz="1400" spc="-60" dirty="0">
                <a:solidFill>
                  <a:srgbClr val="FF3300"/>
                </a:solidFill>
                <a:latin typeface="Times New Roman"/>
                <a:cs typeface="Times New Roman"/>
              </a:rPr>
              <a:t> </a:t>
            </a:r>
            <a:r>
              <a:rPr sz="1400" spc="5" dirty="0">
                <a:solidFill>
                  <a:srgbClr val="FF3300"/>
                </a:solidFill>
                <a:latin typeface="Times New Roman"/>
                <a:cs typeface="Times New Roman"/>
              </a:rPr>
              <a:t>SiO</a:t>
            </a:r>
            <a:r>
              <a:rPr sz="1350" spc="7" baseline="-21604" dirty="0">
                <a:solidFill>
                  <a:srgbClr val="FF3300"/>
                </a:solidFill>
                <a:latin typeface="Times New Roman"/>
                <a:cs typeface="Times New Roman"/>
              </a:rPr>
              <a:t>2</a:t>
            </a:r>
            <a:endParaRPr sz="1350" baseline="-21604">
              <a:latin typeface="Times New Roman"/>
              <a:cs typeface="Times New Roman"/>
            </a:endParaRPr>
          </a:p>
        </p:txBody>
      </p:sp>
      <p:sp>
        <p:nvSpPr>
          <p:cNvPr id="20" name="object 20"/>
          <p:cNvSpPr txBox="1"/>
          <p:nvPr/>
        </p:nvSpPr>
        <p:spPr>
          <a:xfrm>
            <a:off x="8377428" y="6292910"/>
            <a:ext cx="256540" cy="222885"/>
          </a:xfrm>
          <a:prstGeom prst="rect">
            <a:avLst/>
          </a:prstGeom>
        </p:spPr>
        <p:txBody>
          <a:bodyPr vert="horz" wrap="square" lIns="0" tIns="0" rIns="0" bIns="0" rtlCol="0">
            <a:spAutoFit/>
          </a:bodyPr>
          <a:lstStyle/>
          <a:p>
            <a:pPr marL="38100">
              <a:lnSpc>
                <a:spcPts val="1630"/>
              </a:lnSpc>
            </a:pPr>
            <a:fld id="{81D60167-4931-47E6-BA6A-407CBD079E47}" type="slidenum">
              <a:rPr sz="1400" dirty="0">
                <a:latin typeface="Times New Roman"/>
                <a:cs typeface="Times New Roman"/>
              </a:rPr>
              <a:pPr marL="38100">
                <a:lnSpc>
                  <a:spcPts val="1630"/>
                </a:lnSpc>
              </a:pPr>
              <a:t>59</a:t>
            </a:fld>
            <a:endParaRPr sz="1400">
              <a:latin typeface="Times New Roman"/>
              <a:cs typeface="Times New Roman"/>
            </a:endParaRPr>
          </a:p>
        </p:txBody>
      </p:sp>
      <p:sp>
        <p:nvSpPr>
          <p:cNvPr id="18" name="object 18"/>
          <p:cNvSpPr txBox="1"/>
          <p:nvPr/>
        </p:nvSpPr>
        <p:spPr>
          <a:xfrm>
            <a:off x="5867400" y="3573779"/>
            <a:ext cx="2882265" cy="466725"/>
          </a:xfrm>
          <a:prstGeom prst="rect">
            <a:avLst/>
          </a:prstGeom>
          <a:ln w="9144">
            <a:solidFill>
              <a:srgbClr val="FFFF00"/>
            </a:solidFill>
          </a:ln>
        </p:spPr>
        <p:txBody>
          <a:bodyPr vert="horz" wrap="square" lIns="0" tIns="41910" rIns="0" bIns="0" rtlCol="0">
            <a:spAutoFit/>
          </a:bodyPr>
          <a:lstStyle/>
          <a:p>
            <a:pPr marL="92075" marR="325120">
              <a:lnSpc>
                <a:spcPct val="100000"/>
              </a:lnSpc>
              <a:spcBef>
                <a:spcPts val="330"/>
              </a:spcBef>
            </a:pPr>
            <a:r>
              <a:rPr sz="1200" spc="-15" dirty="0">
                <a:latin typeface="Times New Roman"/>
                <a:cs typeface="Times New Roman"/>
              </a:rPr>
              <a:t>It </a:t>
            </a:r>
            <a:r>
              <a:rPr sz="1200" spc="-5" dirty="0">
                <a:latin typeface="Times New Roman"/>
                <a:cs typeface="Times New Roman"/>
              </a:rPr>
              <a:t>forms </a:t>
            </a:r>
            <a:r>
              <a:rPr sz="1200" dirty="0">
                <a:latin typeface="Times New Roman"/>
                <a:cs typeface="Times New Roman"/>
              </a:rPr>
              <a:t>insoluble </a:t>
            </a:r>
            <a:r>
              <a:rPr sz="1200" spc="-5" dirty="0">
                <a:latin typeface="Times New Roman"/>
                <a:cs typeface="Times New Roman"/>
              </a:rPr>
              <a:t>hard adherent CaSiO</a:t>
            </a:r>
            <a:r>
              <a:rPr sz="1200" spc="-7" baseline="-20833" dirty="0">
                <a:latin typeface="Times New Roman"/>
                <a:cs typeface="Times New Roman"/>
              </a:rPr>
              <a:t>3  </a:t>
            </a:r>
            <a:r>
              <a:rPr sz="1200" dirty="0">
                <a:latin typeface="Times New Roman"/>
                <a:cs typeface="Times New Roman"/>
              </a:rPr>
              <a:t>and </a:t>
            </a:r>
            <a:r>
              <a:rPr sz="1200" spc="-5" dirty="0">
                <a:latin typeface="Times New Roman"/>
                <a:cs typeface="Times New Roman"/>
              </a:rPr>
              <a:t>MgSiO</a:t>
            </a:r>
            <a:r>
              <a:rPr sz="1200" spc="-7" baseline="-20833" dirty="0">
                <a:latin typeface="Times New Roman"/>
                <a:cs typeface="Times New Roman"/>
              </a:rPr>
              <a:t>3 </a:t>
            </a:r>
            <a:r>
              <a:rPr sz="1200" spc="-5" dirty="0">
                <a:latin typeface="Times New Roman"/>
                <a:cs typeface="Times New Roman"/>
              </a:rPr>
              <a:t>as</a:t>
            </a:r>
            <a:r>
              <a:rPr sz="1200" spc="-105" dirty="0">
                <a:latin typeface="Times New Roman"/>
                <a:cs typeface="Times New Roman"/>
              </a:rPr>
              <a:t> </a:t>
            </a:r>
            <a:r>
              <a:rPr sz="1200" spc="-5" dirty="0">
                <a:latin typeface="Times New Roman"/>
                <a:cs typeface="Times New Roman"/>
              </a:rPr>
              <a:t>scales</a:t>
            </a:r>
            <a:endParaRPr sz="1200">
              <a:latin typeface="Times New Roman"/>
              <a:cs typeface="Times New Roman"/>
            </a:endParaRPr>
          </a:p>
        </p:txBody>
      </p:sp>
      <p:sp>
        <p:nvSpPr>
          <p:cNvPr id="19" name="object 19"/>
          <p:cNvSpPr txBox="1"/>
          <p:nvPr/>
        </p:nvSpPr>
        <p:spPr>
          <a:xfrm>
            <a:off x="821740" y="6087871"/>
            <a:ext cx="5910580" cy="269240"/>
          </a:xfrm>
          <a:prstGeom prst="rect">
            <a:avLst/>
          </a:prstGeom>
        </p:spPr>
        <p:txBody>
          <a:bodyPr vert="horz" wrap="square" lIns="0" tIns="12065" rIns="0" bIns="0" rtlCol="0">
            <a:spAutoFit/>
          </a:bodyPr>
          <a:lstStyle/>
          <a:p>
            <a:pPr marL="38100">
              <a:lnSpc>
                <a:spcPct val="100000"/>
              </a:lnSpc>
              <a:spcBef>
                <a:spcPts val="95"/>
              </a:spcBef>
            </a:pPr>
            <a:r>
              <a:rPr sz="1600" spc="-5" dirty="0">
                <a:latin typeface="Times New Roman"/>
                <a:cs typeface="Times New Roman"/>
              </a:rPr>
              <a:t>Mg(OH)</a:t>
            </a:r>
            <a:r>
              <a:rPr sz="1575" spc="-7" baseline="-21164" dirty="0">
                <a:latin typeface="Times New Roman"/>
                <a:cs typeface="Times New Roman"/>
              </a:rPr>
              <a:t>2 </a:t>
            </a:r>
            <a:r>
              <a:rPr sz="1600" spc="-5" dirty="0">
                <a:latin typeface="Times New Roman"/>
                <a:cs typeface="Times New Roman"/>
              </a:rPr>
              <a:t>can also be generated by thermally decomposing</a:t>
            </a:r>
            <a:r>
              <a:rPr sz="1600" spc="75" dirty="0">
                <a:latin typeface="Times New Roman"/>
                <a:cs typeface="Times New Roman"/>
              </a:rPr>
              <a:t> </a:t>
            </a:r>
            <a:r>
              <a:rPr sz="1600" dirty="0">
                <a:latin typeface="Times New Roman"/>
                <a:cs typeface="Times New Roman"/>
              </a:rPr>
              <a:t>Mg(HCO</a:t>
            </a:r>
            <a:r>
              <a:rPr sz="1575" baseline="-21164" dirty="0">
                <a:latin typeface="Times New Roman"/>
                <a:cs typeface="Times New Roman"/>
              </a:rPr>
              <a:t>3</a:t>
            </a:r>
            <a:r>
              <a:rPr sz="1600" dirty="0">
                <a:latin typeface="Times New Roman"/>
                <a:cs typeface="Times New Roman"/>
              </a:rPr>
              <a:t>)</a:t>
            </a:r>
            <a:r>
              <a:rPr sz="1575" baseline="-21164" dirty="0">
                <a:latin typeface="Times New Roman"/>
                <a:cs typeface="Times New Roman"/>
              </a:rPr>
              <a:t>2</a:t>
            </a:r>
            <a:endParaRPr sz="1575" baseline="-21164">
              <a:latin typeface="Times New Roman"/>
              <a:cs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8377428" y="6292910"/>
            <a:ext cx="256540" cy="222885"/>
          </a:xfrm>
          <a:prstGeom prst="rect">
            <a:avLst/>
          </a:prstGeom>
        </p:spPr>
        <p:txBody>
          <a:bodyPr vert="horz" wrap="square" lIns="0" tIns="0" rIns="0" bIns="0" rtlCol="0">
            <a:spAutoFit/>
          </a:bodyPr>
          <a:lstStyle/>
          <a:p>
            <a:pPr marL="38100">
              <a:lnSpc>
                <a:spcPts val="1630"/>
              </a:lnSpc>
            </a:pPr>
            <a:fld id="{81D60167-4931-47E6-BA6A-407CBD079E47}" type="slidenum">
              <a:rPr sz="1400" dirty="0">
                <a:latin typeface="Times New Roman"/>
                <a:cs typeface="Times New Roman"/>
              </a:rPr>
              <a:pPr marL="38100">
                <a:lnSpc>
                  <a:spcPts val="1630"/>
                </a:lnSpc>
              </a:pPr>
              <a:t>60</a:t>
            </a:fld>
            <a:endParaRPr sz="1400">
              <a:latin typeface="Times New Roman"/>
              <a:cs typeface="Times New Roman"/>
            </a:endParaRPr>
          </a:p>
        </p:txBody>
      </p:sp>
      <p:sp>
        <p:nvSpPr>
          <p:cNvPr id="2" name="object 2"/>
          <p:cNvSpPr txBox="1"/>
          <p:nvPr/>
        </p:nvSpPr>
        <p:spPr>
          <a:xfrm>
            <a:off x="2051304" y="562355"/>
            <a:ext cx="4537075" cy="376555"/>
          </a:xfrm>
          <a:prstGeom prst="rect">
            <a:avLst/>
          </a:prstGeom>
          <a:solidFill>
            <a:srgbClr val="FFCCCC"/>
          </a:solidFill>
          <a:ln w="9144">
            <a:solidFill>
              <a:srgbClr val="003399"/>
            </a:solidFill>
          </a:ln>
        </p:spPr>
        <p:txBody>
          <a:bodyPr vert="horz" wrap="square" lIns="0" tIns="37465" rIns="0" bIns="0" rtlCol="0">
            <a:spAutoFit/>
          </a:bodyPr>
          <a:lstStyle/>
          <a:p>
            <a:pPr algn="ctr">
              <a:lnSpc>
                <a:spcPct val="100000"/>
              </a:lnSpc>
              <a:spcBef>
                <a:spcPts val="295"/>
              </a:spcBef>
            </a:pPr>
            <a:r>
              <a:rPr sz="1800" dirty="0">
                <a:latin typeface="Times New Roman"/>
                <a:cs typeface="Times New Roman"/>
              </a:rPr>
              <a:t>Disadvantages of scale</a:t>
            </a:r>
            <a:r>
              <a:rPr sz="1800" spc="-40" dirty="0">
                <a:latin typeface="Times New Roman"/>
                <a:cs typeface="Times New Roman"/>
              </a:rPr>
              <a:t> </a:t>
            </a:r>
            <a:r>
              <a:rPr sz="1800" spc="-5" dirty="0">
                <a:latin typeface="Times New Roman"/>
                <a:cs typeface="Times New Roman"/>
              </a:rPr>
              <a:t>formation</a:t>
            </a:r>
            <a:endParaRPr sz="1800">
              <a:latin typeface="Times New Roman"/>
              <a:cs typeface="Times New Roman"/>
            </a:endParaRPr>
          </a:p>
        </p:txBody>
      </p:sp>
      <p:sp>
        <p:nvSpPr>
          <p:cNvPr id="3" name="object 3"/>
          <p:cNvSpPr txBox="1"/>
          <p:nvPr/>
        </p:nvSpPr>
        <p:spPr>
          <a:xfrm>
            <a:off x="618540" y="1014222"/>
            <a:ext cx="7527925" cy="1671955"/>
          </a:xfrm>
          <a:prstGeom prst="rect">
            <a:avLst/>
          </a:prstGeom>
        </p:spPr>
        <p:txBody>
          <a:bodyPr vert="horz" wrap="square" lIns="0" tIns="149860" rIns="0" bIns="0" rtlCol="0">
            <a:spAutoFit/>
          </a:bodyPr>
          <a:lstStyle/>
          <a:p>
            <a:pPr marL="355600" indent="-342900">
              <a:lnSpc>
                <a:spcPct val="100000"/>
              </a:lnSpc>
              <a:spcBef>
                <a:spcPts val="1180"/>
              </a:spcBef>
              <a:buAutoNum type="arabicPeriod"/>
              <a:tabLst>
                <a:tab pos="354965" algn="l"/>
                <a:tab pos="355600" algn="l"/>
              </a:tabLst>
            </a:pPr>
            <a:r>
              <a:rPr sz="1800" dirty="0">
                <a:solidFill>
                  <a:srgbClr val="FF3300"/>
                </a:solidFill>
                <a:latin typeface="Times New Roman"/>
                <a:cs typeface="Times New Roman"/>
              </a:rPr>
              <a:t>Fuel </a:t>
            </a:r>
            <a:r>
              <a:rPr sz="1800" spc="-5" dirty="0">
                <a:solidFill>
                  <a:srgbClr val="FF3300"/>
                </a:solidFill>
                <a:latin typeface="Times New Roman"/>
                <a:cs typeface="Times New Roman"/>
              </a:rPr>
              <a:t>wastage </a:t>
            </a:r>
            <a:r>
              <a:rPr sz="1800" dirty="0">
                <a:solidFill>
                  <a:srgbClr val="FF3300"/>
                </a:solidFill>
                <a:latin typeface="Times New Roman"/>
                <a:cs typeface="Times New Roman"/>
              </a:rPr>
              <a:t>– scales have </a:t>
            </a:r>
            <a:r>
              <a:rPr sz="1800" spc="-5" dirty="0">
                <a:solidFill>
                  <a:srgbClr val="FF3300"/>
                </a:solidFill>
                <a:latin typeface="Times New Roman"/>
                <a:cs typeface="Times New Roman"/>
              </a:rPr>
              <a:t>low thermal</a:t>
            </a:r>
            <a:r>
              <a:rPr sz="1800" spc="-15" dirty="0">
                <a:solidFill>
                  <a:srgbClr val="FF3300"/>
                </a:solidFill>
                <a:latin typeface="Times New Roman"/>
                <a:cs typeface="Times New Roman"/>
              </a:rPr>
              <a:t> </a:t>
            </a:r>
            <a:r>
              <a:rPr sz="1800" dirty="0">
                <a:solidFill>
                  <a:srgbClr val="FF3300"/>
                </a:solidFill>
                <a:latin typeface="Times New Roman"/>
                <a:cs typeface="Times New Roman"/>
              </a:rPr>
              <a:t>conductivity</a:t>
            </a:r>
            <a:endParaRPr sz="1800">
              <a:latin typeface="Times New Roman"/>
              <a:cs typeface="Times New Roman"/>
            </a:endParaRPr>
          </a:p>
          <a:p>
            <a:pPr marL="355600" indent="-342900">
              <a:lnSpc>
                <a:spcPct val="100000"/>
              </a:lnSpc>
              <a:spcBef>
                <a:spcPts val="1080"/>
              </a:spcBef>
              <a:buAutoNum type="arabicPeriod"/>
              <a:tabLst>
                <a:tab pos="354965" algn="l"/>
                <a:tab pos="355600" algn="l"/>
              </a:tabLst>
            </a:pPr>
            <a:r>
              <a:rPr sz="1800" dirty="0">
                <a:latin typeface="Times New Roman"/>
                <a:cs typeface="Times New Roman"/>
              </a:rPr>
              <a:t>Degradation of boiler material and increases of </a:t>
            </a:r>
            <a:r>
              <a:rPr sz="1800" spc="-5" dirty="0">
                <a:latin typeface="Times New Roman"/>
                <a:cs typeface="Times New Roman"/>
              </a:rPr>
              <a:t>risk </a:t>
            </a:r>
            <a:r>
              <a:rPr sz="1800" dirty="0">
                <a:latin typeface="Times New Roman"/>
                <a:cs typeface="Times New Roman"/>
              </a:rPr>
              <a:t>of</a:t>
            </a:r>
            <a:r>
              <a:rPr sz="1800" spc="-70" dirty="0">
                <a:latin typeface="Times New Roman"/>
                <a:cs typeface="Times New Roman"/>
              </a:rPr>
              <a:t> </a:t>
            </a:r>
            <a:r>
              <a:rPr sz="1800" dirty="0">
                <a:latin typeface="Times New Roman"/>
                <a:cs typeface="Times New Roman"/>
              </a:rPr>
              <a:t>accident</a:t>
            </a:r>
            <a:endParaRPr sz="1800">
              <a:latin typeface="Times New Roman"/>
              <a:cs typeface="Times New Roman"/>
            </a:endParaRPr>
          </a:p>
          <a:p>
            <a:pPr marL="355600" indent="-342900">
              <a:lnSpc>
                <a:spcPct val="100000"/>
              </a:lnSpc>
              <a:spcBef>
                <a:spcPts val="1080"/>
              </a:spcBef>
              <a:buAutoNum type="arabicPeriod"/>
              <a:tabLst>
                <a:tab pos="354965" algn="l"/>
                <a:tab pos="355600" algn="l"/>
              </a:tabLst>
            </a:pPr>
            <a:r>
              <a:rPr sz="1800" dirty="0">
                <a:solidFill>
                  <a:srgbClr val="FF3300"/>
                </a:solidFill>
                <a:latin typeface="Times New Roman"/>
                <a:cs typeface="Times New Roman"/>
              </a:rPr>
              <a:t>Reduces the </a:t>
            </a:r>
            <a:r>
              <a:rPr sz="1800" spc="-5" dirty="0">
                <a:solidFill>
                  <a:srgbClr val="FF3300"/>
                </a:solidFill>
                <a:latin typeface="Times New Roman"/>
                <a:cs typeface="Times New Roman"/>
              </a:rPr>
              <a:t>efficiency </a:t>
            </a:r>
            <a:r>
              <a:rPr sz="1800" dirty="0">
                <a:solidFill>
                  <a:srgbClr val="FF3300"/>
                </a:solidFill>
                <a:latin typeface="Times New Roman"/>
                <a:cs typeface="Times New Roman"/>
              </a:rPr>
              <a:t>of the boiler </a:t>
            </a:r>
            <a:r>
              <a:rPr sz="1800" spc="5" dirty="0">
                <a:solidFill>
                  <a:srgbClr val="FF3300"/>
                </a:solidFill>
                <a:latin typeface="Times New Roman"/>
                <a:cs typeface="Times New Roman"/>
              </a:rPr>
              <a:t>and- </a:t>
            </a:r>
            <a:r>
              <a:rPr sz="1800" dirty="0">
                <a:solidFill>
                  <a:srgbClr val="FF3300"/>
                </a:solidFill>
                <a:latin typeface="Times New Roman"/>
                <a:cs typeface="Times New Roman"/>
              </a:rPr>
              <a:t>deposit on the valves and</a:t>
            </a:r>
            <a:r>
              <a:rPr sz="1800" spc="-125" dirty="0">
                <a:solidFill>
                  <a:srgbClr val="FF3300"/>
                </a:solidFill>
                <a:latin typeface="Times New Roman"/>
                <a:cs typeface="Times New Roman"/>
              </a:rPr>
              <a:t> </a:t>
            </a:r>
            <a:r>
              <a:rPr sz="1800" dirty="0">
                <a:solidFill>
                  <a:srgbClr val="FF3300"/>
                </a:solidFill>
                <a:latin typeface="Times New Roman"/>
                <a:cs typeface="Times New Roman"/>
              </a:rPr>
              <a:t>condensers</a:t>
            </a:r>
            <a:endParaRPr sz="1800">
              <a:latin typeface="Times New Roman"/>
              <a:cs typeface="Times New Roman"/>
            </a:endParaRPr>
          </a:p>
          <a:p>
            <a:pPr marL="355600" indent="-342900">
              <a:lnSpc>
                <a:spcPct val="100000"/>
              </a:lnSpc>
              <a:spcBef>
                <a:spcPts val="1080"/>
              </a:spcBef>
              <a:buAutoNum type="arabicPeriod"/>
              <a:tabLst>
                <a:tab pos="354965" algn="l"/>
                <a:tab pos="355600" algn="l"/>
              </a:tabLst>
            </a:pPr>
            <a:r>
              <a:rPr sz="1800" dirty="0">
                <a:latin typeface="Times New Roman"/>
                <a:cs typeface="Times New Roman"/>
              </a:rPr>
              <a:t>The boiler </a:t>
            </a:r>
            <a:r>
              <a:rPr sz="1800" spc="-5" dirty="0">
                <a:latin typeface="Times New Roman"/>
                <a:cs typeface="Times New Roman"/>
              </a:rPr>
              <a:t>may </a:t>
            </a:r>
            <a:r>
              <a:rPr sz="1800" dirty="0">
                <a:latin typeface="Times New Roman"/>
                <a:cs typeface="Times New Roman"/>
              </a:rPr>
              <a:t>explode – if crack occurs in</a:t>
            </a:r>
            <a:r>
              <a:rPr sz="1800" spc="-30" dirty="0">
                <a:latin typeface="Times New Roman"/>
                <a:cs typeface="Times New Roman"/>
              </a:rPr>
              <a:t> </a:t>
            </a:r>
            <a:r>
              <a:rPr sz="1800" spc="-5" dirty="0">
                <a:latin typeface="Times New Roman"/>
                <a:cs typeface="Times New Roman"/>
              </a:rPr>
              <a:t>scale</a:t>
            </a:r>
            <a:endParaRPr sz="1800">
              <a:latin typeface="Times New Roman"/>
              <a:cs typeface="Times New Roman"/>
            </a:endParaRPr>
          </a:p>
        </p:txBody>
      </p:sp>
      <p:sp>
        <p:nvSpPr>
          <p:cNvPr id="4" name="object 4"/>
          <p:cNvSpPr txBox="1"/>
          <p:nvPr/>
        </p:nvSpPr>
        <p:spPr>
          <a:xfrm>
            <a:off x="3058667" y="3933444"/>
            <a:ext cx="3819525" cy="376555"/>
          </a:xfrm>
          <a:prstGeom prst="rect">
            <a:avLst/>
          </a:prstGeom>
          <a:solidFill>
            <a:srgbClr val="FFCCCC"/>
          </a:solidFill>
          <a:ln w="9144">
            <a:solidFill>
              <a:srgbClr val="003399"/>
            </a:solidFill>
          </a:ln>
        </p:spPr>
        <p:txBody>
          <a:bodyPr vert="horz" wrap="square" lIns="0" tIns="39370" rIns="0" bIns="0" rtlCol="0">
            <a:spAutoFit/>
          </a:bodyPr>
          <a:lstStyle/>
          <a:p>
            <a:pPr algn="ctr">
              <a:lnSpc>
                <a:spcPct val="100000"/>
              </a:lnSpc>
              <a:spcBef>
                <a:spcPts val="310"/>
              </a:spcBef>
            </a:pPr>
            <a:r>
              <a:rPr sz="1800" dirty="0">
                <a:latin typeface="Times New Roman"/>
                <a:cs typeface="Times New Roman"/>
              </a:rPr>
              <a:t>Remedies: Removal of</a:t>
            </a:r>
            <a:r>
              <a:rPr sz="1800" spc="-30" dirty="0">
                <a:latin typeface="Times New Roman"/>
                <a:cs typeface="Times New Roman"/>
              </a:rPr>
              <a:t> </a:t>
            </a:r>
            <a:r>
              <a:rPr sz="1800" dirty="0">
                <a:latin typeface="Times New Roman"/>
                <a:cs typeface="Times New Roman"/>
              </a:rPr>
              <a:t>scale</a:t>
            </a:r>
            <a:endParaRPr sz="1800">
              <a:latin typeface="Times New Roman"/>
              <a:cs typeface="Times New Roman"/>
            </a:endParaRPr>
          </a:p>
        </p:txBody>
      </p:sp>
      <p:sp>
        <p:nvSpPr>
          <p:cNvPr id="5" name="object 5"/>
          <p:cNvSpPr txBox="1"/>
          <p:nvPr/>
        </p:nvSpPr>
        <p:spPr>
          <a:xfrm>
            <a:off x="690168" y="4326382"/>
            <a:ext cx="6280150" cy="1259840"/>
          </a:xfrm>
          <a:prstGeom prst="rect">
            <a:avLst/>
          </a:prstGeom>
        </p:spPr>
        <p:txBody>
          <a:bodyPr vert="horz" wrap="square" lIns="0" tIns="149860" rIns="0" bIns="0" rtlCol="0">
            <a:spAutoFit/>
          </a:bodyPr>
          <a:lstStyle/>
          <a:p>
            <a:pPr marL="355600" indent="-342900">
              <a:lnSpc>
                <a:spcPct val="100000"/>
              </a:lnSpc>
              <a:spcBef>
                <a:spcPts val="1180"/>
              </a:spcBef>
              <a:buAutoNum type="arabicPeriod"/>
              <a:tabLst>
                <a:tab pos="354965" algn="l"/>
                <a:tab pos="355600" algn="l"/>
              </a:tabLst>
            </a:pPr>
            <a:r>
              <a:rPr sz="1800" spc="-5" dirty="0">
                <a:latin typeface="Times New Roman"/>
                <a:cs typeface="Times New Roman"/>
              </a:rPr>
              <a:t>Using </a:t>
            </a:r>
            <a:r>
              <a:rPr sz="1800" spc="-10" dirty="0">
                <a:latin typeface="Times New Roman"/>
                <a:cs typeface="Times New Roman"/>
              </a:rPr>
              <a:t>scrapper, </a:t>
            </a:r>
            <a:r>
              <a:rPr sz="1800" dirty="0">
                <a:latin typeface="Times New Roman"/>
                <a:cs typeface="Times New Roman"/>
              </a:rPr>
              <a:t>wire brush</a:t>
            </a:r>
            <a:r>
              <a:rPr sz="1800" spc="-5" dirty="0">
                <a:latin typeface="Times New Roman"/>
                <a:cs typeface="Times New Roman"/>
              </a:rPr>
              <a:t> </a:t>
            </a:r>
            <a:r>
              <a:rPr sz="1800" dirty="0">
                <a:latin typeface="Times New Roman"/>
                <a:cs typeface="Times New Roman"/>
              </a:rPr>
              <a:t>often</a:t>
            </a:r>
            <a:endParaRPr sz="1800">
              <a:latin typeface="Times New Roman"/>
              <a:cs typeface="Times New Roman"/>
            </a:endParaRPr>
          </a:p>
          <a:p>
            <a:pPr marL="355600" indent="-342900">
              <a:lnSpc>
                <a:spcPct val="100000"/>
              </a:lnSpc>
              <a:spcBef>
                <a:spcPts val="1080"/>
              </a:spcBef>
              <a:buAutoNum type="arabicPeriod"/>
              <a:tabLst>
                <a:tab pos="354965" algn="l"/>
                <a:tab pos="355600" algn="l"/>
              </a:tabLst>
            </a:pPr>
            <a:r>
              <a:rPr sz="1800" dirty="0">
                <a:latin typeface="Times New Roman"/>
                <a:cs typeface="Times New Roman"/>
              </a:rPr>
              <a:t>By </a:t>
            </a:r>
            <a:r>
              <a:rPr sz="1800" spc="-5" dirty="0">
                <a:latin typeface="Times New Roman"/>
                <a:cs typeface="Times New Roman"/>
              </a:rPr>
              <a:t>thermal </a:t>
            </a:r>
            <a:r>
              <a:rPr sz="1800" dirty="0">
                <a:latin typeface="Times New Roman"/>
                <a:cs typeface="Times New Roman"/>
              </a:rPr>
              <a:t>shock- heating and cooling </a:t>
            </a:r>
            <a:r>
              <a:rPr sz="1800" spc="-5" dirty="0">
                <a:latin typeface="Times New Roman"/>
                <a:cs typeface="Times New Roman"/>
              </a:rPr>
              <a:t>suddenly </a:t>
            </a:r>
            <a:r>
              <a:rPr sz="1800" dirty="0">
                <a:latin typeface="Times New Roman"/>
                <a:cs typeface="Times New Roman"/>
              </a:rPr>
              <a:t>with cold</a:t>
            </a:r>
            <a:r>
              <a:rPr sz="1800" spc="-45" dirty="0">
                <a:latin typeface="Times New Roman"/>
                <a:cs typeface="Times New Roman"/>
              </a:rPr>
              <a:t> </a:t>
            </a:r>
            <a:r>
              <a:rPr sz="1800" dirty="0">
                <a:latin typeface="Times New Roman"/>
                <a:cs typeface="Times New Roman"/>
              </a:rPr>
              <a:t>water</a:t>
            </a:r>
            <a:endParaRPr sz="1800">
              <a:latin typeface="Times New Roman"/>
              <a:cs typeface="Times New Roman"/>
            </a:endParaRPr>
          </a:p>
          <a:p>
            <a:pPr marL="355600" indent="-342900">
              <a:lnSpc>
                <a:spcPct val="100000"/>
              </a:lnSpc>
              <a:spcBef>
                <a:spcPts val="1080"/>
              </a:spcBef>
              <a:buAutoNum type="arabicPeriod"/>
              <a:tabLst>
                <a:tab pos="354965" algn="l"/>
                <a:tab pos="355600" algn="l"/>
              </a:tabLst>
            </a:pPr>
            <a:r>
              <a:rPr sz="1800" spc="-5" dirty="0">
                <a:latin typeface="Times New Roman"/>
                <a:cs typeface="Times New Roman"/>
              </a:rPr>
              <a:t>Using </a:t>
            </a:r>
            <a:r>
              <a:rPr sz="1800" dirty="0">
                <a:latin typeface="Times New Roman"/>
                <a:cs typeface="Times New Roman"/>
              </a:rPr>
              <a:t>chemicals – 5-10% </a:t>
            </a:r>
            <a:r>
              <a:rPr sz="1800" spc="-5" dirty="0">
                <a:latin typeface="Times New Roman"/>
                <a:cs typeface="Times New Roman"/>
              </a:rPr>
              <a:t>HCl </a:t>
            </a:r>
            <a:r>
              <a:rPr sz="1800" dirty="0">
                <a:latin typeface="Times New Roman"/>
                <a:cs typeface="Times New Roman"/>
              </a:rPr>
              <a:t>and by adding</a:t>
            </a:r>
            <a:r>
              <a:rPr sz="1800" spc="-40" dirty="0">
                <a:latin typeface="Times New Roman"/>
                <a:cs typeface="Times New Roman"/>
              </a:rPr>
              <a:t> EDTA</a:t>
            </a:r>
            <a:endParaRPr sz="1800">
              <a:latin typeface="Times New Roman"/>
              <a:cs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02828" y="6273495"/>
            <a:ext cx="20574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Times New Roman"/>
                <a:cs typeface="Times New Roman"/>
              </a:rPr>
              <a:t>16</a:t>
            </a:r>
            <a:endParaRPr sz="1400">
              <a:latin typeface="Times New Roman"/>
              <a:cs typeface="Times New Roman"/>
            </a:endParaRPr>
          </a:p>
        </p:txBody>
      </p:sp>
      <p:sp>
        <p:nvSpPr>
          <p:cNvPr id="3" name="object 3"/>
          <p:cNvSpPr txBox="1"/>
          <p:nvPr/>
        </p:nvSpPr>
        <p:spPr>
          <a:xfrm>
            <a:off x="2627376" y="188976"/>
            <a:ext cx="3671570" cy="376555"/>
          </a:xfrm>
          <a:prstGeom prst="rect">
            <a:avLst/>
          </a:prstGeom>
          <a:ln w="9144">
            <a:solidFill>
              <a:srgbClr val="003399"/>
            </a:solidFill>
          </a:ln>
        </p:spPr>
        <p:txBody>
          <a:bodyPr vert="horz" wrap="square" lIns="0" tIns="38100" rIns="0" bIns="0" rtlCol="0">
            <a:spAutoFit/>
          </a:bodyPr>
          <a:lstStyle/>
          <a:p>
            <a:pPr marL="91440">
              <a:lnSpc>
                <a:spcPct val="100000"/>
              </a:lnSpc>
              <a:spcBef>
                <a:spcPts val="300"/>
              </a:spcBef>
            </a:pPr>
            <a:r>
              <a:rPr sz="1800" dirty="0">
                <a:solidFill>
                  <a:srgbClr val="FF3300"/>
                </a:solidFill>
                <a:latin typeface="Times New Roman"/>
                <a:cs typeface="Times New Roman"/>
              </a:rPr>
              <a:t>Prevention </a:t>
            </a:r>
            <a:r>
              <a:rPr sz="1800" spc="-5" dirty="0">
                <a:solidFill>
                  <a:srgbClr val="FF3300"/>
                </a:solidFill>
                <a:latin typeface="Times New Roman"/>
                <a:cs typeface="Times New Roman"/>
              </a:rPr>
              <a:t>of scale</a:t>
            </a:r>
            <a:r>
              <a:rPr sz="1800" spc="-20" dirty="0">
                <a:solidFill>
                  <a:srgbClr val="FF3300"/>
                </a:solidFill>
                <a:latin typeface="Times New Roman"/>
                <a:cs typeface="Times New Roman"/>
              </a:rPr>
              <a:t> </a:t>
            </a:r>
            <a:r>
              <a:rPr sz="1800" dirty="0">
                <a:solidFill>
                  <a:srgbClr val="FF3300"/>
                </a:solidFill>
                <a:latin typeface="Times New Roman"/>
                <a:cs typeface="Times New Roman"/>
              </a:rPr>
              <a:t>formation</a:t>
            </a:r>
            <a:endParaRPr sz="1800">
              <a:latin typeface="Times New Roman"/>
              <a:cs typeface="Times New Roman"/>
            </a:endParaRPr>
          </a:p>
        </p:txBody>
      </p:sp>
      <p:sp>
        <p:nvSpPr>
          <p:cNvPr id="4" name="object 4"/>
          <p:cNvSpPr txBox="1"/>
          <p:nvPr/>
        </p:nvSpPr>
        <p:spPr>
          <a:xfrm>
            <a:off x="834644" y="637873"/>
            <a:ext cx="7183120" cy="1397000"/>
          </a:xfrm>
          <a:prstGeom prst="rect">
            <a:avLst/>
          </a:prstGeom>
        </p:spPr>
        <p:txBody>
          <a:bodyPr vert="horz" wrap="square" lIns="0" tIns="164465" rIns="0" bIns="0" rtlCol="0">
            <a:spAutoFit/>
          </a:bodyPr>
          <a:lstStyle/>
          <a:p>
            <a:pPr marL="12700">
              <a:lnSpc>
                <a:spcPct val="100000"/>
              </a:lnSpc>
              <a:spcBef>
                <a:spcPts val="1295"/>
              </a:spcBef>
            </a:pPr>
            <a:r>
              <a:rPr sz="2000" spc="-5" dirty="0">
                <a:solidFill>
                  <a:srgbClr val="003399"/>
                </a:solidFill>
                <a:latin typeface="Times New Roman"/>
                <a:cs typeface="Times New Roman"/>
              </a:rPr>
              <a:t>Scale formation </a:t>
            </a:r>
            <a:r>
              <a:rPr sz="2000" dirty="0">
                <a:solidFill>
                  <a:srgbClr val="003399"/>
                </a:solidFill>
                <a:latin typeface="Times New Roman"/>
                <a:cs typeface="Times New Roman"/>
              </a:rPr>
              <a:t>can be prevented by two</a:t>
            </a:r>
            <a:r>
              <a:rPr sz="2000" spc="-85" dirty="0">
                <a:solidFill>
                  <a:srgbClr val="003399"/>
                </a:solidFill>
                <a:latin typeface="Times New Roman"/>
                <a:cs typeface="Times New Roman"/>
              </a:rPr>
              <a:t> </a:t>
            </a:r>
            <a:r>
              <a:rPr sz="2000" spc="-5" dirty="0">
                <a:solidFill>
                  <a:srgbClr val="003399"/>
                </a:solidFill>
                <a:latin typeface="Times New Roman"/>
                <a:cs typeface="Times New Roman"/>
              </a:rPr>
              <a:t>methods</a:t>
            </a:r>
            <a:endParaRPr sz="2000">
              <a:latin typeface="Times New Roman"/>
              <a:cs typeface="Times New Roman"/>
            </a:endParaRPr>
          </a:p>
          <a:p>
            <a:pPr marL="355600" indent="-342900">
              <a:lnSpc>
                <a:spcPct val="100000"/>
              </a:lnSpc>
              <a:spcBef>
                <a:spcPts val="1200"/>
              </a:spcBef>
              <a:buAutoNum type="arabicPeriod"/>
              <a:tabLst>
                <a:tab pos="354965" algn="l"/>
                <a:tab pos="355600" algn="l"/>
              </a:tabLst>
            </a:pPr>
            <a:r>
              <a:rPr sz="2000" dirty="0">
                <a:solidFill>
                  <a:srgbClr val="996633"/>
                </a:solidFill>
                <a:latin typeface="Times New Roman"/>
                <a:cs typeface="Times New Roman"/>
              </a:rPr>
              <a:t>Internal conditioning or Internal</a:t>
            </a:r>
            <a:r>
              <a:rPr sz="2000" spc="-210" dirty="0">
                <a:solidFill>
                  <a:srgbClr val="996633"/>
                </a:solidFill>
                <a:latin typeface="Times New Roman"/>
                <a:cs typeface="Times New Roman"/>
              </a:rPr>
              <a:t> </a:t>
            </a:r>
            <a:r>
              <a:rPr sz="2000" spc="-10" dirty="0">
                <a:solidFill>
                  <a:srgbClr val="996633"/>
                </a:solidFill>
                <a:latin typeface="Times New Roman"/>
                <a:cs typeface="Times New Roman"/>
              </a:rPr>
              <a:t>Treatment</a:t>
            </a:r>
            <a:endParaRPr sz="2000">
              <a:latin typeface="Times New Roman"/>
              <a:cs typeface="Times New Roman"/>
            </a:endParaRPr>
          </a:p>
          <a:p>
            <a:pPr marL="355600" indent="-342900">
              <a:lnSpc>
                <a:spcPct val="100000"/>
              </a:lnSpc>
              <a:spcBef>
                <a:spcPts val="1200"/>
              </a:spcBef>
              <a:buAutoNum type="arabicPeriod"/>
              <a:tabLst>
                <a:tab pos="354965" algn="l"/>
                <a:tab pos="355600" algn="l"/>
              </a:tabLst>
            </a:pPr>
            <a:r>
              <a:rPr sz="2000" dirty="0">
                <a:solidFill>
                  <a:srgbClr val="333399"/>
                </a:solidFill>
                <a:latin typeface="Times New Roman"/>
                <a:cs typeface="Times New Roman"/>
              </a:rPr>
              <a:t>External conditioning or External </a:t>
            </a:r>
            <a:r>
              <a:rPr sz="2000" spc="-5" dirty="0">
                <a:solidFill>
                  <a:srgbClr val="333399"/>
                </a:solidFill>
                <a:latin typeface="Times New Roman"/>
                <a:cs typeface="Times New Roman"/>
              </a:rPr>
              <a:t>treatment- </a:t>
            </a:r>
            <a:r>
              <a:rPr sz="2000" dirty="0">
                <a:solidFill>
                  <a:srgbClr val="333399"/>
                </a:solidFill>
                <a:latin typeface="Times New Roman"/>
                <a:cs typeface="Times New Roman"/>
              </a:rPr>
              <a:t>will be discussed</a:t>
            </a:r>
            <a:r>
              <a:rPr sz="2000" spc="-175" dirty="0">
                <a:solidFill>
                  <a:srgbClr val="333399"/>
                </a:solidFill>
                <a:latin typeface="Times New Roman"/>
                <a:cs typeface="Times New Roman"/>
              </a:rPr>
              <a:t> </a:t>
            </a:r>
            <a:r>
              <a:rPr sz="2000" spc="-5" dirty="0">
                <a:solidFill>
                  <a:srgbClr val="333399"/>
                </a:solidFill>
                <a:latin typeface="Times New Roman"/>
                <a:cs typeface="Times New Roman"/>
              </a:rPr>
              <a:t>later</a:t>
            </a:r>
            <a:endParaRPr sz="2000">
              <a:latin typeface="Times New Roman"/>
              <a:cs typeface="Times New Roman"/>
            </a:endParaRPr>
          </a:p>
        </p:txBody>
      </p:sp>
      <p:sp>
        <p:nvSpPr>
          <p:cNvPr id="5" name="object 5"/>
          <p:cNvSpPr txBox="1"/>
          <p:nvPr/>
        </p:nvSpPr>
        <p:spPr>
          <a:xfrm>
            <a:off x="381000" y="2133600"/>
            <a:ext cx="7924800" cy="401320"/>
          </a:xfrm>
          <a:prstGeom prst="rect">
            <a:avLst/>
          </a:prstGeom>
          <a:solidFill>
            <a:srgbClr val="FFFF66"/>
          </a:solidFill>
          <a:ln w="9144">
            <a:solidFill>
              <a:srgbClr val="000000"/>
            </a:solidFill>
          </a:ln>
        </p:spPr>
        <p:txBody>
          <a:bodyPr vert="horz" wrap="square" lIns="0" tIns="37465" rIns="0" bIns="0" rtlCol="0">
            <a:spAutoFit/>
          </a:bodyPr>
          <a:lstStyle/>
          <a:p>
            <a:pPr marL="91440">
              <a:lnSpc>
                <a:spcPct val="100000"/>
              </a:lnSpc>
              <a:spcBef>
                <a:spcPts val="295"/>
              </a:spcBef>
            </a:pPr>
            <a:r>
              <a:rPr sz="2000" dirty="0">
                <a:latin typeface="Times New Roman"/>
                <a:cs typeface="Times New Roman"/>
              </a:rPr>
              <a:t>1. </a:t>
            </a:r>
            <a:r>
              <a:rPr sz="2000" spc="-5" dirty="0">
                <a:latin typeface="Times New Roman"/>
                <a:cs typeface="Times New Roman"/>
              </a:rPr>
              <a:t>Internal </a:t>
            </a:r>
            <a:r>
              <a:rPr sz="2000" dirty="0">
                <a:latin typeface="Times New Roman"/>
                <a:cs typeface="Times New Roman"/>
              </a:rPr>
              <a:t>conditioning </a:t>
            </a:r>
            <a:r>
              <a:rPr sz="2000" spc="-5" dirty="0">
                <a:latin typeface="Times New Roman"/>
                <a:cs typeface="Times New Roman"/>
              </a:rPr>
              <a:t>methods </a:t>
            </a:r>
            <a:r>
              <a:rPr sz="2000" dirty="0">
                <a:latin typeface="Times New Roman"/>
                <a:cs typeface="Times New Roman"/>
              </a:rPr>
              <a:t>- of boiler water to prevent </a:t>
            </a:r>
            <a:r>
              <a:rPr sz="2000" spc="-5" dirty="0">
                <a:latin typeface="Times New Roman"/>
                <a:cs typeface="Times New Roman"/>
              </a:rPr>
              <a:t>scale</a:t>
            </a:r>
            <a:r>
              <a:rPr sz="2000" spc="-135" dirty="0">
                <a:latin typeface="Times New Roman"/>
                <a:cs typeface="Times New Roman"/>
              </a:rPr>
              <a:t> </a:t>
            </a:r>
            <a:r>
              <a:rPr sz="2000" spc="-5" dirty="0">
                <a:latin typeface="Times New Roman"/>
                <a:cs typeface="Times New Roman"/>
              </a:rPr>
              <a:t>formation</a:t>
            </a:r>
            <a:endParaRPr sz="2000">
              <a:latin typeface="Times New Roman"/>
              <a:cs typeface="Times New Roman"/>
            </a:endParaRPr>
          </a:p>
        </p:txBody>
      </p:sp>
      <p:sp>
        <p:nvSpPr>
          <p:cNvPr id="6" name="object 6"/>
          <p:cNvSpPr txBox="1"/>
          <p:nvPr/>
        </p:nvSpPr>
        <p:spPr>
          <a:xfrm>
            <a:off x="905967" y="2447550"/>
            <a:ext cx="7461250" cy="4384675"/>
          </a:xfrm>
          <a:prstGeom prst="rect">
            <a:avLst/>
          </a:prstGeom>
        </p:spPr>
        <p:txBody>
          <a:bodyPr vert="horz" wrap="square" lIns="0" tIns="179705" rIns="0" bIns="0" rtlCol="0">
            <a:spAutoFit/>
          </a:bodyPr>
          <a:lstStyle/>
          <a:p>
            <a:pPr marL="355600" indent="-342900">
              <a:lnSpc>
                <a:spcPct val="100000"/>
              </a:lnSpc>
              <a:spcBef>
                <a:spcPts val="1415"/>
              </a:spcBef>
              <a:buAutoNum type="arabicPeriod"/>
              <a:tabLst>
                <a:tab pos="354965" algn="l"/>
                <a:tab pos="355600" algn="l"/>
              </a:tabLst>
            </a:pPr>
            <a:r>
              <a:rPr sz="2200" spc="-5" dirty="0">
                <a:solidFill>
                  <a:srgbClr val="990000"/>
                </a:solidFill>
                <a:latin typeface="Times New Roman"/>
                <a:cs typeface="Times New Roman"/>
              </a:rPr>
              <a:t>Phosphate conditioning – addition of phosphate</a:t>
            </a:r>
            <a:r>
              <a:rPr sz="2200" spc="40" dirty="0">
                <a:solidFill>
                  <a:srgbClr val="990000"/>
                </a:solidFill>
                <a:latin typeface="Times New Roman"/>
                <a:cs typeface="Times New Roman"/>
              </a:rPr>
              <a:t> </a:t>
            </a:r>
            <a:r>
              <a:rPr sz="2200" spc="-5" dirty="0">
                <a:solidFill>
                  <a:srgbClr val="990000"/>
                </a:solidFill>
                <a:latin typeface="Times New Roman"/>
                <a:cs typeface="Times New Roman"/>
              </a:rPr>
              <a:t>compound</a:t>
            </a:r>
            <a:endParaRPr sz="2200">
              <a:latin typeface="Times New Roman"/>
              <a:cs typeface="Times New Roman"/>
            </a:endParaRPr>
          </a:p>
          <a:p>
            <a:pPr marL="355600" indent="-342900">
              <a:lnSpc>
                <a:spcPct val="100000"/>
              </a:lnSpc>
              <a:spcBef>
                <a:spcPts val="1320"/>
              </a:spcBef>
              <a:buAutoNum type="arabicPeriod"/>
              <a:tabLst>
                <a:tab pos="354965" algn="l"/>
                <a:tab pos="355600" algn="l"/>
              </a:tabLst>
            </a:pPr>
            <a:r>
              <a:rPr sz="2200" spc="-5" dirty="0">
                <a:solidFill>
                  <a:srgbClr val="990000"/>
                </a:solidFill>
                <a:latin typeface="Times New Roman"/>
                <a:cs typeface="Times New Roman"/>
              </a:rPr>
              <a:t>Carbonate </a:t>
            </a:r>
            <a:r>
              <a:rPr sz="2200" dirty="0">
                <a:solidFill>
                  <a:srgbClr val="990000"/>
                </a:solidFill>
                <a:latin typeface="Times New Roman"/>
                <a:cs typeface="Times New Roman"/>
              </a:rPr>
              <a:t>conditioning </a:t>
            </a:r>
            <a:r>
              <a:rPr sz="2200" spc="-5" dirty="0">
                <a:solidFill>
                  <a:srgbClr val="990000"/>
                </a:solidFill>
                <a:latin typeface="Times New Roman"/>
                <a:cs typeface="Times New Roman"/>
              </a:rPr>
              <a:t>– addition of carbonate</a:t>
            </a:r>
            <a:r>
              <a:rPr sz="2200" spc="20" dirty="0">
                <a:solidFill>
                  <a:srgbClr val="990000"/>
                </a:solidFill>
                <a:latin typeface="Times New Roman"/>
                <a:cs typeface="Times New Roman"/>
              </a:rPr>
              <a:t> </a:t>
            </a:r>
            <a:r>
              <a:rPr sz="2200" spc="-5" dirty="0">
                <a:solidFill>
                  <a:srgbClr val="990000"/>
                </a:solidFill>
                <a:latin typeface="Times New Roman"/>
                <a:cs typeface="Times New Roman"/>
              </a:rPr>
              <a:t>compound</a:t>
            </a:r>
            <a:endParaRPr sz="2200">
              <a:latin typeface="Times New Roman"/>
              <a:cs typeface="Times New Roman"/>
            </a:endParaRPr>
          </a:p>
          <a:p>
            <a:pPr marL="355600" indent="-342900">
              <a:lnSpc>
                <a:spcPct val="100000"/>
              </a:lnSpc>
              <a:spcBef>
                <a:spcPts val="1320"/>
              </a:spcBef>
              <a:buAutoNum type="arabicPeriod"/>
              <a:tabLst>
                <a:tab pos="354965" algn="l"/>
                <a:tab pos="355600" algn="l"/>
              </a:tabLst>
            </a:pPr>
            <a:r>
              <a:rPr sz="2200" spc="-5" dirty="0">
                <a:solidFill>
                  <a:srgbClr val="990000"/>
                </a:solidFill>
                <a:latin typeface="Times New Roman"/>
                <a:cs typeface="Times New Roman"/>
              </a:rPr>
              <a:t>Calgon conditioning – addition of sodium hexa </a:t>
            </a:r>
            <a:r>
              <a:rPr sz="2200" spc="-10" dirty="0">
                <a:solidFill>
                  <a:srgbClr val="990000"/>
                </a:solidFill>
                <a:latin typeface="Times New Roman"/>
                <a:cs typeface="Times New Roman"/>
              </a:rPr>
              <a:t>meta</a:t>
            </a:r>
            <a:r>
              <a:rPr sz="2200" spc="150" dirty="0">
                <a:solidFill>
                  <a:srgbClr val="990000"/>
                </a:solidFill>
                <a:latin typeface="Times New Roman"/>
                <a:cs typeface="Times New Roman"/>
              </a:rPr>
              <a:t> </a:t>
            </a:r>
            <a:r>
              <a:rPr sz="2200" spc="-5" dirty="0">
                <a:solidFill>
                  <a:srgbClr val="990000"/>
                </a:solidFill>
                <a:latin typeface="Times New Roman"/>
                <a:cs typeface="Times New Roman"/>
              </a:rPr>
              <a:t>phosphate</a:t>
            </a:r>
            <a:endParaRPr sz="2200">
              <a:latin typeface="Times New Roman"/>
              <a:cs typeface="Times New Roman"/>
            </a:endParaRPr>
          </a:p>
          <a:p>
            <a:pPr marL="355600" marR="158750" indent="-342900">
              <a:lnSpc>
                <a:spcPct val="100000"/>
              </a:lnSpc>
              <a:spcBef>
                <a:spcPts val="1320"/>
              </a:spcBef>
              <a:buAutoNum type="arabicPeriod"/>
              <a:tabLst>
                <a:tab pos="354965" algn="l"/>
                <a:tab pos="355600" algn="l"/>
              </a:tabLst>
            </a:pPr>
            <a:r>
              <a:rPr sz="2200" spc="-5" dirty="0">
                <a:solidFill>
                  <a:srgbClr val="990000"/>
                </a:solidFill>
                <a:latin typeface="Times New Roman"/>
                <a:cs typeface="Times New Roman"/>
              </a:rPr>
              <a:t>Colloidal conditioning – spreading of </a:t>
            </a:r>
            <a:r>
              <a:rPr sz="2200" spc="-10" dirty="0">
                <a:solidFill>
                  <a:srgbClr val="990000"/>
                </a:solidFill>
                <a:latin typeface="Times New Roman"/>
                <a:cs typeface="Times New Roman"/>
              </a:rPr>
              <a:t>organic </a:t>
            </a:r>
            <a:r>
              <a:rPr sz="2200" spc="-5" dirty="0">
                <a:solidFill>
                  <a:srgbClr val="990000"/>
                </a:solidFill>
                <a:latin typeface="Times New Roman"/>
                <a:cs typeface="Times New Roman"/>
              </a:rPr>
              <a:t>compounds like  tannin, agar gel</a:t>
            </a:r>
            <a:endParaRPr sz="2200">
              <a:latin typeface="Times New Roman"/>
              <a:cs typeface="Times New Roman"/>
            </a:endParaRPr>
          </a:p>
          <a:p>
            <a:pPr marL="355600" indent="-342900">
              <a:lnSpc>
                <a:spcPct val="100000"/>
              </a:lnSpc>
              <a:spcBef>
                <a:spcPts val="1325"/>
              </a:spcBef>
              <a:buAutoNum type="arabicPeriod"/>
              <a:tabLst>
                <a:tab pos="354965" algn="l"/>
                <a:tab pos="355600" algn="l"/>
              </a:tabLst>
            </a:pPr>
            <a:r>
              <a:rPr sz="2200" spc="-5" dirty="0">
                <a:solidFill>
                  <a:srgbClr val="990000"/>
                </a:solidFill>
                <a:latin typeface="Times New Roman"/>
                <a:cs typeface="Times New Roman"/>
              </a:rPr>
              <a:t>Sodium Aluminate – removes oil and</a:t>
            </a:r>
            <a:r>
              <a:rPr sz="2200" spc="-60" dirty="0">
                <a:solidFill>
                  <a:srgbClr val="990000"/>
                </a:solidFill>
                <a:latin typeface="Times New Roman"/>
                <a:cs typeface="Times New Roman"/>
              </a:rPr>
              <a:t> </a:t>
            </a:r>
            <a:r>
              <a:rPr sz="2200" spc="-5" dirty="0">
                <a:solidFill>
                  <a:srgbClr val="990000"/>
                </a:solidFill>
                <a:latin typeface="Times New Roman"/>
                <a:cs typeface="Times New Roman"/>
              </a:rPr>
              <a:t>silica</a:t>
            </a:r>
            <a:endParaRPr sz="2200">
              <a:latin typeface="Times New Roman"/>
              <a:cs typeface="Times New Roman"/>
            </a:endParaRPr>
          </a:p>
          <a:p>
            <a:pPr marL="355600" indent="-342900">
              <a:lnSpc>
                <a:spcPct val="100000"/>
              </a:lnSpc>
              <a:spcBef>
                <a:spcPts val="1320"/>
              </a:spcBef>
              <a:buAutoNum type="arabicPeriod"/>
              <a:tabLst>
                <a:tab pos="354965" algn="l"/>
                <a:tab pos="355600" algn="l"/>
              </a:tabLst>
            </a:pPr>
            <a:r>
              <a:rPr sz="2200" spc="-5" dirty="0">
                <a:solidFill>
                  <a:srgbClr val="990000"/>
                </a:solidFill>
                <a:latin typeface="Times New Roman"/>
                <a:cs typeface="Times New Roman"/>
              </a:rPr>
              <a:t>Electrical</a:t>
            </a:r>
            <a:r>
              <a:rPr sz="2200" spc="15" dirty="0">
                <a:solidFill>
                  <a:srgbClr val="990000"/>
                </a:solidFill>
                <a:latin typeface="Times New Roman"/>
                <a:cs typeface="Times New Roman"/>
              </a:rPr>
              <a:t> </a:t>
            </a:r>
            <a:r>
              <a:rPr sz="2200" spc="-5" dirty="0">
                <a:solidFill>
                  <a:srgbClr val="990000"/>
                </a:solidFill>
                <a:latin typeface="Times New Roman"/>
                <a:cs typeface="Times New Roman"/>
              </a:rPr>
              <a:t>Conditioning</a:t>
            </a:r>
            <a:endParaRPr sz="2200">
              <a:latin typeface="Times New Roman"/>
              <a:cs typeface="Times New Roman"/>
            </a:endParaRPr>
          </a:p>
          <a:p>
            <a:pPr marL="355600" indent="-342900">
              <a:lnSpc>
                <a:spcPct val="100000"/>
              </a:lnSpc>
              <a:spcBef>
                <a:spcPts val="1320"/>
              </a:spcBef>
              <a:buAutoNum type="arabicPeriod"/>
              <a:tabLst>
                <a:tab pos="354965" algn="l"/>
                <a:tab pos="355600" algn="l"/>
              </a:tabLst>
            </a:pPr>
            <a:r>
              <a:rPr sz="2200" spc="-5" dirty="0">
                <a:solidFill>
                  <a:srgbClr val="990000"/>
                </a:solidFill>
                <a:latin typeface="Times New Roman"/>
                <a:cs typeface="Times New Roman"/>
              </a:rPr>
              <a:t>Radioactive</a:t>
            </a:r>
            <a:r>
              <a:rPr sz="2200" spc="-10" dirty="0">
                <a:solidFill>
                  <a:srgbClr val="990000"/>
                </a:solidFill>
                <a:latin typeface="Times New Roman"/>
                <a:cs typeface="Times New Roman"/>
              </a:rPr>
              <a:t> </a:t>
            </a:r>
            <a:r>
              <a:rPr sz="2200" dirty="0">
                <a:solidFill>
                  <a:srgbClr val="990000"/>
                </a:solidFill>
                <a:latin typeface="Times New Roman"/>
                <a:cs typeface="Times New Roman"/>
              </a:rPr>
              <a:t>Conditioning</a:t>
            </a:r>
            <a:endParaRPr sz="2200">
              <a:latin typeface="Times New Roman"/>
              <a:cs typeface="Times New Roman"/>
            </a:endParaRPr>
          </a:p>
          <a:p>
            <a:pPr marL="355600" indent="-342900">
              <a:lnSpc>
                <a:spcPct val="100000"/>
              </a:lnSpc>
              <a:spcBef>
                <a:spcPts val="1320"/>
              </a:spcBef>
              <a:buAutoNum type="arabicPeriod"/>
              <a:tabLst>
                <a:tab pos="354965" algn="l"/>
                <a:tab pos="355600" algn="l"/>
              </a:tabLst>
            </a:pPr>
            <a:r>
              <a:rPr sz="2200" spc="-5" dirty="0">
                <a:solidFill>
                  <a:srgbClr val="990000"/>
                </a:solidFill>
                <a:latin typeface="Times New Roman"/>
                <a:cs typeface="Times New Roman"/>
              </a:rPr>
              <a:t>Complexometric method – using</a:t>
            </a:r>
            <a:r>
              <a:rPr sz="2200" spc="65" dirty="0">
                <a:solidFill>
                  <a:srgbClr val="990000"/>
                </a:solidFill>
                <a:latin typeface="Times New Roman"/>
                <a:cs typeface="Times New Roman"/>
              </a:rPr>
              <a:t> </a:t>
            </a:r>
            <a:r>
              <a:rPr sz="2200" spc="-50" dirty="0">
                <a:solidFill>
                  <a:srgbClr val="990000"/>
                </a:solidFill>
                <a:latin typeface="Times New Roman"/>
                <a:cs typeface="Times New Roman"/>
              </a:rPr>
              <a:t>EDTA</a:t>
            </a:r>
            <a:endParaRPr sz="2200">
              <a:latin typeface="Times New Roman"/>
              <a:cs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02828" y="6273495"/>
            <a:ext cx="20574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Times New Roman"/>
                <a:cs typeface="Times New Roman"/>
              </a:rPr>
              <a:t>17</a:t>
            </a:r>
            <a:endParaRPr sz="1400">
              <a:latin typeface="Times New Roman"/>
              <a:cs typeface="Times New Roman"/>
            </a:endParaRPr>
          </a:p>
        </p:txBody>
      </p:sp>
      <p:sp>
        <p:nvSpPr>
          <p:cNvPr id="3" name="object 3"/>
          <p:cNvSpPr txBox="1">
            <a:spLocks noGrp="1"/>
          </p:cNvSpPr>
          <p:nvPr>
            <p:ph type="title"/>
          </p:nvPr>
        </p:nvSpPr>
        <p:spPr>
          <a:xfrm>
            <a:off x="457200" y="1600200"/>
            <a:ext cx="5105400" cy="477520"/>
          </a:xfrm>
          <a:prstGeom prst="rect">
            <a:avLst/>
          </a:prstGeom>
          <a:solidFill>
            <a:srgbClr val="99CC00"/>
          </a:solidFill>
        </p:spPr>
        <p:txBody>
          <a:bodyPr vert="horz" wrap="square" lIns="0" tIns="34290" rIns="0" bIns="0" rtlCol="0">
            <a:spAutoFit/>
          </a:bodyPr>
          <a:lstStyle/>
          <a:p>
            <a:pPr marL="91440">
              <a:lnSpc>
                <a:spcPct val="100000"/>
              </a:lnSpc>
              <a:spcBef>
                <a:spcPts val="270"/>
              </a:spcBef>
            </a:pPr>
            <a:r>
              <a:rPr sz="2500" spc="-5" dirty="0">
                <a:solidFill>
                  <a:srgbClr val="000000"/>
                </a:solidFill>
              </a:rPr>
              <a:t>1. Phosphate</a:t>
            </a:r>
            <a:r>
              <a:rPr sz="2500" spc="25" dirty="0">
                <a:solidFill>
                  <a:srgbClr val="000000"/>
                </a:solidFill>
              </a:rPr>
              <a:t> </a:t>
            </a:r>
            <a:r>
              <a:rPr sz="2500" spc="-5" dirty="0">
                <a:solidFill>
                  <a:srgbClr val="000000"/>
                </a:solidFill>
              </a:rPr>
              <a:t>conditioning</a:t>
            </a:r>
            <a:endParaRPr sz="2500"/>
          </a:p>
        </p:txBody>
      </p:sp>
      <p:sp>
        <p:nvSpPr>
          <p:cNvPr id="4" name="object 4"/>
          <p:cNvSpPr txBox="1"/>
          <p:nvPr/>
        </p:nvSpPr>
        <p:spPr>
          <a:xfrm>
            <a:off x="457200" y="2362200"/>
            <a:ext cx="7632700" cy="1015365"/>
          </a:xfrm>
          <a:prstGeom prst="rect">
            <a:avLst/>
          </a:prstGeom>
          <a:ln w="9144">
            <a:solidFill>
              <a:srgbClr val="FF3300"/>
            </a:solidFill>
          </a:ln>
        </p:spPr>
        <p:txBody>
          <a:bodyPr vert="horz" wrap="square" lIns="0" tIns="37465" rIns="0" bIns="0" rtlCol="0">
            <a:spAutoFit/>
          </a:bodyPr>
          <a:lstStyle/>
          <a:p>
            <a:pPr marL="91440" marR="475615" algn="just">
              <a:lnSpc>
                <a:spcPct val="100000"/>
              </a:lnSpc>
              <a:spcBef>
                <a:spcPts val="295"/>
              </a:spcBef>
            </a:pPr>
            <a:r>
              <a:rPr sz="2000" spc="-5" dirty="0">
                <a:solidFill>
                  <a:srgbClr val="990000"/>
                </a:solidFill>
                <a:latin typeface="Times New Roman"/>
                <a:cs typeface="Times New Roman"/>
              </a:rPr>
              <a:t>Scale formation </a:t>
            </a:r>
            <a:r>
              <a:rPr sz="2000" dirty="0">
                <a:solidFill>
                  <a:srgbClr val="990000"/>
                </a:solidFill>
                <a:latin typeface="Times New Roman"/>
                <a:cs typeface="Times New Roman"/>
              </a:rPr>
              <a:t>can be prevented by adding sodium phosphate to the  boiler water which reacts with the hardness producing ions and</a:t>
            </a:r>
            <a:r>
              <a:rPr sz="2000" spc="-210" dirty="0">
                <a:solidFill>
                  <a:srgbClr val="990000"/>
                </a:solidFill>
                <a:latin typeface="Times New Roman"/>
                <a:cs typeface="Times New Roman"/>
              </a:rPr>
              <a:t> </a:t>
            </a:r>
            <a:r>
              <a:rPr sz="2000" spc="-5" dirty="0">
                <a:solidFill>
                  <a:srgbClr val="990000"/>
                </a:solidFill>
                <a:latin typeface="Times New Roman"/>
                <a:cs typeface="Times New Roman"/>
              </a:rPr>
              <a:t>forms  easily </a:t>
            </a:r>
            <a:r>
              <a:rPr sz="2000" dirty="0">
                <a:solidFill>
                  <a:srgbClr val="990000"/>
                </a:solidFill>
                <a:latin typeface="Times New Roman"/>
                <a:cs typeface="Times New Roman"/>
              </a:rPr>
              <a:t>removable phosphate </a:t>
            </a:r>
            <a:r>
              <a:rPr sz="2000" spc="-5" dirty="0">
                <a:solidFill>
                  <a:srgbClr val="990000"/>
                </a:solidFill>
                <a:latin typeface="Times New Roman"/>
                <a:cs typeface="Times New Roman"/>
              </a:rPr>
              <a:t>salts </a:t>
            </a:r>
            <a:r>
              <a:rPr sz="2000" dirty="0">
                <a:solidFill>
                  <a:srgbClr val="990000"/>
                </a:solidFill>
                <a:latin typeface="Times New Roman"/>
                <a:cs typeface="Times New Roman"/>
              </a:rPr>
              <a:t>of respective</a:t>
            </a:r>
            <a:r>
              <a:rPr sz="2000" spc="-150" dirty="0">
                <a:solidFill>
                  <a:srgbClr val="990000"/>
                </a:solidFill>
                <a:latin typeface="Times New Roman"/>
                <a:cs typeface="Times New Roman"/>
              </a:rPr>
              <a:t> </a:t>
            </a:r>
            <a:r>
              <a:rPr sz="2000" dirty="0">
                <a:solidFill>
                  <a:srgbClr val="990000"/>
                </a:solidFill>
                <a:latin typeface="Times New Roman"/>
                <a:cs typeface="Times New Roman"/>
              </a:rPr>
              <a:t>ions</a:t>
            </a:r>
            <a:endParaRPr sz="2000">
              <a:latin typeface="Times New Roman"/>
              <a:cs typeface="Times New Roman"/>
            </a:endParaRPr>
          </a:p>
        </p:txBody>
      </p:sp>
      <p:sp>
        <p:nvSpPr>
          <p:cNvPr id="5" name="object 5"/>
          <p:cNvSpPr txBox="1"/>
          <p:nvPr/>
        </p:nvSpPr>
        <p:spPr>
          <a:xfrm>
            <a:off x="637540" y="3834765"/>
            <a:ext cx="6474460" cy="330835"/>
          </a:xfrm>
          <a:prstGeom prst="rect">
            <a:avLst/>
          </a:prstGeom>
        </p:spPr>
        <p:txBody>
          <a:bodyPr vert="horz" wrap="square" lIns="0" tIns="12700" rIns="0" bIns="0" rtlCol="0">
            <a:spAutoFit/>
          </a:bodyPr>
          <a:lstStyle/>
          <a:p>
            <a:pPr marL="63500">
              <a:lnSpc>
                <a:spcPct val="100000"/>
              </a:lnSpc>
              <a:spcBef>
                <a:spcPts val="100"/>
              </a:spcBef>
              <a:tabLst>
                <a:tab pos="4344670" algn="l"/>
              </a:tabLst>
            </a:pPr>
            <a:r>
              <a:rPr sz="2000" dirty="0">
                <a:solidFill>
                  <a:srgbClr val="003399"/>
                </a:solidFill>
                <a:latin typeface="Times New Roman"/>
                <a:cs typeface="Times New Roman"/>
              </a:rPr>
              <a:t>3CaCl</a:t>
            </a:r>
            <a:r>
              <a:rPr sz="1950" baseline="-21367" dirty="0">
                <a:solidFill>
                  <a:srgbClr val="003399"/>
                </a:solidFill>
                <a:latin typeface="Times New Roman"/>
                <a:cs typeface="Times New Roman"/>
              </a:rPr>
              <a:t>2 </a:t>
            </a:r>
            <a:r>
              <a:rPr sz="2000" dirty="0">
                <a:solidFill>
                  <a:srgbClr val="003399"/>
                </a:solidFill>
                <a:latin typeface="Times New Roman"/>
                <a:cs typeface="Times New Roman"/>
              </a:rPr>
              <a:t>(Boiler water) +</a:t>
            </a:r>
            <a:r>
              <a:rPr sz="2000" spc="-20" dirty="0">
                <a:solidFill>
                  <a:srgbClr val="003399"/>
                </a:solidFill>
                <a:latin typeface="Times New Roman"/>
                <a:cs typeface="Times New Roman"/>
              </a:rPr>
              <a:t> </a:t>
            </a:r>
            <a:r>
              <a:rPr sz="2000" dirty="0">
                <a:solidFill>
                  <a:srgbClr val="003399"/>
                </a:solidFill>
                <a:latin typeface="Times New Roman"/>
                <a:cs typeface="Times New Roman"/>
              </a:rPr>
              <a:t>2</a:t>
            </a:r>
            <a:r>
              <a:rPr sz="2000" spc="10" dirty="0">
                <a:solidFill>
                  <a:srgbClr val="003399"/>
                </a:solidFill>
                <a:latin typeface="Times New Roman"/>
                <a:cs typeface="Times New Roman"/>
              </a:rPr>
              <a:t> </a:t>
            </a:r>
            <a:r>
              <a:rPr sz="2000" spc="5" dirty="0">
                <a:solidFill>
                  <a:srgbClr val="003399"/>
                </a:solidFill>
                <a:latin typeface="Times New Roman"/>
                <a:cs typeface="Times New Roman"/>
              </a:rPr>
              <a:t>Na</a:t>
            </a:r>
            <a:r>
              <a:rPr sz="1950" spc="7" baseline="-21367" dirty="0">
                <a:solidFill>
                  <a:srgbClr val="003399"/>
                </a:solidFill>
                <a:latin typeface="Times New Roman"/>
                <a:cs typeface="Times New Roman"/>
              </a:rPr>
              <a:t>3</a:t>
            </a:r>
            <a:r>
              <a:rPr sz="2000" spc="5" dirty="0">
                <a:solidFill>
                  <a:srgbClr val="003399"/>
                </a:solidFill>
                <a:latin typeface="Times New Roman"/>
                <a:cs typeface="Times New Roman"/>
              </a:rPr>
              <a:t>PO</a:t>
            </a:r>
            <a:r>
              <a:rPr sz="1950" spc="7" baseline="-21367" dirty="0">
                <a:solidFill>
                  <a:srgbClr val="003399"/>
                </a:solidFill>
                <a:latin typeface="Times New Roman"/>
                <a:cs typeface="Times New Roman"/>
              </a:rPr>
              <a:t>4	</a:t>
            </a:r>
            <a:r>
              <a:rPr sz="2000" spc="5" dirty="0">
                <a:solidFill>
                  <a:srgbClr val="003399"/>
                </a:solidFill>
                <a:latin typeface="Times New Roman"/>
                <a:cs typeface="Times New Roman"/>
              </a:rPr>
              <a:t>Ca</a:t>
            </a:r>
            <a:r>
              <a:rPr sz="1950" spc="7" baseline="-21367" dirty="0">
                <a:solidFill>
                  <a:srgbClr val="003399"/>
                </a:solidFill>
                <a:latin typeface="Times New Roman"/>
                <a:cs typeface="Times New Roman"/>
              </a:rPr>
              <a:t>3</a:t>
            </a:r>
            <a:r>
              <a:rPr sz="2000" spc="5" dirty="0">
                <a:solidFill>
                  <a:srgbClr val="003399"/>
                </a:solidFill>
                <a:latin typeface="Times New Roman"/>
                <a:cs typeface="Times New Roman"/>
              </a:rPr>
              <a:t>(PO</a:t>
            </a:r>
            <a:r>
              <a:rPr sz="1950" spc="7" baseline="-21367" dirty="0">
                <a:solidFill>
                  <a:srgbClr val="003399"/>
                </a:solidFill>
                <a:latin typeface="Times New Roman"/>
                <a:cs typeface="Times New Roman"/>
              </a:rPr>
              <a:t>4</a:t>
            </a:r>
            <a:r>
              <a:rPr sz="2000" spc="5" dirty="0">
                <a:solidFill>
                  <a:srgbClr val="003399"/>
                </a:solidFill>
                <a:latin typeface="Times New Roman"/>
                <a:cs typeface="Times New Roman"/>
              </a:rPr>
              <a:t>)</a:t>
            </a:r>
            <a:r>
              <a:rPr sz="1950" spc="7" baseline="-21367" dirty="0">
                <a:solidFill>
                  <a:srgbClr val="003399"/>
                </a:solidFill>
                <a:latin typeface="Times New Roman"/>
                <a:cs typeface="Times New Roman"/>
              </a:rPr>
              <a:t>2  </a:t>
            </a:r>
            <a:r>
              <a:rPr sz="2000" dirty="0">
                <a:solidFill>
                  <a:srgbClr val="003399"/>
                </a:solidFill>
                <a:latin typeface="Times New Roman"/>
                <a:cs typeface="Times New Roman"/>
              </a:rPr>
              <a:t>+ 6</a:t>
            </a:r>
            <a:r>
              <a:rPr sz="2000" spc="-100" dirty="0">
                <a:solidFill>
                  <a:srgbClr val="003399"/>
                </a:solidFill>
                <a:latin typeface="Times New Roman"/>
                <a:cs typeface="Times New Roman"/>
              </a:rPr>
              <a:t> </a:t>
            </a:r>
            <a:r>
              <a:rPr sz="2000" dirty="0">
                <a:solidFill>
                  <a:srgbClr val="003399"/>
                </a:solidFill>
                <a:latin typeface="Times New Roman"/>
                <a:cs typeface="Times New Roman"/>
              </a:rPr>
              <a:t>NaCl</a:t>
            </a:r>
            <a:endParaRPr sz="2000">
              <a:latin typeface="Times New Roman"/>
              <a:cs typeface="Times New Roman"/>
            </a:endParaRPr>
          </a:p>
        </p:txBody>
      </p:sp>
      <p:sp>
        <p:nvSpPr>
          <p:cNvPr id="6" name="object 6"/>
          <p:cNvSpPr/>
          <p:nvPr/>
        </p:nvSpPr>
        <p:spPr>
          <a:xfrm>
            <a:off x="4191000" y="4000500"/>
            <a:ext cx="647700" cy="76200"/>
          </a:xfrm>
          <a:custGeom>
            <a:avLst/>
            <a:gdLst/>
            <a:ahLst/>
            <a:cxnLst/>
            <a:rect l="l" t="t" r="r" b="b"/>
            <a:pathLst>
              <a:path w="647700" h="76200">
                <a:moveTo>
                  <a:pt x="571500" y="0"/>
                </a:moveTo>
                <a:lnTo>
                  <a:pt x="571500" y="76200"/>
                </a:lnTo>
                <a:lnTo>
                  <a:pt x="635000" y="44450"/>
                </a:lnTo>
                <a:lnTo>
                  <a:pt x="584200" y="44450"/>
                </a:lnTo>
                <a:lnTo>
                  <a:pt x="584200" y="31750"/>
                </a:lnTo>
                <a:lnTo>
                  <a:pt x="635000" y="31750"/>
                </a:lnTo>
                <a:lnTo>
                  <a:pt x="571500" y="0"/>
                </a:lnTo>
                <a:close/>
              </a:path>
              <a:path w="647700" h="76200">
                <a:moveTo>
                  <a:pt x="571500" y="31750"/>
                </a:moveTo>
                <a:lnTo>
                  <a:pt x="0" y="31750"/>
                </a:lnTo>
                <a:lnTo>
                  <a:pt x="0" y="44450"/>
                </a:lnTo>
                <a:lnTo>
                  <a:pt x="571500" y="44450"/>
                </a:lnTo>
                <a:lnTo>
                  <a:pt x="571500" y="31750"/>
                </a:lnTo>
                <a:close/>
              </a:path>
              <a:path w="647700" h="76200">
                <a:moveTo>
                  <a:pt x="635000" y="31750"/>
                </a:moveTo>
                <a:lnTo>
                  <a:pt x="584200" y="31750"/>
                </a:lnTo>
                <a:lnTo>
                  <a:pt x="584200" y="44450"/>
                </a:lnTo>
                <a:lnTo>
                  <a:pt x="635000" y="44450"/>
                </a:lnTo>
                <a:lnTo>
                  <a:pt x="647700" y="38100"/>
                </a:lnTo>
                <a:lnTo>
                  <a:pt x="635000" y="31750"/>
                </a:lnTo>
                <a:close/>
              </a:path>
            </a:pathLst>
          </a:custGeom>
          <a:solidFill>
            <a:srgbClr val="000000"/>
          </a:solidFill>
        </p:spPr>
        <p:txBody>
          <a:bodyPr wrap="square" lIns="0" tIns="0" rIns="0" bIns="0" rtlCol="0"/>
          <a:lstStyle/>
          <a:p>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0" y="1600200"/>
            <a:ext cx="3601720" cy="1630680"/>
          </a:xfrm>
          <a:prstGeom prst="rect">
            <a:avLst/>
          </a:prstGeom>
          <a:solidFill>
            <a:srgbClr val="FF6699"/>
          </a:solidFill>
          <a:ln w="9144">
            <a:solidFill>
              <a:srgbClr val="003399"/>
            </a:solidFill>
          </a:ln>
        </p:spPr>
        <p:txBody>
          <a:bodyPr vert="horz" wrap="square" lIns="0" tIns="37465" rIns="0" bIns="0" rtlCol="0">
            <a:spAutoFit/>
          </a:bodyPr>
          <a:lstStyle/>
          <a:p>
            <a:pPr marL="91440">
              <a:lnSpc>
                <a:spcPct val="100000"/>
              </a:lnSpc>
              <a:spcBef>
                <a:spcPts val="295"/>
              </a:spcBef>
            </a:pPr>
            <a:r>
              <a:rPr sz="2000" spc="5" dirty="0">
                <a:latin typeface="Times New Roman"/>
                <a:cs typeface="Times New Roman"/>
              </a:rPr>
              <a:t>NaH</a:t>
            </a:r>
            <a:r>
              <a:rPr sz="1950" spc="7" baseline="-21367" dirty="0">
                <a:latin typeface="Times New Roman"/>
                <a:cs typeface="Times New Roman"/>
              </a:rPr>
              <a:t>2</a:t>
            </a:r>
            <a:r>
              <a:rPr sz="2000" spc="5" dirty="0">
                <a:latin typeface="Times New Roman"/>
                <a:cs typeface="Times New Roman"/>
              </a:rPr>
              <a:t>PO</a:t>
            </a:r>
            <a:r>
              <a:rPr sz="1950" spc="7" baseline="-21367" dirty="0">
                <a:latin typeface="Times New Roman"/>
                <a:cs typeface="Times New Roman"/>
              </a:rPr>
              <a:t>4 </a:t>
            </a:r>
            <a:r>
              <a:rPr sz="2000" dirty="0">
                <a:latin typeface="Times New Roman"/>
                <a:cs typeface="Times New Roman"/>
              </a:rPr>
              <a:t>(acidic in nature)</a:t>
            </a:r>
            <a:r>
              <a:rPr sz="2000" spc="-280" dirty="0">
                <a:latin typeface="Times New Roman"/>
                <a:cs typeface="Times New Roman"/>
              </a:rPr>
              <a:t> </a:t>
            </a:r>
            <a:r>
              <a:rPr sz="2000" dirty="0">
                <a:latin typeface="Times New Roman"/>
                <a:cs typeface="Times New Roman"/>
              </a:rPr>
              <a:t>,</a:t>
            </a:r>
            <a:endParaRPr sz="2000">
              <a:latin typeface="Times New Roman"/>
              <a:cs typeface="Times New Roman"/>
            </a:endParaRPr>
          </a:p>
          <a:p>
            <a:pPr marL="91440" marR="518795">
              <a:lnSpc>
                <a:spcPct val="100000"/>
              </a:lnSpc>
              <a:spcBef>
                <a:spcPts val="1200"/>
              </a:spcBef>
            </a:pPr>
            <a:r>
              <a:rPr sz="2000" spc="5" dirty="0">
                <a:latin typeface="Times New Roman"/>
                <a:cs typeface="Times New Roman"/>
              </a:rPr>
              <a:t>Na</a:t>
            </a:r>
            <a:r>
              <a:rPr sz="1950" spc="7" baseline="-21367" dirty="0">
                <a:latin typeface="Times New Roman"/>
                <a:cs typeface="Times New Roman"/>
              </a:rPr>
              <a:t>2</a:t>
            </a:r>
            <a:r>
              <a:rPr sz="2000" spc="5" dirty="0">
                <a:latin typeface="Times New Roman"/>
                <a:cs typeface="Times New Roman"/>
              </a:rPr>
              <a:t>HPO</a:t>
            </a:r>
            <a:r>
              <a:rPr sz="1950" spc="7" baseline="-21367" dirty="0">
                <a:latin typeface="Times New Roman"/>
                <a:cs typeface="Times New Roman"/>
              </a:rPr>
              <a:t>4 </a:t>
            </a:r>
            <a:r>
              <a:rPr sz="2000" dirty="0">
                <a:latin typeface="Times New Roman"/>
                <a:cs typeface="Times New Roman"/>
              </a:rPr>
              <a:t>(weakly alkaline in  nature),</a:t>
            </a:r>
            <a:endParaRPr sz="2000">
              <a:latin typeface="Times New Roman"/>
              <a:cs typeface="Times New Roman"/>
            </a:endParaRPr>
          </a:p>
          <a:p>
            <a:pPr marL="91440">
              <a:lnSpc>
                <a:spcPct val="100000"/>
              </a:lnSpc>
              <a:spcBef>
                <a:spcPts val="1200"/>
              </a:spcBef>
            </a:pPr>
            <a:r>
              <a:rPr sz="2000" spc="5" dirty="0">
                <a:latin typeface="Times New Roman"/>
                <a:cs typeface="Times New Roman"/>
              </a:rPr>
              <a:t>Na</a:t>
            </a:r>
            <a:r>
              <a:rPr sz="1950" spc="7" baseline="-21367" dirty="0">
                <a:latin typeface="Times New Roman"/>
                <a:cs typeface="Times New Roman"/>
              </a:rPr>
              <a:t>3</a:t>
            </a:r>
            <a:r>
              <a:rPr sz="2000" spc="5" dirty="0">
                <a:latin typeface="Times New Roman"/>
                <a:cs typeface="Times New Roman"/>
              </a:rPr>
              <a:t>PO</a:t>
            </a:r>
            <a:r>
              <a:rPr sz="1950" spc="7" baseline="-21367" dirty="0">
                <a:latin typeface="Times New Roman"/>
                <a:cs typeface="Times New Roman"/>
              </a:rPr>
              <a:t>4</a:t>
            </a:r>
            <a:r>
              <a:rPr sz="1950" spc="502" baseline="-21367" dirty="0">
                <a:latin typeface="Times New Roman"/>
                <a:cs typeface="Times New Roman"/>
              </a:rPr>
              <a:t> </a:t>
            </a:r>
            <a:r>
              <a:rPr sz="2000" dirty="0">
                <a:latin typeface="Times New Roman"/>
                <a:cs typeface="Times New Roman"/>
              </a:rPr>
              <a:t>(Alkaline in</a:t>
            </a:r>
            <a:r>
              <a:rPr sz="2000" spc="-75" dirty="0">
                <a:latin typeface="Times New Roman"/>
                <a:cs typeface="Times New Roman"/>
              </a:rPr>
              <a:t> </a:t>
            </a:r>
            <a:r>
              <a:rPr sz="2000" dirty="0">
                <a:latin typeface="Times New Roman"/>
                <a:cs typeface="Times New Roman"/>
              </a:rPr>
              <a:t>nature)</a:t>
            </a:r>
            <a:endParaRPr sz="2000">
              <a:latin typeface="Times New Roman"/>
              <a:cs typeface="Times New Roman"/>
            </a:endParaRPr>
          </a:p>
        </p:txBody>
      </p:sp>
      <p:sp>
        <p:nvSpPr>
          <p:cNvPr id="3" name="object 3"/>
          <p:cNvSpPr txBox="1"/>
          <p:nvPr/>
        </p:nvSpPr>
        <p:spPr>
          <a:xfrm>
            <a:off x="611123" y="896111"/>
            <a:ext cx="7632700" cy="707390"/>
          </a:xfrm>
          <a:prstGeom prst="rect">
            <a:avLst/>
          </a:prstGeom>
          <a:solidFill>
            <a:srgbClr val="99FF66"/>
          </a:solidFill>
        </p:spPr>
        <p:txBody>
          <a:bodyPr vert="horz" wrap="square" lIns="0" tIns="36195" rIns="0" bIns="0" rtlCol="0">
            <a:spAutoFit/>
          </a:bodyPr>
          <a:lstStyle/>
          <a:p>
            <a:pPr marL="91440">
              <a:lnSpc>
                <a:spcPct val="100000"/>
              </a:lnSpc>
              <a:spcBef>
                <a:spcPts val="285"/>
              </a:spcBef>
            </a:pPr>
            <a:r>
              <a:rPr sz="2000" spc="-5" dirty="0">
                <a:solidFill>
                  <a:srgbClr val="003399"/>
                </a:solidFill>
                <a:latin typeface="Times New Roman"/>
                <a:cs typeface="Times New Roman"/>
              </a:rPr>
              <a:t>Calcium </a:t>
            </a:r>
            <a:r>
              <a:rPr sz="2000" dirty="0">
                <a:solidFill>
                  <a:srgbClr val="003399"/>
                </a:solidFill>
                <a:latin typeface="Times New Roman"/>
                <a:cs typeface="Times New Roman"/>
              </a:rPr>
              <a:t>can not be precipitated below a pH = 9.5, hence the </a:t>
            </a:r>
            <a:r>
              <a:rPr sz="2000" spc="-5" dirty="0">
                <a:solidFill>
                  <a:srgbClr val="003399"/>
                </a:solidFill>
                <a:latin typeface="Times New Roman"/>
                <a:cs typeface="Times New Roman"/>
              </a:rPr>
              <a:t>selection</a:t>
            </a:r>
            <a:r>
              <a:rPr sz="2000" spc="-185" dirty="0">
                <a:solidFill>
                  <a:srgbClr val="003399"/>
                </a:solidFill>
                <a:latin typeface="Times New Roman"/>
                <a:cs typeface="Times New Roman"/>
              </a:rPr>
              <a:t> </a:t>
            </a:r>
            <a:r>
              <a:rPr sz="2000" dirty="0">
                <a:solidFill>
                  <a:srgbClr val="003399"/>
                </a:solidFill>
                <a:latin typeface="Times New Roman"/>
                <a:cs typeface="Times New Roman"/>
              </a:rPr>
              <a:t>of</a:t>
            </a:r>
            <a:endParaRPr sz="2000">
              <a:latin typeface="Times New Roman"/>
              <a:cs typeface="Times New Roman"/>
            </a:endParaRPr>
          </a:p>
          <a:p>
            <a:pPr marL="91440">
              <a:lnSpc>
                <a:spcPct val="100000"/>
              </a:lnSpc>
              <a:spcBef>
                <a:spcPts val="5"/>
              </a:spcBef>
            </a:pPr>
            <a:r>
              <a:rPr sz="2000" dirty="0">
                <a:solidFill>
                  <a:srgbClr val="003399"/>
                </a:solidFill>
                <a:latin typeface="Times New Roman"/>
                <a:cs typeface="Times New Roman"/>
              </a:rPr>
              <a:t>phosphate has to be based on the pH of the boiler feed</a:t>
            </a:r>
            <a:r>
              <a:rPr sz="2000" spc="-170" dirty="0">
                <a:solidFill>
                  <a:srgbClr val="003399"/>
                </a:solidFill>
                <a:latin typeface="Times New Roman"/>
                <a:cs typeface="Times New Roman"/>
              </a:rPr>
              <a:t> </a:t>
            </a:r>
            <a:r>
              <a:rPr sz="2000" spc="-20" dirty="0">
                <a:solidFill>
                  <a:srgbClr val="003399"/>
                </a:solidFill>
                <a:latin typeface="Times New Roman"/>
                <a:cs typeface="Times New Roman"/>
              </a:rPr>
              <a:t>water.</a:t>
            </a:r>
            <a:endParaRPr sz="2000">
              <a:latin typeface="Times New Roman"/>
              <a:cs typeface="Times New Roman"/>
            </a:endParaRPr>
          </a:p>
        </p:txBody>
      </p:sp>
      <p:sp>
        <p:nvSpPr>
          <p:cNvPr id="4" name="object 4"/>
          <p:cNvSpPr txBox="1"/>
          <p:nvPr/>
        </p:nvSpPr>
        <p:spPr>
          <a:xfrm>
            <a:off x="2627376" y="333756"/>
            <a:ext cx="4608830" cy="399415"/>
          </a:xfrm>
          <a:prstGeom prst="rect">
            <a:avLst/>
          </a:prstGeom>
          <a:ln w="9144">
            <a:solidFill>
              <a:srgbClr val="003399"/>
            </a:solidFill>
          </a:ln>
        </p:spPr>
        <p:txBody>
          <a:bodyPr vert="horz" wrap="square" lIns="0" tIns="36830" rIns="0" bIns="0" rtlCol="0">
            <a:spAutoFit/>
          </a:bodyPr>
          <a:lstStyle/>
          <a:p>
            <a:pPr algn="ctr">
              <a:lnSpc>
                <a:spcPct val="100000"/>
              </a:lnSpc>
              <a:spcBef>
                <a:spcPts val="290"/>
              </a:spcBef>
            </a:pPr>
            <a:r>
              <a:rPr sz="2000" spc="-5" dirty="0">
                <a:solidFill>
                  <a:srgbClr val="FF3300"/>
                </a:solidFill>
                <a:latin typeface="Times New Roman"/>
                <a:cs typeface="Times New Roman"/>
              </a:rPr>
              <a:t>Selection </a:t>
            </a:r>
            <a:r>
              <a:rPr sz="2000" dirty="0">
                <a:solidFill>
                  <a:srgbClr val="FF3300"/>
                </a:solidFill>
                <a:latin typeface="Times New Roman"/>
                <a:cs typeface="Times New Roman"/>
              </a:rPr>
              <a:t>of Phosphate</a:t>
            </a:r>
            <a:r>
              <a:rPr sz="2000" spc="-70" dirty="0">
                <a:solidFill>
                  <a:srgbClr val="FF3300"/>
                </a:solidFill>
                <a:latin typeface="Times New Roman"/>
                <a:cs typeface="Times New Roman"/>
              </a:rPr>
              <a:t> </a:t>
            </a:r>
            <a:r>
              <a:rPr sz="2000" dirty="0">
                <a:solidFill>
                  <a:srgbClr val="FF3300"/>
                </a:solidFill>
                <a:latin typeface="Times New Roman"/>
                <a:cs typeface="Times New Roman"/>
              </a:rPr>
              <a:t>compound</a:t>
            </a:r>
            <a:endParaRPr sz="2000">
              <a:latin typeface="Times New Roman"/>
              <a:cs typeface="Times New Roman"/>
            </a:endParaRPr>
          </a:p>
        </p:txBody>
      </p:sp>
      <p:sp>
        <p:nvSpPr>
          <p:cNvPr id="5" name="object 5"/>
          <p:cNvSpPr txBox="1"/>
          <p:nvPr/>
        </p:nvSpPr>
        <p:spPr>
          <a:xfrm>
            <a:off x="685800" y="3276600"/>
            <a:ext cx="3429000" cy="401320"/>
          </a:xfrm>
          <a:prstGeom prst="rect">
            <a:avLst/>
          </a:prstGeom>
          <a:solidFill>
            <a:srgbClr val="99CC00"/>
          </a:solidFill>
        </p:spPr>
        <p:txBody>
          <a:bodyPr vert="horz" wrap="square" lIns="0" tIns="37465" rIns="0" bIns="0" rtlCol="0">
            <a:spAutoFit/>
          </a:bodyPr>
          <a:lstStyle/>
          <a:p>
            <a:pPr marL="91440">
              <a:lnSpc>
                <a:spcPct val="100000"/>
              </a:lnSpc>
              <a:spcBef>
                <a:spcPts val="295"/>
              </a:spcBef>
            </a:pPr>
            <a:r>
              <a:rPr sz="2000" dirty="0">
                <a:latin typeface="Times New Roman"/>
                <a:cs typeface="Times New Roman"/>
              </a:rPr>
              <a:t>2. Carbonate</a:t>
            </a:r>
            <a:r>
              <a:rPr sz="2000" spc="-40" dirty="0">
                <a:latin typeface="Times New Roman"/>
                <a:cs typeface="Times New Roman"/>
              </a:rPr>
              <a:t> </a:t>
            </a:r>
            <a:r>
              <a:rPr sz="2000" dirty="0">
                <a:latin typeface="Times New Roman"/>
                <a:cs typeface="Times New Roman"/>
              </a:rPr>
              <a:t>conditioning</a:t>
            </a:r>
            <a:endParaRPr sz="2000">
              <a:latin typeface="Times New Roman"/>
              <a:cs typeface="Times New Roman"/>
            </a:endParaRPr>
          </a:p>
        </p:txBody>
      </p:sp>
      <p:sp>
        <p:nvSpPr>
          <p:cNvPr id="6" name="object 6"/>
          <p:cNvSpPr txBox="1"/>
          <p:nvPr/>
        </p:nvSpPr>
        <p:spPr>
          <a:xfrm>
            <a:off x="724916" y="3806190"/>
            <a:ext cx="6029325" cy="330835"/>
          </a:xfrm>
          <a:prstGeom prst="rect">
            <a:avLst/>
          </a:prstGeom>
        </p:spPr>
        <p:txBody>
          <a:bodyPr vert="horz" wrap="square" lIns="0" tIns="12700" rIns="0" bIns="0" rtlCol="0">
            <a:spAutoFit/>
          </a:bodyPr>
          <a:lstStyle/>
          <a:p>
            <a:pPr marL="50800">
              <a:lnSpc>
                <a:spcPct val="100000"/>
              </a:lnSpc>
              <a:spcBef>
                <a:spcPts val="100"/>
              </a:spcBef>
              <a:tabLst>
                <a:tab pos="4129404" algn="l"/>
                <a:tab pos="4977130" algn="l"/>
              </a:tabLst>
            </a:pPr>
            <a:r>
              <a:rPr sz="2000" dirty="0">
                <a:solidFill>
                  <a:srgbClr val="003399"/>
                </a:solidFill>
                <a:latin typeface="Times New Roman"/>
                <a:cs typeface="Times New Roman"/>
              </a:rPr>
              <a:t>CaSO</a:t>
            </a:r>
            <a:r>
              <a:rPr sz="1950" baseline="-21367" dirty="0">
                <a:solidFill>
                  <a:srgbClr val="003399"/>
                </a:solidFill>
                <a:latin typeface="Times New Roman"/>
                <a:cs typeface="Times New Roman"/>
              </a:rPr>
              <a:t>4 </a:t>
            </a:r>
            <a:r>
              <a:rPr sz="2000" dirty="0">
                <a:solidFill>
                  <a:srgbClr val="003399"/>
                </a:solidFill>
                <a:latin typeface="Times New Roman"/>
                <a:cs typeface="Times New Roman"/>
              </a:rPr>
              <a:t>(Boiler water)</a:t>
            </a:r>
            <a:r>
              <a:rPr sz="2000" spc="-25" dirty="0">
                <a:solidFill>
                  <a:srgbClr val="003399"/>
                </a:solidFill>
                <a:latin typeface="Times New Roman"/>
                <a:cs typeface="Times New Roman"/>
              </a:rPr>
              <a:t> </a:t>
            </a:r>
            <a:r>
              <a:rPr sz="2000" dirty="0">
                <a:solidFill>
                  <a:srgbClr val="003399"/>
                </a:solidFill>
                <a:latin typeface="Times New Roman"/>
                <a:cs typeface="Times New Roman"/>
              </a:rPr>
              <a:t>+</a:t>
            </a:r>
            <a:r>
              <a:rPr sz="2000" spc="10" dirty="0">
                <a:solidFill>
                  <a:srgbClr val="003399"/>
                </a:solidFill>
                <a:latin typeface="Times New Roman"/>
                <a:cs typeface="Times New Roman"/>
              </a:rPr>
              <a:t> </a:t>
            </a:r>
            <a:r>
              <a:rPr sz="2000" spc="5" dirty="0">
                <a:solidFill>
                  <a:srgbClr val="003399"/>
                </a:solidFill>
                <a:latin typeface="Times New Roman"/>
                <a:cs typeface="Times New Roman"/>
              </a:rPr>
              <a:t>Na</a:t>
            </a:r>
            <a:r>
              <a:rPr sz="1950" spc="7" baseline="-21367" dirty="0">
                <a:solidFill>
                  <a:srgbClr val="003399"/>
                </a:solidFill>
                <a:latin typeface="Times New Roman"/>
                <a:cs typeface="Times New Roman"/>
              </a:rPr>
              <a:t>2</a:t>
            </a:r>
            <a:r>
              <a:rPr sz="2000" spc="5" dirty="0">
                <a:solidFill>
                  <a:srgbClr val="003399"/>
                </a:solidFill>
                <a:latin typeface="Times New Roman"/>
                <a:cs typeface="Times New Roman"/>
              </a:rPr>
              <a:t>CO</a:t>
            </a:r>
            <a:r>
              <a:rPr sz="1950" spc="7" baseline="-21367" dirty="0">
                <a:solidFill>
                  <a:srgbClr val="003399"/>
                </a:solidFill>
                <a:latin typeface="Times New Roman"/>
                <a:cs typeface="Times New Roman"/>
              </a:rPr>
              <a:t>3	</a:t>
            </a:r>
            <a:r>
              <a:rPr sz="2000" dirty="0">
                <a:solidFill>
                  <a:srgbClr val="003399"/>
                </a:solidFill>
                <a:latin typeface="Times New Roman"/>
                <a:cs typeface="Times New Roman"/>
              </a:rPr>
              <a:t>CaCO</a:t>
            </a:r>
            <a:r>
              <a:rPr sz="1950" baseline="-21367" dirty="0">
                <a:solidFill>
                  <a:srgbClr val="003399"/>
                </a:solidFill>
                <a:latin typeface="Times New Roman"/>
                <a:cs typeface="Times New Roman"/>
              </a:rPr>
              <a:t>3	</a:t>
            </a:r>
            <a:r>
              <a:rPr sz="2000" dirty="0">
                <a:solidFill>
                  <a:srgbClr val="003399"/>
                </a:solidFill>
                <a:latin typeface="Times New Roman"/>
                <a:cs typeface="Times New Roman"/>
              </a:rPr>
              <a:t>+</a:t>
            </a:r>
            <a:r>
              <a:rPr sz="2000" spc="-40" dirty="0">
                <a:solidFill>
                  <a:srgbClr val="003399"/>
                </a:solidFill>
                <a:latin typeface="Times New Roman"/>
                <a:cs typeface="Times New Roman"/>
              </a:rPr>
              <a:t> </a:t>
            </a:r>
            <a:r>
              <a:rPr sz="2000" spc="5" dirty="0">
                <a:solidFill>
                  <a:srgbClr val="003399"/>
                </a:solidFill>
                <a:latin typeface="Times New Roman"/>
                <a:cs typeface="Times New Roman"/>
              </a:rPr>
              <a:t>Na</a:t>
            </a:r>
            <a:r>
              <a:rPr sz="1950" spc="7" baseline="-21367" dirty="0">
                <a:solidFill>
                  <a:srgbClr val="003399"/>
                </a:solidFill>
                <a:latin typeface="Times New Roman"/>
                <a:cs typeface="Times New Roman"/>
              </a:rPr>
              <a:t>2</a:t>
            </a:r>
            <a:r>
              <a:rPr sz="2000" spc="5" dirty="0">
                <a:solidFill>
                  <a:srgbClr val="003399"/>
                </a:solidFill>
                <a:latin typeface="Times New Roman"/>
                <a:cs typeface="Times New Roman"/>
              </a:rPr>
              <a:t>SO</a:t>
            </a:r>
            <a:r>
              <a:rPr sz="1950" spc="7" baseline="-21367" dirty="0">
                <a:solidFill>
                  <a:srgbClr val="003399"/>
                </a:solidFill>
                <a:latin typeface="Times New Roman"/>
                <a:cs typeface="Times New Roman"/>
              </a:rPr>
              <a:t>4</a:t>
            </a:r>
            <a:endParaRPr sz="1950" baseline="-21367">
              <a:latin typeface="Times New Roman"/>
              <a:cs typeface="Times New Roman"/>
            </a:endParaRPr>
          </a:p>
        </p:txBody>
      </p:sp>
      <p:sp>
        <p:nvSpPr>
          <p:cNvPr id="7" name="object 7"/>
          <p:cNvSpPr/>
          <p:nvPr/>
        </p:nvSpPr>
        <p:spPr>
          <a:xfrm>
            <a:off x="4267200" y="3962400"/>
            <a:ext cx="431800" cy="0"/>
          </a:xfrm>
          <a:custGeom>
            <a:avLst/>
            <a:gdLst/>
            <a:ahLst/>
            <a:cxnLst/>
            <a:rect l="l" t="t" r="r" b="b"/>
            <a:pathLst>
              <a:path w="431800">
                <a:moveTo>
                  <a:pt x="0" y="0"/>
                </a:moveTo>
                <a:lnTo>
                  <a:pt x="431291" y="0"/>
                </a:lnTo>
              </a:path>
            </a:pathLst>
          </a:custGeom>
          <a:ln w="9144">
            <a:solidFill>
              <a:srgbClr val="000000"/>
            </a:solidFill>
          </a:ln>
        </p:spPr>
        <p:txBody>
          <a:bodyPr wrap="square" lIns="0" tIns="0" rIns="0" bIns="0" rtlCol="0"/>
          <a:lstStyle/>
          <a:p>
            <a:endParaRPr/>
          </a:p>
        </p:txBody>
      </p:sp>
      <p:sp>
        <p:nvSpPr>
          <p:cNvPr id="8" name="object 8"/>
          <p:cNvSpPr/>
          <p:nvPr/>
        </p:nvSpPr>
        <p:spPr>
          <a:xfrm>
            <a:off x="4267200" y="4038600"/>
            <a:ext cx="431800" cy="0"/>
          </a:xfrm>
          <a:custGeom>
            <a:avLst/>
            <a:gdLst/>
            <a:ahLst/>
            <a:cxnLst/>
            <a:rect l="l" t="t" r="r" b="b"/>
            <a:pathLst>
              <a:path w="431800">
                <a:moveTo>
                  <a:pt x="0" y="0"/>
                </a:moveTo>
                <a:lnTo>
                  <a:pt x="431291" y="0"/>
                </a:lnTo>
              </a:path>
            </a:pathLst>
          </a:custGeom>
          <a:ln w="9144">
            <a:solidFill>
              <a:srgbClr val="000000"/>
            </a:solidFill>
          </a:ln>
        </p:spPr>
        <p:txBody>
          <a:bodyPr wrap="square" lIns="0" tIns="0" rIns="0" bIns="0" rtlCol="0"/>
          <a:lstStyle/>
          <a:p>
            <a:endParaRPr/>
          </a:p>
        </p:txBody>
      </p:sp>
      <p:sp>
        <p:nvSpPr>
          <p:cNvPr id="9" name="object 9"/>
          <p:cNvSpPr txBox="1"/>
          <p:nvPr/>
        </p:nvSpPr>
        <p:spPr>
          <a:xfrm>
            <a:off x="1066800" y="4495800"/>
            <a:ext cx="6320155" cy="401320"/>
          </a:xfrm>
          <a:prstGeom prst="rect">
            <a:avLst/>
          </a:prstGeom>
          <a:solidFill>
            <a:srgbClr val="FF6699"/>
          </a:solidFill>
        </p:spPr>
        <p:txBody>
          <a:bodyPr vert="horz" wrap="square" lIns="0" tIns="38100" rIns="0" bIns="0" rtlCol="0">
            <a:spAutoFit/>
          </a:bodyPr>
          <a:lstStyle/>
          <a:p>
            <a:pPr marL="91440">
              <a:lnSpc>
                <a:spcPct val="100000"/>
              </a:lnSpc>
              <a:spcBef>
                <a:spcPts val="300"/>
              </a:spcBef>
            </a:pPr>
            <a:r>
              <a:rPr sz="2000" dirty="0">
                <a:latin typeface="Times New Roman"/>
                <a:cs typeface="Times New Roman"/>
              </a:rPr>
              <a:t>Caution: Excess </a:t>
            </a:r>
            <a:r>
              <a:rPr sz="2000" spc="5" dirty="0">
                <a:latin typeface="Times New Roman"/>
                <a:cs typeface="Times New Roman"/>
              </a:rPr>
              <a:t>Na</a:t>
            </a:r>
            <a:r>
              <a:rPr sz="1950" spc="7" baseline="-21367" dirty="0">
                <a:latin typeface="Times New Roman"/>
                <a:cs typeface="Times New Roman"/>
              </a:rPr>
              <a:t>2</a:t>
            </a:r>
            <a:r>
              <a:rPr sz="2000" spc="5" dirty="0">
                <a:latin typeface="Times New Roman"/>
                <a:cs typeface="Times New Roman"/>
              </a:rPr>
              <a:t>CO</a:t>
            </a:r>
            <a:r>
              <a:rPr sz="1950" spc="7" baseline="-21367" dirty="0">
                <a:latin typeface="Times New Roman"/>
                <a:cs typeface="Times New Roman"/>
              </a:rPr>
              <a:t>3 </a:t>
            </a:r>
            <a:r>
              <a:rPr sz="2000" dirty="0">
                <a:latin typeface="Times New Roman"/>
                <a:cs typeface="Times New Roman"/>
              </a:rPr>
              <a:t>can result in caustic</a:t>
            </a:r>
            <a:r>
              <a:rPr sz="2000" spc="-330" dirty="0">
                <a:latin typeface="Times New Roman"/>
                <a:cs typeface="Times New Roman"/>
              </a:rPr>
              <a:t> </a:t>
            </a:r>
            <a:r>
              <a:rPr sz="2000" spc="-5" dirty="0">
                <a:latin typeface="Times New Roman"/>
                <a:cs typeface="Times New Roman"/>
              </a:rPr>
              <a:t>embrittlement</a:t>
            </a:r>
            <a:endParaRPr sz="2000">
              <a:latin typeface="Times New Roman"/>
              <a:cs typeface="Times New Roman"/>
            </a:endParaRPr>
          </a:p>
        </p:txBody>
      </p:sp>
      <p:sp>
        <p:nvSpPr>
          <p:cNvPr id="10" name="object 10"/>
          <p:cNvSpPr txBox="1"/>
          <p:nvPr/>
        </p:nvSpPr>
        <p:spPr>
          <a:xfrm>
            <a:off x="8301228" y="6298159"/>
            <a:ext cx="332740" cy="335915"/>
          </a:xfrm>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z="2000" dirty="0">
                <a:latin typeface="Times New Roman"/>
                <a:cs typeface="Times New Roman"/>
              </a:rPr>
              <a:pPr marL="38100">
                <a:lnSpc>
                  <a:spcPct val="100000"/>
                </a:lnSpc>
                <a:spcBef>
                  <a:spcPts val="105"/>
                </a:spcBef>
              </a:pPr>
              <a:t>63</a:t>
            </a:fld>
            <a:endParaRPr sz="2000">
              <a:latin typeface="Times New Roman"/>
              <a:cs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7868" y="1008888"/>
            <a:ext cx="3385185" cy="401320"/>
          </a:xfrm>
          <a:prstGeom prst="rect">
            <a:avLst/>
          </a:prstGeom>
          <a:solidFill>
            <a:srgbClr val="99CC00"/>
          </a:solidFill>
        </p:spPr>
        <p:txBody>
          <a:bodyPr vert="horz" wrap="square" lIns="0" tIns="37465" rIns="0" bIns="0" rtlCol="0">
            <a:spAutoFit/>
          </a:bodyPr>
          <a:lstStyle/>
          <a:p>
            <a:pPr marL="91440">
              <a:lnSpc>
                <a:spcPct val="100000"/>
              </a:lnSpc>
              <a:spcBef>
                <a:spcPts val="295"/>
              </a:spcBef>
            </a:pPr>
            <a:r>
              <a:rPr sz="2000" dirty="0">
                <a:latin typeface="Times New Roman"/>
                <a:cs typeface="Times New Roman"/>
              </a:rPr>
              <a:t>3. Calgon</a:t>
            </a:r>
            <a:r>
              <a:rPr sz="2000" spc="-35" dirty="0">
                <a:latin typeface="Times New Roman"/>
                <a:cs typeface="Times New Roman"/>
              </a:rPr>
              <a:t> </a:t>
            </a:r>
            <a:r>
              <a:rPr sz="2000" dirty="0">
                <a:latin typeface="Times New Roman"/>
                <a:cs typeface="Times New Roman"/>
              </a:rPr>
              <a:t>conditioning</a:t>
            </a:r>
            <a:endParaRPr sz="2000">
              <a:latin typeface="Times New Roman"/>
              <a:cs typeface="Times New Roman"/>
            </a:endParaRPr>
          </a:p>
        </p:txBody>
      </p:sp>
      <p:sp>
        <p:nvSpPr>
          <p:cNvPr id="3" name="object 3"/>
          <p:cNvSpPr txBox="1"/>
          <p:nvPr/>
        </p:nvSpPr>
        <p:spPr>
          <a:xfrm>
            <a:off x="383540" y="3131159"/>
            <a:ext cx="4164965" cy="1051560"/>
          </a:xfrm>
          <a:prstGeom prst="rect">
            <a:avLst/>
          </a:prstGeom>
        </p:spPr>
        <p:txBody>
          <a:bodyPr vert="horz" wrap="square" lIns="0" tIns="68580" rIns="0" bIns="0" rtlCol="0">
            <a:spAutoFit/>
          </a:bodyPr>
          <a:lstStyle/>
          <a:p>
            <a:pPr marL="12700">
              <a:lnSpc>
                <a:spcPct val="100000"/>
              </a:lnSpc>
              <a:spcBef>
                <a:spcPts val="540"/>
              </a:spcBef>
            </a:pPr>
            <a:r>
              <a:rPr sz="2000" dirty="0">
                <a:solidFill>
                  <a:srgbClr val="003399"/>
                </a:solidFill>
                <a:latin typeface="Times New Roman"/>
                <a:cs typeface="Times New Roman"/>
              </a:rPr>
              <a:t>2CaSO4 (Boiler water) +</a:t>
            </a:r>
            <a:r>
              <a:rPr sz="2000" spc="-95" dirty="0">
                <a:solidFill>
                  <a:srgbClr val="003399"/>
                </a:solidFill>
                <a:latin typeface="Times New Roman"/>
                <a:cs typeface="Times New Roman"/>
              </a:rPr>
              <a:t> </a:t>
            </a:r>
            <a:r>
              <a:rPr sz="2000" dirty="0">
                <a:solidFill>
                  <a:srgbClr val="003399"/>
                </a:solidFill>
                <a:latin typeface="Times New Roman"/>
                <a:cs typeface="Times New Roman"/>
              </a:rPr>
              <a:t>[Na4P6O18]2-</a:t>
            </a:r>
            <a:endParaRPr sz="2000">
              <a:latin typeface="Times New Roman"/>
              <a:cs typeface="Times New Roman"/>
            </a:endParaRPr>
          </a:p>
          <a:p>
            <a:pPr marL="247650" marR="3048635">
              <a:lnSpc>
                <a:spcPct val="100000"/>
              </a:lnSpc>
              <a:spcBef>
                <a:spcPts val="439"/>
              </a:spcBef>
            </a:pPr>
            <a:r>
              <a:rPr sz="2000" dirty="0">
                <a:solidFill>
                  <a:srgbClr val="FF3300"/>
                </a:solidFill>
                <a:latin typeface="Times New Roman"/>
                <a:cs typeface="Times New Roman"/>
              </a:rPr>
              <a:t>C</a:t>
            </a:r>
            <a:r>
              <a:rPr sz="2000" spc="-10" dirty="0">
                <a:solidFill>
                  <a:srgbClr val="FF3300"/>
                </a:solidFill>
                <a:latin typeface="Times New Roman"/>
                <a:cs typeface="Times New Roman"/>
              </a:rPr>
              <a:t>a</a:t>
            </a:r>
            <a:r>
              <a:rPr sz="2000" dirty="0">
                <a:solidFill>
                  <a:srgbClr val="FF3300"/>
                </a:solidFill>
                <a:latin typeface="Times New Roman"/>
                <a:cs typeface="Times New Roman"/>
              </a:rPr>
              <a:t>l</a:t>
            </a:r>
            <a:r>
              <a:rPr sz="2000" spc="-10" dirty="0">
                <a:solidFill>
                  <a:srgbClr val="FF3300"/>
                </a:solidFill>
                <a:latin typeface="Times New Roman"/>
                <a:cs typeface="Times New Roman"/>
              </a:rPr>
              <a:t>c</a:t>
            </a:r>
            <a:r>
              <a:rPr sz="2000" dirty="0">
                <a:solidFill>
                  <a:srgbClr val="FF3300"/>
                </a:solidFill>
                <a:latin typeface="Times New Roman"/>
                <a:cs typeface="Times New Roman"/>
              </a:rPr>
              <a:t>ium  sulfate</a:t>
            </a:r>
            <a:endParaRPr sz="2000">
              <a:latin typeface="Times New Roman"/>
              <a:cs typeface="Times New Roman"/>
            </a:endParaRPr>
          </a:p>
        </p:txBody>
      </p:sp>
      <p:sp>
        <p:nvSpPr>
          <p:cNvPr id="4" name="object 4"/>
          <p:cNvSpPr txBox="1"/>
          <p:nvPr/>
        </p:nvSpPr>
        <p:spPr>
          <a:xfrm>
            <a:off x="4939029" y="3051911"/>
            <a:ext cx="3329940" cy="1515110"/>
          </a:xfrm>
          <a:prstGeom prst="rect">
            <a:avLst/>
          </a:prstGeom>
        </p:spPr>
        <p:txBody>
          <a:bodyPr vert="horz" wrap="square" lIns="0" tIns="147320" rIns="0" bIns="0" rtlCol="0">
            <a:spAutoFit/>
          </a:bodyPr>
          <a:lstStyle/>
          <a:p>
            <a:pPr marL="480695">
              <a:lnSpc>
                <a:spcPct val="100000"/>
              </a:lnSpc>
              <a:spcBef>
                <a:spcPts val="1160"/>
              </a:spcBef>
            </a:pPr>
            <a:r>
              <a:rPr sz="2000" dirty="0">
                <a:solidFill>
                  <a:srgbClr val="003399"/>
                </a:solidFill>
                <a:latin typeface="Times New Roman"/>
                <a:cs typeface="Times New Roman"/>
              </a:rPr>
              <a:t>[Ca2P6O18]2- +</a:t>
            </a:r>
            <a:r>
              <a:rPr sz="2000" spc="-120" dirty="0">
                <a:solidFill>
                  <a:srgbClr val="003399"/>
                </a:solidFill>
                <a:latin typeface="Times New Roman"/>
                <a:cs typeface="Times New Roman"/>
              </a:rPr>
              <a:t> </a:t>
            </a:r>
            <a:r>
              <a:rPr sz="2000" spc="5" dirty="0">
                <a:solidFill>
                  <a:srgbClr val="003399"/>
                </a:solidFill>
                <a:latin typeface="Times New Roman"/>
                <a:cs typeface="Times New Roman"/>
              </a:rPr>
              <a:t>2Na2SO4</a:t>
            </a:r>
            <a:endParaRPr sz="2000">
              <a:latin typeface="Times New Roman"/>
              <a:cs typeface="Times New Roman"/>
            </a:endParaRPr>
          </a:p>
          <a:p>
            <a:pPr marL="12700" marR="1209040">
              <a:lnSpc>
                <a:spcPct val="100000"/>
              </a:lnSpc>
              <a:spcBef>
                <a:spcPts val="1065"/>
              </a:spcBef>
            </a:pPr>
            <a:r>
              <a:rPr sz="2000" dirty="0">
                <a:solidFill>
                  <a:srgbClr val="FF3300"/>
                </a:solidFill>
                <a:latin typeface="Times New Roman"/>
                <a:cs typeface="Times New Roman"/>
              </a:rPr>
              <a:t>Soluble </a:t>
            </a:r>
            <a:r>
              <a:rPr sz="2000" spc="-5" dirty="0">
                <a:solidFill>
                  <a:srgbClr val="FF3300"/>
                </a:solidFill>
                <a:latin typeface="Times New Roman"/>
                <a:cs typeface="Times New Roman"/>
              </a:rPr>
              <a:t>complex</a:t>
            </a:r>
            <a:r>
              <a:rPr sz="2000" spc="-85" dirty="0">
                <a:solidFill>
                  <a:srgbClr val="FF3300"/>
                </a:solidFill>
                <a:latin typeface="Times New Roman"/>
                <a:cs typeface="Times New Roman"/>
              </a:rPr>
              <a:t> </a:t>
            </a:r>
            <a:r>
              <a:rPr sz="2000" spc="-5" dirty="0">
                <a:solidFill>
                  <a:srgbClr val="FF3300"/>
                </a:solidFill>
                <a:latin typeface="Times New Roman"/>
                <a:cs typeface="Times New Roman"/>
              </a:rPr>
              <a:t>ion  </a:t>
            </a:r>
            <a:r>
              <a:rPr sz="2000" dirty="0">
                <a:solidFill>
                  <a:srgbClr val="FF3300"/>
                </a:solidFill>
                <a:latin typeface="Times New Roman"/>
                <a:cs typeface="Times New Roman"/>
              </a:rPr>
              <a:t>of </a:t>
            </a:r>
            <a:r>
              <a:rPr sz="2000" spc="-5" dirty="0">
                <a:solidFill>
                  <a:srgbClr val="FF3300"/>
                </a:solidFill>
                <a:latin typeface="Times New Roman"/>
                <a:cs typeface="Times New Roman"/>
              </a:rPr>
              <a:t>calcium </a:t>
            </a:r>
            <a:r>
              <a:rPr sz="2000" dirty="0">
                <a:solidFill>
                  <a:srgbClr val="FF3300"/>
                </a:solidFill>
                <a:latin typeface="Times New Roman"/>
                <a:cs typeface="Times New Roman"/>
              </a:rPr>
              <a:t>- can be  removed</a:t>
            </a:r>
            <a:r>
              <a:rPr sz="2000" spc="-30" dirty="0">
                <a:solidFill>
                  <a:srgbClr val="FF3300"/>
                </a:solidFill>
                <a:latin typeface="Times New Roman"/>
                <a:cs typeface="Times New Roman"/>
              </a:rPr>
              <a:t> </a:t>
            </a:r>
            <a:r>
              <a:rPr sz="2000" spc="-5" dirty="0">
                <a:solidFill>
                  <a:srgbClr val="FF3300"/>
                </a:solidFill>
                <a:latin typeface="Times New Roman"/>
                <a:cs typeface="Times New Roman"/>
              </a:rPr>
              <a:t>easily</a:t>
            </a:r>
            <a:endParaRPr sz="2000">
              <a:latin typeface="Times New Roman"/>
              <a:cs typeface="Times New Roman"/>
            </a:endParaRPr>
          </a:p>
        </p:txBody>
      </p:sp>
      <p:sp>
        <p:nvSpPr>
          <p:cNvPr id="5" name="object 5"/>
          <p:cNvSpPr txBox="1"/>
          <p:nvPr/>
        </p:nvSpPr>
        <p:spPr>
          <a:xfrm>
            <a:off x="763016" y="1680794"/>
            <a:ext cx="3289300" cy="331470"/>
          </a:xfrm>
          <a:prstGeom prst="rect">
            <a:avLst/>
          </a:prstGeom>
        </p:spPr>
        <p:txBody>
          <a:bodyPr vert="horz" wrap="square" lIns="0" tIns="13335" rIns="0" bIns="0" rtlCol="0">
            <a:spAutoFit/>
          </a:bodyPr>
          <a:lstStyle/>
          <a:p>
            <a:pPr marL="12700">
              <a:lnSpc>
                <a:spcPct val="100000"/>
              </a:lnSpc>
              <a:spcBef>
                <a:spcPts val="105"/>
              </a:spcBef>
              <a:tabLst>
                <a:tab pos="2707005" algn="l"/>
              </a:tabLst>
            </a:pPr>
            <a:r>
              <a:rPr sz="2000" dirty="0">
                <a:solidFill>
                  <a:srgbClr val="003399"/>
                </a:solidFill>
                <a:latin typeface="Times New Roman"/>
                <a:cs typeface="Times New Roman"/>
              </a:rPr>
              <a:t>Na2</a:t>
            </a:r>
            <a:r>
              <a:rPr sz="2000" spc="5" dirty="0">
                <a:solidFill>
                  <a:srgbClr val="003399"/>
                </a:solidFill>
                <a:latin typeface="Times New Roman"/>
                <a:cs typeface="Times New Roman"/>
              </a:rPr>
              <a:t>[</a:t>
            </a:r>
            <a:r>
              <a:rPr sz="2000" dirty="0">
                <a:solidFill>
                  <a:srgbClr val="003399"/>
                </a:solidFill>
                <a:latin typeface="Times New Roman"/>
                <a:cs typeface="Times New Roman"/>
              </a:rPr>
              <a:t>Na4</a:t>
            </a:r>
            <a:r>
              <a:rPr sz="2000" spc="5" dirty="0">
                <a:solidFill>
                  <a:srgbClr val="003399"/>
                </a:solidFill>
                <a:latin typeface="Times New Roman"/>
                <a:cs typeface="Times New Roman"/>
              </a:rPr>
              <a:t>(</a:t>
            </a:r>
            <a:r>
              <a:rPr sz="2000" spc="-15" dirty="0">
                <a:solidFill>
                  <a:srgbClr val="003399"/>
                </a:solidFill>
                <a:latin typeface="Times New Roman"/>
                <a:cs typeface="Times New Roman"/>
              </a:rPr>
              <a:t>P</a:t>
            </a:r>
            <a:r>
              <a:rPr sz="2000" dirty="0">
                <a:solidFill>
                  <a:srgbClr val="003399"/>
                </a:solidFill>
                <a:latin typeface="Times New Roman"/>
                <a:cs typeface="Times New Roman"/>
              </a:rPr>
              <a:t>O</a:t>
            </a:r>
            <a:r>
              <a:rPr sz="2000" spc="5" dirty="0">
                <a:solidFill>
                  <a:srgbClr val="003399"/>
                </a:solidFill>
                <a:latin typeface="Times New Roman"/>
                <a:cs typeface="Times New Roman"/>
              </a:rPr>
              <a:t>3</a:t>
            </a:r>
            <a:r>
              <a:rPr sz="2000" spc="-10" dirty="0">
                <a:solidFill>
                  <a:srgbClr val="003399"/>
                </a:solidFill>
                <a:latin typeface="Times New Roman"/>
                <a:cs typeface="Times New Roman"/>
              </a:rPr>
              <a:t>)</a:t>
            </a:r>
            <a:r>
              <a:rPr sz="2000" dirty="0">
                <a:solidFill>
                  <a:srgbClr val="003399"/>
                </a:solidFill>
                <a:latin typeface="Times New Roman"/>
                <a:cs typeface="Times New Roman"/>
              </a:rPr>
              <a:t>6	2</a:t>
            </a:r>
            <a:r>
              <a:rPr sz="2000" spc="5" dirty="0">
                <a:solidFill>
                  <a:srgbClr val="003399"/>
                </a:solidFill>
                <a:latin typeface="Times New Roman"/>
                <a:cs typeface="Times New Roman"/>
              </a:rPr>
              <a:t>N</a:t>
            </a:r>
            <a:r>
              <a:rPr sz="2000" dirty="0">
                <a:solidFill>
                  <a:srgbClr val="003399"/>
                </a:solidFill>
                <a:latin typeface="Times New Roman"/>
                <a:cs typeface="Times New Roman"/>
              </a:rPr>
              <a:t>a+</a:t>
            </a:r>
            <a:endParaRPr sz="2000">
              <a:latin typeface="Times New Roman"/>
              <a:cs typeface="Times New Roman"/>
            </a:endParaRPr>
          </a:p>
        </p:txBody>
      </p:sp>
      <p:sp>
        <p:nvSpPr>
          <p:cNvPr id="6" name="object 6"/>
          <p:cNvSpPr txBox="1"/>
          <p:nvPr/>
        </p:nvSpPr>
        <p:spPr>
          <a:xfrm>
            <a:off x="4214369" y="1680794"/>
            <a:ext cx="1748789"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3399"/>
                </a:solidFill>
                <a:latin typeface="Times New Roman"/>
                <a:cs typeface="Times New Roman"/>
              </a:rPr>
              <a:t>+</a:t>
            </a:r>
            <a:r>
              <a:rPr sz="2000" spc="-55" dirty="0">
                <a:solidFill>
                  <a:srgbClr val="003399"/>
                </a:solidFill>
                <a:latin typeface="Times New Roman"/>
                <a:cs typeface="Times New Roman"/>
              </a:rPr>
              <a:t> </a:t>
            </a:r>
            <a:r>
              <a:rPr sz="2000" dirty="0">
                <a:solidFill>
                  <a:srgbClr val="003399"/>
                </a:solidFill>
                <a:latin typeface="Times New Roman"/>
                <a:cs typeface="Times New Roman"/>
              </a:rPr>
              <a:t>[Na4P6O18]2-</a:t>
            </a:r>
            <a:endParaRPr sz="2000">
              <a:latin typeface="Times New Roman"/>
              <a:cs typeface="Times New Roman"/>
            </a:endParaRPr>
          </a:p>
        </p:txBody>
      </p:sp>
      <p:grpSp>
        <p:nvGrpSpPr>
          <p:cNvPr id="7" name="object 7"/>
          <p:cNvGrpSpPr/>
          <p:nvPr/>
        </p:nvGrpSpPr>
        <p:grpSpPr>
          <a:xfrm>
            <a:off x="2586227" y="1748027"/>
            <a:ext cx="730250" cy="152400"/>
            <a:chOff x="2586227" y="1748027"/>
            <a:chExt cx="730250" cy="152400"/>
          </a:xfrm>
        </p:grpSpPr>
        <p:sp>
          <p:nvSpPr>
            <p:cNvPr id="8" name="object 8"/>
            <p:cNvSpPr/>
            <p:nvPr/>
          </p:nvSpPr>
          <p:spPr>
            <a:xfrm>
              <a:off x="2590799" y="1752599"/>
              <a:ext cx="721360" cy="143510"/>
            </a:xfrm>
            <a:custGeom>
              <a:avLst/>
              <a:gdLst/>
              <a:ahLst/>
              <a:cxnLst/>
              <a:rect l="l" t="t" r="r" b="b"/>
              <a:pathLst>
                <a:path w="721360" h="143510">
                  <a:moveTo>
                    <a:pt x="576326" y="0"/>
                  </a:moveTo>
                  <a:lnTo>
                    <a:pt x="576326" y="35813"/>
                  </a:lnTo>
                  <a:lnTo>
                    <a:pt x="144525" y="35813"/>
                  </a:lnTo>
                  <a:lnTo>
                    <a:pt x="144525" y="0"/>
                  </a:lnTo>
                  <a:lnTo>
                    <a:pt x="0" y="71627"/>
                  </a:lnTo>
                  <a:lnTo>
                    <a:pt x="144525" y="143255"/>
                  </a:lnTo>
                  <a:lnTo>
                    <a:pt x="144525" y="107441"/>
                  </a:lnTo>
                  <a:lnTo>
                    <a:pt x="576326" y="107441"/>
                  </a:lnTo>
                  <a:lnTo>
                    <a:pt x="576326" y="143255"/>
                  </a:lnTo>
                  <a:lnTo>
                    <a:pt x="720851" y="71627"/>
                  </a:lnTo>
                  <a:lnTo>
                    <a:pt x="576326" y="0"/>
                  </a:lnTo>
                  <a:close/>
                </a:path>
              </a:pathLst>
            </a:custGeom>
            <a:solidFill>
              <a:srgbClr val="BADFE2"/>
            </a:solidFill>
          </p:spPr>
          <p:txBody>
            <a:bodyPr wrap="square" lIns="0" tIns="0" rIns="0" bIns="0" rtlCol="0"/>
            <a:lstStyle/>
            <a:p>
              <a:endParaRPr/>
            </a:p>
          </p:txBody>
        </p:sp>
        <p:sp>
          <p:nvSpPr>
            <p:cNvPr id="9" name="object 9"/>
            <p:cNvSpPr/>
            <p:nvPr/>
          </p:nvSpPr>
          <p:spPr>
            <a:xfrm>
              <a:off x="2590799" y="1752599"/>
              <a:ext cx="721360" cy="143510"/>
            </a:xfrm>
            <a:custGeom>
              <a:avLst/>
              <a:gdLst/>
              <a:ahLst/>
              <a:cxnLst/>
              <a:rect l="l" t="t" r="r" b="b"/>
              <a:pathLst>
                <a:path w="721360" h="143510">
                  <a:moveTo>
                    <a:pt x="0" y="71627"/>
                  </a:moveTo>
                  <a:lnTo>
                    <a:pt x="144525" y="0"/>
                  </a:lnTo>
                  <a:lnTo>
                    <a:pt x="144525" y="35813"/>
                  </a:lnTo>
                  <a:lnTo>
                    <a:pt x="576326" y="35813"/>
                  </a:lnTo>
                  <a:lnTo>
                    <a:pt x="576326" y="0"/>
                  </a:lnTo>
                  <a:lnTo>
                    <a:pt x="720851" y="71627"/>
                  </a:lnTo>
                  <a:lnTo>
                    <a:pt x="576326" y="143255"/>
                  </a:lnTo>
                  <a:lnTo>
                    <a:pt x="576326" y="107441"/>
                  </a:lnTo>
                  <a:lnTo>
                    <a:pt x="144525" y="107441"/>
                  </a:lnTo>
                  <a:lnTo>
                    <a:pt x="144525" y="143255"/>
                  </a:lnTo>
                  <a:lnTo>
                    <a:pt x="0" y="71627"/>
                  </a:lnTo>
                  <a:close/>
                </a:path>
              </a:pathLst>
            </a:custGeom>
            <a:ln w="9144">
              <a:solidFill>
                <a:srgbClr val="000000"/>
              </a:solidFill>
            </a:ln>
          </p:spPr>
          <p:txBody>
            <a:bodyPr wrap="square" lIns="0" tIns="0" rIns="0" bIns="0" rtlCol="0"/>
            <a:lstStyle/>
            <a:p>
              <a:endParaRPr/>
            </a:p>
          </p:txBody>
        </p:sp>
      </p:grpSp>
      <p:sp>
        <p:nvSpPr>
          <p:cNvPr id="10" name="object 10"/>
          <p:cNvSpPr txBox="1"/>
          <p:nvPr/>
        </p:nvSpPr>
        <p:spPr>
          <a:xfrm>
            <a:off x="684276" y="2189988"/>
            <a:ext cx="1871980" cy="1016635"/>
          </a:xfrm>
          <a:prstGeom prst="rect">
            <a:avLst/>
          </a:prstGeom>
          <a:solidFill>
            <a:srgbClr val="99FF66"/>
          </a:solidFill>
          <a:ln w="9144">
            <a:solidFill>
              <a:srgbClr val="003399"/>
            </a:solidFill>
          </a:ln>
        </p:spPr>
        <p:txBody>
          <a:bodyPr vert="horz" wrap="square" lIns="0" tIns="37465" rIns="0" bIns="0" rtlCol="0">
            <a:spAutoFit/>
          </a:bodyPr>
          <a:lstStyle/>
          <a:p>
            <a:pPr marL="90805" marR="182880">
              <a:lnSpc>
                <a:spcPct val="100000"/>
              </a:lnSpc>
              <a:spcBef>
                <a:spcPts val="295"/>
              </a:spcBef>
            </a:pPr>
            <a:r>
              <a:rPr sz="2000" dirty="0">
                <a:latin typeface="Times New Roman"/>
                <a:cs typeface="Times New Roman"/>
              </a:rPr>
              <a:t>Calgon –  sodium hexa  </a:t>
            </a:r>
            <a:r>
              <a:rPr sz="2000" spc="-10" dirty="0">
                <a:latin typeface="Times New Roman"/>
                <a:cs typeface="Times New Roman"/>
              </a:rPr>
              <a:t>meta</a:t>
            </a:r>
            <a:r>
              <a:rPr sz="2000" spc="-60" dirty="0">
                <a:latin typeface="Times New Roman"/>
                <a:cs typeface="Times New Roman"/>
              </a:rPr>
              <a:t> </a:t>
            </a:r>
            <a:r>
              <a:rPr sz="2000" dirty="0">
                <a:latin typeface="Times New Roman"/>
                <a:cs typeface="Times New Roman"/>
              </a:rPr>
              <a:t>phosphate</a:t>
            </a:r>
            <a:endParaRPr sz="2000">
              <a:latin typeface="Times New Roman"/>
              <a:cs typeface="Times New Roman"/>
            </a:endParaRPr>
          </a:p>
        </p:txBody>
      </p:sp>
      <p:sp>
        <p:nvSpPr>
          <p:cNvPr id="11" name="object 11"/>
          <p:cNvSpPr/>
          <p:nvPr/>
        </p:nvSpPr>
        <p:spPr>
          <a:xfrm>
            <a:off x="4572000" y="3314700"/>
            <a:ext cx="719455" cy="76200"/>
          </a:xfrm>
          <a:custGeom>
            <a:avLst/>
            <a:gdLst/>
            <a:ahLst/>
            <a:cxnLst/>
            <a:rect l="l" t="t" r="r" b="b"/>
            <a:pathLst>
              <a:path w="719454" h="76200">
                <a:moveTo>
                  <a:pt x="643127" y="0"/>
                </a:moveTo>
                <a:lnTo>
                  <a:pt x="643127" y="76200"/>
                </a:lnTo>
                <a:lnTo>
                  <a:pt x="706627" y="44450"/>
                </a:lnTo>
                <a:lnTo>
                  <a:pt x="655827" y="44450"/>
                </a:lnTo>
                <a:lnTo>
                  <a:pt x="655827" y="31750"/>
                </a:lnTo>
                <a:lnTo>
                  <a:pt x="706627" y="31750"/>
                </a:lnTo>
                <a:lnTo>
                  <a:pt x="643127" y="0"/>
                </a:lnTo>
                <a:close/>
              </a:path>
              <a:path w="719454" h="76200">
                <a:moveTo>
                  <a:pt x="643127" y="31750"/>
                </a:moveTo>
                <a:lnTo>
                  <a:pt x="0" y="31750"/>
                </a:lnTo>
                <a:lnTo>
                  <a:pt x="0" y="44450"/>
                </a:lnTo>
                <a:lnTo>
                  <a:pt x="643127" y="44450"/>
                </a:lnTo>
                <a:lnTo>
                  <a:pt x="643127" y="31750"/>
                </a:lnTo>
                <a:close/>
              </a:path>
              <a:path w="719454" h="76200">
                <a:moveTo>
                  <a:pt x="706627" y="31750"/>
                </a:moveTo>
                <a:lnTo>
                  <a:pt x="655827" y="31750"/>
                </a:lnTo>
                <a:lnTo>
                  <a:pt x="655827" y="44450"/>
                </a:lnTo>
                <a:lnTo>
                  <a:pt x="706627" y="44450"/>
                </a:lnTo>
                <a:lnTo>
                  <a:pt x="719327" y="38100"/>
                </a:lnTo>
                <a:lnTo>
                  <a:pt x="706627" y="31750"/>
                </a:lnTo>
                <a:close/>
              </a:path>
            </a:pathLst>
          </a:custGeom>
          <a:solidFill>
            <a:srgbClr val="000000"/>
          </a:solidFill>
        </p:spPr>
        <p:txBody>
          <a:bodyPr wrap="square" lIns="0" tIns="0" rIns="0" bIns="0" rtlCol="0"/>
          <a:lstStyle/>
          <a:p>
            <a:endParaRPr/>
          </a:p>
        </p:txBody>
      </p:sp>
      <p:sp>
        <p:nvSpPr>
          <p:cNvPr id="12" name="object 12"/>
          <p:cNvSpPr txBox="1"/>
          <p:nvPr/>
        </p:nvSpPr>
        <p:spPr>
          <a:xfrm>
            <a:off x="467868" y="4751832"/>
            <a:ext cx="7848600" cy="401320"/>
          </a:xfrm>
          <a:prstGeom prst="rect">
            <a:avLst/>
          </a:prstGeom>
          <a:solidFill>
            <a:srgbClr val="99FF66"/>
          </a:solidFill>
          <a:ln w="9144">
            <a:solidFill>
              <a:srgbClr val="003399"/>
            </a:solidFill>
          </a:ln>
        </p:spPr>
        <p:txBody>
          <a:bodyPr vert="horz" wrap="square" lIns="0" tIns="38735" rIns="0" bIns="0" rtlCol="0">
            <a:spAutoFit/>
          </a:bodyPr>
          <a:lstStyle/>
          <a:p>
            <a:pPr marL="91440">
              <a:lnSpc>
                <a:spcPct val="100000"/>
              </a:lnSpc>
              <a:spcBef>
                <a:spcPts val="305"/>
              </a:spcBef>
            </a:pPr>
            <a:r>
              <a:rPr sz="2000" dirty="0">
                <a:latin typeface="Times New Roman"/>
                <a:cs typeface="Times New Roman"/>
              </a:rPr>
              <a:t>Calgon tablets are used in the cleaning of washing </a:t>
            </a:r>
            <a:r>
              <a:rPr sz="2000" spc="-5" dirty="0">
                <a:latin typeface="Times New Roman"/>
                <a:cs typeface="Times New Roman"/>
              </a:rPr>
              <a:t>machine</a:t>
            </a:r>
            <a:r>
              <a:rPr sz="2000" spc="-170" dirty="0">
                <a:latin typeface="Times New Roman"/>
                <a:cs typeface="Times New Roman"/>
              </a:rPr>
              <a:t> </a:t>
            </a:r>
            <a:r>
              <a:rPr sz="2000" spc="-5" dirty="0">
                <a:latin typeface="Times New Roman"/>
                <a:cs typeface="Times New Roman"/>
              </a:rPr>
              <a:t>drums</a:t>
            </a:r>
            <a:endParaRPr sz="2000">
              <a:latin typeface="Times New Roman"/>
              <a:cs typeface="Times New Roman"/>
            </a:endParaRPr>
          </a:p>
        </p:txBody>
      </p:sp>
      <p:sp>
        <p:nvSpPr>
          <p:cNvPr id="13" name="object 13"/>
          <p:cNvSpPr txBox="1"/>
          <p:nvPr/>
        </p:nvSpPr>
        <p:spPr>
          <a:xfrm>
            <a:off x="8301228" y="6298159"/>
            <a:ext cx="332740" cy="335915"/>
          </a:xfrm>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z="2000" dirty="0">
                <a:latin typeface="Times New Roman"/>
                <a:cs typeface="Times New Roman"/>
              </a:rPr>
              <a:pPr marL="38100">
                <a:lnSpc>
                  <a:spcPct val="100000"/>
                </a:lnSpc>
                <a:spcBef>
                  <a:spcPts val="105"/>
                </a:spcBef>
              </a:pPr>
              <a:t>64</a:t>
            </a:fld>
            <a:endParaRPr sz="2000">
              <a:latin typeface="Times New Roman"/>
              <a:cs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624024"/>
            <a:ext cx="2836545" cy="360680"/>
          </a:xfrm>
          <a:prstGeom prst="rect">
            <a:avLst/>
          </a:prstGeom>
        </p:spPr>
        <p:txBody>
          <a:bodyPr vert="horz" wrap="square" lIns="0" tIns="12065" rIns="0" bIns="0" rtlCol="0">
            <a:spAutoFit/>
          </a:bodyPr>
          <a:lstStyle/>
          <a:p>
            <a:pPr marL="12700">
              <a:lnSpc>
                <a:spcPct val="100000"/>
              </a:lnSpc>
              <a:spcBef>
                <a:spcPts val="95"/>
              </a:spcBef>
            </a:pPr>
            <a:r>
              <a:rPr sz="2200" spc="-5" dirty="0">
                <a:solidFill>
                  <a:srgbClr val="000000"/>
                </a:solidFill>
              </a:rPr>
              <a:t>4.Colloidal</a:t>
            </a:r>
            <a:r>
              <a:rPr sz="2200" spc="-50" dirty="0">
                <a:solidFill>
                  <a:srgbClr val="000000"/>
                </a:solidFill>
              </a:rPr>
              <a:t> </a:t>
            </a:r>
            <a:r>
              <a:rPr sz="2200" dirty="0">
                <a:solidFill>
                  <a:srgbClr val="000000"/>
                </a:solidFill>
              </a:rPr>
              <a:t>conditioning:</a:t>
            </a:r>
            <a:endParaRPr sz="2200"/>
          </a:p>
        </p:txBody>
      </p:sp>
      <p:sp>
        <p:nvSpPr>
          <p:cNvPr id="3" name="object 3"/>
          <p:cNvSpPr txBox="1"/>
          <p:nvPr/>
        </p:nvSpPr>
        <p:spPr>
          <a:xfrm>
            <a:off x="523240" y="2027047"/>
            <a:ext cx="7648575" cy="1867535"/>
          </a:xfrm>
          <a:prstGeom prst="rect">
            <a:avLst/>
          </a:prstGeom>
        </p:spPr>
        <p:txBody>
          <a:bodyPr vert="horz" wrap="square" lIns="0" tIns="12065" rIns="0" bIns="0" rtlCol="0">
            <a:spAutoFit/>
          </a:bodyPr>
          <a:lstStyle/>
          <a:p>
            <a:pPr marL="540385" marR="17780" indent="-515620">
              <a:lnSpc>
                <a:spcPct val="100000"/>
              </a:lnSpc>
              <a:spcBef>
                <a:spcPts val="95"/>
              </a:spcBef>
            </a:pPr>
            <a:r>
              <a:rPr sz="2200" spc="-5" dirty="0">
                <a:latin typeface="Times New Roman"/>
                <a:cs typeface="Times New Roman"/>
              </a:rPr>
              <a:t>In low pressure </a:t>
            </a:r>
            <a:r>
              <a:rPr sz="2200" dirty="0">
                <a:latin typeface="Times New Roman"/>
                <a:cs typeface="Times New Roman"/>
              </a:rPr>
              <a:t>boilers- </a:t>
            </a:r>
            <a:r>
              <a:rPr sz="2200" spc="-5" dirty="0">
                <a:latin typeface="Times New Roman"/>
                <a:cs typeface="Times New Roman"/>
              </a:rPr>
              <a:t>scale : adding org. substances like kerosine,  agar-agar,</a:t>
            </a:r>
            <a:r>
              <a:rPr sz="2200" spc="10" dirty="0">
                <a:latin typeface="Times New Roman"/>
                <a:cs typeface="Times New Roman"/>
              </a:rPr>
              <a:t> </a:t>
            </a:r>
            <a:r>
              <a:rPr sz="2200" spc="-5" dirty="0">
                <a:latin typeface="Times New Roman"/>
                <a:cs typeface="Times New Roman"/>
              </a:rPr>
              <a:t>tannin,etc.</a:t>
            </a:r>
            <a:endParaRPr sz="2200">
              <a:latin typeface="Times New Roman"/>
              <a:cs typeface="Times New Roman"/>
            </a:endParaRPr>
          </a:p>
          <a:p>
            <a:pPr marL="25400">
              <a:lnSpc>
                <a:spcPct val="100000"/>
              </a:lnSpc>
              <a:spcBef>
                <a:spcPts val="525"/>
              </a:spcBef>
              <a:tabLst>
                <a:tab pos="540385" algn="l"/>
              </a:tabLst>
            </a:pPr>
            <a:r>
              <a:rPr sz="2200" spc="-5" dirty="0">
                <a:latin typeface="Times New Roman"/>
                <a:cs typeface="Times New Roman"/>
              </a:rPr>
              <a:t>-	Yield non-sticky &amp; loose</a:t>
            </a:r>
            <a:r>
              <a:rPr sz="2200" dirty="0">
                <a:latin typeface="Times New Roman"/>
                <a:cs typeface="Times New Roman"/>
              </a:rPr>
              <a:t> </a:t>
            </a:r>
            <a:r>
              <a:rPr sz="2200" spc="-5" dirty="0">
                <a:latin typeface="Times New Roman"/>
                <a:cs typeface="Times New Roman"/>
              </a:rPr>
              <a:t>deposits</a:t>
            </a:r>
            <a:endParaRPr sz="2200">
              <a:latin typeface="Times New Roman"/>
              <a:cs typeface="Times New Roman"/>
            </a:endParaRPr>
          </a:p>
          <a:p>
            <a:pPr>
              <a:lnSpc>
                <a:spcPct val="100000"/>
              </a:lnSpc>
              <a:spcBef>
                <a:spcPts val="35"/>
              </a:spcBef>
            </a:pPr>
            <a:endParaRPr sz="3150">
              <a:latin typeface="Times New Roman"/>
              <a:cs typeface="Times New Roman"/>
            </a:endParaRPr>
          </a:p>
          <a:p>
            <a:pPr marL="25400">
              <a:lnSpc>
                <a:spcPct val="100000"/>
              </a:lnSpc>
              <a:spcBef>
                <a:spcPts val="5"/>
              </a:spcBef>
            </a:pPr>
            <a:r>
              <a:rPr sz="1500" dirty="0">
                <a:latin typeface="Times New Roman"/>
                <a:cs typeface="Times New Roman"/>
              </a:rPr>
              <a:t>5</a:t>
            </a:r>
            <a:r>
              <a:rPr sz="2000" dirty="0">
                <a:latin typeface="Times New Roman"/>
                <a:cs typeface="Times New Roman"/>
              </a:rPr>
              <a:t>. </a:t>
            </a:r>
            <a:r>
              <a:rPr sz="2000" spc="-10" dirty="0">
                <a:latin typeface="Times New Roman"/>
                <a:cs typeface="Times New Roman"/>
              </a:rPr>
              <a:t>Treatment</a:t>
            </a:r>
            <a:r>
              <a:rPr sz="2000" spc="-60" dirty="0">
                <a:latin typeface="Times New Roman"/>
                <a:cs typeface="Times New Roman"/>
              </a:rPr>
              <a:t> </a:t>
            </a:r>
            <a:r>
              <a:rPr sz="2000" dirty="0">
                <a:latin typeface="Times New Roman"/>
                <a:cs typeface="Times New Roman"/>
              </a:rPr>
              <a:t>withNaAlO</a:t>
            </a:r>
            <a:r>
              <a:rPr sz="1950" baseline="-21367" dirty="0">
                <a:latin typeface="Times New Roman"/>
                <a:cs typeface="Times New Roman"/>
              </a:rPr>
              <a:t>2</a:t>
            </a:r>
            <a:r>
              <a:rPr sz="2000" dirty="0">
                <a:latin typeface="Times New Roman"/>
                <a:cs typeface="Times New Roman"/>
              </a:rPr>
              <a:t>:</a:t>
            </a:r>
            <a:endParaRPr sz="2000">
              <a:latin typeface="Times New Roman"/>
              <a:cs typeface="Times New Roman"/>
            </a:endParaRPr>
          </a:p>
        </p:txBody>
      </p:sp>
      <p:sp>
        <p:nvSpPr>
          <p:cNvPr id="4" name="object 4"/>
          <p:cNvSpPr txBox="1"/>
          <p:nvPr/>
        </p:nvSpPr>
        <p:spPr>
          <a:xfrm>
            <a:off x="510540" y="4235039"/>
            <a:ext cx="1816100" cy="756920"/>
          </a:xfrm>
          <a:prstGeom prst="rect">
            <a:avLst/>
          </a:prstGeom>
        </p:spPr>
        <p:txBody>
          <a:bodyPr vert="horz" wrap="square" lIns="0" tIns="73025" rIns="0" bIns="0" rtlCol="0">
            <a:spAutoFit/>
          </a:bodyPr>
          <a:lstStyle/>
          <a:p>
            <a:pPr marL="38100">
              <a:lnSpc>
                <a:spcPct val="100000"/>
              </a:lnSpc>
              <a:spcBef>
                <a:spcPts val="575"/>
              </a:spcBef>
            </a:pPr>
            <a:r>
              <a:rPr sz="2000" spc="5" dirty="0">
                <a:latin typeface="Times New Roman"/>
                <a:cs typeface="Times New Roman"/>
              </a:rPr>
              <a:t>NaAlO</a:t>
            </a:r>
            <a:r>
              <a:rPr sz="1950" spc="7" baseline="-21367" dirty="0">
                <a:latin typeface="Times New Roman"/>
                <a:cs typeface="Times New Roman"/>
              </a:rPr>
              <a:t>2 </a:t>
            </a:r>
            <a:r>
              <a:rPr sz="2000" dirty="0">
                <a:latin typeface="Times New Roman"/>
                <a:cs typeface="Times New Roman"/>
              </a:rPr>
              <a:t>+</a:t>
            </a:r>
            <a:r>
              <a:rPr sz="2000" spc="-229" dirty="0">
                <a:latin typeface="Times New Roman"/>
                <a:cs typeface="Times New Roman"/>
              </a:rPr>
              <a:t> </a:t>
            </a:r>
            <a:r>
              <a:rPr sz="2000" dirty="0">
                <a:latin typeface="Times New Roman"/>
                <a:cs typeface="Times New Roman"/>
              </a:rPr>
              <a:t>2H2O</a:t>
            </a:r>
            <a:endParaRPr sz="2000">
              <a:latin typeface="Times New Roman"/>
              <a:cs typeface="Times New Roman"/>
            </a:endParaRPr>
          </a:p>
          <a:p>
            <a:pPr marL="38100">
              <a:lnSpc>
                <a:spcPct val="100000"/>
              </a:lnSpc>
              <a:spcBef>
                <a:spcPts val="480"/>
              </a:spcBef>
            </a:pPr>
            <a:r>
              <a:rPr sz="2000" dirty="0">
                <a:latin typeface="Times New Roman"/>
                <a:cs typeface="Times New Roman"/>
              </a:rPr>
              <a:t>MgCl</a:t>
            </a:r>
            <a:r>
              <a:rPr sz="1950" baseline="-21367" dirty="0">
                <a:latin typeface="Times New Roman"/>
                <a:cs typeface="Times New Roman"/>
              </a:rPr>
              <a:t>2 </a:t>
            </a:r>
            <a:r>
              <a:rPr sz="2000" dirty="0">
                <a:latin typeface="Times New Roman"/>
                <a:cs typeface="Times New Roman"/>
              </a:rPr>
              <a:t>+</a:t>
            </a:r>
            <a:r>
              <a:rPr sz="2000" spc="-220" dirty="0">
                <a:latin typeface="Times New Roman"/>
                <a:cs typeface="Times New Roman"/>
              </a:rPr>
              <a:t> </a:t>
            </a:r>
            <a:r>
              <a:rPr sz="2000" dirty="0">
                <a:latin typeface="Times New Roman"/>
                <a:cs typeface="Times New Roman"/>
              </a:rPr>
              <a:t>2NaOH</a:t>
            </a:r>
            <a:endParaRPr sz="2000">
              <a:latin typeface="Times New Roman"/>
              <a:cs typeface="Times New Roman"/>
            </a:endParaRPr>
          </a:p>
        </p:txBody>
      </p:sp>
      <p:sp>
        <p:nvSpPr>
          <p:cNvPr id="5" name="object 5"/>
          <p:cNvSpPr txBox="1"/>
          <p:nvPr/>
        </p:nvSpPr>
        <p:spPr>
          <a:xfrm>
            <a:off x="2883871" y="4235039"/>
            <a:ext cx="3510279" cy="756920"/>
          </a:xfrm>
          <a:prstGeom prst="rect">
            <a:avLst/>
          </a:prstGeom>
        </p:spPr>
        <p:txBody>
          <a:bodyPr vert="horz" wrap="square" lIns="0" tIns="73025" rIns="0" bIns="0" rtlCol="0">
            <a:spAutoFit/>
          </a:bodyPr>
          <a:lstStyle/>
          <a:p>
            <a:pPr marL="74295">
              <a:lnSpc>
                <a:spcPct val="100000"/>
              </a:lnSpc>
              <a:spcBef>
                <a:spcPts val="575"/>
              </a:spcBef>
            </a:pPr>
            <a:r>
              <a:rPr sz="2000" dirty="0">
                <a:latin typeface="Times New Roman"/>
                <a:cs typeface="Times New Roman"/>
              </a:rPr>
              <a:t>NaOH + Al(OH)</a:t>
            </a:r>
            <a:r>
              <a:rPr sz="1950" baseline="-21367" dirty="0">
                <a:latin typeface="Times New Roman"/>
                <a:cs typeface="Times New Roman"/>
              </a:rPr>
              <a:t>3</a:t>
            </a:r>
            <a:r>
              <a:rPr sz="2000" dirty="0">
                <a:latin typeface="Times New Roman"/>
                <a:cs typeface="Times New Roman"/>
              </a:rPr>
              <a:t>(gelatinous</a:t>
            </a:r>
            <a:r>
              <a:rPr sz="2000" spc="-204" dirty="0">
                <a:latin typeface="Times New Roman"/>
                <a:cs typeface="Times New Roman"/>
              </a:rPr>
              <a:t> </a:t>
            </a:r>
            <a:r>
              <a:rPr sz="2000" dirty="0">
                <a:latin typeface="Times New Roman"/>
                <a:cs typeface="Times New Roman"/>
              </a:rPr>
              <a:t>ppt)</a:t>
            </a:r>
            <a:endParaRPr sz="2000">
              <a:latin typeface="Times New Roman"/>
              <a:cs typeface="Times New Roman"/>
            </a:endParaRPr>
          </a:p>
          <a:p>
            <a:pPr marL="38100">
              <a:lnSpc>
                <a:spcPct val="100000"/>
              </a:lnSpc>
              <a:spcBef>
                <a:spcPts val="480"/>
              </a:spcBef>
            </a:pPr>
            <a:r>
              <a:rPr sz="2000" spc="5" dirty="0">
                <a:latin typeface="Times New Roman"/>
                <a:cs typeface="Times New Roman"/>
              </a:rPr>
              <a:t>Mg(OH)</a:t>
            </a:r>
            <a:r>
              <a:rPr sz="1950" spc="7" baseline="-21367" dirty="0">
                <a:latin typeface="Times New Roman"/>
                <a:cs typeface="Times New Roman"/>
              </a:rPr>
              <a:t>2 </a:t>
            </a:r>
            <a:r>
              <a:rPr sz="2000" dirty="0">
                <a:latin typeface="Times New Roman"/>
                <a:cs typeface="Times New Roman"/>
              </a:rPr>
              <a:t>+</a:t>
            </a:r>
            <a:r>
              <a:rPr sz="2000" spc="-215" dirty="0">
                <a:latin typeface="Times New Roman"/>
                <a:cs typeface="Times New Roman"/>
              </a:rPr>
              <a:t> </a:t>
            </a:r>
            <a:r>
              <a:rPr sz="2000" dirty="0">
                <a:latin typeface="Times New Roman"/>
                <a:cs typeface="Times New Roman"/>
              </a:rPr>
              <a:t>2NaCl</a:t>
            </a:r>
            <a:endParaRPr sz="2000">
              <a:latin typeface="Times New Roman"/>
              <a:cs typeface="Times New Roman"/>
            </a:endParaRPr>
          </a:p>
        </p:txBody>
      </p:sp>
      <p:sp>
        <p:nvSpPr>
          <p:cNvPr id="6" name="object 6"/>
          <p:cNvSpPr/>
          <p:nvPr/>
        </p:nvSpPr>
        <p:spPr>
          <a:xfrm>
            <a:off x="2362200" y="4750180"/>
            <a:ext cx="533400" cy="103505"/>
          </a:xfrm>
          <a:custGeom>
            <a:avLst/>
            <a:gdLst/>
            <a:ahLst/>
            <a:cxnLst/>
            <a:rect l="l" t="t" r="r" b="b"/>
            <a:pathLst>
              <a:path w="533400" h="103504">
                <a:moveTo>
                  <a:pt x="445007" y="0"/>
                </a:moveTo>
                <a:lnTo>
                  <a:pt x="441070" y="1016"/>
                </a:lnTo>
                <a:lnTo>
                  <a:pt x="437514" y="7112"/>
                </a:lnTo>
                <a:lnTo>
                  <a:pt x="438531" y="11049"/>
                </a:lnTo>
                <a:lnTo>
                  <a:pt x="497375" y="45524"/>
                </a:lnTo>
                <a:lnTo>
                  <a:pt x="520826" y="45593"/>
                </a:lnTo>
                <a:lnTo>
                  <a:pt x="520826" y="58293"/>
                </a:lnTo>
                <a:lnTo>
                  <a:pt x="497260" y="58293"/>
                </a:lnTo>
                <a:lnTo>
                  <a:pt x="438276" y="92456"/>
                </a:lnTo>
                <a:lnTo>
                  <a:pt x="437261" y="96393"/>
                </a:lnTo>
                <a:lnTo>
                  <a:pt x="439038" y="99314"/>
                </a:lnTo>
                <a:lnTo>
                  <a:pt x="440817" y="102362"/>
                </a:lnTo>
                <a:lnTo>
                  <a:pt x="444626" y="103505"/>
                </a:lnTo>
                <a:lnTo>
                  <a:pt x="522467" y="58293"/>
                </a:lnTo>
                <a:lnTo>
                  <a:pt x="520826" y="58293"/>
                </a:lnTo>
                <a:lnTo>
                  <a:pt x="522585" y="58224"/>
                </a:lnTo>
                <a:lnTo>
                  <a:pt x="533400" y="51943"/>
                </a:lnTo>
                <a:lnTo>
                  <a:pt x="447929" y="1778"/>
                </a:lnTo>
                <a:lnTo>
                  <a:pt x="445007" y="0"/>
                </a:lnTo>
                <a:close/>
              </a:path>
              <a:path w="533400" h="103504">
                <a:moveTo>
                  <a:pt x="508277" y="51911"/>
                </a:moveTo>
                <a:lnTo>
                  <a:pt x="497378" y="58224"/>
                </a:lnTo>
                <a:lnTo>
                  <a:pt x="520826" y="58293"/>
                </a:lnTo>
                <a:lnTo>
                  <a:pt x="520826" y="57404"/>
                </a:lnTo>
                <a:lnTo>
                  <a:pt x="517651" y="57404"/>
                </a:lnTo>
                <a:lnTo>
                  <a:pt x="508277" y="51911"/>
                </a:lnTo>
                <a:close/>
              </a:path>
              <a:path w="533400" h="103504">
                <a:moveTo>
                  <a:pt x="0" y="44069"/>
                </a:moveTo>
                <a:lnTo>
                  <a:pt x="0" y="56769"/>
                </a:lnTo>
                <a:lnTo>
                  <a:pt x="497378" y="58224"/>
                </a:lnTo>
                <a:lnTo>
                  <a:pt x="508277" y="51911"/>
                </a:lnTo>
                <a:lnTo>
                  <a:pt x="497375" y="45524"/>
                </a:lnTo>
                <a:lnTo>
                  <a:pt x="0" y="44069"/>
                </a:lnTo>
                <a:close/>
              </a:path>
              <a:path w="533400" h="103504">
                <a:moveTo>
                  <a:pt x="517651" y="46482"/>
                </a:moveTo>
                <a:lnTo>
                  <a:pt x="508277" y="51911"/>
                </a:lnTo>
                <a:lnTo>
                  <a:pt x="517651" y="57404"/>
                </a:lnTo>
                <a:lnTo>
                  <a:pt x="517651" y="46482"/>
                </a:lnTo>
                <a:close/>
              </a:path>
              <a:path w="533400" h="103504">
                <a:moveTo>
                  <a:pt x="520826" y="46482"/>
                </a:moveTo>
                <a:lnTo>
                  <a:pt x="517651" y="46482"/>
                </a:lnTo>
                <a:lnTo>
                  <a:pt x="517651" y="57404"/>
                </a:lnTo>
                <a:lnTo>
                  <a:pt x="520826" y="57404"/>
                </a:lnTo>
                <a:lnTo>
                  <a:pt x="520826" y="46482"/>
                </a:lnTo>
                <a:close/>
              </a:path>
              <a:path w="533400" h="103504">
                <a:moveTo>
                  <a:pt x="497375" y="45524"/>
                </a:moveTo>
                <a:lnTo>
                  <a:pt x="508277" y="51911"/>
                </a:lnTo>
                <a:lnTo>
                  <a:pt x="517651" y="46482"/>
                </a:lnTo>
                <a:lnTo>
                  <a:pt x="520826" y="46482"/>
                </a:lnTo>
                <a:lnTo>
                  <a:pt x="520826" y="45593"/>
                </a:lnTo>
                <a:lnTo>
                  <a:pt x="497375" y="45524"/>
                </a:lnTo>
                <a:close/>
              </a:path>
            </a:pathLst>
          </a:custGeom>
          <a:solidFill>
            <a:srgbClr val="000000"/>
          </a:solidFill>
        </p:spPr>
        <p:txBody>
          <a:bodyPr wrap="square" lIns="0" tIns="0" rIns="0" bIns="0" rtlCol="0"/>
          <a:lstStyle/>
          <a:p>
            <a:endParaRPr/>
          </a:p>
        </p:txBody>
      </p:sp>
      <p:sp>
        <p:nvSpPr>
          <p:cNvPr id="7" name="object 7"/>
          <p:cNvSpPr/>
          <p:nvPr/>
        </p:nvSpPr>
        <p:spPr>
          <a:xfrm>
            <a:off x="2438400" y="4369180"/>
            <a:ext cx="533400" cy="103505"/>
          </a:xfrm>
          <a:custGeom>
            <a:avLst/>
            <a:gdLst/>
            <a:ahLst/>
            <a:cxnLst/>
            <a:rect l="l" t="t" r="r" b="b"/>
            <a:pathLst>
              <a:path w="533400" h="103504">
                <a:moveTo>
                  <a:pt x="445007" y="0"/>
                </a:moveTo>
                <a:lnTo>
                  <a:pt x="441070" y="1016"/>
                </a:lnTo>
                <a:lnTo>
                  <a:pt x="437514" y="7112"/>
                </a:lnTo>
                <a:lnTo>
                  <a:pt x="438531" y="11049"/>
                </a:lnTo>
                <a:lnTo>
                  <a:pt x="497375" y="45524"/>
                </a:lnTo>
                <a:lnTo>
                  <a:pt x="520826" y="45593"/>
                </a:lnTo>
                <a:lnTo>
                  <a:pt x="520826" y="58293"/>
                </a:lnTo>
                <a:lnTo>
                  <a:pt x="497260" y="58293"/>
                </a:lnTo>
                <a:lnTo>
                  <a:pt x="438276" y="92456"/>
                </a:lnTo>
                <a:lnTo>
                  <a:pt x="437261" y="96393"/>
                </a:lnTo>
                <a:lnTo>
                  <a:pt x="439038" y="99314"/>
                </a:lnTo>
                <a:lnTo>
                  <a:pt x="440817" y="102362"/>
                </a:lnTo>
                <a:lnTo>
                  <a:pt x="444626" y="103505"/>
                </a:lnTo>
                <a:lnTo>
                  <a:pt x="522467" y="58293"/>
                </a:lnTo>
                <a:lnTo>
                  <a:pt x="520826" y="58293"/>
                </a:lnTo>
                <a:lnTo>
                  <a:pt x="522585" y="58224"/>
                </a:lnTo>
                <a:lnTo>
                  <a:pt x="533400" y="51943"/>
                </a:lnTo>
                <a:lnTo>
                  <a:pt x="447929" y="1778"/>
                </a:lnTo>
                <a:lnTo>
                  <a:pt x="445007" y="0"/>
                </a:lnTo>
                <a:close/>
              </a:path>
              <a:path w="533400" h="103504">
                <a:moveTo>
                  <a:pt x="508277" y="51911"/>
                </a:moveTo>
                <a:lnTo>
                  <a:pt x="497378" y="58224"/>
                </a:lnTo>
                <a:lnTo>
                  <a:pt x="520826" y="58293"/>
                </a:lnTo>
                <a:lnTo>
                  <a:pt x="520826" y="57404"/>
                </a:lnTo>
                <a:lnTo>
                  <a:pt x="517651" y="57404"/>
                </a:lnTo>
                <a:lnTo>
                  <a:pt x="508277" y="51911"/>
                </a:lnTo>
                <a:close/>
              </a:path>
              <a:path w="533400" h="103504">
                <a:moveTo>
                  <a:pt x="0" y="44069"/>
                </a:moveTo>
                <a:lnTo>
                  <a:pt x="0" y="56769"/>
                </a:lnTo>
                <a:lnTo>
                  <a:pt x="497378" y="58224"/>
                </a:lnTo>
                <a:lnTo>
                  <a:pt x="508277" y="51911"/>
                </a:lnTo>
                <a:lnTo>
                  <a:pt x="497375" y="45524"/>
                </a:lnTo>
                <a:lnTo>
                  <a:pt x="0" y="44069"/>
                </a:lnTo>
                <a:close/>
              </a:path>
              <a:path w="533400" h="103504">
                <a:moveTo>
                  <a:pt x="517651" y="46482"/>
                </a:moveTo>
                <a:lnTo>
                  <a:pt x="508277" y="51911"/>
                </a:lnTo>
                <a:lnTo>
                  <a:pt x="517651" y="57404"/>
                </a:lnTo>
                <a:lnTo>
                  <a:pt x="517651" y="46482"/>
                </a:lnTo>
                <a:close/>
              </a:path>
              <a:path w="533400" h="103504">
                <a:moveTo>
                  <a:pt x="520826" y="46482"/>
                </a:moveTo>
                <a:lnTo>
                  <a:pt x="517651" y="46482"/>
                </a:lnTo>
                <a:lnTo>
                  <a:pt x="517651" y="57404"/>
                </a:lnTo>
                <a:lnTo>
                  <a:pt x="520826" y="57404"/>
                </a:lnTo>
                <a:lnTo>
                  <a:pt x="520826" y="46482"/>
                </a:lnTo>
                <a:close/>
              </a:path>
              <a:path w="533400" h="103504">
                <a:moveTo>
                  <a:pt x="497375" y="45524"/>
                </a:moveTo>
                <a:lnTo>
                  <a:pt x="508277" y="51911"/>
                </a:lnTo>
                <a:lnTo>
                  <a:pt x="517651" y="46482"/>
                </a:lnTo>
                <a:lnTo>
                  <a:pt x="520826" y="46482"/>
                </a:lnTo>
                <a:lnTo>
                  <a:pt x="520826" y="45593"/>
                </a:lnTo>
                <a:lnTo>
                  <a:pt x="497375" y="45524"/>
                </a:lnTo>
                <a:close/>
              </a:path>
            </a:pathLst>
          </a:custGeom>
          <a:solidFill>
            <a:srgbClr val="000000"/>
          </a:solidFill>
        </p:spPr>
        <p:txBody>
          <a:bodyPr wrap="square" lIns="0" tIns="0" rIns="0" bIns="0" rtlCol="0"/>
          <a:lstStyle/>
          <a:p>
            <a:endParaRPr/>
          </a:p>
        </p:txBody>
      </p:sp>
      <p:sp>
        <p:nvSpPr>
          <p:cNvPr id="8" name="object 8"/>
          <p:cNvSpPr txBox="1"/>
          <p:nvPr/>
        </p:nvSpPr>
        <p:spPr>
          <a:xfrm>
            <a:off x="8402828" y="6292910"/>
            <a:ext cx="205740" cy="222885"/>
          </a:xfrm>
          <a:prstGeom prst="rect">
            <a:avLst/>
          </a:prstGeom>
        </p:spPr>
        <p:txBody>
          <a:bodyPr vert="horz" wrap="square" lIns="0" tIns="0" rIns="0" bIns="0" rtlCol="0">
            <a:spAutoFit/>
          </a:bodyPr>
          <a:lstStyle/>
          <a:p>
            <a:pPr marL="12700">
              <a:lnSpc>
                <a:spcPts val="1630"/>
              </a:lnSpc>
            </a:pPr>
            <a:r>
              <a:rPr sz="1400" spc="5" dirty="0">
                <a:latin typeface="Times New Roman"/>
                <a:cs typeface="Times New Roman"/>
              </a:rPr>
              <a:t>20</a:t>
            </a:r>
            <a:endParaRPr sz="1400">
              <a:latin typeface="Times New Roman"/>
              <a:cs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732229"/>
            <a:ext cx="5287010" cy="898525"/>
          </a:xfrm>
          <a:prstGeom prst="rect">
            <a:avLst/>
          </a:prstGeom>
        </p:spPr>
        <p:txBody>
          <a:bodyPr vert="horz" wrap="square" lIns="0" tIns="13335" rIns="0" bIns="0" rtlCol="0">
            <a:spAutoFit/>
          </a:bodyPr>
          <a:lstStyle/>
          <a:p>
            <a:pPr marL="12700">
              <a:lnSpc>
                <a:spcPts val="3435"/>
              </a:lnSpc>
              <a:spcBef>
                <a:spcPts val="105"/>
              </a:spcBef>
            </a:pPr>
            <a:r>
              <a:rPr sz="2900" spc="-5" dirty="0">
                <a:solidFill>
                  <a:srgbClr val="000000"/>
                </a:solidFill>
              </a:rPr>
              <a:t>6.Electrical</a:t>
            </a:r>
            <a:r>
              <a:rPr sz="2900" spc="-30" dirty="0">
                <a:solidFill>
                  <a:srgbClr val="000000"/>
                </a:solidFill>
              </a:rPr>
              <a:t> </a:t>
            </a:r>
            <a:r>
              <a:rPr sz="2900" spc="-5" dirty="0">
                <a:solidFill>
                  <a:srgbClr val="000000"/>
                </a:solidFill>
              </a:rPr>
              <a:t>conditioning:</a:t>
            </a:r>
            <a:endParaRPr sz="2900"/>
          </a:p>
          <a:p>
            <a:pPr marL="12700">
              <a:lnSpc>
                <a:spcPts val="3435"/>
              </a:lnSpc>
            </a:pPr>
            <a:r>
              <a:rPr sz="2900" spc="-5" dirty="0">
                <a:solidFill>
                  <a:srgbClr val="000000"/>
                </a:solidFill>
              </a:rPr>
              <a:t>Sealed glass bulbs-mercury: battery</a:t>
            </a:r>
            <a:endParaRPr sz="2900"/>
          </a:p>
        </p:txBody>
      </p:sp>
      <p:sp>
        <p:nvSpPr>
          <p:cNvPr id="3" name="object 3"/>
          <p:cNvSpPr txBox="1"/>
          <p:nvPr/>
        </p:nvSpPr>
        <p:spPr>
          <a:xfrm>
            <a:off x="383540" y="2592451"/>
            <a:ext cx="7966709" cy="1757680"/>
          </a:xfrm>
          <a:prstGeom prst="rect">
            <a:avLst/>
          </a:prstGeom>
        </p:spPr>
        <p:txBody>
          <a:bodyPr vert="horz" wrap="square" lIns="0" tIns="13335" rIns="0" bIns="0" rtlCol="0">
            <a:spAutoFit/>
          </a:bodyPr>
          <a:lstStyle/>
          <a:p>
            <a:pPr marL="12700">
              <a:lnSpc>
                <a:spcPct val="100000"/>
              </a:lnSpc>
              <a:spcBef>
                <a:spcPts val="105"/>
              </a:spcBef>
            </a:pPr>
            <a:r>
              <a:rPr sz="2900" spc="-50" dirty="0">
                <a:latin typeface="Times New Roman"/>
                <a:cs typeface="Times New Roman"/>
              </a:rPr>
              <a:t>Water </a:t>
            </a:r>
            <a:r>
              <a:rPr sz="2900" spc="-5" dirty="0">
                <a:latin typeface="Times New Roman"/>
                <a:cs typeface="Times New Roman"/>
              </a:rPr>
              <a:t>boils- mercury </a:t>
            </a:r>
            <a:r>
              <a:rPr sz="2900" dirty="0">
                <a:latin typeface="Times New Roman"/>
                <a:cs typeface="Times New Roman"/>
              </a:rPr>
              <a:t>bulb - </a:t>
            </a:r>
            <a:r>
              <a:rPr sz="2900" spc="-10" dirty="0">
                <a:latin typeface="Times New Roman"/>
                <a:cs typeface="Times New Roman"/>
              </a:rPr>
              <a:t>emit </a:t>
            </a:r>
            <a:r>
              <a:rPr sz="2900" spc="-5" dirty="0">
                <a:latin typeface="Times New Roman"/>
                <a:cs typeface="Times New Roman"/>
              </a:rPr>
              <a:t>electrical</a:t>
            </a:r>
            <a:r>
              <a:rPr sz="2900" spc="25" dirty="0">
                <a:latin typeface="Times New Roman"/>
                <a:cs typeface="Times New Roman"/>
              </a:rPr>
              <a:t> </a:t>
            </a:r>
            <a:r>
              <a:rPr sz="2900" spc="-5" dirty="0">
                <a:latin typeface="Times New Roman"/>
                <a:cs typeface="Times New Roman"/>
              </a:rPr>
              <a:t>discharged</a:t>
            </a:r>
            <a:endParaRPr sz="2900">
              <a:latin typeface="Times New Roman"/>
              <a:cs typeface="Times New Roman"/>
            </a:endParaRPr>
          </a:p>
          <a:p>
            <a:pPr>
              <a:lnSpc>
                <a:spcPct val="100000"/>
              </a:lnSpc>
              <a:spcBef>
                <a:spcPts val="35"/>
              </a:spcBef>
            </a:pPr>
            <a:endParaRPr sz="3000">
              <a:latin typeface="Times New Roman"/>
              <a:cs typeface="Times New Roman"/>
            </a:endParaRPr>
          </a:p>
          <a:p>
            <a:pPr marL="12700" marR="3763645">
              <a:lnSpc>
                <a:spcPts val="3379"/>
              </a:lnSpc>
            </a:pPr>
            <a:r>
              <a:rPr sz="2900" dirty="0">
                <a:latin typeface="Times New Roman"/>
                <a:cs typeface="Times New Roman"/>
              </a:rPr>
              <a:t>7. </a:t>
            </a:r>
            <a:r>
              <a:rPr sz="2900" spc="-5" dirty="0">
                <a:latin typeface="Times New Roman"/>
                <a:cs typeface="Times New Roman"/>
              </a:rPr>
              <a:t>Radioactive conditioning:  </a:t>
            </a:r>
            <a:r>
              <a:rPr sz="2900" spc="-30" dirty="0">
                <a:latin typeface="Times New Roman"/>
                <a:cs typeface="Times New Roman"/>
              </a:rPr>
              <a:t>Tablets </a:t>
            </a:r>
            <a:r>
              <a:rPr sz="2900" dirty="0">
                <a:latin typeface="Times New Roman"/>
                <a:cs typeface="Times New Roman"/>
              </a:rPr>
              <a:t>- </a:t>
            </a:r>
            <a:r>
              <a:rPr sz="2900" spc="-5" dirty="0">
                <a:latin typeface="Times New Roman"/>
                <a:cs typeface="Times New Roman"/>
              </a:rPr>
              <a:t>radioactive</a:t>
            </a:r>
            <a:r>
              <a:rPr sz="2900" spc="-20" dirty="0">
                <a:latin typeface="Times New Roman"/>
                <a:cs typeface="Times New Roman"/>
              </a:rPr>
              <a:t> </a:t>
            </a:r>
            <a:r>
              <a:rPr sz="2900" spc="-5" dirty="0">
                <a:latin typeface="Times New Roman"/>
                <a:cs typeface="Times New Roman"/>
              </a:rPr>
              <a:t>salts</a:t>
            </a:r>
            <a:endParaRPr sz="2900">
              <a:latin typeface="Times New Roman"/>
              <a:cs typeface="Times New Roman"/>
            </a:endParaRPr>
          </a:p>
        </p:txBody>
      </p:sp>
      <p:sp>
        <p:nvSpPr>
          <p:cNvPr id="4" name="object 4"/>
          <p:cNvSpPr txBox="1"/>
          <p:nvPr/>
        </p:nvSpPr>
        <p:spPr>
          <a:xfrm>
            <a:off x="383540" y="4741926"/>
            <a:ext cx="7533005" cy="1327785"/>
          </a:xfrm>
          <a:prstGeom prst="rect">
            <a:avLst/>
          </a:prstGeom>
        </p:spPr>
        <p:txBody>
          <a:bodyPr vert="horz" wrap="square" lIns="0" tIns="12700" rIns="0" bIns="0" rtlCol="0">
            <a:spAutoFit/>
          </a:bodyPr>
          <a:lstStyle/>
          <a:p>
            <a:pPr marL="12700">
              <a:lnSpc>
                <a:spcPts val="3429"/>
              </a:lnSpc>
              <a:spcBef>
                <a:spcPts val="100"/>
              </a:spcBef>
            </a:pPr>
            <a:r>
              <a:rPr sz="2900" dirty="0">
                <a:latin typeface="Times New Roman"/>
                <a:cs typeface="Times New Roman"/>
              </a:rPr>
              <a:t>8. </a:t>
            </a:r>
            <a:r>
              <a:rPr sz="2900" spc="-5" dirty="0">
                <a:latin typeface="Times New Roman"/>
                <a:cs typeface="Times New Roman"/>
              </a:rPr>
              <a:t>Complexometric</a:t>
            </a:r>
            <a:r>
              <a:rPr sz="2900" spc="10" dirty="0">
                <a:latin typeface="Times New Roman"/>
                <a:cs typeface="Times New Roman"/>
              </a:rPr>
              <a:t> </a:t>
            </a:r>
            <a:r>
              <a:rPr sz="2900" spc="-5" dirty="0">
                <a:latin typeface="Times New Roman"/>
                <a:cs typeface="Times New Roman"/>
              </a:rPr>
              <a:t>method:</a:t>
            </a:r>
            <a:endParaRPr sz="2900">
              <a:latin typeface="Times New Roman"/>
              <a:cs typeface="Times New Roman"/>
            </a:endParaRPr>
          </a:p>
          <a:p>
            <a:pPr marL="287020" indent="-274320">
              <a:lnSpc>
                <a:spcPts val="3385"/>
              </a:lnSpc>
              <a:buClr>
                <a:srgbClr val="0E6EC5"/>
              </a:buClr>
              <a:buSzPct val="68965"/>
              <a:buChar char="-"/>
              <a:tabLst>
                <a:tab pos="286385" algn="l"/>
                <a:tab pos="287020" algn="l"/>
              </a:tabLst>
            </a:pPr>
            <a:r>
              <a:rPr sz="2900" dirty="0">
                <a:latin typeface="Times New Roman"/>
                <a:cs typeface="Times New Roman"/>
              </a:rPr>
              <a:t>1.5% </a:t>
            </a:r>
            <a:r>
              <a:rPr sz="2900" spc="-5" dirty="0">
                <a:latin typeface="Times New Roman"/>
                <a:cs typeface="Times New Roman"/>
              </a:rPr>
              <a:t>alk. </a:t>
            </a:r>
            <a:r>
              <a:rPr sz="2900" dirty="0">
                <a:latin typeface="Times New Roman"/>
                <a:cs typeface="Times New Roman"/>
              </a:rPr>
              <a:t>Soln of</a:t>
            </a:r>
            <a:r>
              <a:rPr sz="2900" spc="-50" dirty="0">
                <a:latin typeface="Times New Roman"/>
                <a:cs typeface="Times New Roman"/>
              </a:rPr>
              <a:t> </a:t>
            </a:r>
            <a:r>
              <a:rPr sz="2900" spc="-55" dirty="0">
                <a:latin typeface="Times New Roman"/>
                <a:cs typeface="Times New Roman"/>
              </a:rPr>
              <a:t>EDTA</a:t>
            </a:r>
            <a:endParaRPr sz="2900">
              <a:latin typeface="Times New Roman"/>
              <a:cs typeface="Times New Roman"/>
            </a:endParaRPr>
          </a:p>
          <a:p>
            <a:pPr marL="287020" indent="-274320">
              <a:lnSpc>
                <a:spcPts val="3429"/>
              </a:lnSpc>
              <a:buClr>
                <a:srgbClr val="0E6EC5"/>
              </a:buClr>
              <a:buSzPct val="68965"/>
              <a:buChar char="-"/>
              <a:tabLst>
                <a:tab pos="286385" algn="l"/>
                <a:tab pos="287020" algn="l"/>
              </a:tabLst>
            </a:pPr>
            <a:r>
              <a:rPr sz="2900" spc="-55" dirty="0">
                <a:latin typeface="Times New Roman"/>
                <a:cs typeface="Times New Roman"/>
              </a:rPr>
              <a:t>EDTA </a:t>
            </a:r>
            <a:r>
              <a:rPr sz="2900" dirty="0">
                <a:latin typeface="Times New Roman"/>
                <a:cs typeface="Times New Roman"/>
              </a:rPr>
              <a:t>: </a:t>
            </a:r>
            <a:r>
              <a:rPr sz="2900" spc="-5" dirty="0">
                <a:latin typeface="Times New Roman"/>
                <a:cs typeface="Times New Roman"/>
              </a:rPr>
              <a:t>cation </a:t>
            </a:r>
            <a:r>
              <a:rPr sz="2900" dirty="0">
                <a:latin typeface="Times New Roman"/>
                <a:cs typeface="Times New Roman"/>
              </a:rPr>
              <a:t>&amp; form stable &amp; </a:t>
            </a:r>
            <a:r>
              <a:rPr sz="2900" spc="-5" dirty="0">
                <a:latin typeface="Times New Roman"/>
                <a:cs typeface="Times New Roman"/>
              </a:rPr>
              <a:t>soluble</a:t>
            </a:r>
            <a:r>
              <a:rPr sz="2900" spc="-225" dirty="0">
                <a:latin typeface="Times New Roman"/>
                <a:cs typeface="Times New Roman"/>
              </a:rPr>
              <a:t> </a:t>
            </a:r>
            <a:r>
              <a:rPr sz="2900" spc="-5" dirty="0">
                <a:latin typeface="Times New Roman"/>
                <a:cs typeface="Times New Roman"/>
              </a:rPr>
              <a:t>complex.</a:t>
            </a:r>
            <a:endParaRPr sz="2900">
              <a:latin typeface="Times New Roman"/>
              <a:cs typeface="Times New Roman"/>
            </a:endParaRPr>
          </a:p>
        </p:txBody>
      </p:sp>
      <p:sp>
        <p:nvSpPr>
          <p:cNvPr id="5" name="object 5"/>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21</a:t>
            </a:r>
            <a:endParaRPr sz="1400">
              <a:latin typeface="Times New Roman"/>
              <a:cs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45904"/>
            <a:ext cx="6509384" cy="1794510"/>
          </a:xfrm>
          <a:prstGeom prst="rect">
            <a:avLst/>
          </a:prstGeom>
        </p:spPr>
        <p:txBody>
          <a:bodyPr vert="horz" wrap="square" lIns="0" tIns="89535" rIns="0" bIns="0" rtlCol="0">
            <a:spAutoFit/>
          </a:bodyPr>
          <a:lstStyle/>
          <a:p>
            <a:pPr marL="287020" indent="-274955">
              <a:lnSpc>
                <a:spcPct val="100000"/>
              </a:lnSpc>
              <a:spcBef>
                <a:spcPts val="705"/>
              </a:spcBef>
              <a:buClr>
                <a:srgbClr val="0E6EC5"/>
              </a:buClr>
              <a:buSzPct val="68750"/>
              <a:buFont typeface="Wingdings"/>
              <a:buChar char=""/>
              <a:tabLst>
                <a:tab pos="287655" algn="l"/>
              </a:tabLst>
            </a:pPr>
            <a:r>
              <a:rPr sz="2400" dirty="0">
                <a:latin typeface="Times New Roman"/>
                <a:cs typeface="Times New Roman"/>
              </a:rPr>
              <a:t>Other</a:t>
            </a:r>
            <a:r>
              <a:rPr sz="2400" spc="-20" dirty="0">
                <a:latin typeface="Times New Roman"/>
                <a:cs typeface="Times New Roman"/>
              </a:rPr>
              <a:t> </a:t>
            </a:r>
            <a:r>
              <a:rPr sz="2400" dirty="0">
                <a:latin typeface="Times New Roman"/>
                <a:cs typeface="Times New Roman"/>
              </a:rPr>
              <a:t>treatment:</a:t>
            </a:r>
            <a:endParaRPr sz="2400">
              <a:latin typeface="Times New Roman"/>
              <a:cs typeface="Times New Roman"/>
            </a:endParaRPr>
          </a:p>
          <a:p>
            <a:pPr marL="527685" indent="-515620">
              <a:lnSpc>
                <a:spcPct val="100000"/>
              </a:lnSpc>
              <a:spcBef>
                <a:spcPts val="600"/>
              </a:spcBef>
              <a:buClr>
                <a:srgbClr val="0E6EC5"/>
              </a:buClr>
              <a:buSzPct val="68750"/>
              <a:buAutoNum type="arabicPeriod"/>
              <a:tabLst>
                <a:tab pos="527685" algn="l"/>
                <a:tab pos="528320" algn="l"/>
              </a:tabLst>
            </a:pPr>
            <a:r>
              <a:rPr sz="2400" dirty="0">
                <a:latin typeface="Times New Roman"/>
                <a:cs typeface="Times New Roman"/>
              </a:rPr>
              <a:t>Prevent : iron</a:t>
            </a:r>
            <a:r>
              <a:rPr sz="2400" spc="-25" dirty="0">
                <a:latin typeface="Times New Roman"/>
                <a:cs typeface="Times New Roman"/>
              </a:rPr>
              <a:t> </a:t>
            </a:r>
            <a:r>
              <a:rPr sz="2400" spc="-5" dirty="0">
                <a:latin typeface="Times New Roman"/>
                <a:cs typeface="Times New Roman"/>
              </a:rPr>
              <a:t>oxide</a:t>
            </a:r>
            <a:endParaRPr sz="2400">
              <a:latin typeface="Times New Roman"/>
              <a:cs typeface="Times New Roman"/>
            </a:endParaRPr>
          </a:p>
          <a:p>
            <a:pPr marL="527685" indent="-515620">
              <a:lnSpc>
                <a:spcPct val="100000"/>
              </a:lnSpc>
              <a:spcBef>
                <a:spcPts val="600"/>
              </a:spcBef>
              <a:buClr>
                <a:srgbClr val="0E6EC5"/>
              </a:buClr>
              <a:buSzPct val="68750"/>
              <a:buAutoNum type="arabicPeriod"/>
              <a:tabLst>
                <a:tab pos="527685" algn="l"/>
                <a:tab pos="528320" algn="l"/>
              </a:tabLst>
            </a:pPr>
            <a:r>
              <a:rPr sz="2400" dirty="0">
                <a:latin typeface="Times New Roman"/>
                <a:cs typeface="Times New Roman"/>
              </a:rPr>
              <a:t>Protects boiler unit from corrosion by </a:t>
            </a:r>
            <a:r>
              <a:rPr sz="2400" spc="-5" dirty="0">
                <a:latin typeface="Times New Roman"/>
                <a:cs typeface="Times New Roman"/>
              </a:rPr>
              <a:t>wet</a:t>
            </a:r>
            <a:r>
              <a:rPr sz="2400" spc="-150" dirty="0">
                <a:latin typeface="Times New Roman"/>
                <a:cs typeface="Times New Roman"/>
              </a:rPr>
              <a:t> </a:t>
            </a:r>
            <a:r>
              <a:rPr sz="2400" spc="-5" dirty="0">
                <a:latin typeface="Times New Roman"/>
                <a:cs typeface="Times New Roman"/>
              </a:rPr>
              <a:t>steam.</a:t>
            </a:r>
            <a:endParaRPr sz="2400">
              <a:latin typeface="Times New Roman"/>
              <a:cs typeface="Times New Roman"/>
            </a:endParaRPr>
          </a:p>
          <a:p>
            <a:pPr marL="527685" indent="-515620">
              <a:lnSpc>
                <a:spcPct val="100000"/>
              </a:lnSpc>
              <a:spcBef>
                <a:spcPts val="600"/>
              </a:spcBef>
              <a:buClr>
                <a:srgbClr val="0E6EC5"/>
              </a:buClr>
              <a:buSzPct val="68750"/>
              <a:buAutoNum type="arabicPeriod"/>
              <a:tabLst>
                <a:tab pos="527685" algn="l"/>
                <a:tab pos="528320" algn="l"/>
              </a:tabLst>
            </a:pPr>
            <a:r>
              <a:rPr sz="2400" dirty="0">
                <a:latin typeface="Times New Roman"/>
                <a:cs typeface="Times New Roman"/>
              </a:rPr>
              <a:t>Reduces the carry over of oxides with</a:t>
            </a:r>
            <a:r>
              <a:rPr sz="2400" spc="-110" dirty="0">
                <a:latin typeface="Times New Roman"/>
                <a:cs typeface="Times New Roman"/>
              </a:rPr>
              <a:t> </a:t>
            </a:r>
            <a:r>
              <a:rPr sz="2400" dirty="0">
                <a:latin typeface="Times New Roman"/>
                <a:cs typeface="Times New Roman"/>
              </a:rPr>
              <a:t>steam</a:t>
            </a:r>
            <a:endParaRPr sz="2400">
              <a:latin typeface="Times New Roman"/>
              <a:cs typeface="Times New Roman"/>
            </a:endParaRPr>
          </a:p>
        </p:txBody>
      </p:sp>
      <p:sp>
        <p:nvSpPr>
          <p:cNvPr id="3" name="object 3"/>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22</a:t>
            </a:r>
            <a:endParaRPr sz="1400">
              <a:latin typeface="Times New Roman"/>
              <a:cs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075689"/>
            <a:ext cx="2759710" cy="330835"/>
          </a:xfrm>
          <a:prstGeom prst="rect">
            <a:avLst/>
          </a:prstGeom>
        </p:spPr>
        <p:txBody>
          <a:bodyPr vert="horz" wrap="square" lIns="0" tIns="13335" rIns="0" bIns="0" rtlCol="0">
            <a:spAutoFit/>
          </a:bodyPr>
          <a:lstStyle/>
          <a:p>
            <a:pPr marL="12700">
              <a:lnSpc>
                <a:spcPct val="100000"/>
              </a:lnSpc>
              <a:spcBef>
                <a:spcPts val="105"/>
              </a:spcBef>
            </a:pPr>
            <a:r>
              <a:rPr sz="2000" spc="-5" dirty="0"/>
              <a:t>C</a:t>
            </a:r>
            <a:r>
              <a:rPr sz="1600" spc="-5" dirty="0"/>
              <a:t>AUSTIC</a:t>
            </a:r>
            <a:r>
              <a:rPr sz="1600" spc="70" dirty="0"/>
              <a:t> </a:t>
            </a:r>
            <a:r>
              <a:rPr sz="1600" spc="-15" dirty="0"/>
              <a:t>EMBRITTLEMENT</a:t>
            </a:r>
            <a:r>
              <a:rPr sz="2000" spc="-15" dirty="0"/>
              <a:t>:</a:t>
            </a:r>
            <a:endParaRPr sz="2000"/>
          </a:p>
        </p:txBody>
      </p:sp>
      <p:sp>
        <p:nvSpPr>
          <p:cNvPr id="3" name="object 3"/>
          <p:cNvSpPr txBox="1"/>
          <p:nvPr/>
        </p:nvSpPr>
        <p:spPr>
          <a:xfrm>
            <a:off x="535940" y="1624025"/>
            <a:ext cx="3469640" cy="1094105"/>
          </a:xfrm>
          <a:prstGeom prst="rect">
            <a:avLst/>
          </a:prstGeom>
        </p:spPr>
        <p:txBody>
          <a:bodyPr vert="horz" wrap="square" lIns="0" tIns="13335" rIns="0" bIns="0" rtlCol="0">
            <a:spAutoFit/>
          </a:bodyPr>
          <a:lstStyle/>
          <a:p>
            <a:pPr marL="287020" indent="-274955">
              <a:lnSpc>
                <a:spcPct val="100000"/>
              </a:lnSpc>
              <a:spcBef>
                <a:spcPts val="105"/>
              </a:spcBef>
              <a:buClr>
                <a:srgbClr val="0E6EC5"/>
              </a:buClr>
              <a:buSzPct val="70000"/>
              <a:buFont typeface="Wingdings"/>
              <a:buChar char=""/>
              <a:tabLst>
                <a:tab pos="287655" algn="l"/>
              </a:tabLst>
            </a:pPr>
            <a:r>
              <a:rPr sz="2000" dirty="0">
                <a:latin typeface="Times New Roman"/>
                <a:cs typeface="Times New Roman"/>
              </a:rPr>
              <a:t>Is a </a:t>
            </a:r>
            <a:r>
              <a:rPr sz="2000" spc="-5" dirty="0">
                <a:latin typeface="Times New Roman"/>
                <a:cs typeface="Times New Roman"/>
              </a:rPr>
              <a:t>type </a:t>
            </a:r>
            <a:r>
              <a:rPr sz="2000" dirty="0">
                <a:latin typeface="Times New Roman"/>
                <a:cs typeface="Times New Roman"/>
              </a:rPr>
              <a:t>of boiler</a:t>
            </a:r>
            <a:r>
              <a:rPr sz="2000" spc="-95" dirty="0">
                <a:latin typeface="Times New Roman"/>
                <a:cs typeface="Times New Roman"/>
              </a:rPr>
              <a:t> </a:t>
            </a:r>
            <a:r>
              <a:rPr sz="2000" dirty="0">
                <a:latin typeface="Times New Roman"/>
                <a:cs typeface="Times New Roman"/>
              </a:rPr>
              <a:t>corrosion.</a:t>
            </a:r>
            <a:endParaRPr sz="2000">
              <a:latin typeface="Times New Roman"/>
              <a:cs typeface="Times New Roman"/>
            </a:endParaRPr>
          </a:p>
          <a:p>
            <a:pPr>
              <a:lnSpc>
                <a:spcPct val="100000"/>
              </a:lnSpc>
              <a:spcBef>
                <a:spcPts val="35"/>
              </a:spcBef>
              <a:buClr>
                <a:srgbClr val="0E6EC5"/>
              </a:buClr>
              <a:buFont typeface="Wingdings"/>
              <a:buChar char=""/>
            </a:pPr>
            <a:endParaRPr sz="3100">
              <a:latin typeface="Times New Roman"/>
              <a:cs typeface="Times New Roman"/>
            </a:endParaRPr>
          </a:p>
          <a:p>
            <a:pPr marL="287020" indent="-274955">
              <a:lnSpc>
                <a:spcPct val="100000"/>
              </a:lnSpc>
              <a:spcBef>
                <a:spcPts val="5"/>
              </a:spcBef>
              <a:buClr>
                <a:srgbClr val="0E6EC5"/>
              </a:buClr>
              <a:buSzPct val="70000"/>
              <a:buFont typeface="Wingdings"/>
              <a:buChar char=""/>
              <a:tabLst>
                <a:tab pos="287655" algn="l"/>
              </a:tabLst>
            </a:pPr>
            <a:r>
              <a:rPr sz="2000" dirty="0">
                <a:latin typeface="Times New Roman"/>
                <a:cs typeface="Times New Roman"/>
              </a:rPr>
              <a:t>Caused : highly alkaline</a:t>
            </a:r>
            <a:r>
              <a:rPr sz="2000" spc="-175" dirty="0">
                <a:latin typeface="Times New Roman"/>
                <a:cs typeface="Times New Roman"/>
              </a:rPr>
              <a:t> </a:t>
            </a:r>
            <a:r>
              <a:rPr sz="2000" spc="-45" dirty="0">
                <a:latin typeface="Times New Roman"/>
                <a:cs typeface="Times New Roman"/>
              </a:rPr>
              <a:t>Water.</a:t>
            </a:r>
            <a:endParaRPr sz="2000">
              <a:latin typeface="Times New Roman"/>
              <a:cs typeface="Times New Roman"/>
            </a:endParaRPr>
          </a:p>
        </p:txBody>
      </p:sp>
      <p:sp>
        <p:nvSpPr>
          <p:cNvPr id="4" name="object 4"/>
          <p:cNvSpPr txBox="1"/>
          <p:nvPr/>
        </p:nvSpPr>
        <p:spPr>
          <a:xfrm>
            <a:off x="535940" y="3454374"/>
            <a:ext cx="7083425" cy="2693035"/>
          </a:xfrm>
          <a:prstGeom prst="rect">
            <a:avLst/>
          </a:prstGeom>
        </p:spPr>
        <p:txBody>
          <a:bodyPr vert="horz" wrap="square" lIns="0" tIns="88900" rIns="0" bIns="0" rtlCol="0">
            <a:spAutoFit/>
          </a:bodyPr>
          <a:lstStyle/>
          <a:p>
            <a:pPr marL="287020" indent="-274955">
              <a:lnSpc>
                <a:spcPct val="100000"/>
              </a:lnSpc>
              <a:spcBef>
                <a:spcPts val="700"/>
              </a:spcBef>
              <a:buClr>
                <a:srgbClr val="0E6EC5"/>
              </a:buClr>
              <a:buSzPct val="70000"/>
              <a:buFont typeface="Wingdings"/>
              <a:buChar char=""/>
              <a:tabLst>
                <a:tab pos="287655" algn="l"/>
              </a:tabLst>
            </a:pPr>
            <a:r>
              <a:rPr sz="2000" dirty="0">
                <a:latin typeface="Times New Roman"/>
                <a:cs typeface="Times New Roman"/>
              </a:rPr>
              <a:t>Boiler water – </a:t>
            </a:r>
            <a:r>
              <a:rPr sz="2000" spc="-5" dirty="0">
                <a:latin typeface="Times New Roman"/>
                <a:cs typeface="Times New Roman"/>
              </a:rPr>
              <a:t>becomes</a:t>
            </a:r>
            <a:r>
              <a:rPr sz="2000" spc="450" dirty="0">
                <a:latin typeface="Times New Roman"/>
                <a:cs typeface="Times New Roman"/>
              </a:rPr>
              <a:t> </a:t>
            </a:r>
            <a:r>
              <a:rPr sz="2000" dirty="0">
                <a:latin typeface="Times New Roman"/>
                <a:cs typeface="Times New Roman"/>
              </a:rPr>
              <a:t>‘caustic’</a:t>
            </a:r>
            <a:endParaRPr sz="2000">
              <a:latin typeface="Times New Roman"/>
              <a:cs typeface="Times New Roman"/>
            </a:endParaRPr>
          </a:p>
          <a:p>
            <a:pPr marL="76200" marR="1176655" indent="185420">
              <a:lnSpc>
                <a:spcPct val="125000"/>
              </a:lnSpc>
            </a:pPr>
            <a:r>
              <a:rPr sz="2000" spc="-30" dirty="0">
                <a:latin typeface="Times New Roman"/>
                <a:cs typeface="Times New Roman"/>
              </a:rPr>
              <a:t>Water </a:t>
            </a:r>
            <a:r>
              <a:rPr sz="2000" dirty="0">
                <a:latin typeface="Times New Roman"/>
                <a:cs typeface="Times New Roman"/>
              </a:rPr>
              <a:t>evaporates – </a:t>
            </a:r>
            <a:r>
              <a:rPr sz="2000" u="sng" dirty="0">
                <a:uFill>
                  <a:solidFill>
                    <a:srgbClr val="000000"/>
                  </a:solidFill>
                </a:uFill>
                <a:latin typeface="Times New Roman"/>
                <a:cs typeface="Times New Roman"/>
              </a:rPr>
              <a:t>caustic soda</a:t>
            </a:r>
            <a:r>
              <a:rPr sz="2000" dirty="0">
                <a:latin typeface="Times New Roman"/>
                <a:cs typeface="Times New Roman"/>
              </a:rPr>
              <a:t> concentration</a:t>
            </a:r>
            <a:r>
              <a:rPr sz="2000" spc="-170" dirty="0">
                <a:latin typeface="Times New Roman"/>
                <a:cs typeface="Times New Roman"/>
              </a:rPr>
              <a:t> </a:t>
            </a:r>
            <a:r>
              <a:rPr sz="2000" dirty="0">
                <a:latin typeface="Times New Roman"/>
                <a:cs typeface="Times New Roman"/>
              </a:rPr>
              <a:t>increase.  which </a:t>
            </a:r>
            <a:r>
              <a:rPr sz="2000" spc="-5" dirty="0">
                <a:latin typeface="Times New Roman"/>
                <a:cs typeface="Times New Roman"/>
              </a:rPr>
              <a:t>attacks </a:t>
            </a:r>
            <a:r>
              <a:rPr sz="2000" dirty="0">
                <a:latin typeface="Times New Roman"/>
                <a:cs typeface="Times New Roman"/>
              </a:rPr>
              <a:t>surrounding area of boiler</a:t>
            </a:r>
            <a:r>
              <a:rPr sz="2000" spc="-120" dirty="0">
                <a:latin typeface="Times New Roman"/>
                <a:cs typeface="Times New Roman"/>
              </a:rPr>
              <a:t> </a:t>
            </a:r>
            <a:r>
              <a:rPr sz="2000" spc="-5" dirty="0">
                <a:latin typeface="Times New Roman"/>
                <a:cs typeface="Times New Roman"/>
              </a:rPr>
              <a:t>machine.</a:t>
            </a:r>
            <a:endParaRPr sz="2000">
              <a:latin typeface="Times New Roman"/>
              <a:cs typeface="Times New Roman"/>
            </a:endParaRPr>
          </a:p>
          <a:p>
            <a:pPr marL="12700">
              <a:lnSpc>
                <a:spcPct val="100000"/>
              </a:lnSpc>
              <a:spcBef>
                <a:spcPts val="600"/>
              </a:spcBef>
            </a:pPr>
            <a:r>
              <a:rPr sz="2000" dirty="0">
                <a:latin typeface="Times New Roman"/>
                <a:cs typeface="Times New Roman"/>
              </a:rPr>
              <a:t>Iron converted in to sodium</a:t>
            </a:r>
            <a:r>
              <a:rPr sz="2000" spc="-135" dirty="0">
                <a:latin typeface="Times New Roman"/>
                <a:cs typeface="Times New Roman"/>
              </a:rPr>
              <a:t> </a:t>
            </a:r>
            <a:r>
              <a:rPr sz="2000" dirty="0">
                <a:latin typeface="Times New Roman"/>
                <a:cs typeface="Times New Roman"/>
              </a:rPr>
              <a:t>ferroate.</a:t>
            </a:r>
            <a:endParaRPr sz="2000">
              <a:latin typeface="Times New Roman"/>
              <a:cs typeface="Times New Roman"/>
            </a:endParaRPr>
          </a:p>
          <a:p>
            <a:pPr marL="12700" marR="5080">
              <a:lnSpc>
                <a:spcPct val="125000"/>
              </a:lnSpc>
            </a:pPr>
            <a:r>
              <a:rPr sz="2000" dirty="0">
                <a:latin typeface="Times New Roman"/>
                <a:cs typeface="Times New Roman"/>
              </a:rPr>
              <a:t>Causes </a:t>
            </a:r>
            <a:r>
              <a:rPr sz="2000" spc="-5" dirty="0">
                <a:latin typeface="Times New Roman"/>
                <a:cs typeface="Times New Roman"/>
              </a:rPr>
              <a:t>embrittlement </a:t>
            </a:r>
            <a:r>
              <a:rPr sz="2000" dirty="0">
                <a:latin typeface="Times New Roman"/>
                <a:cs typeface="Times New Roman"/>
              </a:rPr>
              <a:t>of boiler parts, strssed parts( bends, </a:t>
            </a:r>
            <a:r>
              <a:rPr sz="2000" spc="-5" dirty="0">
                <a:latin typeface="Times New Roman"/>
                <a:cs typeface="Times New Roman"/>
              </a:rPr>
              <a:t>joints,</a:t>
            </a:r>
            <a:r>
              <a:rPr sz="2000" spc="-175" dirty="0">
                <a:latin typeface="Times New Roman"/>
                <a:cs typeface="Times New Roman"/>
              </a:rPr>
              <a:t> </a:t>
            </a:r>
            <a:r>
              <a:rPr sz="2000" spc="-5" dirty="0">
                <a:latin typeface="Times New Roman"/>
                <a:cs typeface="Times New Roman"/>
              </a:rPr>
              <a:t>etc.)  </a:t>
            </a:r>
            <a:r>
              <a:rPr sz="2000" dirty="0">
                <a:latin typeface="Times New Roman"/>
                <a:cs typeface="Times New Roman"/>
              </a:rPr>
              <a:t>Iron : in dilute NaOH – cathodic</a:t>
            </a:r>
            <a:r>
              <a:rPr sz="2000" spc="-125" dirty="0">
                <a:latin typeface="Times New Roman"/>
                <a:cs typeface="Times New Roman"/>
              </a:rPr>
              <a:t> </a:t>
            </a:r>
            <a:r>
              <a:rPr sz="2000" dirty="0">
                <a:latin typeface="Times New Roman"/>
                <a:cs typeface="Times New Roman"/>
              </a:rPr>
              <a:t>side</a:t>
            </a:r>
            <a:endParaRPr sz="2000">
              <a:latin typeface="Times New Roman"/>
              <a:cs typeface="Times New Roman"/>
            </a:endParaRPr>
          </a:p>
          <a:p>
            <a:pPr marL="12700">
              <a:lnSpc>
                <a:spcPct val="100000"/>
              </a:lnSpc>
              <a:spcBef>
                <a:spcPts val="600"/>
              </a:spcBef>
            </a:pPr>
            <a:r>
              <a:rPr sz="2000" dirty="0">
                <a:latin typeface="Times New Roman"/>
                <a:cs typeface="Times New Roman"/>
              </a:rPr>
              <a:t>Iron : in concentrated NaOH – anodic</a:t>
            </a:r>
            <a:r>
              <a:rPr sz="2000" spc="-130" dirty="0">
                <a:latin typeface="Times New Roman"/>
                <a:cs typeface="Times New Roman"/>
              </a:rPr>
              <a:t> </a:t>
            </a:r>
            <a:r>
              <a:rPr sz="2000" dirty="0">
                <a:latin typeface="Times New Roman"/>
                <a:cs typeface="Times New Roman"/>
              </a:rPr>
              <a:t>side.</a:t>
            </a:r>
            <a:endParaRPr sz="2000">
              <a:latin typeface="Times New Roman"/>
              <a:cs typeface="Times New Roman"/>
            </a:endParaRPr>
          </a:p>
        </p:txBody>
      </p:sp>
      <p:sp>
        <p:nvSpPr>
          <p:cNvPr id="5" name="object 5"/>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23</a:t>
            </a:r>
            <a:endParaRPr sz="1400">
              <a:latin typeface="Times New Roman"/>
              <a:cs typeface="Times New Roman"/>
            </a:endParaRPr>
          </a:p>
        </p:txBody>
      </p:sp>
      <p:sp>
        <p:nvSpPr>
          <p:cNvPr id="6" name="object 6"/>
          <p:cNvSpPr txBox="1"/>
          <p:nvPr/>
        </p:nvSpPr>
        <p:spPr>
          <a:xfrm>
            <a:off x="2058161" y="2896361"/>
            <a:ext cx="4114800" cy="401320"/>
          </a:xfrm>
          <a:prstGeom prst="rect">
            <a:avLst/>
          </a:prstGeom>
          <a:solidFill>
            <a:srgbClr val="FFFF00"/>
          </a:solidFill>
          <a:ln w="19811">
            <a:solidFill>
              <a:srgbClr val="FF0000"/>
            </a:solidFill>
          </a:ln>
        </p:spPr>
        <p:txBody>
          <a:bodyPr vert="horz" wrap="square" lIns="0" tIns="38735" rIns="0" bIns="0" rtlCol="0">
            <a:spAutoFit/>
          </a:bodyPr>
          <a:lstStyle/>
          <a:p>
            <a:pPr marL="90805">
              <a:lnSpc>
                <a:spcPct val="100000"/>
              </a:lnSpc>
              <a:spcBef>
                <a:spcPts val="305"/>
              </a:spcBef>
            </a:pPr>
            <a:r>
              <a:rPr sz="2000" spc="5" dirty="0">
                <a:latin typeface="Times New Roman"/>
                <a:cs typeface="Times New Roman"/>
              </a:rPr>
              <a:t>Na</a:t>
            </a:r>
            <a:r>
              <a:rPr sz="1950" spc="7" baseline="-21367" dirty="0">
                <a:latin typeface="Times New Roman"/>
                <a:cs typeface="Times New Roman"/>
              </a:rPr>
              <a:t>2</a:t>
            </a:r>
            <a:r>
              <a:rPr sz="2000" spc="5" dirty="0">
                <a:latin typeface="Times New Roman"/>
                <a:cs typeface="Times New Roman"/>
              </a:rPr>
              <a:t>CO</a:t>
            </a:r>
            <a:r>
              <a:rPr sz="1950" spc="7" baseline="-21367" dirty="0">
                <a:latin typeface="Times New Roman"/>
                <a:cs typeface="Times New Roman"/>
              </a:rPr>
              <a:t>3 </a:t>
            </a:r>
            <a:r>
              <a:rPr sz="2000" dirty="0">
                <a:latin typeface="Times New Roman"/>
                <a:cs typeface="Times New Roman"/>
              </a:rPr>
              <a:t>+ </a:t>
            </a:r>
            <a:r>
              <a:rPr sz="2000" spc="10" dirty="0">
                <a:latin typeface="Times New Roman"/>
                <a:cs typeface="Times New Roman"/>
              </a:rPr>
              <a:t>H</a:t>
            </a:r>
            <a:r>
              <a:rPr sz="1950" spc="15" baseline="-21367" dirty="0">
                <a:latin typeface="Times New Roman"/>
                <a:cs typeface="Times New Roman"/>
              </a:rPr>
              <a:t>2</a:t>
            </a:r>
            <a:r>
              <a:rPr sz="2000" spc="10" dirty="0">
                <a:latin typeface="Times New Roman"/>
                <a:cs typeface="Times New Roman"/>
              </a:rPr>
              <a:t>O </a:t>
            </a:r>
            <a:r>
              <a:rPr sz="2000" dirty="0">
                <a:latin typeface="Times New Roman"/>
                <a:cs typeface="Times New Roman"/>
              </a:rPr>
              <a:t>→ 2 </a:t>
            </a:r>
            <a:r>
              <a:rPr sz="2000" spc="-5" dirty="0">
                <a:latin typeface="Times New Roman"/>
                <a:cs typeface="Times New Roman"/>
              </a:rPr>
              <a:t>NaOH </a:t>
            </a:r>
            <a:r>
              <a:rPr sz="2000" dirty="0">
                <a:latin typeface="Times New Roman"/>
                <a:cs typeface="Times New Roman"/>
              </a:rPr>
              <a:t>+</a:t>
            </a:r>
            <a:r>
              <a:rPr sz="2000" spc="-240" dirty="0">
                <a:latin typeface="Times New Roman"/>
                <a:cs typeface="Times New Roman"/>
              </a:rPr>
              <a:t> </a:t>
            </a:r>
            <a:r>
              <a:rPr sz="2000" spc="5" dirty="0">
                <a:latin typeface="Times New Roman"/>
                <a:cs typeface="Times New Roman"/>
              </a:rPr>
              <a:t>CO</a:t>
            </a:r>
            <a:r>
              <a:rPr sz="1950" spc="7" baseline="-21367" dirty="0">
                <a:latin typeface="Times New Roman"/>
                <a:cs typeface="Times New Roman"/>
              </a:rPr>
              <a:t>2</a:t>
            </a:r>
            <a:endParaRPr sz="1950" baseline="-21367">
              <a:latin typeface="Times New Roman"/>
              <a:cs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24</a:t>
            </a:r>
            <a:endParaRPr sz="1400">
              <a:latin typeface="Times New Roman"/>
              <a:cs typeface="Times New Roman"/>
            </a:endParaRPr>
          </a:p>
        </p:txBody>
      </p:sp>
      <p:grpSp>
        <p:nvGrpSpPr>
          <p:cNvPr id="3" name="object 3"/>
          <p:cNvGrpSpPr/>
          <p:nvPr/>
        </p:nvGrpSpPr>
        <p:grpSpPr>
          <a:xfrm>
            <a:off x="2197607" y="3112007"/>
            <a:ext cx="3531235" cy="407034"/>
            <a:chOff x="2197607" y="3112007"/>
            <a:chExt cx="3531235" cy="407034"/>
          </a:xfrm>
        </p:grpSpPr>
        <p:sp>
          <p:nvSpPr>
            <p:cNvPr id="4" name="object 4"/>
            <p:cNvSpPr/>
            <p:nvPr/>
          </p:nvSpPr>
          <p:spPr>
            <a:xfrm>
              <a:off x="2210561" y="3124961"/>
              <a:ext cx="3505200" cy="381000"/>
            </a:xfrm>
            <a:custGeom>
              <a:avLst/>
              <a:gdLst/>
              <a:ahLst/>
              <a:cxnLst/>
              <a:rect l="l" t="t" r="r" b="b"/>
              <a:pathLst>
                <a:path w="3505200" h="381000">
                  <a:moveTo>
                    <a:pt x="3441700" y="0"/>
                  </a:moveTo>
                  <a:lnTo>
                    <a:pt x="63500" y="0"/>
                  </a:lnTo>
                  <a:lnTo>
                    <a:pt x="38790" y="4992"/>
                  </a:lnTo>
                  <a:lnTo>
                    <a:pt x="18605" y="18605"/>
                  </a:lnTo>
                  <a:lnTo>
                    <a:pt x="4992" y="38790"/>
                  </a:lnTo>
                  <a:lnTo>
                    <a:pt x="0" y="63500"/>
                  </a:lnTo>
                  <a:lnTo>
                    <a:pt x="0" y="317500"/>
                  </a:lnTo>
                  <a:lnTo>
                    <a:pt x="4992" y="342209"/>
                  </a:lnTo>
                  <a:lnTo>
                    <a:pt x="18605" y="362394"/>
                  </a:lnTo>
                  <a:lnTo>
                    <a:pt x="38790" y="376007"/>
                  </a:lnTo>
                  <a:lnTo>
                    <a:pt x="63500" y="381000"/>
                  </a:lnTo>
                  <a:lnTo>
                    <a:pt x="3441700" y="381000"/>
                  </a:lnTo>
                  <a:lnTo>
                    <a:pt x="3466409" y="376007"/>
                  </a:lnTo>
                  <a:lnTo>
                    <a:pt x="3486594" y="362394"/>
                  </a:lnTo>
                  <a:lnTo>
                    <a:pt x="3500207" y="342209"/>
                  </a:lnTo>
                  <a:lnTo>
                    <a:pt x="3505200" y="317500"/>
                  </a:lnTo>
                  <a:lnTo>
                    <a:pt x="3505200" y="63500"/>
                  </a:lnTo>
                  <a:lnTo>
                    <a:pt x="3500207" y="38790"/>
                  </a:lnTo>
                  <a:lnTo>
                    <a:pt x="3486594" y="18605"/>
                  </a:lnTo>
                  <a:lnTo>
                    <a:pt x="3466409" y="4992"/>
                  </a:lnTo>
                  <a:lnTo>
                    <a:pt x="3441700" y="0"/>
                  </a:lnTo>
                  <a:close/>
                </a:path>
              </a:pathLst>
            </a:custGeom>
            <a:solidFill>
              <a:srgbClr val="91C5F7"/>
            </a:solidFill>
          </p:spPr>
          <p:txBody>
            <a:bodyPr wrap="square" lIns="0" tIns="0" rIns="0" bIns="0" rtlCol="0"/>
            <a:lstStyle/>
            <a:p>
              <a:endParaRPr/>
            </a:p>
          </p:txBody>
        </p:sp>
        <p:sp>
          <p:nvSpPr>
            <p:cNvPr id="5" name="object 5"/>
            <p:cNvSpPr/>
            <p:nvPr/>
          </p:nvSpPr>
          <p:spPr>
            <a:xfrm>
              <a:off x="2210561" y="3124961"/>
              <a:ext cx="3505200" cy="381000"/>
            </a:xfrm>
            <a:custGeom>
              <a:avLst/>
              <a:gdLst/>
              <a:ahLst/>
              <a:cxnLst/>
              <a:rect l="l" t="t" r="r" b="b"/>
              <a:pathLst>
                <a:path w="3505200" h="381000">
                  <a:moveTo>
                    <a:pt x="0" y="63500"/>
                  </a:moveTo>
                  <a:lnTo>
                    <a:pt x="4992" y="38790"/>
                  </a:lnTo>
                  <a:lnTo>
                    <a:pt x="18605" y="18605"/>
                  </a:lnTo>
                  <a:lnTo>
                    <a:pt x="38790" y="4992"/>
                  </a:lnTo>
                  <a:lnTo>
                    <a:pt x="63500" y="0"/>
                  </a:lnTo>
                  <a:lnTo>
                    <a:pt x="3441700" y="0"/>
                  </a:lnTo>
                  <a:lnTo>
                    <a:pt x="3466409" y="4992"/>
                  </a:lnTo>
                  <a:lnTo>
                    <a:pt x="3486594" y="18605"/>
                  </a:lnTo>
                  <a:lnTo>
                    <a:pt x="3500207" y="38790"/>
                  </a:lnTo>
                  <a:lnTo>
                    <a:pt x="3505200" y="63500"/>
                  </a:lnTo>
                  <a:lnTo>
                    <a:pt x="3505200" y="317500"/>
                  </a:lnTo>
                  <a:lnTo>
                    <a:pt x="3500207" y="342209"/>
                  </a:lnTo>
                  <a:lnTo>
                    <a:pt x="3486594" y="362394"/>
                  </a:lnTo>
                  <a:lnTo>
                    <a:pt x="3466409" y="376007"/>
                  </a:lnTo>
                  <a:lnTo>
                    <a:pt x="3441700" y="381000"/>
                  </a:lnTo>
                  <a:lnTo>
                    <a:pt x="63500" y="381000"/>
                  </a:lnTo>
                  <a:lnTo>
                    <a:pt x="38790" y="376007"/>
                  </a:lnTo>
                  <a:lnTo>
                    <a:pt x="18605" y="362394"/>
                  </a:lnTo>
                  <a:lnTo>
                    <a:pt x="4992" y="342209"/>
                  </a:lnTo>
                  <a:lnTo>
                    <a:pt x="0" y="317500"/>
                  </a:lnTo>
                  <a:lnTo>
                    <a:pt x="0" y="63500"/>
                  </a:lnTo>
                  <a:close/>
                </a:path>
              </a:pathLst>
            </a:custGeom>
            <a:ln w="25908">
              <a:solidFill>
                <a:srgbClr val="C7E2FA"/>
              </a:solidFill>
            </a:ln>
          </p:spPr>
          <p:txBody>
            <a:bodyPr wrap="square" lIns="0" tIns="0" rIns="0" bIns="0" rtlCol="0"/>
            <a:lstStyle/>
            <a:p>
              <a:endParaRPr/>
            </a:p>
          </p:txBody>
        </p:sp>
      </p:grpSp>
      <p:sp>
        <p:nvSpPr>
          <p:cNvPr id="6" name="object 6"/>
          <p:cNvSpPr txBox="1"/>
          <p:nvPr/>
        </p:nvSpPr>
        <p:spPr>
          <a:xfrm>
            <a:off x="472440" y="1548023"/>
            <a:ext cx="6872605" cy="2694305"/>
          </a:xfrm>
          <a:prstGeom prst="rect">
            <a:avLst/>
          </a:prstGeom>
        </p:spPr>
        <p:txBody>
          <a:bodyPr vert="horz" wrap="square" lIns="0" tIns="89535" rIns="0" bIns="0" rtlCol="0">
            <a:spAutoFit/>
          </a:bodyPr>
          <a:lstStyle/>
          <a:p>
            <a:pPr marL="350520" indent="-274955">
              <a:lnSpc>
                <a:spcPct val="100000"/>
              </a:lnSpc>
              <a:spcBef>
                <a:spcPts val="705"/>
              </a:spcBef>
              <a:buClr>
                <a:srgbClr val="0E6EC5"/>
              </a:buClr>
              <a:buSzPct val="70000"/>
              <a:buFont typeface="Wingdings"/>
              <a:buChar char=""/>
              <a:tabLst>
                <a:tab pos="351155" algn="l"/>
              </a:tabLst>
            </a:pPr>
            <a:r>
              <a:rPr sz="2000" u="sng" spc="-5" dirty="0">
                <a:uFill>
                  <a:solidFill>
                    <a:srgbClr val="000000"/>
                  </a:solidFill>
                </a:uFill>
                <a:latin typeface="Times New Roman"/>
                <a:cs typeface="Times New Roman"/>
              </a:rPr>
              <a:t>Preventation </a:t>
            </a:r>
            <a:r>
              <a:rPr sz="2000" u="sng" dirty="0">
                <a:uFill>
                  <a:solidFill>
                    <a:srgbClr val="000000"/>
                  </a:solidFill>
                </a:uFill>
                <a:latin typeface="Times New Roman"/>
                <a:cs typeface="Times New Roman"/>
              </a:rPr>
              <a:t>of caustic</a:t>
            </a:r>
            <a:r>
              <a:rPr sz="2000" u="sng" spc="-70" dirty="0">
                <a:uFill>
                  <a:solidFill>
                    <a:srgbClr val="000000"/>
                  </a:solidFill>
                </a:uFill>
                <a:latin typeface="Times New Roman"/>
                <a:cs typeface="Times New Roman"/>
              </a:rPr>
              <a:t> </a:t>
            </a:r>
            <a:r>
              <a:rPr sz="2000" u="sng" spc="-5" dirty="0">
                <a:uFill>
                  <a:solidFill>
                    <a:srgbClr val="000000"/>
                  </a:solidFill>
                </a:uFill>
                <a:latin typeface="Times New Roman"/>
                <a:cs typeface="Times New Roman"/>
              </a:rPr>
              <a:t>Embrittlements:</a:t>
            </a:r>
            <a:endParaRPr sz="2000">
              <a:latin typeface="Times New Roman"/>
              <a:cs typeface="Times New Roman"/>
            </a:endParaRPr>
          </a:p>
          <a:p>
            <a:pPr marL="350520" indent="-274955">
              <a:lnSpc>
                <a:spcPct val="100000"/>
              </a:lnSpc>
              <a:spcBef>
                <a:spcPts val="600"/>
              </a:spcBef>
              <a:buClr>
                <a:srgbClr val="0E6EC5"/>
              </a:buClr>
              <a:buSzPct val="70000"/>
              <a:buFont typeface="Wingdings"/>
              <a:buChar char=""/>
              <a:tabLst>
                <a:tab pos="351155" algn="l"/>
              </a:tabLst>
            </a:pPr>
            <a:r>
              <a:rPr sz="2000" dirty="0">
                <a:latin typeface="Times New Roman"/>
                <a:cs typeface="Times New Roman"/>
              </a:rPr>
              <a:t>Sodium phosphate – sodium</a:t>
            </a:r>
            <a:r>
              <a:rPr sz="2000" spc="-150" dirty="0">
                <a:latin typeface="Times New Roman"/>
                <a:cs typeface="Times New Roman"/>
              </a:rPr>
              <a:t> </a:t>
            </a:r>
            <a:r>
              <a:rPr sz="2000" dirty="0">
                <a:latin typeface="Times New Roman"/>
                <a:cs typeface="Times New Roman"/>
              </a:rPr>
              <a:t>carbonates</a:t>
            </a:r>
            <a:endParaRPr sz="2000">
              <a:latin typeface="Times New Roman"/>
              <a:cs typeface="Times New Roman"/>
            </a:endParaRPr>
          </a:p>
          <a:p>
            <a:pPr marL="350520" indent="-274955">
              <a:lnSpc>
                <a:spcPct val="100000"/>
              </a:lnSpc>
              <a:spcBef>
                <a:spcPts val="600"/>
              </a:spcBef>
              <a:buClr>
                <a:srgbClr val="0E6EC5"/>
              </a:buClr>
              <a:buSzPct val="70000"/>
              <a:buFont typeface="Wingdings"/>
              <a:buChar char=""/>
              <a:tabLst>
                <a:tab pos="351155" algn="l"/>
              </a:tabLst>
            </a:pPr>
            <a:r>
              <a:rPr sz="2000" dirty="0">
                <a:latin typeface="Times New Roman"/>
                <a:cs typeface="Times New Roman"/>
              </a:rPr>
              <a:t>Adding lignin : preventing </a:t>
            </a:r>
            <a:r>
              <a:rPr sz="2000" spc="-5" dirty="0">
                <a:latin typeface="Times New Roman"/>
                <a:cs typeface="Times New Roman"/>
              </a:rPr>
              <a:t>infilteration </a:t>
            </a:r>
            <a:r>
              <a:rPr sz="2000" dirty="0">
                <a:latin typeface="Times New Roman"/>
                <a:cs typeface="Times New Roman"/>
              </a:rPr>
              <a:t>of caustic soda</a:t>
            </a:r>
            <a:r>
              <a:rPr sz="2000" spc="-180" dirty="0">
                <a:latin typeface="Times New Roman"/>
                <a:cs typeface="Times New Roman"/>
              </a:rPr>
              <a:t> </a:t>
            </a:r>
            <a:r>
              <a:rPr sz="2000" dirty="0">
                <a:latin typeface="Times New Roman"/>
                <a:cs typeface="Times New Roman"/>
              </a:rPr>
              <a:t>solution</a:t>
            </a:r>
            <a:endParaRPr sz="2000">
              <a:latin typeface="Times New Roman"/>
              <a:cs typeface="Times New Roman"/>
            </a:endParaRPr>
          </a:p>
          <a:p>
            <a:pPr marL="350520" indent="-274955">
              <a:lnSpc>
                <a:spcPct val="100000"/>
              </a:lnSpc>
              <a:spcBef>
                <a:spcPts val="600"/>
              </a:spcBef>
              <a:buClr>
                <a:srgbClr val="0E6EC5"/>
              </a:buClr>
              <a:buSzPct val="70000"/>
              <a:buFont typeface="Wingdings"/>
              <a:buChar char=""/>
              <a:tabLst>
                <a:tab pos="351155" algn="l"/>
              </a:tabLst>
            </a:pPr>
            <a:r>
              <a:rPr sz="2000" dirty="0">
                <a:latin typeface="Times New Roman"/>
                <a:cs typeface="Times New Roman"/>
              </a:rPr>
              <a:t>Sodium sulphate</a:t>
            </a:r>
            <a:r>
              <a:rPr sz="2000" u="sng" dirty="0">
                <a:uFill>
                  <a:solidFill>
                    <a:srgbClr val="000000"/>
                  </a:solidFill>
                </a:uFill>
                <a:latin typeface="Times New Roman"/>
                <a:cs typeface="Times New Roman"/>
              </a:rPr>
              <a:t>: </a:t>
            </a:r>
            <a:r>
              <a:rPr sz="2000" u="sng" spc="5" dirty="0">
                <a:uFill>
                  <a:solidFill>
                    <a:srgbClr val="000000"/>
                  </a:solidFill>
                </a:uFill>
                <a:latin typeface="Times New Roman"/>
                <a:cs typeface="Times New Roman"/>
              </a:rPr>
              <a:t>Na</a:t>
            </a:r>
            <a:r>
              <a:rPr sz="1950" u="sng" spc="7" baseline="-21367" dirty="0">
                <a:uFill>
                  <a:solidFill>
                    <a:srgbClr val="000000"/>
                  </a:solidFill>
                </a:uFill>
                <a:latin typeface="Times New Roman"/>
                <a:cs typeface="Times New Roman"/>
              </a:rPr>
              <a:t>2</a:t>
            </a:r>
            <a:r>
              <a:rPr sz="2000" u="sng" spc="5" dirty="0">
                <a:uFill>
                  <a:solidFill>
                    <a:srgbClr val="000000"/>
                  </a:solidFill>
                </a:uFill>
                <a:latin typeface="Times New Roman"/>
                <a:cs typeface="Times New Roman"/>
              </a:rPr>
              <a:t>SO</a:t>
            </a:r>
            <a:r>
              <a:rPr sz="1950" u="sng" spc="7" baseline="-21367" dirty="0">
                <a:uFill>
                  <a:solidFill>
                    <a:srgbClr val="000000"/>
                  </a:solidFill>
                </a:uFill>
                <a:latin typeface="Times New Roman"/>
                <a:cs typeface="Times New Roman"/>
              </a:rPr>
              <a:t>4</a:t>
            </a:r>
            <a:r>
              <a:rPr sz="1300" u="sng" spc="60" dirty="0">
                <a:uFill>
                  <a:solidFill>
                    <a:srgbClr val="000000"/>
                  </a:solidFill>
                </a:uFill>
                <a:latin typeface="Times New Roman"/>
                <a:cs typeface="Times New Roman"/>
              </a:rPr>
              <a:t> </a:t>
            </a:r>
            <a:r>
              <a:rPr sz="2000" u="sng" dirty="0">
                <a:uFill>
                  <a:solidFill>
                    <a:srgbClr val="000000"/>
                  </a:solidFill>
                </a:uFill>
                <a:latin typeface="Times New Roman"/>
                <a:cs typeface="Times New Roman"/>
              </a:rPr>
              <a:t>concentration</a:t>
            </a:r>
            <a:endParaRPr sz="2000">
              <a:latin typeface="Times New Roman"/>
              <a:cs typeface="Times New Roman"/>
            </a:endParaRPr>
          </a:p>
          <a:p>
            <a:pPr marL="2538095">
              <a:lnSpc>
                <a:spcPct val="100000"/>
              </a:lnSpc>
              <a:spcBef>
                <a:spcPts val="670"/>
              </a:spcBef>
            </a:pPr>
            <a:r>
              <a:rPr sz="1800" spc="-5" dirty="0">
                <a:latin typeface="Times New Roman"/>
                <a:cs typeface="Times New Roman"/>
              </a:rPr>
              <a:t>NaOH </a:t>
            </a:r>
            <a:r>
              <a:rPr sz="1800" dirty="0">
                <a:latin typeface="Times New Roman"/>
                <a:cs typeface="Times New Roman"/>
              </a:rPr>
              <a:t>concentration</a:t>
            </a:r>
            <a:endParaRPr sz="1800">
              <a:latin typeface="Times New Roman"/>
              <a:cs typeface="Times New Roman"/>
            </a:endParaRPr>
          </a:p>
          <a:p>
            <a:pPr marL="350520" indent="-274955">
              <a:lnSpc>
                <a:spcPct val="100000"/>
              </a:lnSpc>
              <a:spcBef>
                <a:spcPts val="775"/>
              </a:spcBef>
              <a:buClr>
                <a:srgbClr val="0E6EC5"/>
              </a:buClr>
              <a:buSzPct val="70000"/>
              <a:buFont typeface="Wingdings"/>
              <a:buChar char=""/>
              <a:tabLst>
                <a:tab pos="351155" algn="l"/>
              </a:tabLst>
            </a:pPr>
            <a:r>
              <a:rPr sz="2000" dirty="0">
                <a:latin typeface="Times New Roman"/>
                <a:cs typeface="Times New Roman"/>
              </a:rPr>
              <a:t>Kept 1:1, 2:1 &amp;</a:t>
            </a:r>
            <a:r>
              <a:rPr sz="2000" spc="-75" dirty="0">
                <a:latin typeface="Times New Roman"/>
                <a:cs typeface="Times New Roman"/>
              </a:rPr>
              <a:t> </a:t>
            </a:r>
            <a:r>
              <a:rPr sz="2000" dirty="0">
                <a:latin typeface="Times New Roman"/>
                <a:cs typeface="Times New Roman"/>
              </a:rPr>
              <a:t>3:1,</a:t>
            </a:r>
            <a:endParaRPr sz="2000">
              <a:latin typeface="Times New Roman"/>
              <a:cs typeface="Times New Roman"/>
            </a:endParaRPr>
          </a:p>
          <a:p>
            <a:pPr marL="350520" indent="-274955">
              <a:lnSpc>
                <a:spcPct val="100000"/>
              </a:lnSpc>
              <a:spcBef>
                <a:spcPts val="600"/>
              </a:spcBef>
              <a:buClr>
                <a:srgbClr val="0E6EC5"/>
              </a:buClr>
              <a:buSzPct val="70000"/>
              <a:buFont typeface="Wingdings"/>
              <a:buChar char=""/>
              <a:tabLst>
                <a:tab pos="351155" algn="l"/>
              </a:tabLst>
            </a:pPr>
            <a:r>
              <a:rPr sz="2000" dirty="0">
                <a:latin typeface="Times New Roman"/>
                <a:cs typeface="Times New Roman"/>
              </a:rPr>
              <a:t>Pressure : 10,20 &amp; above</a:t>
            </a:r>
            <a:r>
              <a:rPr sz="2000" spc="-114" dirty="0">
                <a:latin typeface="Times New Roman"/>
                <a:cs typeface="Times New Roman"/>
              </a:rPr>
              <a:t> </a:t>
            </a:r>
            <a:r>
              <a:rPr sz="2000" spc="5" dirty="0">
                <a:latin typeface="Times New Roman"/>
                <a:cs typeface="Times New Roman"/>
              </a:rPr>
              <a:t>20.</a:t>
            </a:r>
            <a:endParaRPr sz="2000">
              <a:latin typeface="Times New Roman"/>
              <a:cs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9495" y="405384"/>
            <a:ext cx="2677795" cy="399415"/>
          </a:xfrm>
          <a:prstGeom prst="rect">
            <a:avLst/>
          </a:prstGeom>
          <a:solidFill>
            <a:srgbClr val="FF6699"/>
          </a:solidFill>
          <a:ln w="9144">
            <a:solidFill>
              <a:srgbClr val="FFFF00"/>
            </a:solidFill>
          </a:ln>
        </p:spPr>
        <p:txBody>
          <a:bodyPr vert="horz" wrap="square" lIns="0" tIns="36830" rIns="0" bIns="0" rtlCol="0">
            <a:spAutoFit/>
          </a:bodyPr>
          <a:lstStyle/>
          <a:p>
            <a:pPr marL="91440">
              <a:lnSpc>
                <a:spcPct val="100000"/>
              </a:lnSpc>
              <a:spcBef>
                <a:spcPts val="290"/>
              </a:spcBef>
            </a:pPr>
            <a:r>
              <a:rPr sz="2000" spc="-80" dirty="0">
                <a:solidFill>
                  <a:srgbClr val="003399"/>
                </a:solidFill>
              </a:rPr>
              <a:t>IV. </a:t>
            </a:r>
            <a:r>
              <a:rPr sz="2000" dirty="0">
                <a:solidFill>
                  <a:srgbClr val="003399"/>
                </a:solidFill>
              </a:rPr>
              <a:t>Boiler</a:t>
            </a:r>
            <a:r>
              <a:rPr sz="2000" spc="20" dirty="0">
                <a:solidFill>
                  <a:srgbClr val="003399"/>
                </a:solidFill>
              </a:rPr>
              <a:t> </a:t>
            </a:r>
            <a:r>
              <a:rPr sz="2000" dirty="0">
                <a:solidFill>
                  <a:srgbClr val="003399"/>
                </a:solidFill>
              </a:rPr>
              <a:t>corrosion</a:t>
            </a:r>
            <a:endParaRPr sz="2000"/>
          </a:p>
        </p:txBody>
      </p:sp>
      <p:sp>
        <p:nvSpPr>
          <p:cNvPr id="3" name="object 3"/>
          <p:cNvSpPr txBox="1"/>
          <p:nvPr/>
        </p:nvSpPr>
        <p:spPr>
          <a:xfrm>
            <a:off x="547217" y="1076706"/>
            <a:ext cx="7571740" cy="635635"/>
          </a:xfrm>
          <a:prstGeom prst="rect">
            <a:avLst/>
          </a:prstGeom>
        </p:spPr>
        <p:txBody>
          <a:bodyPr vert="horz" wrap="square" lIns="0" tIns="13335" rIns="0" bIns="0" rtlCol="0">
            <a:spAutoFit/>
          </a:bodyPr>
          <a:lstStyle/>
          <a:p>
            <a:pPr marL="12700" marR="5080">
              <a:lnSpc>
                <a:spcPct val="100000"/>
              </a:lnSpc>
              <a:spcBef>
                <a:spcPts val="105"/>
              </a:spcBef>
            </a:pPr>
            <a:r>
              <a:rPr sz="2000" dirty="0">
                <a:latin typeface="Times New Roman"/>
                <a:cs typeface="Times New Roman"/>
              </a:rPr>
              <a:t>Degradation or </a:t>
            </a:r>
            <a:r>
              <a:rPr sz="2000" spc="-5" dirty="0">
                <a:latin typeface="Times New Roman"/>
                <a:cs typeface="Times New Roman"/>
              </a:rPr>
              <a:t>destruction </a:t>
            </a:r>
            <a:r>
              <a:rPr sz="2000" dirty="0">
                <a:latin typeface="Times New Roman"/>
                <a:cs typeface="Times New Roman"/>
              </a:rPr>
              <a:t>of boiler </a:t>
            </a:r>
            <a:r>
              <a:rPr sz="2000" spc="-5" dirty="0">
                <a:latin typeface="Times New Roman"/>
                <a:cs typeface="Times New Roman"/>
              </a:rPr>
              <a:t>materials </a:t>
            </a:r>
            <a:r>
              <a:rPr sz="2000" dirty="0">
                <a:latin typeface="Times New Roman"/>
                <a:cs typeface="Times New Roman"/>
              </a:rPr>
              <a:t>(Fe) </a:t>
            </a:r>
            <a:r>
              <a:rPr sz="2000" spc="5" dirty="0">
                <a:latin typeface="Times New Roman"/>
                <a:cs typeface="Times New Roman"/>
              </a:rPr>
              <a:t>due </a:t>
            </a:r>
            <a:r>
              <a:rPr sz="2000" dirty="0">
                <a:latin typeface="Times New Roman"/>
                <a:cs typeface="Times New Roman"/>
              </a:rPr>
              <a:t>to the </a:t>
            </a:r>
            <a:r>
              <a:rPr sz="2000" spc="-5" dirty="0">
                <a:latin typeface="Times New Roman"/>
                <a:cs typeface="Times New Roman"/>
              </a:rPr>
              <a:t>chemical </a:t>
            </a:r>
            <a:r>
              <a:rPr sz="2000" dirty="0">
                <a:latin typeface="Times New Roman"/>
                <a:cs typeface="Times New Roman"/>
              </a:rPr>
              <a:t>or  </a:t>
            </a:r>
            <a:r>
              <a:rPr sz="2000" spc="-5" dirty="0">
                <a:latin typeface="Times New Roman"/>
                <a:cs typeface="Times New Roman"/>
              </a:rPr>
              <a:t>electrochemical attack </a:t>
            </a:r>
            <a:r>
              <a:rPr sz="2000" dirty="0">
                <a:latin typeface="Times New Roman"/>
                <a:cs typeface="Times New Roman"/>
              </a:rPr>
              <a:t>of dissolved gases or </a:t>
            </a:r>
            <a:r>
              <a:rPr sz="2000" spc="-5" dirty="0">
                <a:latin typeface="Times New Roman"/>
                <a:cs typeface="Times New Roman"/>
              </a:rPr>
              <a:t>salts </a:t>
            </a:r>
            <a:r>
              <a:rPr sz="2000" dirty="0">
                <a:latin typeface="Times New Roman"/>
                <a:cs typeface="Times New Roman"/>
              </a:rPr>
              <a:t>is </a:t>
            </a:r>
            <a:r>
              <a:rPr sz="2000" spc="-5" dirty="0">
                <a:latin typeface="Times New Roman"/>
                <a:cs typeface="Times New Roman"/>
              </a:rPr>
              <a:t>called </a:t>
            </a:r>
            <a:r>
              <a:rPr sz="2000" dirty="0">
                <a:latin typeface="Times New Roman"/>
                <a:cs typeface="Times New Roman"/>
              </a:rPr>
              <a:t>boiler</a:t>
            </a:r>
            <a:r>
              <a:rPr sz="2000" spc="-100" dirty="0">
                <a:latin typeface="Times New Roman"/>
                <a:cs typeface="Times New Roman"/>
              </a:rPr>
              <a:t> </a:t>
            </a:r>
            <a:r>
              <a:rPr sz="2000" dirty="0">
                <a:latin typeface="Times New Roman"/>
                <a:cs typeface="Times New Roman"/>
              </a:rPr>
              <a:t>corrosion</a:t>
            </a:r>
            <a:endParaRPr sz="2000">
              <a:latin typeface="Times New Roman"/>
              <a:cs typeface="Times New Roman"/>
            </a:endParaRPr>
          </a:p>
        </p:txBody>
      </p:sp>
      <p:sp>
        <p:nvSpPr>
          <p:cNvPr id="4" name="object 4"/>
          <p:cNvSpPr txBox="1"/>
          <p:nvPr/>
        </p:nvSpPr>
        <p:spPr>
          <a:xfrm>
            <a:off x="467868" y="2133600"/>
            <a:ext cx="6771640" cy="1630680"/>
          </a:xfrm>
          <a:prstGeom prst="rect">
            <a:avLst/>
          </a:prstGeom>
          <a:solidFill>
            <a:srgbClr val="FFFF66"/>
          </a:solidFill>
          <a:ln w="9144">
            <a:solidFill>
              <a:srgbClr val="000000"/>
            </a:solidFill>
          </a:ln>
        </p:spPr>
        <p:txBody>
          <a:bodyPr vert="horz" wrap="square" lIns="0" tIns="37465" rIns="0" bIns="0" rtlCol="0">
            <a:spAutoFit/>
          </a:bodyPr>
          <a:lstStyle/>
          <a:p>
            <a:pPr marL="91440">
              <a:lnSpc>
                <a:spcPct val="100000"/>
              </a:lnSpc>
              <a:spcBef>
                <a:spcPts val="295"/>
              </a:spcBef>
            </a:pPr>
            <a:r>
              <a:rPr sz="2000" dirty="0">
                <a:solidFill>
                  <a:srgbClr val="990000"/>
                </a:solidFill>
                <a:latin typeface="Times New Roman"/>
                <a:cs typeface="Times New Roman"/>
              </a:rPr>
              <a:t>Boiler corrosion is of three</a:t>
            </a:r>
            <a:r>
              <a:rPr sz="2000" spc="-114" dirty="0">
                <a:solidFill>
                  <a:srgbClr val="990000"/>
                </a:solidFill>
                <a:latin typeface="Times New Roman"/>
                <a:cs typeface="Times New Roman"/>
              </a:rPr>
              <a:t> </a:t>
            </a:r>
            <a:r>
              <a:rPr sz="2000" spc="-5" dirty="0">
                <a:solidFill>
                  <a:srgbClr val="990000"/>
                </a:solidFill>
                <a:latin typeface="Times New Roman"/>
                <a:cs typeface="Times New Roman"/>
              </a:rPr>
              <a:t>types</a:t>
            </a:r>
            <a:endParaRPr sz="2000">
              <a:latin typeface="Times New Roman"/>
              <a:cs typeface="Times New Roman"/>
            </a:endParaRPr>
          </a:p>
          <a:p>
            <a:pPr>
              <a:lnSpc>
                <a:spcPct val="100000"/>
              </a:lnSpc>
              <a:spcBef>
                <a:spcPts val="40"/>
              </a:spcBef>
            </a:pPr>
            <a:endParaRPr sz="2050">
              <a:latin typeface="Times New Roman"/>
              <a:cs typeface="Times New Roman"/>
            </a:endParaRPr>
          </a:p>
          <a:p>
            <a:pPr marL="434340" indent="-343535">
              <a:lnSpc>
                <a:spcPct val="100000"/>
              </a:lnSpc>
              <a:spcBef>
                <a:spcPts val="5"/>
              </a:spcBef>
              <a:buAutoNum type="arabicPeriod"/>
              <a:tabLst>
                <a:tab pos="434340" algn="l"/>
                <a:tab pos="434975" algn="l"/>
              </a:tabLst>
            </a:pPr>
            <a:r>
              <a:rPr sz="2000" dirty="0">
                <a:solidFill>
                  <a:srgbClr val="990000"/>
                </a:solidFill>
                <a:latin typeface="Times New Roman"/>
                <a:cs typeface="Times New Roman"/>
              </a:rPr>
              <a:t>Corrosion </a:t>
            </a:r>
            <a:r>
              <a:rPr sz="2000" spc="5" dirty="0">
                <a:solidFill>
                  <a:srgbClr val="990000"/>
                </a:solidFill>
                <a:latin typeface="Times New Roman"/>
                <a:cs typeface="Times New Roman"/>
              </a:rPr>
              <a:t>due </a:t>
            </a:r>
            <a:r>
              <a:rPr sz="2000" dirty="0">
                <a:solidFill>
                  <a:srgbClr val="990000"/>
                </a:solidFill>
                <a:latin typeface="Times New Roman"/>
                <a:cs typeface="Times New Roman"/>
              </a:rPr>
              <a:t>to dissolved</a:t>
            </a:r>
            <a:r>
              <a:rPr sz="2000" spc="-120" dirty="0">
                <a:solidFill>
                  <a:srgbClr val="990000"/>
                </a:solidFill>
                <a:latin typeface="Times New Roman"/>
                <a:cs typeface="Times New Roman"/>
              </a:rPr>
              <a:t> </a:t>
            </a:r>
            <a:r>
              <a:rPr sz="2000" spc="15" dirty="0">
                <a:solidFill>
                  <a:srgbClr val="990000"/>
                </a:solidFill>
                <a:latin typeface="Times New Roman"/>
                <a:cs typeface="Times New Roman"/>
              </a:rPr>
              <a:t>O</a:t>
            </a:r>
            <a:r>
              <a:rPr sz="1950" spc="22" baseline="-21367" dirty="0">
                <a:solidFill>
                  <a:srgbClr val="990000"/>
                </a:solidFill>
                <a:latin typeface="Times New Roman"/>
                <a:cs typeface="Times New Roman"/>
              </a:rPr>
              <a:t>2</a:t>
            </a:r>
            <a:endParaRPr sz="1950" baseline="-21367">
              <a:latin typeface="Times New Roman"/>
              <a:cs typeface="Times New Roman"/>
            </a:endParaRPr>
          </a:p>
          <a:p>
            <a:pPr marL="434340" indent="-343535">
              <a:lnSpc>
                <a:spcPct val="100000"/>
              </a:lnSpc>
              <a:buAutoNum type="arabicPeriod"/>
              <a:tabLst>
                <a:tab pos="434340" algn="l"/>
                <a:tab pos="434975" algn="l"/>
              </a:tabLst>
            </a:pPr>
            <a:r>
              <a:rPr sz="2000" dirty="0">
                <a:solidFill>
                  <a:srgbClr val="990000"/>
                </a:solidFill>
                <a:latin typeface="Times New Roman"/>
                <a:cs typeface="Times New Roman"/>
              </a:rPr>
              <a:t>Corrosion due to dissolved</a:t>
            </a:r>
            <a:r>
              <a:rPr sz="2000" spc="-130" dirty="0">
                <a:solidFill>
                  <a:srgbClr val="990000"/>
                </a:solidFill>
                <a:latin typeface="Times New Roman"/>
                <a:cs typeface="Times New Roman"/>
              </a:rPr>
              <a:t> </a:t>
            </a:r>
            <a:r>
              <a:rPr sz="2000" spc="5" dirty="0">
                <a:solidFill>
                  <a:srgbClr val="990000"/>
                </a:solidFill>
                <a:latin typeface="Times New Roman"/>
                <a:cs typeface="Times New Roman"/>
              </a:rPr>
              <a:t>CO</a:t>
            </a:r>
            <a:r>
              <a:rPr sz="1950" spc="7" baseline="-21367" dirty="0">
                <a:solidFill>
                  <a:srgbClr val="990000"/>
                </a:solidFill>
                <a:latin typeface="Times New Roman"/>
                <a:cs typeface="Times New Roman"/>
              </a:rPr>
              <a:t>2</a:t>
            </a:r>
            <a:endParaRPr sz="1950" baseline="-21367">
              <a:latin typeface="Times New Roman"/>
              <a:cs typeface="Times New Roman"/>
            </a:endParaRPr>
          </a:p>
          <a:p>
            <a:pPr marL="434340" indent="-343535">
              <a:lnSpc>
                <a:spcPct val="100000"/>
              </a:lnSpc>
              <a:buAutoNum type="arabicPeriod"/>
              <a:tabLst>
                <a:tab pos="434340" algn="l"/>
                <a:tab pos="434975" algn="l"/>
              </a:tabLst>
            </a:pPr>
            <a:r>
              <a:rPr sz="2000" dirty="0">
                <a:solidFill>
                  <a:srgbClr val="990000"/>
                </a:solidFill>
                <a:latin typeface="Times New Roman"/>
                <a:cs typeface="Times New Roman"/>
              </a:rPr>
              <a:t>Corrosion </a:t>
            </a:r>
            <a:r>
              <a:rPr sz="2000" spc="5" dirty="0">
                <a:solidFill>
                  <a:srgbClr val="990000"/>
                </a:solidFill>
                <a:latin typeface="Times New Roman"/>
                <a:cs typeface="Times New Roman"/>
              </a:rPr>
              <a:t>due </a:t>
            </a:r>
            <a:r>
              <a:rPr sz="2000" dirty="0">
                <a:solidFill>
                  <a:srgbClr val="990000"/>
                </a:solidFill>
                <a:latin typeface="Times New Roman"/>
                <a:cs typeface="Times New Roman"/>
              </a:rPr>
              <a:t>to </a:t>
            </a:r>
            <a:r>
              <a:rPr sz="2000" spc="-5" dirty="0">
                <a:solidFill>
                  <a:srgbClr val="990000"/>
                </a:solidFill>
                <a:latin typeface="Times New Roman"/>
                <a:cs typeface="Times New Roman"/>
              </a:rPr>
              <a:t>acids formed </a:t>
            </a:r>
            <a:r>
              <a:rPr sz="2000" dirty="0">
                <a:solidFill>
                  <a:srgbClr val="990000"/>
                </a:solidFill>
                <a:latin typeface="Times New Roman"/>
                <a:cs typeface="Times New Roman"/>
              </a:rPr>
              <a:t>by dissolved</a:t>
            </a:r>
            <a:r>
              <a:rPr sz="2000" spc="-135" dirty="0">
                <a:solidFill>
                  <a:srgbClr val="990000"/>
                </a:solidFill>
                <a:latin typeface="Times New Roman"/>
                <a:cs typeface="Times New Roman"/>
              </a:rPr>
              <a:t> </a:t>
            </a:r>
            <a:r>
              <a:rPr sz="2000" spc="-5" dirty="0">
                <a:solidFill>
                  <a:srgbClr val="990000"/>
                </a:solidFill>
                <a:latin typeface="Times New Roman"/>
                <a:cs typeface="Times New Roman"/>
              </a:rPr>
              <a:t>salts</a:t>
            </a:r>
            <a:endParaRPr sz="2000">
              <a:latin typeface="Times New Roman"/>
              <a:cs typeface="Times New Roman"/>
            </a:endParaRPr>
          </a:p>
        </p:txBody>
      </p:sp>
      <p:sp>
        <p:nvSpPr>
          <p:cNvPr id="5" name="object 5"/>
          <p:cNvSpPr txBox="1"/>
          <p:nvPr/>
        </p:nvSpPr>
        <p:spPr>
          <a:xfrm>
            <a:off x="443483" y="4187952"/>
            <a:ext cx="5195570" cy="399415"/>
          </a:xfrm>
          <a:prstGeom prst="rect">
            <a:avLst/>
          </a:prstGeom>
          <a:ln w="9144">
            <a:solidFill>
              <a:srgbClr val="000000"/>
            </a:solidFill>
          </a:ln>
        </p:spPr>
        <p:txBody>
          <a:bodyPr vert="horz" wrap="square" lIns="0" tIns="38100" rIns="0" bIns="0" rtlCol="0">
            <a:spAutoFit/>
          </a:bodyPr>
          <a:lstStyle/>
          <a:p>
            <a:pPr marL="90805">
              <a:lnSpc>
                <a:spcPct val="100000"/>
              </a:lnSpc>
              <a:spcBef>
                <a:spcPts val="300"/>
              </a:spcBef>
            </a:pPr>
            <a:r>
              <a:rPr sz="2000" dirty="0">
                <a:solidFill>
                  <a:srgbClr val="009900"/>
                </a:solidFill>
                <a:latin typeface="Times New Roman"/>
                <a:cs typeface="Times New Roman"/>
              </a:rPr>
              <a:t>1. Corrosion </a:t>
            </a:r>
            <a:r>
              <a:rPr sz="2000" spc="5" dirty="0">
                <a:solidFill>
                  <a:srgbClr val="009900"/>
                </a:solidFill>
                <a:latin typeface="Times New Roman"/>
                <a:cs typeface="Times New Roman"/>
              </a:rPr>
              <a:t>due </a:t>
            </a:r>
            <a:r>
              <a:rPr sz="2000" dirty="0">
                <a:solidFill>
                  <a:srgbClr val="009900"/>
                </a:solidFill>
                <a:latin typeface="Times New Roman"/>
                <a:cs typeface="Times New Roman"/>
              </a:rPr>
              <a:t>to dissolved oxygen</a:t>
            </a:r>
            <a:r>
              <a:rPr sz="2000" spc="-120" dirty="0">
                <a:solidFill>
                  <a:srgbClr val="009900"/>
                </a:solidFill>
                <a:latin typeface="Times New Roman"/>
                <a:cs typeface="Times New Roman"/>
              </a:rPr>
              <a:t> </a:t>
            </a:r>
            <a:r>
              <a:rPr sz="2000" spc="5" dirty="0">
                <a:solidFill>
                  <a:srgbClr val="009900"/>
                </a:solidFill>
                <a:latin typeface="Times New Roman"/>
                <a:cs typeface="Times New Roman"/>
              </a:rPr>
              <a:t>(DO)</a:t>
            </a:r>
            <a:endParaRPr sz="2000">
              <a:latin typeface="Times New Roman"/>
              <a:cs typeface="Times New Roman"/>
            </a:endParaRPr>
          </a:p>
        </p:txBody>
      </p:sp>
      <p:sp>
        <p:nvSpPr>
          <p:cNvPr id="6" name="object 6"/>
          <p:cNvSpPr txBox="1"/>
          <p:nvPr/>
        </p:nvSpPr>
        <p:spPr>
          <a:xfrm>
            <a:off x="664768" y="4685791"/>
            <a:ext cx="2106295" cy="330835"/>
          </a:xfrm>
          <a:prstGeom prst="rect">
            <a:avLst/>
          </a:prstGeom>
        </p:spPr>
        <p:txBody>
          <a:bodyPr vert="horz" wrap="square" lIns="0" tIns="12700" rIns="0" bIns="0" rtlCol="0">
            <a:spAutoFit/>
          </a:bodyPr>
          <a:lstStyle/>
          <a:p>
            <a:pPr marL="38100">
              <a:lnSpc>
                <a:spcPct val="100000"/>
              </a:lnSpc>
              <a:spcBef>
                <a:spcPts val="100"/>
              </a:spcBef>
              <a:tabLst>
                <a:tab pos="618490" algn="l"/>
              </a:tabLst>
            </a:pPr>
            <a:r>
              <a:rPr sz="3000" baseline="1388" dirty="0">
                <a:latin typeface="Times New Roman"/>
                <a:cs typeface="Times New Roman"/>
              </a:rPr>
              <a:t>2 Fe	</a:t>
            </a:r>
            <a:r>
              <a:rPr sz="2000" dirty="0">
                <a:latin typeface="Times New Roman"/>
                <a:cs typeface="Times New Roman"/>
              </a:rPr>
              <a:t>+ 2 </a:t>
            </a:r>
            <a:r>
              <a:rPr sz="2000" spc="5" dirty="0">
                <a:latin typeface="Times New Roman"/>
                <a:cs typeface="Times New Roman"/>
              </a:rPr>
              <a:t>H</a:t>
            </a:r>
            <a:r>
              <a:rPr sz="1950" spc="7" baseline="-21367" dirty="0">
                <a:latin typeface="Times New Roman"/>
                <a:cs typeface="Times New Roman"/>
              </a:rPr>
              <a:t>2</a:t>
            </a:r>
            <a:r>
              <a:rPr sz="2000" spc="5" dirty="0">
                <a:latin typeface="Times New Roman"/>
                <a:cs typeface="Times New Roman"/>
              </a:rPr>
              <a:t>O </a:t>
            </a:r>
            <a:r>
              <a:rPr sz="2000" dirty="0">
                <a:latin typeface="Times New Roman"/>
                <a:cs typeface="Times New Roman"/>
              </a:rPr>
              <a:t>+</a:t>
            </a:r>
            <a:r>
              <a:rPr sz="2000" spc="-120" dirty="0">
                <a:latin typeface="Times New Roman"/>
                <a:cs typeface="Times New Roman"/>
              </a:rPr>
              <a:t> </a:t>
            </a:r>
            <a:r>
              <a:rPr sz="2000" spc="5" dirty="0">
                <a:latin typeface="Times New Roman"/>
                <a:cs typeface="Times New Roman"/>
              </a:rPr>
              <a:t>O</a:t>
            </a:r>
            <a:r>
              <a:rPr sz="1950" spc="7" baseline="-21367" dirty="0">
                <a:latin typeface="Times New Roman"/>
                <a:cs typeface="Times New Roman"/>
              </a:rPr>
              <a:t>2</a:t>
            </a:r>
            <a:endParaRPr sz="1950" baseline="-21367">
              <a:latin typeface="Times New Roman"/>
              <a:cs typeface="Times New Roman"/>
            </a:endParaRPr>
          </a:p>
        </p:txBody>
      </p:sp>
      <p:sp>
        <p:nvSpPr>
          <p:cNvPr id="7" name="object 7"/>
          <p:cNvSpPr/>
          <p:nvPr/>
        </p:nvSpPr>
        <p:spPr>
          <a:xfrm>
            <a:off x="2753867" y="4805171"/>
            <a:ext cx="946785" cy="76200"/>
          </a:xfrm>
          <a:custGeom>
            <a:avLst/>
            <a:gdLst/>
            <a:ahLst/>
            <a:cxnLst/>
            <a:rect l="l" t="t" r="r" b="b"/>
            <a:pathLst>
              <a:path w="946785" h="76200">
                <a:moveTo>
                  <a:pt x="870204" y="0"/>
                </a:moveTo>
                <a:lnTo>
                  <a:pt x="870204" y="76200"/>
                </a:lnTo>
                <a:lnTo>
                  <a:pt x="933704" y="44450"/>
                </a:lnTo>
                <a:lnTo>
                  <a:pt x="882904" y="44450"/>
                </a:lnTo>
                <a:lnTo>
                  <a:pt x="882904" y="31750"/>
                </a:lnTo>
                <a:lnTo>
                  <a:pt x="933704" y="31750"/>
                </a:lnTo>
                <a:lnTo>
                  <a:pt x="870204" y="0"/>
                </a:lnTo>
                <a:close/>
              </a:path>
              <a:path w="946785" h="76200">
                <a:moveTo>
                  <a:pt x="870204" y="31750"/>
                </a:moveTo>
                <a:lnTo>
                  <a:pt x="0" y="31750"/>
                </a:lnTo>
                <a:lnTo>
                  <a:pt x="0" y="44450"/>
                </a:lnTo>
                <a:lnTo>
                  <a:pt x="870204" y="44450"/>
                </a:lnTo>
                <a:lnTo>
                  <a:pt x="870204" y="31750"/>
                </a:lnTo>
                <a:close/>
              </a:path>
              <a:path w="946785" h="76200">
                <a:moveTo>
                  <a:pt x="933704" y="31750"/>
                </a:moveTo>
                <a:lnTo>
                  <a:pt x="882904" y="31750"/>
                </a:lnTo>
                <a:lnTo>
                  <a:pt x="882904" y="44450"/>
                </a:lnTo>
                <a:lnTo>
                  <a:pt x="933704" y="44450"/>
                </a:lnTo>
                <a:lnTo>
                  <a:pt x="946404" y="38100"/>
                </a:lnTo>
                <a:lnTo>
                  <a:pt x="933704" y="31750"/>
                </a:lnTo>
                <a:close/>
              </a:path>
            </a:pathLst>
          </a:custGeom>
          <a:solidFill>
            <a:srgbClr val="000000"/>
          </a:solidFill>
        </p:spPr>
        <p:txBody>
          <a:bodyPr wrap="square" lIns="0" tIns="0" rIns="0" bIns="0" rtlCol="0"/>
          <a:lstStyle/>
          <a:p>
            <a:endParaRPr/>
          </a:p>
        </p:txBody>
      </p:sp>
      <p:sp>
        <p:nvSpPr>
          <p:cNvPr id="8" name="object 8"/>
          <p:cNvSpPr/>
          <p:nvPr/>
        </p:nvSpPr>
        <p:spPr>
          <a:xfrm>
            <a:off x="4930775" y="4723129"/>
            <a:ext cx="74675" cy="226821"/>
          </a:xfrm>
          <a:prstGeom prst="rect">
            <a:avLst/>
          </a:prstGeom>
          <a:blipFill>
            <a:blip r:embed="rId2" cstate="print"/>
            <a:stretch>
              <a:fillRect/>
            </a:stretch>
          </a:blipFill>
        </p:spPr>
        <p:txBody>
          <a:bodyPr wrap="square" lIns="0" tIns="0" rIns="0" bIns="0" rtlCol="0"/>
          <a:lstStyle/>
          <a:p>
            <a:endParaRPr/>
          </a:p>
        </p:txBody>
      </p:sp>
      <p:sp>
        <p:nvSpPr>
          <p:cNvPr id="9" name="object 9"/>
          <p:cNvSpPr txBox="1"/>
          <p:nvPr/>
        </p:nvSpPr>
        <p:spPr>
          <a:xfrm>
            <a:off x="2671317" y="5402071"/>
            <a:ext cx="110489" cy="228600"/>
          </a:xfrm>
          <a:prstGeom prst="rect">
            <a:avLst/>
          </a:prstGeom>
        </p:spPr>
        <p:txBody>
          <a:bodyPr vert="horz" wrap="square" lIns="0" tIns="16510" rIns="0" bIns="0" rtlCol="0">
            <a:spAutoFit/>
          </a:bodyPr>
          <a:lstStyle/>
          <a:p>
            <a:pPr marL="12700">
              <a:lnSpc>
                <a:spcPct val="100000"/>
              </a:lnSpc>
              <a:spcBef>
                <a:spcPts val="130"/>
              </a:spcBef>
            </a:pPr>
            <a:r>
              <a:rPr sz="1300" spc="15" dirty="0">
                <a:latin typeface="Times New Roman"/>
                <a:cs typeface="Times New Roman"/>
              </a:rPr>
              <a:t>2</a:t>
            </a:r>
            <a:endParaRPr sz="1300">
              <a:latin typeface="Times New Roman"/>
              <a:cs typeface="Times New Roman"/>
            </a:endParaRPr>
          </a:p>
        </p:txBody>
      </p:sp>
      <p:sp>
        <p:nvSpPr>
          <p:cNvPr id="10" name="object 10"/>
          <p:cNvSpPr/>
          <p:nvPr/>
        </p:nvSpPr>
        <p:spPr>
          <a:xfrm>
            <a:off x="2700527" y="5407152"/>
            <a:ext cx="629920" cy="76200"/>
          </a:xfrm>
          <a:custGeom>
            <a:avLst/>
            <a:gdLst/>
            <a:ahLst/>
            <a:cxnLst/>
            <a:rect l="l" t="t" r="r" b="b"/>
            <a:pathLst>
              <a:path w="629920" h="76200">
                <a:moveTo>
                  <a:pt x="553212" y="0"/>
                </a:moveTo>
                <a:lnTo>
                  <a:pt x="553212" y="76200"/>
                </a:lnTo>
                <a:lnTo>
                  <a:pt x="616712" y="44450"/>
                </a:lnTo>
                <a:lnTo>
                  <a:pt x="565912" y="44450"/>
                </a:lnTo>
                <a:lnTo>
                  <a:pt x="565912" y="31750"/>
                </a:lnTo>
                <a:lnTo>
                  <a:pt x="616712" y="31750"/>
                </a:lnTo>
                <a:lnTo>
                  <a:pt x="553212" y="0"/>
                </a:lnTo>
                <a:close/>
              </a:path>
              <a:path w="629920" h="76200">
                <a:moveTo>
                  <a:pt x="553212" y="31750"/>
                </a:moveTo>
                <a:lnTo>
                  <a:pt x="0" y="31750"/>
                </a:lnTo>
                <a:lnTo>
                  <a:pt x="0" y="44450"/>
                </a:lnTo>
                <a:lnTo>
                  <a:pt x="553212" y="44450"/>
                </a:lnTo>
                <a:lnTo>
                  <a:pt x="553212" y="31750"/>
                </a:lnTo>
                <a:close/>
              </a:path>
              <a:path w="629920" h="76200">
                <a:moveTo>
                  <a:pt x="616712" y="31750"/>
                </a:moveTo>
                <a:lnTo>
                  <a:pt x="565912" y="31750"/>
                </a:lnTo>
                <a:lnTo>
                  <a:pt x="565912" y="44450"/>
                </a:lnTo>
                <a:lnTo>
                  <a:pt x="616712" y="44450"/>
                </a:lnTo>
                <a:lnTo>
                  <a:pt x="629412" y="38100"/>
                </a:lnTo>
                <a:lnTo>
                  <a:pt x="616712" y="31750"/>
                </a:lnTo>
                <a:close/>
              </a:path>
            </a:pathLst>
          </a:custGeom>
          <a:solidFill>
            <a:srgbClr val="000000"/>
          </a:solidFill>
        </p:spPr>
        <p:txBody>
          <a:bodyPr wrap="square" lIns="0" tIns="0" rIns="0" bIns="0" rtlCol="0"/>
          <a:lstStyle/>
          <a:p>
            <a:endParaRPr/>
          </a:p>
        </p:txBody>
      </p:sp>
      <p:sp>
        <p:nvSpPr>
          <p:cNvPr id="11" name="object 11"/>
          <p:cNvSpPr/>
          <p:nvPr/>
        </p:nvSpPr>
        <p:spPr>
          <a:xfrm>
            <a:off x="1898014" y="5349494"/>
            <a:ext cx="74676" cy="226822"/>
          </a:xfrm>
          <a:prstGeom prst="rect">
            <a:avLst/>
          </a:prstGeom>
          <a:blipFill>
            <a:blip r:embed="rId3" cstate="print"/>
            <a:stretch>
              <a:fillRect/>
            </a:stretch>
          </a:blipFill>
        </p:spPr>
        <p:txBody>
          <a:bodyPr wrap="square" lIns="0" tIns="0" rIns="0" bIns="0" rtlCol="0"/>
          <a:lstStyle/>
          <a:p>
            <a:endParaRPr/>
          </a:p>
        </p:txBody>
      </p:sp>
      <p:sp>
        <p:nvSpPr>
          <p:cNvPr id="12" name="object 12"/>
          <p:cNvSpPr txBox="1"/>
          <p:nvPr/>
        </p:nvSpPr>
        <p:spPr>
          <a:xfrm>
            <a:off x="809244" y="5127752"/>
            <a:ext cx="1786255" cy="1194435"/>
          </a:xfrm>
          <a:prstGeom prst="rect">
            <a:avLst/>
          </a:prstGeom>
        </p:spPr>
        <p:txBody>
          <a:bodyPr vert="horz" wrap="square" lIns="0" tIns="139700" rIns="0" bIns="0" rtlCol="0">
            <a:spAutoFit/>
          </a:bodyPr>
          <a:lstStyle/>
          <a:p>
            <a:pPr marL="38100">
              <a:lnSpc>
                <a:spcPct val="100000"/>
              </a:lnSpc>
              <a:spcBef>
                <a:spcPts val="1100"/>
              </a:spcBef>
              <a:tabLst>
                <a:tab pos="1293495" algn="l"/>
              </a:tabLst>
            </a:pPr>
            <a:r>
              <a:rPr sz="2000" dirty="0">
                <a:latin typeface="Times New Roman"/>
                <a:cs typeface="Times New Roman"/>
              </a:rPr>
              <a:t>4 </a:t>
            </a:r>
            <a:r>
              <a:rPr sz="2000" spc="5" dirty="0">
                <a:latin typeface="Times New Roman"/>
                <a:cs typeface="Times New Roman"/>
              </a:rPr>
              <a:t>Fe(OH)</a:t>
            </a:r>
            <a:r>
              <a:rPr sz="1950" spc="7" baseline="-21367" dirty="0">
                <a:latin typeface="Times New Roman"/>
                <a:cs typeface="Times New Roman"/>
              </a:rPr>
              <a:t>2	</a:t>
            </a:r>
            <a:r>
              <a:rPr sz="2000" dirty="0">
                <a:latin typeface="Times New Roman"/>
                <a:cs typeface="Times New Roman"/>
              </a:rPr>
              <a:t>+</a:t>
            </a:r>
            <a:r>
              <a:rPr sz="2000" spc="420" dirty="0">
                <a:latin typeface="Times New Roman"/>
                <a:cs typeface="Times New Roman"/>
              </a:rPr>
              <a:t> </a:t>
            </a:r>
            <a:r>
              <a:rPr sz="2000" dirty="0">
                <a:latin typeface="Times New Roman"/>
                <a:cs typeface="Times New Roman"/>
              </a:rPr>
              <a:t>O</a:t>
            </a:r>
            <a:endParaRPr sz="2000">
              <a:latin typeface="Times New Roman"/>
              <a:cs typeface="Times New Roman"/>
            </a:endParaRPr>
          </a:p>
          <a:p>
            <a:pPr marL="190500" marR="554355">
              <a:lnSpc>
                <a:spcPct val="100000"/>
              </a:lnSpc>
              <a:spcBef>
                <a:spcPts val="1000"/>
              </a:spcBef>
            </a:pPr>
            <a:r>
              <a:rPr sz="2000" dirty="0">
                <a:latin typeface="Times New Roman"/>
                <a:cs typeface="Times New Roman"/>
              </a:rPr>
              <a:t>Ferrous  hyd</a:t>
            </a:r>
            <a:r>
              <a:rPr sz="2000" spc="5" dirty="0">
                <a:latin typeface="Times New Roman"/>
                <a:cs typeface="Times New Roman"/>
              </a:rPr>
              <a:t>r</a:t>
            </a:r>
            <a:r>
              <a:rPr sz="2000" dirty="0">
                <a:latin typeface="Times New Roman"/>
                <a:cs typeface="Times New Roman"/>
              </a:rPr>
              <a:t>o</a:t>
            </a:r>
            <a:r>
              <a:rPr sz="2000" spc="10" dirty="0">
                <a:latin typeface="Times New Roman"/>
                <a:cs typeface="Times New Roman"/>
              </a:rPr>
              <a:t>x</a:t>
            </a:r>
            <a:r>
              <a:rPr sz="2000" dirty="0">
                <a:latin typeface="Times New Roman"/>
                <a:cs typeface="Times New Roman"/>
              </a:rPr>
              <a:t>i</a:t>
            </a:r>
            <a:r>
              <a:rPr sz="2000" spc="-15" dirty="0">
                <a:latin typeface="Times New Roman"/>
                <a:cs typeface="Times New Roman"/>
              </a:rPr>
              <a:t>d</a:t>
            </a:r>
            <a:r>
              <a:rPr sz="2000" dirty="0">
                <a:latin typeface="Times New Roman"/>
                <a:cs typeface="Times New Roman"/>
              </a:rPr>
              <a:t>e</a:t>
            </a:r>
            <a:endParaRPr sz="2000">
              <a:latin typeface="Times New Roman"/>
              <a:cs typeface="Times New Roman"/>
            </a:endParaRPr>
          </a:p>
        </p:txBody>
      </p:sp>
      <p:sp>
        <p:nvSpPr>
          <p:cNvPr id="13" name="object 13"/>
          <p:cNvSpPr/>
          <p:nvPr/>
        </p:nvSpPr>
        <p:spPr>
          <a:xfrm>
            <a:off x="5006975" y="5332729"/>
            <a:ext cx="74675" cy="226822"/>
          </a:xfrm>
          <a:prstGeom prst="rect">
            <a:avLst/>
          </a:prstGeom>
          <a:blipFill>
            <a:blip r:embed="rId2" cstate="print"/>
            <a:stretch>
              <a:fillRect/>
            </a:stretch>
          </a:blipFill>
        </p:spPr>
        <p:txBody>
          <a:bodyPr wrap="square" lIns="0" tIns="0" rIns="0" bIns="0" rtlCol="0"/>
          <a:lstStyle/>
          <a:p>
            <a:endParaRPr/>
          </a:p>
        </p:txBody>
      </p:sp>
      <p:sp>
        <p:nvSpPr>
          <p:cNvPr id="14" name="object 14"/>
          <p:cNvSpPr txBox="1"/>
          <p:nvPr/>
        </p:nvSpPr>
        <p:spPr>
          <a:xfrm>
            <a:off x="3365246" y="4685791"/>
            <a:ext cx="1689735" cy="1366520"/>
          </a:xfrm>
          <a:prstGeom prst="rect">
            <a:avLst/>
          </a:prstGeom>
        </p:spPr>
        <p:txBody>
          <a:bodyPr vert="horz" wrap="square" lIns="0" tIns="12700" rIns="0" bIns="0" rtlCol="0">
            <a:spAutoFit/>
          </a:bodyPr>
          <a:lstStyle/>
          <a:p>
            <a:pPr marL="429895">
              <a:lnSpc>
                <a:spcPct val="100000"/>
              </a:lnSpc>
              <a:spcBef>
                <a:spcPts val="100"/>
              </a:spcBef>
            </a:pPr>
            <a:r>
              <a:rPr sz="2000" dirty="0">
                <a:latin typeface="Times New Roman"/>
                <a:cs typeface="Times New Roman"/>
              </a:rPr>
              <a:t>2</a:t>
            </a:r>
            <a:r>
              <a:rPr sz="2000" spc="-25" dirty="0">
                <a:latin typeface="Times New Roman"/>
                <a:cs typeface="Times New Roman"/>
              </a:rPr>
              <a:t> </a:t>
            </a:r>
            <a:r>
              <a:rPr sz="2000" spc="5" dirty="0">
                <a:latin typeface="Times New Roman"/>
                <a:cs typeface="Times New Roman"/>
              </a:rPr>
              <a:t>Fe(OH)</a:t>
            </a:r>
            <a:r>
              <a:rPr sz="1950" spc="7" baseline="-21367" dirty="0">
                <a:latin typeface="Times New Roman"/>
                <a:cs typeface="Times New Roman"/>
              </a:rPr>
              <a:t>2</a:t>
            </a:r>
            <a:endParaRPr sz="1950" baseline="-21367">
              <a:latin typeface="Times New Roman"/>
              <a:cs typeface="Times New Roman"/>
            </a:endParaRPr>
          </a:p>
          <a:p>
            <a:pPr marL="38100">
              <a:lnSpc>
                <a:spcPct val="100000"/>
              </a:lnSpc>
              <a:spcBef>
                <a:spcPts val="2080"/>
              </a:spcBef>
            </a:pPr>
            <a:r>
              <a:rPr sz="2000" dirty="0">
                <a:latin typeface="Times New Roman"/>
                <a:cs typeface="Times New Roman"/>
              </a:rPr>
              <a:t>2</a:t>
            </a:r>
            <a:r>
              <a:rPr sz="2000" spc="-55" dirty="0">
                <a:latin typeface="Times New Roman"/>
                <a:cs typeface="Times New Roman"/>
              </a:rPr>
              <a:t> </a:t>
            </a:r>
            <a:r>
              <a:rPr sz="2000" spc="5" dirty="0">
                <a:latin typeface="Times New Roman"/>
                <a:cs typeface="Times New Roman"/>
              </a:rPr>
              <a:t>[Fe</a:t>
            </a:r>
            <a:r>
              <a:rPr sz="1950" spc="7" baseline="-21367" dirty="0">
                <a:latin typeface="Times New Roman"/>
                <a:cs typeface="Times New Roman"/>
              </a:rPr>
              <a:t>2</a:t>
            </a:r>
            <a:r>
              <a:rPr sz="2000" spc="5" dirty="0">
                <a:latin typeface="Times New Roman"/>
                <a:cs typeface="Times New Roman"/>
              </a:rPr>
              <a:t>O</a:t>
            </a:r>
            <a:r>
              <a:rPr sz="1950" spc="7" baseline="-21367" dirty="0">
                <a:latin typeface="Times New Roman"/>
                <a:cs typeface="Times New Roman"/>
              </a:rPr>
              <a:t>3</a:t>
            </a:r>
            <a:r>
              <a:rPr sz="2000" spc="5" dirty="0">
                <a:latin typeface="Times New Roman"/>
                <a:cs typeface="Times New Roman"/>
              </a:rPr>
              <a:t>.2H</a:t>
            </a:r>
            <a:r>
              <a:rPr sz="1950" spc="7" baseline="-21367" dirty="0">
                <a:latin typeface="Times New Roman"/>
                <a:cs typeface="Times New Roman"/>
              </a:rPr>
              <a:t>2</a:t>
            </a:r>
            <a:r>
              <a:rPr sz="2000" spc="5" dirty="0">
                <a:latin typeface="Times New Roman"/>
                <a:cs typeface="Times New Roman"/>
              </a:rPr>
              <a:t>O]</a:t>
            </a:r>
            <a:endParaRPr sz="2000">
              <a:latin typeface="Times New Roman"/>
              <a:cs typeface="Times New Roman"/>
            </a:endParaRPr>
          </a:p>
          <a:p>
            <a:pPr marL="549275">
              <a:lnSpc>
                <a:spcPct val="100000"/>
              </a:lnSpc>
              <a:spcBef>
                <a:spcPts val="1275"/>
              </a:spcBef>
            </a:pPr>
            <a:r>
              <a:rPr sz="2000" dirty="0">
                <a:latin typeface="Times New Roman"/>
                <a:cs typeface="Times New Roman"/>
              </a:rPr>
              <a:t>Rust</a:t>
            </a:r>
            <a:endParaRPr sz="2000">
              <a:latin typeface="Times New Roman"/>
              <a:cs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55748" y="158495"/>
            <a:ext cx="4455160" cy="401320"/>
          </a:xfrm>
          <a:prstGeom prst="rect">
            <a:avLst/>
          </a:prstGeom>
          <a:solidFill>
            <a:srgbClr val="FFFF66"/>
          </a:solidFill>
          <a:ln w="9144">
            <a:solidFill>
              <a:srgbClr val="000000"/>
            </a:solidFill>
          </a:ln>
        </p:spPr>
        <p:txBody>
          <a:bodyPr vert="horz" wrap="square" lIns="0" tIns="37465" rIns="0" bIns="0" rtlCol="0">
            <a:spAutoFit/>
          </a:bodyPr>
          <a:lstStyle/>
          <a:p>
            <a:pPr marL="92075">
              <a:lnSpc>
                <a:spcPct val="100000"/>
              </a:lnSpc>
              <a:spcBef>
                <a:spcPts val="295"/>
              </a:spcBef>
            </a:pPr>
            <a:r>
              <a:rPr sz="2000" spc="-5" dirty="0">
                <a:solidFill>
                  <a:srgbClr val="003399"/>
                </a:solidFill>
                <a:latin typeface="Times New Roman"/>
                <a:cs typeface="Times New Roman"/>
              </a:rPr>
              <a:t>Removal </a:t>
            </a:r>
            <a:r>
              <a:rPr sz="2000" dirty="0">
                <a:solidFill>
                  <a:srgbClr val="003399"/>
                </a:solidFill>
                <a:latin typeface="Times New Roman"/>
                <a:cs typeface="Times New Roman"/>
              </a:rPr>
              <a:t>of Dissolved Oxygen</a:t>
            </a:r>
            <a:r>
              <a:rPr sz="2000" spc="-75" dirty="0">
                <a:solidFill>
                  <a:srgbClr val="003399"/>
                </a:solidFill>
                <a:latin typeface="Times New Roman"/>
                <a:cs typeface="Times New Roman"/>
              </a:rPr>
              <a:t> </a:t>
            </a:r>
            <a:r>
              <a:rPr sz="2000" dirty="0">
                <a:solidFill>
                  <a:srgbClr val="003399"/>
                </a:solidFill>
                <a:latin typeface="Times New Roman"/>
                <a:cs typeface="Times New Roman"/>
              </a:rPr>
              <a:t>(DO)</a:t>
            </a:r>
            <a:endParaRPr sz="2000">
              <a:latin typeface="Times New Roman"/>
              <a:cs typeface="Times New Roman"/>
            </a:endParaRPr>
          </a:p>
        </p:txBody>
      </p:sp>
      <p:sp>
        <p:nvSpPr>
          <p:cNvPr id="3" name="object 3"/>
          <p:cNvSpPr txBox="1"/>
          <p:nvPr/>
        </p:nvSpPr>
        <p:spPr>
          <a:xfrm>
            <a:off x="763016" y="1089406"/>
            <a:ext cx="7824470" cy="635635"/>
          </a:xfrm>
          <a:prstGeom prst="rect">
            <a:avLst/>
          </a:prstGeom>
        </p:spPr>
        <p:txBody>
          <a:bodyPr vert="horz" wrap="square" lIns="0" tIns="13335" rIns="0" bIns="0" rtlCol="0">
            <a:spAutoFit/>
          </a:bodyPr>
          <a:lstStyle/>
          <a:p>
            <a:pPr marL="12700" marR="5080">
              <a:lnSpc>
                <a:spcPct val="100000"/>
              </a:lnSpc>
              <a:spcBef>
                <a:spcPts val="105"/>
              </a:spcBef>
            </a:pPr>
            <a:r>
              <a:rPr sz="2000" dirty="0">
                <a:solidFill>
                  <a:srgbClr val="990000"/>
                </a:solidFill>
                <a:latin typeface="Times New Roman"/>
                <a:cs typeface="Times New Roman"/>
              </a:rPr>
              <a:t>The dissolved oxygen present in the boiler feed water can be </a:t>
            </a:r>
            <a:r>
              <a:rPr sz="2000" spc="-5" dirty="0">
                <a:solidFill>
                  <a:srgbClr val="990000"/>
                </a:solidFill>
                <a:latin typeface="Times New Roman"/>
                <a:cs typeface="Times New Roman"/>
              </a:rPr>
              <a:t>removed </a:t>
            </a:r>
            <a:r>
              <a:rPr sz="2000" dirty="0">
                <a:solidFill>
                  <a:srgbClr val="990000"/>
                </a:solidFill>
                <a:latin typeface="Times New Roman"/>
                <a:cs typeface="Times New Roman"/>
              </a:rPr>
              <a:t>by</a:t>
            </a:r>
            <a:r>
              <a:rPr sz="2000" spc="-165" dirty="0">
                <a:solidFill>
                  <a:srgbClr val="990000"/>
                </a:solidFill>
                <a:latin typeface="Times New Roman"/>
                <a:cs typeface="Times New Roman"/>
              </a:rPr>
              <a:t> </a:t>
            </a:r>
            <a:r>
              <a:rPr sz="2000" dirty="0">
                <a:solidFill>
                  <a:srgbClr val="990000"/>
                </a:solidFill>
                <a:latin typeface="Times New Roman"/>
                <a:cs typeface="Times New Roman"/>
              </a:rPr>
              <a:t>the  addition of sodium sulphite or hydrazine and the reactions can be written</a:t>
            </a:r>
            <a:r>
              <a:rPr sz="2000" spc="-280" dirty="0">
                <a:solidFill>
                  <a:srgbClr val="990000"/>
                </a:solidFill>
                <a:latin typeface="Times New Roman"/>
                <a:cs typeface="Times New Roman"/>
              </a:rPr>
              <a:t> </a:t>
            </a:r>
            <a:r>
              <a:rPr sz="2000" dirty="0">
                <a:solidFill>
                  <a:srgbClr val="990000"/>
                </a:solidFill>
                <a:latin typeface="Times New Roman"/>
                <a:cs typeface="Times New Roman"/>
              </a:rPr>
              <a:t>as</a:t>
            </a:r>
            <a:endParaRPr sz="2000">
              <a:latin typeface="Times New Roman"/>
              <a:cs typeface="Times New Roman"/>
            </a:endParaRPr>
          </a:p>
        </p:txBody>
      </p:sp>
      <p:sp>
        <p:nvSpPr>
          <p:cNvPr id="4" name="object 4"/>
          <p:cNvSpPr txBox="1"/>
          <p:nvPr/>
        </p:nvSpPr>
        <p:spPr>
          <a:xfrm>
            <a:off x="737616" y="1699006"/>
            <a:ext cx="1830070" cy="330835"/>
          </a:xfrm>
          <a:prstGeom prst="rect">
            <a:avLst/>
          </a:prstGeom>
        </p:spPr>
        <p:txBody>
          <a:bodyPr vert="horz" wrap="square" lIns="0" tIns="13335" rIns="0" bIns="0" rtlCol="0">
            <a:spAutoFit/>
          </a:bodyPr>
          <a:lstStyle/>
          <a:p>
            <a:pPr marL="38100">
              <a:lnSpc>
                <a:spcPct val="100000"/>
              </a:lnSpc>
              <a:spcBef>
                <a:spcPts val="105"/>
              </a:spcBef>
              <a:tabLst>
                <a:tab pos="807085" algn="l"/>
              </a:tabLst>
            </a:pPr>
            <a:r>
              <a:rPr sz="2000" dirty="0">
                <a:solidFill>
                  <a:srgbClr val="990000"/>
                </a:solidFill>
                <a:latin typeface="Times New Roman"/>
                <a:cs typeface="Times New Roman"/>
              </a:rPr>
              <a:t>below	</a:t>
            </a:r>
            <a:r>
              <a:rPr sz="3000" baseline="-5555" dirty="0">
                <a:latin typeface="Times New Roman"/>
                <a:cs typeface="Times New Roman"/>
              </a:rPr>
              <a:t>2</a:t>
            </a:r>
            <a:r>
              <a:rPr sz="3000" spc="-82" baseline="-5555" dirty="0">
                <a:latin typeface="Times New Roman"/>
                <a:cs typeface="Times New Roman"/>
              </a:rPr>
              <a:t> </a:t>
            </a:r>
            <a:r>
              <a:rPr sz="3000" spc="7" baseline="-5555" dirty="0">
                <a:latin typeface="Times New Roman"/>
                <a:cs typeface="Times New Roman"/>
              </a:rPr>
              <a:t>Na</a:t>
            </a:r>
            <a:r>
              <a:rPr sz="1950" spc="7" baseline="-29914" dirty="0">
                <a:latin typeface="Times New Roman"/>
                <a:cs typeface="Times New Roman"/>
              </a:rPr>
              <a:t>2</a:t>
            </a:r>
            <a:r>
              <a:rPr sz="3000" spc="7" baseline="-5555" dirty="0">
                <a:latin typeface="Times New Roman"/>
                <a:cs typeface="Times New Roman"/>
              </a:rPr>
              <a:t>SO</a:t>
            </a:r>
            <a:r>
              <a:rPr sz="1950" spc="7" baseline="-29914" dirty="0">
                <a:latin typeface="Times New Roman"/>
                <a:cs typeface="Times New Roman"/>
              </a:rPr>
              <a:t>3</a:t>
            </a:r>
            <a:endParaRPr sz="1950" baseline="-29914">
              <a:latin typeface="Times New Roman"/>
              <a:cs typeface="Times New Roman"/>
            </a:endParaRPr>
          </a:p>
        </p:txBody>
      </p:sp>
      <p:sp>
        <p:nvSpPr>
          <p:cNvPr id="5" name="object 5"/>
          <p:cNvSpPr txBox="1"/>
          <p:nvPr/>
        </p:nvSpPr>
        <p:spPr>
          <a:xfrm>
            <a:off x="2730754" y="1724660"/>
            <a:ext cx="2576195" cy="330835"/>
          </a:xfrm>
          <a:prstGeom prst="rect">
            <a:avLst/>
          </a:prstGeom>
        </p:spPr>
        <p:txBody>
          <a:bodyPr vert="horz" wrap="square" lIns="0" tIns="13335" rIns="0" bIns="0" rtlCol="0">
            <a:spAutoFit/>
          </a:bodyPr>
          <a:lstStyle/>
          <a:p>
            <a:pPr marL="50800">
              <a:lnSpc>
                <a:spcPct val="100000"/>
              </a:lnSpc>
              <a:spcBef>
                <a:spcPts val="105"/>
              </a:spcBef>
              <a:tabLst>
                <a:tab pos="1541145" algn="l"/>
              </a:tabLst>
            </a:pPr>
            <a:r>
              <a:rPr sz="2000" dirty="0">
                <a:latin typeface="Times New Roman"/>
                <a:cs typeface="Times New Roman"/>
              </a:rPr>
              <a:t>+</a:t>
            </a:r>
            <a:r>
              <a:rPr sz="2000" spc="490" dirty="0">
                <a:latin typeface="Times New Roman"/>
                <a:cs typeface="Times New Roman"/>
              </a:rPr>
              <a:t> </a:t>
            </a:r>
            <a:r>
              <a:rPr sz="2000" spc="10" dirty="0">
                <a:latin typeface="Times New Roman"/>
                <a:cs typeface="Times New Roman"/>
              </a:rPr>
              <a:t>O</a:t>
            </a:r>
            <a:r>
              <a:rPr sz="1950" spc="15" baseline="-21367" dirty="0">
                <a:latin typeface="Times New Roman"/>
                <a:cs typeface="Times New Roman"/>
              </a:rPr>
              <a:t>2	</a:t>
            </a:r>
            <a:r>
              <a:rPr sz="2000" dirty="0">
                <a:latin typeface="Times New Roman"/>
                <a:cs typeface="Times New Roman"/>
              </a:rPr>
              <a:t>2</a:t>
            </a:r>
            <a:r>
              <a:rPr sz="2000" spc="-40" dirty="0">
                <a:latin typeface="Times New Roman"/>
                <a:cs typeface="Times New Roman"/>
              </a:rPr>
              <a:t> </a:t>
            </a:r>
            <a:r>
              <a:rPr sz="2000" spc="5" dirty="0">
                <a:latin typeface="Times New Roman"/>
                <a:cs typeface="Times New Roman"/>
              </a:rPr>
              <a:t>Na</a:t>
            </a:r>
            <a:r>
              <a:rPr sz="1950" spc="7" baseline="-21367" dirty="0">
                <a:latin typeface="Times New Roman"/>
                <a:cs typeface="Times New Roman"/>
              </a:rPr>
              <a:t>2</a:t>
            </a:r>
            <a:r>
              <a:rPr sz="2000" spc="5" dirty="0">
                <a:latin typeface="Times New Roman"/>
                <a:cs typeface="Times New Roman"/>
              </a:rPr>
              <a:t>SO</a:t>
            </a:r>
            <a:r>
              <a:rPr sz="1950" spc="7" baseline="-21367" dirty="0">
                <a:latin typeface="Times New Roman"/>
                <a:cs typeface="Times New Roman"/>
              </a:rPr>
              <a:t>4</a:t>
            </a:r>
            <a:endParaRPr sz="1950" baseline="-21367">
              <a:latin typeface="Times New Roman"/>
              <a:cs typeface="Times New Roman"/>
            </a:endParaRPr>
          </a:p>
        </p:txBody>
      </p:sp>
      <p:sp>
        <p:nvSpPr>
          <p:cNvPr id="6" name="object 6"/>
          <p:cNvSpPr txBox="1"/>
          <p:nvPr/>
        </p:nvSpPr>
        <p:spPr>
          <a:xfrm>
            <a:off x="953719" y="3237738"/>
            <a:ext cx="1216025" cy="330835"/>
          </a:xfrm>
          <a:prstGeom prst="rect">
            <a:avLst/>
          </a:prstGeom>
        </p:spPr>
        <p:txBody>
          <a:bodyPr vert="horz" wrap="square" lIns="0" tIns="13335" rIns="0" bIns="0" rtlCol="0">
            <a:spAutoFit/>
          </a:bodyPr>
          <a:lstStyle/>
          <a:p>
            <a:pPr marL="38100">
              <a:lnSpc>
                <a:spcPct val="100000"/>
              </a:lnSpc>
              <a:spcBef>
                <a:spcPts val="105"/>
              </a:spcBef>
            </a:pPr>
            <a:r>
              <a:rPr sz="2000" spc="10" dirty="0">
                <a:latin typeface="Times New Roman"/>
                <a:cs typeface="Times New Roman"/>
              </a:rPr>
              <a:t>N</a:t>
            </a:r>
            <a:r>
              <a:rPr sz="1950" spc="15" baseline="-21367" dirty="0">
                <a:latin typeface="Times New Roman"/>
                <a:cs typeface="Times New Roman"/>
              </a:rPr>
              <a:t>2</a:t>
            </a:r>
            <a:r>
              <a:rPr sz="2000" spc="10" dirty="0">
                <a:latin typeface="Times New Roman"/>
                <a:cs typeface="Times New Roman"/>
              </a:rPr>
              <a:t>H</a:t>
            </a:r>
            <a:r>
              <a:rPr sz="1950" spc="15" baseline="-21367" dirty="0">
                <a:latin typeface="Times New Roman"/>
                <a:cs typeface="Times New Roman"/>
              </a:rPr>
              <a:t>4 </a:t>
            </a:r>
            <a:r>
              <a:rPr sz="2000" dirty="0">
                <a:latin typeface="Times New Roman"/>
                <a:cs typeface="Times New Roman"/>
              </a:rPr>
              <a:t>+</a:t>
            </a:r>
            <a:r>
              <a:rPr sz="2000" spc="-100" dirty="0">
                <a:latin typeface="Times New Roman"/>
                <a:cs typeface="Times New Roman"/>
              </a:rPr>
              <a:t> </a:t>
            </a:r>
            <a:r>
              <a:rPr sz="2000" spc="10" dirty="0">
                <a:latin typeface="Times New Roman"/>
                <a:cs typeface="Times New Roman"/>
              </a:rPr>
              <a:t>O</a:t>
            </a:r>
            <a:r>
              <a:rPr sz="1950" spc="15" baseline="-21367" dirty="0">
                <a:latin typeface="Times New Roman"/>
                <a:cs typeface="Times New Roman"/>
              </a:rPr>
              <a:t>2</a:t>
            </a:r>
            <a:endParaRPr sz="1950" baseline="-21367">
              <a:latin typeface="Times New Roman"/>
              <a:cs typeface="Times New Roman"/>
            </a:endParaRPr>
          </a:p>
        </p:txBody>
      </p:sp>
      <p:sp>
        <p:nvSpPr>
          <p:cNvPr id="7" name="object 7"/>
          <p:cNvSpPr/>
          <p:nvPr/>
        </p:nvSpPr>
        <p:spPr>
          <a:xfrm>
            <a:off x="3276600" y="1866900"/>
            <a:ext cx="864235" cy="76200"/>
          </a:xfrm>
          <a:custGeom>
            <a:avLst/>
            <a:gdLst/>
            <a:ahLst/>
            <a:cxnLst/>
            <a:rect l="l" t="t" r="r" b="b"/>
            <a:pathLst>
              <a:path w="864235" h="76200">
                <a:moveTo>
                  <a:pt x="787908" y="0"/>
                </a:moveTo>
                <a:lnTo>
                  <a:pt x="787908" y="76200"/>
                </a:lnTo>
                <a:lnTo>
                  <a:pt x="851408" y="44450"/>
                </a:lnTo>
                <a:lnTo>
                  <a:pt x="800608" y="44450"/>
                </a:lnTo>
                <a:lnTo>
                  <a:pt x="800608" y="31750"/>
                </a:lnTo>
                <a:lnTo>
                  <a:pt x="851408" y="31750"/>
                </a:lnTo>
                <a:lnTo>
                  <a:pt x="787908" y="0"/>
                </a:lnTo>
                <a:close/>
              </a:path>
              <a:path w="864235" h="76200">
                <a:moveTo>
                  <a:pt x="787908" y="31750"/>
                </a:moveTo>
                <a:lnTo>
                  <a:pt x="0" y="31750"/>
                </a:lnTo>
                <a:lnTo>
                  <a:pt x="0" y="44450"/>
                </a:lnTo>
                <a:lnTo>
                  <a:pt x="787908" y="44450"/>
                </a:lnTo>
                <a:lnTo>
                  <a:pt x="787908" y="31750"/>
                </a:lnTo>
                <a:close/>
              </a:path>
              <a:path w="864235" h="76200">
                <a:moveTo>
                  <a:pt x="851408" y="31750"/>
                </a:moveTo>
                <a:lnTo>
                  <a:pt x="800608" y="31750"/>
                </a:lnTo>
                <a:lnTo>
                  <a:pt x="800608" y="44450"/>
                </a:lnTo>
                <a:lnTo>
                  <a:pt x="851408" y="44450"/>
                </a:lnTo>
                <a:lnTo>
                  <a:pt x="864108" y="38100"/>
                </a:lnTo>
                <a:lnTo>
                  <a:pt x="851408" y="31750"/>
                </a:lnTo>
                <a:close/>
              </a:path>
            </a:pathLst>
          </a:custGeom>
          <a:solidFill>
            <a:srgbClr val="000000"/>
          </a:solidFill>
        </p:spPr>
        <p:txBody>
          <a:bodyPr wrap="square" lIns="0" tIns="0" rIns="0" bIns="0" rtlCol="0"/>
          <a:lstStyle/>
          <a:p>
            <a:endParaRPr/>
          </a:p>
        </p:txBody>
      </p:sp>
      <p:sp>
        <p:nvSpPr>
          <p:cNvPr id="8" name="object 8"/>
          <p:cNvSpPr/>
          <p:nvPr/>
        </p:nvSpPr>
        <p:spPr>
          <a:xfrm>
            <a:off x="2124455" y="3364991"/>
            <a:ext cx="862965" cy="76200"/>
          </a:xfrm>
          <a:custGeom>
            <a:avLst/>
            <a:gdLst/>
            <a:ahLst/>
            <a:cxnLst/>
            <a:rect l="l" t="t" r="r" b="b"/>
            <a:pathLst>
              <a:path w="862964" h="76200">
                <a:moveTo>
                  <a:pt x="786383" y="0"/>
                </a:moveTo>
                <a:lnTo>
                  <a:pt x="786383" y="76200"/>
                </a:lnTo>
                <a:lnTo>
                  <a:pt x="849883" y="44450"/>
                </a:lnTo>
                <a:lnTo>
                  <a:pt x="799083" y="44450"/>
                </a:lnTo>
                <a:lnTo>
                  <a:pt x="799083" y="31750"/>
                </a:lnTo>
                <a:lnTo>
                  <a:pt x="849883" y="31750"/>
                </a:lnTo>
                <a:lnTo>
                  <a:pt x="786383" y="0"/>
                </a:lnTo>
                <a:close/>
              </a:path>
              <a:path w="862964" h="76200">
                <a:moveTo>
                  <a:pt x="786383" y="31750"/>
                </a:moveTo>
                <a:lnTo>
                  <a:pt x="0" y="31750"/>
                </a:lnTo>
                <a:lnTo>
                  <a:pt x="0" y="44450"/>
                </a:lnTo>
                <a:lnTo>
                  <a:pt x="786383" y="44450"/>
                </a:lnTo>
                <a:lnTo>
                  <a:pt x="786383" y="31750"/>
                </a:lnTo>
                <a:close/>
              </a:path>
              <a:path w="862964" h="76200">
                <a:moveTo>
                  <a:pt x="849883" y="31750"/>
                </a:moveTo>
                <a:lnTo>
                  <a:pt x="799083" y="31750"/>
                </a:lnTo>
                <a:lnTo>
                  <a:pt x="799083" y="44450"/>
                </a:lnTo>
                <a:lnTo>
                  <a:pt x="849883" y="44450"/>
                </a:lnTo>
                <a:lnTo>
                  <a:pt x="862583" y="38100"/>
                </a:lnTo>
                <a:lnTo>
                  <a:pt x="849883" y="31750"/>
                </a:lnTo>
                <a:close/>
              </a:path>
            </a:pathLst>
          </a:custGeom>
          <a:solidFill>
            <a:srgbClr val="000000"/>
          </a:solidFill>
        </p:spPr>
        <p:txBody>
          <a:bodyPr wrap="square" lIns="0" tIns="0" rIns="0" bIns="0" rtlCol="0"/>
          <a:lstStyle/>
          <a:p>
            <a:endParaRPr/>
          </a:p>
        </p:txBody>
      </p:sp>
      <p:sp>
        <p:nvSpPr>
          <p:cNvPr id="9" name="object 9"/>
          <p:cNvSpPr txBox="1"/>
          <p:nvPr/>
        </p:nvSpPr>
        <p:spPr>
          <a:xfrm>
            <a:off x="2912998" y="2726563"/>
            <a:ext cx="1327785" cy="842010"/>
          </a:xfrm>
          <a:prstGeom prst="rect">
            <a:avLst/>
          </a:prstGeom>
        </p:spPr>
        <p:txBody>
          <a:bodyPr vert="horz" wrap="square" lIns="0" tIns="13335" rIns="0" bIns="0" rtlCol="0">
            <a:spAutoFit/>
          </a:bodyPr>
          <a:lstStyle/>
          <a:p>
            <a:pPr marL="38100">
              <a:lnSpc>
                <a:spcPct val="100000"/>
              </a:lnSpc>
              <a:spcBef>
                <a:spcPts val="105"/>
              </a:spcBef>
            </a:pPr>
            <a:r>
              <a:rPr sz="2000" dirty="0">
                <a:latin typeface="Times New Roman"/>
                <a:cs typeface="Times New Roman"/>
              </a:rPr>
              <a:t>+</a:t>
            </a:r>
            <a:r>
              <a:rPr sz="2000" spc="470" dirty="0">
                <a:latin typeface="Times New Roman"/>
                <a:cs typeface="Times New Roman"/>
              </a:rPr>
              <a:t> </a:t>
            </a:r>
            <a:r>
              <a:rPr sz="2000" spc="10" dirty="0">
                <a:latin typeface="Times New Roman"/>
                <a:cs typeface="Times New Roman"/>
              </a:rPr>
              <a:t>2O</a:t>
            </a:r>
            <a:r>
              <a:rPr sz="1950" spc="15" baseline="-21367" dirty="0">
                <a:latin typeface="Times New Roman"/>
                <a:cs typeface="Times New Roman"/>
              </a:rPr>
              <a:t>2</a:t>
            </a:r>
            <a:endParaRPr sz="1950" baseline="-21367">
              <a:latin typeface="Times New Roman"/>
              <a:cs typeface="Times New Roman"/>
            </a:endParaRPr>
          </a:p>
          <a:p>
            <a:pPr marL="105410">
              <a:lnSpc>
                <a:spcPct val="100000"/>
              </a:lnSpc>
              <a:spcBef>
                <a:spcPts val="1625"/>
              </a:spcBef>
              <a:tabLst>
                <a:tab pos="501650" algn="l"/>
              </a:tabLst>
            </a:pPr>
            <a:r>
              <a:rPr sz="2000" spc="10" dirty="0">
                <a:latin typeface="Times New Roman"/>
                <a:cs typeface="Times New Roman"/>
              </a:rPr>
              <a:t>N</a:t>
            </a:r>
            <a:r>
              <a:rPr sz="1950" spc="15" baseline="-21367" dirty="0">
                <a:latin typeface="Times New Roman"/>
                <a:cs typeface="Times New Roman"/>
              </a:rPr>
              <a:t>2	</a:t>
            </a:r>
            <a:r>
              <a:rPr sz="2000" dirty="0">
                <a:latin typeface="Times New Roman"/>
                <a:cs typeface="Times New Roman"/>
              </a:rPr>
              <a:t>+</a:t>
            </a:r>
            <a:r>
              <a:rPr sz="2000" spc="-65" dirty="0">
                <a:latin typeface="Times New Roman"/>
                <a:cs typeface="Times New Roman"/>
              </a:rPr>
              <a:t> </a:t>
            </a:r>
            <a:r>
              <a:rPr sz="2000" spc="5" dirty="0">
                <a:latin typeface="Times New Roman"/>
                <a:cs typeface="Times New Roman"/>
              </a:rPr>
              <a:t>2H</a:t>
            </a:r>
            <a:r>
              <a:rPr sz="1950" spc="7" baseline="-21367" dirty="0">
                <a:latin typeface="Times New Roman"/>
                <a:cs typeface="Times New Roman"/>
              </a:rPr>
              <a:t>2</a:t>
            </a:r>
            <a:r>
              <a:rPr sz="2000" spc="5" dirty="0">
                <a:latin typeface="Times New Roman"/>
                <a:cs typeface="Times New Roman"/>
              </a:rPr>
              <a:t>O</a:t>
            </a:r>
            <a:endParaRPr sz="2000">
              <a:latin typeface="Times New Roman"/>
              <a:cs typeface="Times New Roman"/>
            </a:endParaRPr>
          </a:p>
        </p:txBody>
      </p:sp>
      <p:sp>
        <p:nvSpPr>
          <p:cNvPr id="10" name="object 10"/>
          <p:cNvSpPr txBox="1"/>
          <p:nvPr/>
        </p:nvSpPr>
        <p:spPr>
          <a:xfrm>
            <a:off x="827532" y="2133600"/>
            <a:ext cx="1458595" cy="707390"/>
          </a:xfrm>
          <a:prstGeom prst="rect">
            <a:avLst/>
          </a:prstGeom>
          <a:solidFill>
            <a:srgbClr val="FFFF66"/>
          </a:solidFill>
        </p:spPr>
        <p:txBody>
          <a:bodyPr vert="horz" wrap="square" lIns="0" tIns="37465" rIns="0" bIns="0" rtlCol="0">
            <a:spAutoFit/>
          </a:bodyPr>
          <a:lstStyle/>
          <a:p>
            <a:pPr marL="90805" marR="553720">
              <a:lnSpc>
                <a:spcPct val="100000"/>
              </a:lnSpc>
              <a:spcBef>
                <a:spcPts val="295"/>
              </a:spcBef>
            </a:pPr>
            <a:r>
              <a:rPr sz="2000" dirty="0">
                <a:solidFill>
                  <a:srgbClr val="990000"/>
                </a:solidFill>
                <a:latin typeface="Times New Roman"/>
                <a:cs typeface="Times New Roman"/>
              </a:rPr>
              <a:t>S</a:t>
            </a:r>
            <a:r>
              <a:rPr sz="2000" spc="5" dirty="0">
                <a:solidFill>
                  <a:srgbClr val="990000"/>
                </a:solidFill>
                <a:latin typeface="Times New Roman"/>
                <a:cs typeface="Times New Roman"/>
              </a:rPr>
              <a:t>o</a:t>
            </a:r>
            <a:r>
              <a:rPr sz="2000" dirty="0">
                <a:solidFill>
                  <a:srgbClr val="990000"/>
                </a:solidFill>
                <a:latin typeface="Times New Roman"/>
                <a:cs typeface="Times New Roman"/>
              </a:rPr>
              <a:t>dium  sulphi</a:t>
            </a:r>
            <a:r>
              <a:rPr sz="2000" spc="-10" dirty="0">
                <a:solidFill>
                  <a:srgbClr val="990000"/>
                </a:solidFill>
                <a:latin typeface="Times New Roman"/>
                <a:cs typeface="Times New Roman"/>
              </a:rPr>
              <a:t>t</a:t>
            </a:r>
            <a:r>
              <a:rPr sz="2000" dirty="0">
                <a:solidFill>
                  <a:srgbClr val="990000"/>
                </a:solidFill>
                <a:latin typeface="Times New Roman"/>
                <a:cs typeface="Times New Roman"/>
              </a:rPr>
              <a:t>e</a:t>
            </a:r>
            <a:endParaRPr sz="2000">
              <a:latin typeface="Times New Roman"/>
              <a:cs typeface="Times New Roman"/>
            </a:endParaRPr>
          </a:p>
        </p:txBody>
      </p:sp>
      <p:sp>
        <p:nvSpPr>
          <p:cNvPr id="11" name="object 11"/>
          <p:cNvSpPr txBox="1"/>
          <p:nvPr/>
        </p:nvSpPr>
        <p:spPr>
          <a:xfrm>
            <a:off x="2590800" y="2179320"/>
            <a:ext cx="685800" cy="401320"/>
          </a:xfrm>
          <a:prstGeom prst="rect">
            <a:avLst/>
          </a:prstGeom>
          <a:solidFill>
            <a:srgbClr val="FFFF66"/>
          </a:solidFill>
        </p:spPr>
        <p:txBody>
          <a:bodyPr vert="horz" wrap="square" lIns="0" tIns="37465" rIns="0" bIns="0" rtlCol="0">
            <a:spAutoFit/>
          </a:bodyPr>
          <a:lstStyle/>
          <a:p>
            <a:pPr marL="92075">
              <a:lnSpc>
                <a:spcPct val="100000"/>
              </a:lnSpc>
              <a:spcBef>
                <a:spcPts val="295"/>
              </a:spcBef>
            </a:pPr>
            <a:r>
              <a:rPr sz="2000" spc="5" dirty="0">
                <a:solidFill>
                  <a:srgbClr val="990000"/>
                </a:solidFill>
                <a:latin typeface="Times New Roman"/>
                <a:cs typeface="Times New Roman"/>
              </a:rPr>
              <a:t>DO</a:t>
            </a:r>
            <a:endParaRPr sz="2000">
              <a:latin typeface="Times New Roman"/>
              <a:cs typeface="Times New Roman"/>
            </a:endParaRPr>
          </a:p>
        </p:txBody>
      </p:sp>
      <p:sp>
        <p:nvSpPr>
          <p:cNvPr id="12" name="object 12"/>
          <p:cNvSpPr txBox="1"/>
          <p:nvPr/>
        </p:nvSpPr>
        <p:spPr>
          <a:xfrm>
            <a:off x="4038600" y="2133600"/>
            <a:ext cx="2156460" cy="401320"/>
          </a:xfrm>
          <a:prstGeom prst="rect">
            <a:avLst/>
          </a:prstGeom>
          <a:solidFill>
            <a:srgbClr val="FFFF66"/>
          </a:solidFill>
        </p:spPr>
        <p:txBody>
          <a:bodyPr vert="horz" wrap="square" lIns="0" tIns="37465" rIns="0" bIns="0" rtlCol="0">
            <a:spAutoFit/>
          </a:bodyPr>
          <a:lstStyle/>
          <a:p>
            <a:pPr marL="92075">
              <a:lnSpc>
                <a:spcPct val="100000"/>
              </a:lnSpc>
              <a:spcBef>
                <a:spcPts val="295"/>
              </a:spcBef>
            </a:pPr>
            <a:r>
              <a:rPr sz="2000" dirty="0">
                <a:solidFill>
                  <a:srgbClr val="990000"/>
                </a:solidFill>
                <a:latin typeface="Times New Roman"/>
                <a:cs typeface="Times New Roman"/>
              </a:rPr>
              <a:t>Sodium</a:t>
            </a:r>
            <a:r>
              <a:rPr sz="2000" spc="-55" dirty="0">
                <a:solidFill>
                  <a:srgbClr val="990000"/>
                </a:solidFill>
                <a:latin typeface="Times New Roman"/>
                <a:cs typeface="Times New Roman"/>
              </a:rPr>
              <a:t> </a:t>
            </a:r>
            <a:r>
              <a:rPr sz="2000" dirty="0">
                <a:solidFill>
                  <a:srgbClr val="990000"/>
                </a:solidFill>
                <a:latin typeface="Times New Roman"/>
                <a:cs typeface="Times New Roman"/>
              </a:rPr>
              <a:t>sulphate</a:t>
            </a:r>
            <a:endParaRPr sz="2000">
              <a:latin typeface="Times New Roman"/>
              <a:cs typeface="Times New Roman"/>
            </a:endParaRPr>
          </a:p>
        </p:txBody>
      </p:sp>
      <p:sp>
        <p:nvSpPr>
          <p:cNvPr id="13" name="object 13"/>
          <p:cNvSpPr txBox="1"/>
          <p:nvPr/>
        </p:nvSpPr>
        <p:spPr>
          <a:xfrm>
            <a:off x="755904" y="3717035"/>
            <a:ext cx="1530350" cy="399415"/>
          </a:xfrm>
          <a:prstGeom prst="rect">
            <a:avLst/>
          </a:prstGeom>
          <a:solidFill>
            <a:srgbClr val="FFFF66"/>
          </a:solidFill>
        </p:spPr>
        <p:txBody>
          <a:bodyPr vert="horz" wrap="square" lIns="0" tIns="36830" rIns="0" bIns="0" rtlCol="0">
            <a:spAutoFit/>
          </a:bodyPr>
          <a:lstStyle/>
          <a:p>
            <a:pPr marL="90805">
              <a:lnSpc>
                <a:spcPct val="100000"/>
              </a:lnSpc>
              <a:spcBef>
                <a:spcPts val="290"/>
              </a:spcBef>
            </a:pPr>
            <a:r>
              <a:rPr sz="2000" dirty="0">
                <a:solidFill>
                  <a:srgbClr val="990000"/>
                </a:solidFill>
                <a:latin typeface="Times New Roman"/>
                <a:cs typeface="Times New Roman"/>
              </a:rPr>
              <a:t>Hydrazine</a:t>
            </a:r>
            <a:endParaRPr sz="2000">
              <a:latin typeface="Times New Roman"/>
              <a:cs typeface="Times New Roman"/>
            </a:endParaRPr>
          </a:p>
        </p:txBody>
      </p:sp>
      <p:sp>
        <p:nvSpPr>
          <p:cNvPr id="14" name="object 14"/>
          <p:cNvSpPr txBox="1"/>
          <p:nvPr/>
        </p:nvSpPr>
        <p:spPr>
          <a:xfrm>
            <a:off x="2750820" y="3691128"/>
            <a:ext cx="1821180" cy="399415"/>
          </a:xfrm>
          <a:prstGeom prst="rect">
            <a:avLst/>
          </a:prstGeom>
          <a:solidFill>
            <a:srgbClr val="FFFF66"/>
          </a:solidFill>
        </p:spPr>
        <p:txBody>
          <a:bodyPr vert="horz" wrap="square" lIns="0" tIns="37465" rIns="0" bIns="0" rtlCol="0">
            <a:spAutoFit/>
          </a:bodyPr>
          <a:lstStyle/>
          <a:p>
            <a:pPr marL="92075">
              <a:lnSpc>
                <a:spcPct val="100000"/>
              </a:lnSpc>
              <a:spcBef>
                <a:spcPts val="295"/>
              </a:spcBef>
            </a:pPr>
            <a:r>
              <a:rPr sz="2000" dirty="0">
                <a:solidFill>
                  <a:srgbClr val="990000"/>
                </a:solidFill>
                <a:latin typeface="Times New Roman"/>
                <a:cs typeface="Times New Roman"/>
              </a:rPr>
              <a:t>Nitrogen</a:t>
            </a:r>
            <a:endParaRPr sz="2000">
              <a:latin typeface="Times New Roman"/>
              <a:cs typeface="Times New Roman"/>
            </a:endParaRPr>
          </a:p>
        </p:txBody>
      </p:sp>
      <p:sp>
        <p:nvSpPr>
          <p:cNvPr id="15" name="object 15"/>
          <p:cNvSpPr txBox="1"/>
          <p:nvPr/>
        </p:nvSpPr>
        <p:spPr>
          <a:xfrm>
            <a:off x="684276" y="620268"/>
            <a:ext cx="3456940" cy="401320"/>
          </a:xfrm>
          <a:prstGeom prst="rect">
            <a:avLst/>
          </a:prstGeom>
          <a:solidFill>
            <a:srgbClr val="009900"/>
          </a:solidFill>
          <a:ln w="9144">
            <a:solidFill>
              <a:srgbClr val="000000"/>
            </a:solidFill>
          </a:ln>
        </p:spPr>
        <p:txBody>
          <a:bodyPr vert="horz" wrap="square" lIns="0" tIns="37465" rIns="0" bIns="0" rtlCol="0">
            <a:spAutoFit/>
          </a:bodyPr>
          <a:lstStyle/>
          <a:p>
            <a:pPr marL="90805">
              <a:lnSpc>
                <a:spcPct val="100000"/>
              </a:lnSpc>
              <a:spcBef>
                <a:spcPts val="295"/>
              </a:spcBef>
            </a:pPr>
            <a:r>
              <a:rPr sz="2000" dirty="0">
                <a:solidFill>
                  <a:srgbClr val="66FFFF"/>
                </a:solidFill>
                <a:latin typeface="Times New Roman"/>
                <a:cs typeface="Times New Roman"/>
              </a:rPr>
              <a:t>1. By the addition of</a:t>
            </a:r>
            <a:r>
              <a:rPr sz="2000" spc="-95" dirty="0">
                <a:solidFill>
                  <a:srgbClr val="66FFFF"/>
                </a:solidFill>
                <a:latin typeface="Times New Roman"/>
                <a:cs typeface="Times New Roman"/>
              </a:rPr>
              <a:t> </a:t>
            </a:r>
            <a:r>
              <a:rPr sz="2000" spc="-5" dirty="0">
                <a:solidFill>
                  <a:srgbClr val="66FFFF"/>
                </a:solidFill>
                <a:latin typeface="Times New Roman"/>
                <a:cs typeface="Times New Roman"/>
              </a:rPr>
              <a:t>chemicals</a:t>
            </a:r>
            <a:endParaRPr sz="2000">
              <a:latin typeface="Times New Roman"/>
              <a:cs typeface="Times New Roman"/>
            </a:endParaRPr>
          </a:p>
        </p:txBody>
      </p:sp>
      <p:sp>
        <p:nvSpPr>
          <p:cNvPr id="16" name="object 16"/>
          <p:cNvSpPr/>
          <p:nvPr/>
        </p:nvSpPr>
        <p:spPr>
          <a:xfrm>
            <a:off x="6877811" y="3645408"/>
            <a:ext cx="70485" cy="71755"/>
          </a:xfrm>
          <a:custGeom>
            <a:avLst/>
            <a:gdLst/>
            <a:ahLst/>
            <a:cxnLst/>
            <a:rect l="l" t="t" r="r" b="b"/>
            <a:pathLst>
              <a:path w="70484" h="71754">
                <a:moveTo>
                  <a:pt x="70103" y="0"/>
                </a:moveTo>
                <a:lnTo>
                  <a:pt x="0" y="0"/>
                </a:lnTo>
                <a:lnTo>
                  <a:pt x="0" y="71627"/>
                </a:lnTo>
                <a:lnTo>
                  <a:pt x="70103" y="71627"/>
                </a:lnTo>
                <a:lnTo>
                  <a:pt x="70103" y="0"/>
                </a:lnTo>
                <a:close/>
              </a:path>
            </a:pathLst>
          </a:custGeom>
          <a:solidFill>
            <a:srgbClr val="FFFF00"/>
          </a:solidFill>
        </p:spPr>
        <p:txBody>
          <a:bodyPr wrap="square" lIns="0" tIns="0" rIns="0" bIns="0" rtlCol="0"/>
          <a:lstStyle/>
          <a:p>
            <a:endParaRPr/>
          </a:p>
        </p:txBody>
      </p:sp>
      <p:sp>
        <p:nvSpPr>
          <p:cNvPr id="17" name="object 17"/>
          <p:cNvSpPr/>
          <p:nvPr/>
        </p:nvSpPr>
        <p:spPr>
          <a:xfrm>
            <a:off x="6012179" y="2646273"/>
            <a:ext cx="43891" cy="45110"/>
          </a:xfrm>
          <a:prstGeom prst="rect">
            <a:avLst/>
          </a:prstGeom>
          <a:blipFill>
            <a:blip r:embed="rId2" cstate="print"/>
            <a:stretch>
              <a:fillRect/>
            </a:stretch>
          </a:blipFill>
        </p:spPr>
        <p:txBody>
          <a:bodyPr wrap="square" lIns="0" tIns="0" rIns="0" bIns="0" rtlCol="0"/>
          <a:lstStyle/>
          <a:p>
            <a:endParaRPr/>
          </a:p>
        </p:txBody>
      </p:sp>
      <p:sp>
        <p:nvSpPr>
          <p:cNvPr id="18" name="object 18"/>
          <p:cNvSpPr/>
          <p:nvPr/>
        </p:nvSpPr>
        <p:spPr>
          <a:xfrm>
            <a:off x="6227064" y="2862376"/>
            <a:ext cx="45110" cy="43891"/>
          </a:xfrm>
          <a:prstGeom prst="rect">
            <a:avLst/>
          </a:prstGeom>
          <a:blipFill>
            <a:blip r:embed="rId2" cstate="print"/>
            <a:stretch>
              <a:fillRect/>
            </a:stretch>
          </a:blipFill>
        </p:spPr>
        <p:txBody>
          <a:bodyPr wrap="square" lIns="0" tIns="0" rIns="0" bIns="0" rtlCol="0"/>
          <a:lstStyle/>
          <a:p>
            <a:endParaRPr/>
          </a:p>
        </p:txBody>
      </p:sp>
      <p:sp>
        <p:nvSpPr>
          <p:cNvPr id="19" name="object 19"/>
          <p:cNvSpPr/>
          <p:nvPr/>
        </p:nvSpPr>
        <p:spPr>
          <a:xfrm>
            <a:off x="6300215" y="2564892"/>
            <a:ext cx="199644" cy="199644"/>
          </a:xfrm>
          <a:prstGeom prst="rect">
            <a:avLst/>
          </a:prstGeom>
          <a:blipFill>
            <a:blip r:embed="rId3" cstate="print"/>
            <a:stretch>
              <a:fillRect/>
            </a:stretch>
          </a:blipFill>
        </p:spPr>
        <p:txBody>
          <a:bodyPr wrap="square" lIns="0" tIns="0" rIns="0" bIns="0" rtlCol="0"/>
          <a:lstStyle/>
          <a:p>
            <a:endParaRPr/>
          </a:p>
        </p:txBody>
      </p:sp>
      <p:sp>
        <p:nvSpPr>
          <p:cNvPr id="20" name="object 20"/>
          <p:cNvSpPr/>
          <p:nvPr/>
        </p:nvSpPr>
        <p:spPr>
          <a:xfrm>
            <a:off x="6097523" y="2745028"/>
            <a:ext cx="45110" cy="43891"/>
          </a:xfrm>
          <a:prstGeom prst="rect">
            <a:avLst/>
          </a:prstGeom>
          <a:blipFill>
            <a:blip r:embed="rId2" cstate="print"/>
            <a:stretch>
              <a:fillRect/>
            </a:stretch>
          </a:blipFill>
        </p:spPr>
        <p:txBody>
          <a:bodyPr wrap="square" lIns="0" tIns="0" rIns="0" bIns="0" rtlCol="0"/>
          <a:lstStyle/>
          <a:p>
            <a:endParaRPr/>
          </a:p>
        </p:txBody>
      </p:sp>
      <p:sp>
        <p:nvSpPr>
          <p:cNvPr id="21" name="object 21"/>
          <p:cNvSpPr/>
          <p:nvPr/>
        </p:nvSpPr>
        <p:spPr>
          <a:xfrm>
            <a:off x="6111240" y="2839821"/>
            <a:ext cx="45110" cy="45110"/>
          </a:xfrm>
          <a:prstGeom prst="rect">
            <a:avLst/>
          </a:prstGeom>
          <a:blipFill>
            <a:blip r:embed="rId2" cstate="print"/>
            <a:stretch>
              <a:fillRect/>
            </a:stretch>
          </a:blipFill>
        </p:spPr>
        <p:txBody>
          <a:bodyPr wrap="square" lIns="0" tIns="0" rIns="0" bIns="0" rtlCol="0"/>
          <a:lstStyle/>
          <a:p>
            <a:endParaRPr/>
          </a:p>
        </p:txBody>
      </p:sp>
      <p:sp>
        <p:nvSpPr>
          <p:cNvPr id="22" name="object 22"/>
          <p:cNvSpPr txBox="1"/>
          <p:nvPr/>
        </p:nvSpPr>
        <p:spPr>
          <a:xfrm>
            <a:off x="2136901" y="2726563"/>
            <a:ext cx="600710" cy="330835"/>
          </a:xfrm>
          <a:prstGeom prst="rect">
            <a:avLst/>
          </a:prstGeom>
        </p:spPr>
        <p:txBody>
          <a:bodyPr vert="horz" wrap="square" lIns="0" tIns="13335" rIns="0" bIns="0" rtlCol="0">
            <a:spAutoFit/>
          </a:bodyPr>
          <a:lstStyle/>
          <a:p>
            <a:pPr marL="38100">
              <a:lnSpc>
                <a:spcPct val="100000"/>
              </a:lnSpc>
              <a:spcBef>
                <a:spcPts val="105"/>
              </a:spcBef>
            </a:pPr>
            <a:r>
              <a:rPr sz="2000" spc="5" dirty="0">
                <a:latin typeface="Times New Roman"/>
                <a:cs typeface="Times New Roman"/>
              </a:rPr>
              <a:t>Na</a:t>
            </a:r>
            <a:r>
              <a:rPr sz="1950" spc="7" baseline="-21367" dirty="0">
                <a:latin typeface="Times New Roman"/>
                <a:cs typeface="Times New Roman"/>
              </a:rPr>
              <a:t>2</a:t>
            </a:r>
            <a:r>
              <a:rPr sz="2000" spc="5" dirty="0">
                <a:latin typeface="Times New Roman"/>
                <a:cs typeface="Times New Roman"/>
              </a:rPr>
              <a:t>S</a:t>
            </a:r>
            <a:endParaRPr sz="2000">
              <a:latin typeface="Times New Roman"/>
              <a:cs typeface="Times New Roman"/>
            </a:endParaRPr>
          </a:p>
        </p:txBody>
      </p:sp>
      <p:sp>
        <p:nvSpPr>
          <p:cNvPr id="23" name="object 23"/>
          <p:cNvSpPr txBox="1"/>
          <p:nvPr/>
        </p:nvSpPr>
        <p:spPr>
          <a:xfrm>
            <a:off x="4594225" y="2726563"/>
            <a:ext cx="869950" cy="330835"/>
          </a:xfrm>
          <a:prstGeom prst="rect">
            <a:avLst/>
          </a:prstGeom>
        </p:spPr>
        <p:txBody>
          <a:bodyPr vert="horz" wrap="square" lIns="0" tIns="13335" rIns="0" bIns="0" rtlCol="0">
            <a:spAutoFit/>
          </a:bodyPr>
          <a:lstStyle/>
          <a:p>
            <a:pPr marL="38100">
              <a:lnSpc>
                <a:spcPct val="100000"/>
              </a:lnSpc>
              <a:spcBef>
                <a:spcPts val="105"/>
              </a:spcBef>
            </a:pPr>
            <a:r>
              <a:rPr sz="2000" spc="5" dirty="0">
                <a:latin typeface="Times New Roman"/>
                <a:cs typeface="Times New Roman"/>
              </a:rPr>
              <a:t>Na</a:t>
            </a:r>
            <a:r>
              <a:rPr sz="1950" spc="7" baseline="-21367" dirty="0">
                <a:latin typeface="Times New Roman"/>
                <a:cs typeface="Times New Roman"/>
              </a:rPr>
              <a:t>2</a:t>
            </a:r>
            <a:r>
              <a:rPr sz="2000" spc="5" dirty="0">
                <a:latin typeface="Times New Roman"/>
                <a:cs typeface="Times New Roman"/>
              </a:rPr>
              <a:t>SO</a:t>
            </a:r>
            <a:r>
              <a:rPr sz="1950" spc="7" baseline="-21367" dirty="0">
                <a:latin typeface="Times New Roman"/>
                <a:cs typeface="Times New Roman"/>
              </a:rPr>
              <a:t>4</a:t>
            </a:r>
            <a:endParaRPr sz="1950" baseline="-21367">
              <a:latin typeface="Times New Roman"/>
              <a:cs typeface="Times New Roman"/>
            </a:endParaRPr>
          </a:p>
        </p:txBody>
      </p:sp>
      <p:sp>
        <p:nvSpPr>
          <p:cNvPr id="24" name="object 24"/>
          <p:cNvSpPr/>
          <p:nvPr/>
        </p:nvSpPr>
        <p:spPr>
          <a:xfrm>
            <a:off x="3657600" y="2857500"/>
            <a:ext cx="864235" cy="76200"/>
          </a:xfrm>
          <a:custGeom>
            <a:avLst/>
            <a:gdLst/>
            <a:ahLst/>
            <a:cxnLst/>
            <a:rect l="l" t="t" r="r" b="b"/>
            <a:pathLst>
              <a:path w="864235" h="76200">
                <a:moveTo>
                  <a:pt x="787908" y="0"/>
                </a:moveTo>
                <a:lnTo>
                  <a:pt x="787908" y="76200"/>
                </a:lnTo>
                <a:lnTo>
                  <a:pt x="851408" y="44450"/>
                </a:lnTo>
                <a:lnTo>
                  <a:pt x="800608" y="44450"/>
                </a:lnTo>
                <a:lnTo>
                  <a:pt x="800608" y="31750"/>
                </a:lnTo>
                <a:lnTo>
                  <a:pt x="851408" y="31750"/>
                </a:lnTo>
                <a:lnTo>
                  <a:pt x="787908" y="0"/>
                </a:lnTo>
                <a:close/>
              </a:path>
              <a:path w="864235" h="76200">
                <a:moveTo>
                  <a:pt x="787908" y="31750"/>
                </a:moveTo>
                <a:lnTo>
                  <a:pt x="0" y="31750"/>
                </a:lnTo>
                <a:lnTo>
                  <a:pt x="0" y="44450"/>
                </a:lnTo>
                <a:lnTo>
                  <a:pt x="787908" y="44450"/>
                </a:lnTo>
                <a:lnTo>
                  <a:pt x="787908" y="31750"/>
                </a:lnTo>
                <a:close/>
              </a:path>
              <a:path w="864235" h="76200">
                <a:moveTo>
                  <a:pt x="851408" y="31750"/>
                </a:moveTo>
                <a:lnTo>
                  <a:pt x="800608" y="31750"/>
                </a:lnTo>
                <a:lnTo>
                  <a:pt x="800608" y="44450"/>
                </a:lnTo>
                <a:lnTo>
                  <a:pt x="851408" y="44450"/>
                </a:lnTo>
                <a:lnTo>
                  <a:pt x="864108" y="38100"/>
                </a:lnTo>
                <a:lnTo>
                  <a:pt x="851408" y="31750"/>
                </a:lnTo>
                <a:close/>
              </a:path>
            </a:pathLst>
          </a:custGeom>
          <a:solidFill>
            <a:srgbClr val="000000"/>
          </a:solidFill>
        </p:spPr>
        <p:txBody>
          <a:bodyPr wrap="square" lIns="0" tIns="0" rIns="0" bIns="0" rtlCol="0"/>
          <a:lstStyle/>
          <a:p>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4800" y="541019"/>
            <a:ext cx="3792220" cy="401320"/>
          </a:xfrm>
          <a:prstGeom prst="rect">
            <a:avLst/>
          </a:prstGeom>
          <a:solidFill>
            <a:srgbClr val="FFFF66"/>
          </a:solidFill>
          <a:ln w="9144">
            <a:solidFill>
              <a:srgbClr val="000000"/>
            </a:solidFill>
          </a:ln>
        </p:spPr>
        <p:txBody>
          <a:bodyPr vert="horz" wrap="square" lIns="0" tIns="37465" rIns="0" bIns="0" rtlCol="0">
            <a:spAutoFit/>
          </a:bodyPr>
          <a:lstStyle/>
          <a:p>
            <a:pPr marL="90805">
              <a:lnSpc>
                <a:spcPct val="100000"/>
              </a:lnSpc>
              <a:spcBef>
                <a:spcPts val="295"/>
              </a:spcBef>
            </a:pPr>
            <a:r>
              <a:rPr sz="2000" dirty="0">
                <a:solidFill>
                  <a:srgbClr val="009900"/>
                </a:solidFill>
                <a:latin typeface="Times New Roman"/>
                <a:cs typeface="Times New Roman"/>
              </a:rPr>
              <a:t>2. Corrosion </a:t>
            </a:r>
            <a:r>
              <a:rPr sz="2000" spc="5" dirty="0">
                <a:solidFill>
                  <a:srgbClr val="009900"/>
                </a:solidFill>
                <a:latin typeface="Times New Roman"/>
                <a:cs typeface="Times New Roman"/>
              </a:rPr>
              <a:t>due </a:t>
            </a:r>
            <a:r>
              <a:rPr sz="2000" dirty="0">
                <a:solidFill>
                  <a:srgbClr val="009900"/>
                </a:solidFill>
                <a:latin typeface="Times New Roman"/>
                <a:cs typeface="Times New Roman"/>
              </a:rPr>
              <a:t>to dissolved</a:t>
            </a:r>
            <a:r>
              <a:rPr sz="2000" spc="-165" dirty="0">
                <a:solidFill>
                  <a:srgbClr val="009900"/>
                </a:solidFill>
                <a:latin typeface="Times New Roman"/>
                <a:cs typeface="Times New Roman"/>
              </a:rPr>
              <a:t> </a:t>
            </a:r>
            <a:r>
              <a:rPr sz="2000" spc="10" dirty="0">
                <a:solidFill>
                  <a:srgbClr val="009900"/>
                </a:solidFill>
                <a:latin typeface="Times New Roman"/>
                <a:cs typeface="Times New Roman"/>
              </a:rPr>
              <a:t>CO</a:t>
            </a:r>
            <a:r>
              <a:rPr sz="1950" spc="15" baseline="-21367" dirty="0">
                <a:solidFill>
                  <a:srgbClr val="009900"/>
                </a:solidFill>
                <a:latin typeface="Times New Roman"/>
                <a:cs typeface="Times New Roman"/>
              </a:rPr>
              <a:t>2</a:t>
            </a:r>
            <a:endParaRPr sz="1950" baseline="-21367">
              <a:latin typeface="Times New Roman"/>
              <a:cs typeface="Times New Roman"/>
            </a:endParaRPr>
          </a:p>
        </p:txBody>
      </p:sp>
      <p:sp>
        <p:nvSpPr>
          <p:cNvPr id="3" name="object 3"/>
          <p:cNvSpPr txBox="1"/>
          <p:nvPr/>
        </p:nvSpPr>
        <p:spPr>
          <a:xfrm>
            <a:off x="404368" y="1068705"/>
            <a:ext cx="8686800" cy="1628139"/>
          </a:xfrm>
          <a:prstGeom prst="rect">
            <a:avLst/>
          </a:prstGeom>
        </p:spPr>
        <p:txBody>
          <a:bodyPr vert="horz" wrap="square" lIns="0" tIns="13335" rIns="0" bIns="0" rtlCol="0">
            <a:spAutoFit/>
          </a:bodyPr>
          <a:lstStyle/>
          <a:p>
            <a:pPr marL="63500" marR="55880">
              <a:lnSpc>
                <a:spcPct val="100000"/>
              </a:lnSpc>
              <a:spcBef>
                <a:spcPts val="105"/>
              </a:spcBef>
            </a:pPr>
            <a:r>
              <a:rPr sz="2000" dirty="0">
                <a:latin typeface="Times New Roman"/>
                <a:cs typeface="Times New Roman"/>
              </a:rPr>
              <a:t>Presence of bicarbonate </a:t>
            </a:r>
            <a:r>
              <a:rPr sz="2000" spc="-5" dirty="0">
                <a:latin typeface="Times New Roman"/>
                <a:cs typeface="Times New Roman"/>
              </a:rPr>
              <a:t>salts </a:t>
            </a:r>
            <a:r>
              <a:rPr sz="2000" dirty="0">
                <a:latin typeface="Times New Roman"/>
                <a:cs typeface="Times New Roman"/>
              </a:rPr>
              <a:t>of </a:t>
            </a:r>
            <a:r>
              <a:rPr sz="2000" spc="-5" dirty="0">
                <a:latin typeface="Times New Roman"/>
                <a:cs typeface="Times New Roman"/>
              </a:rPr>
              <a:t>either magnesium </a:t>
            </a:r>
            <a:r>
              <a:rPr sz="2000" dirty="0">
                <a:latin typeface="Times New Roman"/>
                <a:cs typeface="Times New Roman"/>
              </a:rPr>
              <a:t>or </a:t>
            </a:r>
            <a:r>
              <a:rPr sz="2000" spc="-5" dirty="0">
                <a:latin typeface="Times New Roman"/>
                <a:cs typeface="Times New Roman"/>
              </a:rPr>
              <a:t>calcium </a:t>
            </a:r>
            <a:r>
              <a:rPr sz="2000" dirty="0">
                <a:latin typeface="Times New Roman"/>
                <a:cs typeface="Times New Roman"/>
              </a:rPr>
              <a:t>also causes the</a:t>
            </a:r>
            <a:r>
              <a:rPr sz="2000" spc="-150" dirty="0">
                <a:latin typeface="Times New Roman"/>
                <a:cs typeface="Times New Roman"/>
              </a:rPr>
              <a:t> </a:t>
            </a:r>
            <a:r>
              <a:rPr sz="2000" dirty="0">
                <a:latin typeface="Times New Roman"/>
                <a:cs typeface="Times New Roman"/>
              </a:rPr>
              <a:t>release  of </a:t>
            </a:r>
            <a:r>
              <a:rPr sz="2000" spc="5" dirty="0">
                <a:latin typeface="Times New Roman"/>
                <a:cs typeface="Times New Roman"/>
              </a:rPr>
              <a:t>CO</a:t>
            </a:r>
            <a:r>
              <a:rPr sz="1950" spc="7" baseline="-21367" dirty="0">
                <a:latin typeface="Times New Roman"/>
                <a:cs typeface="Times New Roman"/>
              </a:rPr>
              <a:t>2 </a:t>
            </a:r>
            <a:r>
              <a:rPr sz="2000" dirty="0">
                <a:latin typeface="Times New Roman"/>
                <a:cs typeface="Times New Roman"/>
              </a:rPr>
              <a:t>inside the boiler apart from the dissolved</a:t>
            </a:r>
            <a:r>
              <a:rPr sz="2000" spc="-360" dirty="0">
                <a:latin typeface="Times New Roman"/>
                <a:cs typeface="Times New Roman"/>
              </a:rPr>
              <a:t> </a:t>
            </a:r>
            <a:r>
              <a:rPr sz="2000" spc="10" dirty="0">
                <a:latin typeface="Times New Roman"/>
                <a:cs typeface="Times New Roman"/>
              </a:rPr>
              <a:t>CO</a:t>
            </a:r>
            <a:r>
              <a:rPr sz="1950" spc="15" baseline="-21367" dirty="0">
                <a:latin typeface="Times New Roman"/>
                <a:cs typeface="Times New Roman"/>
              </a:rPr>
              <a:t>2</a:t>
            </a:r>
            <a:endParaRPr sz="1950" baseline="-21367">
              <a:latin typeface="Times New Roman"/>
              <a:cs typeface="Times New Roman"/>
            </a:endParaRPr>
          </a:p>
          <a:p>
            <a:pPr marL="207645">
              <a:lnSpc>
                <a:spcPct val="100000"/>
              </a:lnSpc>
              <a:spcBef>
                <a:spcPts val="310"/>
              </a:spcBef>
              <a:tabLst>
                <a:tab pos="2641600" algn="l"/>
              </a:tabLst>
            </a:pPr>
            <a:r>
              <a:rPr sz="2000" spc="5" dirty="0">
                <a:latin typeface="Times New Roman"/>
                <a:cs typeface="Times New Roman"/>
              </a:rPr>
              <a:t>Mg(HCO</a:t>
            </a:r>
            <a:r>
              <a:rPr sz="1950" spc="7" baseline="-21367" dirty="0">
                <a:latin typeface="Times New Roman"/>
                <a:cs typeface="Times New Roman"/>
              </a:rPr>
              <a:t>3</a:t>
            </a:r>
            <a:r>
              <a:rPr sz="2000" spc="5" dirty="0">
                <a:latin typeface="Times New Roman"/>
                <a:cs typeface="Times New Roman"/>
              </a:rPr>
              <a:t>)</a:t>
            </a:r>
            <a:r>
              <a:rPr sz="1950" spc="7" baseline="-21367" dirty="0">
                <a:latin typeface="Times New Roman"/>
                <a:cs typeface="Times New Roman"/>
              </a:rPr>
              <a:t>2	</a:t>
            </a:r>
            <a:r>
              <a:rPr sz="2000" spc="5" dirty="0">
                <a:latin typeface="Times New Roman"/>
                <a:cs typeface="Times New Roman"/>
              </a:rPr>
              <a:t>MgCO</a:t>
            </a:r>
            <a:r>
              <a:rPr sz="1950" spc="7" baseline="-21367" dirty="0">
                <a:latin typeface="Times New Roman"/>
                <a:cs typeface="Times New Roman"/>
              </a:rPr>
              <a:t>3 </a:t>
            </a:r>
            <a:r>
              <a:rPr sz="2000" dirty="0">
                <a:latin typeface="Times New Roman"/>
                <a:cs typeface="Times New Roman"/>
              </a:rPr>
              <a:t>+ </a:t>
            </a:r>
            <a:r>
              <a:rPr sz="2000" spc="10" dirty="0">
                <a:latin typeface="Times New Roman"/>
                <a:cs typeface="Times New Roman"/>
              </a:rPr>
              <a:t>H</a:t>
            </a:r>
            <a:r>
              <a:rPr sz="1950" spc="15" baseline="-21367" dirty="0">
                <a:latin typeface="Times New Roman"/>
                <a:cs typeface="Times New Roman"/>
              </a:rPr>
              <a:t>2</a:t>
            </a:r>
            <a:r>
              <a:rPr sz="2000" spc="10" dirty="0">
                <a:latin typeface="Times New Roman"/>
                <a:cs typeface="Times New Roman"/>
              </a:rPr>
              <a:t>O </a:t>
            </a:r>
            <a:r>
              <a:rPr sz="2000" dirty="0">
                <a:latin typeface="Times New Roman"/>
                <a:cs typeface="Times New Roman"/>
              </a:rPr>
              <a:t>+</a:t>
            </a:r>
            <a:r>
              <a:rPr sz="2000" spc="-210" dirty="0">
                <a:latin typeface="Times New Roman"/>
                <a:cs typeface="Times New Roman"/>
              </a:rPr>
              <a:t> </a:t>
            </a:r>
            <a:r>
              <a:rPr sz="2000" spc="5" dirty="0">
                <a:latin typeface="Times New Roman"/>
                <a:cs typeface="Times New Roman"/>
              </a:rPr>
              <a:t>CO</a:t>
            </a:r>
            <a:r>
              <a:rPr sz="1950" spc="7" baseline="-21367" dirty="0">
                <a:latin typeface="Times New Roman"/>
                <a:cs typeface="Times New Roman"/>
              </a:rPr>
              <a:t>2</a:t>
            </a:r>
            <a:endParaRPr sz="1950" baseline="-21367">
              <a:latin typeface="Times New Roman"/>
              <a:cs typeface="Times New Roman"/>
            </a:endParaRPr>
          </a:p>
          <a:p>
            <a:pPr>
              <a:lnSpc>
                <a:spcPct val="100000"/>
              </a:lnSpc>
            </a:pPr>
            <a:endParaRPr sz="2350">
              <a:latin typeface="Times New Roman"/>
              <a:cs typeface="Times New Roman"/>
            </a:endParaRPr>
          </a:p>
          <a:p>
            <a:pPr marL="207645">
              <a:lnSpc>
                <a:spcPct val="100000"/>
              </a:lnSpc>
              <a:tabLst>
                <a:tab pos="772795" algn="l"/>
                <a:tab pos="2574290" algn="l"/>
              </a:tabLst>
            </a:pPr>
            <a:r>
              <a:rPr sz="2000" spc="5" dirty="0">
                <a:latin typeface="Times New Roman"/>
                <a:cs typeface="Times New Roman"/>
              </a:rPr>
              <a:t>CO</a:t>
            </a:r>
            <a:r>
              <a:rPr sz="1950" spc="7" baseline="-21367" dirty="0">
                <a:latin typeface="Times New Roman"/>
                <a:cs typeface="Times New Roman"/>
              </a:rPr>
              <a:t>2	</a:t>
            </a:r>
            <a:r>
              <a:rPr sz="2000" dirty="0">
                <a:latin typeface="Times New Roman"/>
                <a:cs typeface="Times New Roman"/>
              </a:rPr>
              <a:t>+</a:t>
            </a:r>
            <a:r>
              <a:rPr sz="2000" spc="-15" dirty="0">
                <a:latin typeface="Times New Roman"/>
                <a:cs typeface="Times New Roman"/>
              </a:rPr>
              <a:t> </a:t>
            </a:r>
            <a:r>
              <a:rPr sz="2000" spc="10" dirty="0">
                <a:latin typeface="Times New Roman"/>
                <a:cs typeface="Times New Roman"/>
              </a:rPr>
              <a:t>H</a:t>
            </a:r>
            <a:r>
              <a:rPr sz="1950" spc="15" baseline="-21367" dirty="0">
                <a:latin typeface="Times New Roman"/>
                <a:cs typeface="Times New Roman"/>
              </a:rPr>
              <a:t>2</a:t>
            </a:r>
            <a:r>
              <a:rPr sz="2000" spc="10" dirty="0">
                <a:latin typeface="Times New Roman"/>
                <a:cs typeface="Times New Roman"/>
              </a:rPr>
              <a:t>O	H</a:t>
            </a:r>
            <a:r>
              <a:rPr sz="1950" spc="15" baseline="-21367" dirty="0">
                <a:latin typeface="Times New Roman"/>
                <a:cs typeface="Times New Roman"/>
              </a:rPr>
              <a:t>2</a:t>
            </a:r>
            <a:r>
              <a:rPr sz="2000" spc="10" dirty="0">
                <a:latin typeface="Times New Roman"/>
                <a:cs typeface="Times New Roman"/>
              </a:rPr>
              <a:t>CO</a:t>
            </a:r>
            <a:r>
              <a:rPr sz="1950" spc="15" baseline="-21367" dirty="0">
                <a:latin typeface="Times New Roman"/>
                <a:cs typeface="Times New Roman"/>
              </a:rPr>
              <a:t>3 </a:t>
            </a:r>
            <a:r>
              <a:rPr sz="2000" dirty="0">
                <a:latin typeface="Times New Roman"/>
                <a:cs typeface="Times New Roman"/>
              </a:rPr>
              <a:t>(causes slow</a:t>
            </a:r>
            <a:r>
              <a:rPr sz="2000" spc="-229" dirty="0">
                <a:latin typeface="Times New Roman"/>
                <a:cs typeface="Times New Roman"/>
              </a:rPr>
              <a:t> </a:t>
            </a:r>
            <a:r>
              <a:rPr sz="2000" dirty="0">
                <a:latin typeface="Times New Roman"/>
                <a:cs typeface="Times New Roman"/>
              </a:rPr>
              <a:t>corrosion)</a:t>
            </a:r>
            <a:endParaRPr sz="2000">
              <a:latin typeface="Times New Roman"/>
              <a:cs typeface="Times New Roman"/>
            </a:endParaRPr>
          </a:p>
        </p:txBody>
      </p:sp>
      <p:sp>
        <p:nvSpPr>
          <p:cNvPr id="4" name="object 4"/>
          <p:cNvSpPr/>
          <p:nvPr/>
        </p:nvSpPr>
        <p:spPr>
          <a:xfrm>
            <a:off x="1981200" y="2476500"/>
            <a:ext cx="824865" cy="76200"/>
          </a:xfrm>
          <a:custGeom>
            <a:avLst/>
            <a:gdLst/>
            <a:ahLst/>
            <a:cxnLst/>
            <a:rect l="l" t="t" r="r" b="b"/>
            <a:pathLst>
              <a:path w="824864" h="76200">
                <a:moveTo>
                  <a:pt x="748283" y="0"/>
                </a:moveTo>
                <a:lnTo>
                  <a:pt x="748283" y="76200"/>
                </a:lnTo>
                <a:lnTo>
                  <a:pt x="811783" y="44450"/>
                </a:lnTo>
                <a:lnTo>
                  <a:pt x="760983" y="44450"/>
                </a:lnTo>
                <a:lnTo>
                  <a:pt x="760983" y="31750"/>
                </a:lnTo>
                <a:lnTo>
                  <a:pt x="811783" y="31750"/>
                </a:lnTo>
                <a:lnTo>
                  <a:pt x="748283" y="0"/>
                </a:lnTo>
                <a:close/>
              </a:path>
              <a:path w="824864" h="76200">
                <a:moveTo>
                  <a:pt x="748283" y="31750"/>
                </a:moveTo>
                <a:lnTo>
                  <a:pt x="0" y="31750"/>
                </a:lnTo>
                <a:lnTo>
                  <a:pt x="0" y="44450"/>
                </a:lnTo>
                <a:lnTo>
                  <a:pt x="748283" y="44450"/>
                </a:lnTo>
                <a:lnTo>
                  <a:pt x="748283" y="31750"/>
                </a:lnTo>
                <a:close/>
              </a:path>
              <a:path w="824864" h="76200">
                <a:moveTo>
                  <a:pt x="811783" y="31750"/>
                </a:moveTo>
                <a:lnTo>
                  <a:pt x="760983" y="31750"/>
                </a:lnTo>
                <a:lnTo>
                  <a:pt x="760983" y="44450"/>
                </a:lnTo>
                <a:lnTo>
                  <a:pt x="811783" y="44450"/>
                </a:lnTo>
                <a:lnTo>
                  <a:pt x="824483" y="38100"/>
                </a:lnTo>
                <a:lnTo>
                  <a:pt x="811783" y="31750"/>
                </a:lnTo>
                <a:close/>
              </a:path>
            </a:pathLst>
          </a:custGeom>
          <a:solidFill>
            <a:srgbClr val="000000"/>
          </a:solidFill>
        </p:spPr>
        <p:txBody>
          <a:bodyPr wrap="square" lIns="0" tIns="0" rIns="0" bIns="0" rtlCol="0"/>
          <a:lstStyle/>
          <a:p>
            <a:endParaRPr/>
          </a:p>
        </p:txBody>
      </p:sp>
      <p:sp>
        <p:nvSpPr>
          <p:cNvPr id="5" name="object 5"/>
          <p:cNvSpPr/>
          <p:nvPr/>
        </p:nvSpPr>
        <p:spPr>
          <a:xfrm>
            <a:off x="3803777" y="1676400"/>
            <a:ext cx="82550" cy="289560"/>
          </a:xfrm>
          <a:custGeom>
            <a:avLst/>
            <a:gdLst/>
            <a:ahLst/>
            <a:cxnLst/>
            <a:rect l="l" t="t" r="r" b="b"/>
            <a:pathLst>
              <a:path w="82550" h="289560">
                <a:moveTo>
                  <a:pt x="38264" y="73862"/>
                </a:moveTo>
                <a:lnTo>
                  <a:pt x="0" y="286892"/>
                </a:lnTo>
                <a:lnTo>
                  <a:pt x="12446" y="289178"/>
                </a:lnTo>
                <a:lnTo>
                  <a:pt x="50831" y="76137"/>
                </a:lnTo>
                <a:lnTo>
                  <a:pt x="38264" y="73862"/>
                </a:lnTo>
                <a:close/>
              </a:path>
              <a:path w="82550" h="289560">
                <a:moveTo>
                  <a:pt x="76041" y="61340"/>
                </a:moveTo>
                <a:lnTo>
                  <a:pt x="40512" y="61340"/>
                </a:lnTo>
                <a:lnTo>
                  <a:pt x="53086" y="63626"/>
                </a:lnTo>
                <a:lnTo>
                  <a:pt x="50831" y="76137"/>
                </a:lnTo>
                <a:lnTo>
                  <a:pt x="82042" y="81787"/>
                </a:lnTo>
                <a:lnTo>
                  <a:pt x="76041" y="61340"/>
                </a:lnTo>
                <a:close/>
              </a:path>
              <a:path w="82550" h="289560">
                <a:moveTo>
                  <a:pt x="40512" y="61340"/>
                </a:moveTo>
                <a:lnTo>
                  <a:pt x="38264" y="73862"/>
                </a:lnTo>
                <a:lnTo>
                  <a:pt x="50831" y="76137"/>
                </a:lnTo>
                <a:lnTo>
                  <a:pt x="53086" y="63626"/>
                </a:lnTo>
                <a:lnTo>
                  <a:pt x="40512" y="61340"/>
                </a:lnTo>
                <a:close/>
              </a:path>
              <a:path w="82550" h="289560">
                <a:moveTo>
                  <a:pt x="58038" y="0"/>
                </a:moveTo>
                <a:lnTo>
                  <a:pt x="6985" y="68199"/>
                </a:lnTo>
                <a:lnTo>
                  <a:pt x="38264" y="73862"/>
                </a:lnTo>
                <a:lnTo>
                  <a:pt x="40512" y="61340"/>
                </a:lnTo>
                <a:lnTo>
                  <a:pt x="76041" y="61340"/>
                </a:lnTo>
                <a:lnTo>
                  <a:pt x="58038" y="0"/>
                </a:lnTo>
                <a:close/>
              </a:path>
            </a:pathLst>
          </a:custGeom>
          <a:solidFill>
            <a:srgbClr val="000000"/>
          </a:solidFill>
        </p:spPr>
        <p:txBody>
          <a:bodyPr wrap="square" lIns="0" tIns="0" rIns="0" bIns="0" rtlCol="0"/>
          <a:lstStyle/>
          <a:p>
            <a:endParaRPr/>
          </a:p>
        </p:txBody>
      </p:sp>
      <p:grpSp>
        <p:nvGrpSpPr>
          <p:cNvPr id="6" name="object 6"/>
          <p:cNvGrpSpPr/>
          <p:nvPr/>
        </p:nvGrpSpPr>
        <p:grpSpPr>
          <a:xfrm>
            <a:off x="2057400" y="1600200"/>
            <a:ext cx="824865" cy="342900"/>
            <a:chOff x="2057400" y="1600200"/>
            <a:chExt cx="824865" cy="342900"/>
          </a:xfrm>
        </p:grpSpPr>
        <p:sp>
          <p:nvSpPr>
            <p:cNvPr id="7" name="object 7"/>
            <p:cNvSpPr/>
            <p:nvPr/>
          </p:nvSpPr>
          <p:spPr>
            <a:xfrm>
              <a:off x="2057400" y="1866900"/>
              <a:ext cx="824865" cy="76200"/>
            </a:xfrm>
            <a:custGeom>
              <a:avLst/>
              <a:gdLst/>
              <a:ahLst/>
              <a:cxnLst/>
              <a:rect l="l" t="t" r="r" b="b"/>
              <a:pathLst>
                <a:path w="824864" h="76200">
                  <a:moveTo>
                    <a:pt x="748283" y="0"/>
                  </a:moveTo>
                  <a:lnTo>
                    <a:pt x="748283" y="76200"/>
                  </a:lnTo>
                  <a:lnTo>
                    <a:pt x="811783" y="44450"/>
                  </a:lnTo>
                  <a:lnTo>
                    <a:pt x="760983" y="44450"/>
                  </a:lnTo>
                  <a:lnTo>
                    <a:pt x="760983" y="31750"/>
                  </a:lnTo>
                  <a:lnTo>
                    <a:pt x="811783" y="31750"/>
                  </a:lnTo>
                  <a:lnTo>
                    <a:pt x="748283" y="0"/>
                  </a:lnTo>
                  <a:close/>
                </a:path>
                <a:path w="824864" h="76200">
                  <a:moveTo>
                    <a:pt x="748283" y="31750"/>
                  </a:moveTo>
                  <a:lnTo>
                    <a:pt x="0" y="31750"/>
                  </a:lnTo>
                  <a:lnTo>
                    <a:pt x="0" y="44450"/>
                  </a:lnTo>
                  <a:lnTo>
                    <a:pt x="748283" y="44450"/>
                  </a:lnTo>
                  <a:lnTo>
                    <a:pt x="748283" y="31750"/>
                  </a:lnTo>
                  <a:close/>
                </a:path>
                <a:path w="824864" h="76200">
                  <a:moveTo>
                    <a:pt x="811783" y="31750"/>
                  </a:moveTo>
                  <a:lnTo>
                    <a:pt x="760983" y="31750"/>
                  </a:lnTo>
                  <a:lnTo>
                    <a:pt x="760983" y="44450"/>
                  </a:lnTo>
                  <a:lnTo>
                    <a:pt x="811783" y="44450"/>
                  </a:lnTo>
                  <a:lnTo>
                    <a:pt x="824483" y="38100"/>
                  </a:lnTo>
                  <a:lnTo>
                    <a:pt x="811783" y="31750"/>
                  </a:lnTo>
                  <a:close/>
                </a:path>
              </a:pathLst>
            </a:custGeom>
            <a:solidFill>
              <a:srgbClr val="000000"/>
            </a:solidFill>
          </p:spPr>
          <p:txBody>
            <a:bodyPr wrap="square" lIns="0" tIns="0" rIns="0" bIns="0" rtlCol="0"/>
            <a:lstStyle/>
            <a:p>
              <a:endParaRPr/>
            </a:p>
          </p:txBody>
        </p:sp>
        <p:sp>
          <p:nvSpPr>
            <p:cNvPr id="8" name="object 8"/>
            <p:cNvSpPr/>
            <p:nvPr/>
          </p:nvSpPr>
          <p:spPr>
            <a:xfrm>
              <a:off x="2133600" y="1600200"/>
              <a:ext cx="330835" cy="288290"/>
            </a:xfrm>
            <a:custGeom>
              <a:avLst/>
              <a:gdLst/>
              <a:ahLst/>
              <a:cxnLst/>
              <a:rect l="l" t="t" r="r" b="b"/>
              <a:pathLst>
                <a:path w="330835" h="288289">
                  <a:moveTo>
                    <a:pt x="330707" y="0"/>
                  </a:moveTo>
                  <a:lnTo>
                    <a:pt x="0" y="0"/>
                  </a:lnTo>
                  <a:lnTo>
                    <a:pt x="0" y="288036"/>
                  </a:lnTo>
                  <a:lnTo>
                    <a:pt x="330707" y="288036"/>
                  </a:lnTo>
                  <a:lnTo>
                    <a:pt x="330707" y="251967"/>
                  </a:lnTo>
                  <a:lnTo>
                    <a:pt x="57276" y="251967"/>
                  </a:lnTo>
                  <a:lnTo>
                    <a:pt x="165354" y="36067"/>
                  </a:lnTo>
                  <a:lnTo>
                    <a:pt x="330707" y="36067"/>
                  </a:lnTo>
                  <a:lnTo>
                    <a:pt x="330707" y="0"/>
                  </a:lnTo>
                  <a:close/>
                </a:path>
                <a:path w="330835" h="288289">
                  <a:moveTo>
                    <a:pt x="330707" y="36067"/>
                  </a:moveTo>
                  <a:lnTo>
                    <a:pt x="165354" y="36067"/>
                  </a:lnTo>
                  <a:lnTo>
                    <a:pt x="273304" y="251967"/>
                  </a:lnTo>
                  <a:lnTo>
                    <a:pt x="330707" y="251967"/>
                  </a:lnTo>
                  <a:lnTo>
                    <a:pt x="330707" y="36067"/>
                  </a:lnTo>
                  <a:close/>
                </a:path>
              </a:pathLst>
            </a:custGeom>
            <a:solidFill>
              <a:srgbClr val="008000"/>
            </a:solidFill>
          </p:spPr>
          <p:txBody>
            <a:bodyPr wrap="square" lIns="0" tIns="0" rIns="0" bIns="0" rtlCol="0"/>
            <a:lstStyle/>
            <a:p>
              <a:endParaRPr/>
            </a:p>
          </p:txBody>
        </p:sp>
        <p:sp>
          <p:nvSpPr>
            <p:cNvPr id="9" name="object 9"/>
            <p:cNvSpPr/>
            <p:nvPr/>
          </p:nvSpPr>
          <p:spPr>
            <a:xfrm>
              <a:off x="2190877" y="1636267"/>
              <a:ext cx="216535" cy="215900"/>
            </a:xfrm>
            <a:custGeom>
              <a:avLst/>
              <a:gdLst/>
              <a:ahLst/>
              <a:cxnLst/>
              <a:rect l="l" t="t" r="r" b="b"/>
              <a:pathLst>
                <a:path w="216535" h="215900">
                  <a:moveTo>
                    <a:pt x="108077" y="0"/>
                  </a:moveTo>
                  <a:lnTo>
                    <a:pt x="0" y="215900"/>
                  </a:lnTo>
                  <a:lnTo>
                    <a:pt x="216027" y="215900"/>
                  </a:lnTo>
                  <a:lnTo>
                    <a:pt x="108077" y="0"/>
                  </a:lnTo>
                  <a:close/>
                </a:path>
              </a:pathLst>
            </a:custGeom>
            <a:solidFill>
              <a:srgbClr val="004D00"/>
            </a:solidFill>
          </p:spPr>
          <p:txBody>
            <a:bodyPr wrap="square" lIns="0" tIns="0" rIns="0" bIns="0" rtlCol="0"/>
            <a:lstStyle/>
            <a:p>
              <a:endParaRPr/>
            </a:p>
          </p:txBody>
        </p:sp>
      </p:grpSp>
      <p:sp>
        <p:nvSpPr>
          <p:cNvPr id="10" name="object 10"/>
          <p:cNvSpPr txBox="1"/>
          <p:nvPr/>
        </p:nvSpPr>
        <p:spPr>
          <a:xfrm>
            <a:off x="381000" y="3276600"/>
            <a:ext cx="3792220" cy="401320"/>
          </a:xfrm>
          <a:prstGeom prst="rect">
            <a:avLst/>
          </a:prstGeom>
          <a:solidFill>
            <a:srgbClr val="FFFF66"/>
          </a:solidFill>
          <a:ln w="9144">
            <a:solidFill>
              <a:srgbClr val="000000"/>
            </a:solidFill>
          </a:ln>
        </p:spPr>
        <p:txBody>
          <a:bodyPr vert="horz" wrap="square" lIns="0" tIns="37465" rIns="0" bIns="0" rtlCol="0">
            <a:spAutoFit/>
          </a:bodyPr>
          <a:lstStyle/>
          <a:p>
            <a:pPr marL="91440">
              <a:lnSpc>
                <a:spcPct val="100000"/>
              </a:lnSpc>
              <a:spcBef>
                <a:spcPts val="295"/>
              </a:spcBef>
            </a:pPr>
            <a:r>
              <a:rPr sz="2000" dirty="0">
                <a:solidFill>
                  <a:srgbClr val="009900"/>
                </a:solidFill>
                <a:latin typeface="Times New Roman"/>
                <a:cs typeface="Times New Roman"/>
              </a:rPr>
              <a:t>3. Corrosion due to dissolved</a:t>
            </a:r>
            <a:r>
              <a:rPr sz="2000" spc="-160" dirty="0">
                <a:solidFill>
                  <a:srgbClr val="009900"/>
                </a:solidFill>
                <a:latin typeface="Times New Roman"/>
                <a:cs typeface="Times New Roman"/>
              </a:rPr>
              <a:t> </a:t>
            </a:r>
            <a:r>
              <a:rPr sz="2000" dirty="0">
                <a:solidFill>
                  <a:srgbClr val="009900"/>
                </a:solidFill>
                <a:latin typeface="Times New Roman"/>
                <a:cs typeface="Times New Roman"/>
              </a:rPr>
              <a:t>salts</a:t>
            </a:r>
            <a:endParaRPr sz="2000">
              <a:latin typeface="Times New Roman"/>
              <a:cs typeface="Times New Roman"/>
            </a:endParaRPr>
          </a:p>
        </p:txBody>
      </p:sp>
      <p:sp>
        <p:nvSpPr>
          <p:cNvPr id="11" name="object 11"/>
          <p:cNvSpPr txBox="1"/>
          <p:nvPr/>
        </p:nvSpPr>
        <p:spPr>
          <a:xfrm>
            <a:off x="451815" y="4063365"/>
            <a:ext cx="4427220" cy="1550670"/>
          </a:xfrm>
          <a:prstGeom prst="rect">
            <a:avLst/>
          </a:prstGeom>
        </p:spPr>
        <p:txBody>
          <a:bodyPr vert="horz" wrap="square" lIns="0" tIns="12700" rIns="0" bIns="0" rtlCol="0">
            <a:spAutoFit/>
          </a:bodyPr>
          <a:lstStyle/>
          <a:p>
            <a:pPr marL="88900">
              <a:lnSpc>
                <a:spcPct val="100000"/>
              </a:lnSpc>
              <a:spcBef>
                <a:spcPts val="100"/>
              </a:spcBef>
              <a:tabLst>
                <a:tab pos="2503170" algn="l"/>
              </a:tabLst>
            </a:pPr>
            <a:r>
              <a:rPr sz="2000" dirty="0">
                <a:latin typeface="Times New Roman"/>
                <a:cs typeface="Times New Roman"/>
              </a:rPr>
              <a:t>MgCl</a:t>
            </a:r>
            <a:r>
              <a:rPr sz="1950" baseline="-21367" dirty="0">
                <a:latin typeface="Times New Roman"/>
                <a:cs typeface="Times New Roman"/>
              </a:rPr>
              <a:t>2   </a:t>
            </a:r>
            <a:r>
              <a:rPr sz="2000" dirty="0">
                <a:latin typeface="Times New Roman"/>
                <a:cs typeface="Times New Roman"/>
              </a:rPr>
              <a:t>+</a:t>
            </a:r>
            <a:r>
              <a:rPr sz="2000" spc="10" dirty="0">
                <a:latin typeface="Times New Roman"/>
                <a:cs typeface="Times New Roman"/>
              </a:rPr>
              <a:t> </a:t>
            </a:r>
            <a:r>
              <a:rPr sz="2000" dirty="0">
                <a:latin typeface="Times New Roman"/>
                <a:cs typeface="Times New Roman"/>
              </a:rPr>
              <a:t>2</a:t>
            </a:r>
            <a:r>
              <a:rPr sz="2000" spc="5" dirty="0">
                <a:latin typeface="Times New Roman"/>
                <a:cs typeface="Times New Roman"/>
              </a:rPr>
              <a:t> H</a:t>
            </a:r>
            <a:r>
              <a:rPr sz="1950" spc="7" baseline="-21367" dirty="0">
                <a:latin typeface="Times New Roman"/>
                <a:cs typeface="Times New Roman"/>
              </a:rPr>
              <a:t>2</a:t>
            </a:r>
            <a:r>
              <a:rPr sz="2000" spc="5" dirty="0">
                <a:latin typeface="Times New Roman"/>
                <a:cs typeface="Times New Roman"/>
              </a:rPr>
              <a:t>O	Mg(OH)</a:t>
            </a:r>
            <a:r>
              <a:rPr sz="1950" spc="7" baseline="-21367" dirty="0">
                <a:latin typeface="Times New Roman"/>
                <a:cs typeface="Times New Roman"/>
              </a:rPr>
              <a:t>2  </a:t>
            </a:r>
            <a:r>
              <a:rPr sz="2000" dirty="0">
                <a:latin typeface="Times New Roman"/>
                <a:cs typeface="Times New Roman"/>
              </a:rPr>
              <a:t>+</a:t>
            </a:r>
            <a:r>
              <a:rPr sz="2000" spc="-80" dirty="0">
                <a:latin typeface="Times New Roman"/>
                <a:cs typeface="Times New Roman"/>
              </a:rPr>
              <a:t> </a:t>
            </a:r>
            <a:r>
              <a:rPr sz="2000" dirty="0">
                <a:latin typeface="Times New Roman"/>
                <a:cs typeface="Times New Roman"/>
              </a:rPr>
              <a:t>2HCl</a:t>
            </a:r>
            <a:endParaRPr sz="2000">
              <a:latin typeface="Times New Roman"/>
              <a:cs typeface="Times New Roman"/>
            </a:endParaRPr>
          </a:p>
          <a:p>
            <a:pPr>
              <a:lnSpc>
                <a:spcPct val="100000"/>
              </a:lnSpc>
              <a:spcBef>
                <a:spcPts val="45"/>
              </a:spcBef>
            </a:pPr>
            <a:endParaRPr sz="2050">
              <a:latin typeface="Times New Roman"/>
              <a:cs typeface="Times New Roman"/>
            </a:endParaRPr>
          </a:p>
          <a:p>
            <a:pPr marL="88900">
              <a:lnSpc>
                <a:spcPct val="100000"/>
              </a:lnSpc>
              <a:tabLst>
                <a:tab pos="532765" algn="l"/>
                <a:tab pos="2369820" algn="l"/>
                <a:tab pos="3075940" algn="l"/>
              </a:tabLst>
            </a:pPr>
            <a:r>
              <a:rPr sz="2000" dirty="0">
                <a:latin typeface="Times New Roman"/>
                <a:cs typeface="Times New Roman"/>
              </a:rPr>
              <a:t>Fe	+</a:t>
            </a:r>
            <a:r>
              <a:rPr sz="2000" spc="-10" dirty="0">
                <a:latin typeface="Times New Roman"/>
                <a:cs typeface="Times New Roman"/>
              </a:rPr>
              <a:t> </a:t>
            </a:r>
            <a:r>
              <a:rPr sz="2000" dirty="0">
                <a:latin typeface="Times New Roman"/>
                <a:cs typeface="Times New Roman"/>
              </a:rPr>
              <a:t>2 HCl	FeCl</a:t>
            </a:r>
            <a:r>
              <a:rPr sz="1950" baseline="-21367" dirty="0">
                <a:latin typeface="Times New Roman"/>
                <a:cs typeface="Times New Roman"/>
              </a:rPr>
              <a:t>2	</a:t>
            </a:r>
            <a:r>
              <a:rPr sz="2000" dirty="0">
                <a:latin typeface="Times New Roman"/>
                <a:cs typeface="Times New Roman"/>
              </a:rPr>
              <a:t>+</a:t>
            </a:r>
            <a:r>
              <a:rPr sz="2000" spc="-20" dirty="0">
                <a:latin typeface="Times New Roman"/>
                <a:cs typeface="Times New Roman"/>
              </a:rPr>
              <a:t> </a:t>
            </a:r>
            <a:r>
              <a:rPr sz="2000" spc="10" dirty="0">
                <a:latin typeface="Times New Roman"/>
                <a:cs typeface="Times New Roman"/>
              </a:rPr>
              <a:t>H</a:t>
            </a:r>
            <a:r>
              <a:rPr sz="1950" spc="15" baseline="-21367" dirty="0">
                <a:latin typeface="Times New Roman"/>
                <a:cs typeface="Times New Roman"/>
              </a:rPr>
              <a:t>2</a:t>
            </a:r>
            <a:endParaRPr sz="1950" baseline="-21367">
              <a:latin typeface="Times New Roman"/>
              <a:cs typeface="Times New Roman"/>
            </a:endParaRPr>
          </a:p>
          <a:p>
            <a:pPr>
              <a:lnSpc>
                <a:spcPct val="100000"/>
              </a:lnSpc>
              <a:spcBef>
                <a:spcPts val="45"/>
              </a:spcBef>
            </a:pPr>
            <a:endParaRPr sz="2050">
              <a:latin typeface="Times New Roman"/>
              <a:cs typeface="Times New Roman"/>
            </a:endParaRPr>
          </a:p>
          <a:p>
            <a:pPr marL="88900">
              <a:lnSpc>
                <a:spcPct val="100000"/>
              </a:lnSpc>
              <a:tabLst>
                <a:tab pos="794385" algn="l"/>
                <a:tab pos="2468245" algn="l"/>
              </a:tabLst>
            </a:pPr>
            <a:r>
              <a:rPr sz="2000" dirty="0">
                <a:latin typeface="Times New Roman"/>
                <a:cs typeface="Times New Roman"/>
              </a:rPr>
              <a:t>FeCl</a:t>
            </a:r>
            <a:r>
              <a:rPr sz="1950" baseline="-21367" dirty="0">
                <a:latin typeface="Times New Roman"/>
                <a:cs typeface="Times New Roman"/>
              </a:rPr>
              <a:t>2	</a:t>
            </a:r>
            <a:r>
              <a:rPr sz="2000" dirty="0">
                <a:latin typeface="Times New Roman"/>
                <a:cs typeface="Times New Roman"/>
              </a:rPr>
              <a:t>+</a:t>
            </a:r>
            <a:r>
              <a:rPr sz="2000" spc="-15" dirty="0">
                <a:latin typeface="Times New Roman"/>
                <a:cs typeface="Times New Roman"/>
              </a:rPr>
              <a:t> </a:t>
            </a:r>
            <a:r>
              <a:rPr sz="2000" dirty="0">
                <a:latin typeface="Times New Roman"/>
                <a:cs typeface="Times New Roman"/>
              </a:rPr>
              <a:t>2</a:t>
            </a:r>
            <a:r>
              <a:rPr sz="2000" spc="5" dirty="0">
                <a:latin typeface="Times New Roman"/>
                <a:cs typeface="Times New Roman"/>
              </a:rPr>
              <a:t> H</a:t>
            </a:r>
            <a:r>
              <a:rPr sz="1950" spc="7" baseline="-21367" dirty="0">
                <a:latin typeface="Times New Roman"/>
                <a:cs typeface="Times New Roman"/>
              </a:rPr>
              <a:t>2</a:t>
            </a:r>
            <a:r>
              <a:rPr sz="2000" spc="5" dirty="0">
                <a:latin typeface="Times New Roman"/>
                <a:cs typeface="Times New Roman"/>
              </a:rPr>
              <a:t>O	Fe(OH)</a:t>
            </a:r>
            <a:r>
              <a:rPr sz="1950" spc="7" baseline="-21367" dirty="0">
                <a:latin typeface="Times New Roman"/>
                <a:cs typeface="Times New Roman"/>
              </a:rPr>
              <a:t>2  </a:t>
            </a:r>
            <a:r>
              <a:rPr sz="2000" dirty="0">
                <a:latin typeface="Times New Roman"/>
                <a:cs typeface="Times New Roman"/>
              </a:rPr>
              <a:t>+</a:t>
            </a:r>
            <a:r>
              <a:rPr sz="2000" spc="-70" dirty="0">
                <a:latin typeface="Times New Roman"/>
                <a:cs typeface="Times New Roman"/>
              </a:rPr>
              <a:t> </a:t>
            </a:r>
            <a:r>
              <a:rPr sz="2000" dirty="0">
                <a:latin typeface="Times New Roman"/>
                <a:cs typeface="Times New Roman"/>
              </a:rPr>
              <a:t>2HCl</a:t>
            </a:r>
            <a:endParaRPr sz="2000">
              <a:latin typeface="Times New Roman"/>
              <a:cs typeface="Times New Roman"/>
            </a:endParaRPr>
          </a:p>
        </p:txBody>
      </p:sp>
      <p:sp>
        <p:nvSpPr>
          <p:cNvPr id="12" name="object 12"/>
          <p:cNvSpPr/>
          <p:nvPr/>
        </p:nvSpPr>
        <p:spPr>
          <a:xfrm>
            <a:off x="2209800" y="4229100"/>
            <a:ext cx="824865" cy="76200"/>
          </a:xfrm>
          <a:custGeom>
            <a:avLst/>
            <a:gdLst/>
            <a:ahLst/>
            <a:cxnLst/>
            <a:rect l="l" t="t" r="r" b="b"/>
            <a:pathLst>
              <a:path w="824864" h="76200">
                <a:moveTo>
                  <a:pt x="748283" y="0"/>
                </a:moveTo>
                <a:lnTo>
                  <a:pt x="748283" y="76200"/>
                </a:lnTo>
                <a:lnTo>
                  <a:pt x="811783" y="44450"/>
                </a:lnTo>
                <a:lnTo>
                  <a:pt x="760983" y="44450"/>
                </a:lnTo>
                <a:lnTo>
                  <a:pt x="760983" y="31750"/>
                </a:lnTo>
                <a:lnTo>
                  <a:pt x="811783" y="31750"/>
                </a:lnTo>
                <a:lnTo>
                  <a:pt x="748283" y="0"/>
                </a:lnTo>
                <a:close/>
              </a:path>
              <a:path w="824864" h="76200">
                <a:moveTo>
                  <a:pt x="748283" y="31750"/>
                </a:moveTo>
                <a:lnTo>
                  <a:pt x="0" y="31750"/>
                </a:lnTo>
                <a:lnTo>
                  <a:pt x="0" y="44450"/>
                </a:lnTo>
                <a:lnTo>
                  <a:pt x="748283" y="44450"/>
                </a:lnTo>
                <a:lnTo>
                  <a:pt x="748283" y="31750"/>
                </a:lnTo>
                <a:close/>
              </a:path>
              <a:path w="824864" h="76200">
                <a:moveTo>
                  <a:pt x="811783" y="31750"/>
                </a:moveTo>
                <a:lnTo>
                  <a:pt x="760983" y="31750"/>
                </a:lnTo>
                <a:lnTo>
                  <a:pt x="760983" y="44450"/>
                </a:lnTo>
                <a:lnTo>
                  <a:pt x="811783" y="44450"/>
                </a:lnTo>
                <a:lnTo>
                  <a:pt x="824483" y="38100"/>
                </a:lnTo>
                <a:lnTo>
                  <a:pt x="811783" y="31750"/>
                </a:lnTo>
                <a:close/>
              </a:path>
            </a:pathLst>
          </a:custGeom>
          <a:solidFill>
            <a:srgbClr val="000000"/>
          </a:solidFill>
        </p:spPr>
        <p:txBody>
          <a:bodyPr wrap="square" lIns="0" tIns="0" rIns="0" bIns="0" rtlCol="0"/>
          <a:lstStyle/>
          <a:p>
            <a:endParaRPr/>
          </a:p>
        </p:txBody>
      </p:sp>
      <p:sp>
        <p:nvSpPr>
          <p:cNvPr id="13" name="object 13"/>
          <p:cNvSpPr/>
          <p:nvPr/>
        </p:nvSpPr>
        <p:spPr>
          <a:xfrm>
            <a:off x="1905000" y="4838700"/>
            <a:ext cx="824865" cy="76200"/>
          </a:xfrm>
          <a:custGeom>
            <a:avLst/>
            <a:gdLst/>
            <a:ahLst/>
            <a:cxnLst/>
            <a:rect l="l" t="t" r="r" b="b"/>
            <a:pathLst>
              <a:path w="824864" h="76200">
                <a:moveTo>
                  <a:pt x="748283" y="0"/>
                </a:moveTo>
                <a:lnTo>
                  <a:pt x="748283" y="76200"/>
                </a:lnTo>
                <a:lnTo>
                  <a:pt x="811783" y="44450"/>
                </a:lnTo>
                <a:lnTo>
                  <a:pt x="760983" y="44450"/>
                </a:lnTo>
                <a:lnTo>
                  <a:pt x="760983" y="31750"/>
                </a:lnTo>
                <a:lnTo>
                  <a:pt x="811783" y="31750"/>
                </a:lnTo>
                <a:lnTo>
                  <a:pt x="748283" y="0"/>
                </a:lnTo>
                <a:close/>
              </a:path>
              <a:path w="824864" h="76200">
                <a:moveTo>
                  <a:pt x="748283" y="31750"/>
                </a:moveTo>
                <a:lnTo>
                  <a:pt x="0" y="31750"/>
                </a:lnTo>
                <a:lnTo>
                  <a:pt x="0" y="44450"/>
                </a:lnTo>
                <a:lnTo>
                  <a:pt x="748283" y="44450"/>
                </a:lnTo>
                <a:lnTo>
                  <a:pt x="748283" y="31750"/>
                </a:lnTo>
                <a:close/>
              </a:path>
              <a:path w="824864" h="76200">
                <a:moveTo>
                  <a:pt x="811783" y="31750"/>
                </a:moveTo>
                <a:lnTo>
                  <a:pt x="760983" y="31750"/>
                </a:lnTo>
                <a:lnTo>
                  <a:pt x="760983" y="44450"/>
                </a:lnTo>
                <a:lnTo>
                  <a:pt x="811783" y="44450"/>
                </a:lnTo>
                <a:lnTo>
                  <a:pt x="824483" y="38100"/>
                </a:lnTo>
                <a:lnTo>
                  <a:pt x="811783" y="31750"/>
                </a:lnTo>
                <a:close/>
              </a:path>
            </a:pathLst>
          </a:custGeom>
          <a:solidFill>
            <a:srgbClr val="000000"/>
          </a:solidFill>
        </p:spPr>
        <p:txBody>
          <a:bodyPr wrap="square" lIns="0" tIns="0" rIns="0" bIns="0" rtlCol="0"/>
          <a:lstStyle/>
          <a:p>
            <a:endParaRPr/>
          </a:p>
        </p:txBody>
      </p:sp>
      <p:sp>
        <p:nvSpPr>
          <p:cNvPr id="14" name="object 14"/>
          <p:cNvSpPr/>
          <p:nvPr/>
        </p:nvSpPr>
        <p:spPr>
          <a:xfrm>
            <a:off x="2133600" y="5372100"/>
            <a:ext cx="824865" cy="76200"/>
          </a:xfrm>
          <a:custGeom>
            <a:avLst/>
            <a:gdLst/>
            <a:ahLst/>
            <a:cxnLst/>
            <a:rect l="l" t="t" r="r" b="b"/>
            <a:pathLst>
              <a:path w="824864" h="76200">
                <a:moveTo>
                  <a:pt x="748283" y="0"/>
                </a:moveTo>
                <a:lnTo>
                  <a:pt x="748283" y="76200"/>
                </a:lnTo>
                <a:lnTo>
                  <a:pt x="811783" y="44450"/>
                </a:lnTo>
                <a:lnTo>
                  <a:pt x="760983" y="44450"/>
                </a:lnTo>
                <a:lnTo>
                  <a:pt x="760983" y="31750"/>
                </a:lnTo>
                <a:lnTo>
                  <a:pt x="811783" y="31750"/>
                </a:lnTo>
                <a:lnTo>
                  <a:pt x="748283" y="0"/>
                </a:lnTo>
                <a:close/>
              </a:path>
              <a:path w="824864" h="76200">
                <a:moveTo>
                  <a:pt x="748283" y="31750"/>
                </a:moveTo>
                <a:lnTo>
                  <a:pt x="0" y="31750"/>
                </a:lnTo>
                <a:lnTo>
                  <a:pt x="0" y="44450"/>
                </a:lnTo>
                <a:lnTo>
                  <a:pt x="748283" y="44450"/>
                </a:lnTo>
                <a:lnTo>
                  <a:pt x="748283" y="31750"/>
                </a:lnTo>
                <a:close/>
              </a:path>
              <a:path w="824864" h="76200">
                <a:moveTo>
                  <a:pt x="811783" y="31750"/>
                </a:moveTo>
                <a:lnTo>
                  <a:pt x="760983" y="31750"/>
                </a:lnTo>
                <a:lnTo>
                  <a:pt x="760983" y="44450"/>
                </a:lnTo>
                <a:lnTo>
                  <a:pt x="811783" y="44450"/>
                </a:lnTo>
                <a:lnTo>
                  <a:pt x="824483" y="38100"/>
                </a:lnTo>
                <a:lnTo>
                  <a:pt x="811783" y="31750"/>
                </a:lnTo>
                <a:close/>
              </a:path>
            </a:pathLst>
          </a:custGeom>
          <a:solidFill>
            <a:srgbClr val="000000"/>
          </a:solidFill>
        </p:spPr>
        <p:txBody>
          <a:bodyPr wrap="square" lIns="0" tIns="0" rIns="0" bIns="0" rtlCol="0"/>
          <a:lstStyle/>
          <a:p>
            <a:endParaRPr/>
          </a:p>
        </p:txBody>
      </p:sp>
      <p:sp>
        <p:nvSpPr>
          <p:cNvPr id="15" name="object 15"/>
          <p:cNvSpPr/>
          <p:nvPr/>
        </p:nvSpPr>
        <p:spPr>
          <a:xfrm>
            <a:off x="4108577" y="4724400"/>
            <a:ext cx="82550" cy="289560"/>
          </a:xfrm>
          <a:custGeom>
            <a:avLst/>
            <a:gdLst/>
            <a:ahLst/>
            <a:cxnLst/>
            <a:rect l="l" t="t" r="r" b="b"/>
            <a:pathLst>
              <a:path w="82550" h="289560">
                <a:moveTo>
                  <a:pt x="38264" y="73862"/>
                </a:moveTo>
                <a:lnTo>
                  <a:pt x="0" y="286893"/>
                </a:lnTo>
                <a:lnTo>
                  <a:pt x="12446" y="289179"/>
                </a:lnTo>
                <a:lnTo>
                  <a:pt x="50831" y="76137"/>
                </a:lnTo>
                <a:lnTo>
                  <a:pt x="38264" y="73862"/>
                </a:lnTo>
                <a:close/>
              </a:path>
              <a:path w="82550" h="289560">
                <a:moveTo>
                  <a:pt x="76041" y="61341"/>
                </a:moveTo>
                <a:lnTo>
                  <a:pt x="40512" y="61341"/>
                </a:lnTo>
                <a:lnTo>
                  <a:pt x="53086" y="63626"/>
                </a:lnTo>
                <a:lnTo>
                  <a:pt x="50831" y="76137"/>
                </a:lnTo>
                <a:lnTo>
                  <a:pt x="82042" y="81787"/>
                </a:lnTo>
                <a:lnTo>
                  <a:pt x="76041" y="61341"/>
                </a:lnTo>
                <a:close/>
              </a:path>
              <a:path w="82550" h="289560">
                <a:moveTo>
                  <a:pt x="40512" y="61341"/>
                </a:moveTo>
                <a:lnTo>
                  <a:pt x="38264" y="73862"/>
                </a:lnTo>
                <a:lnTo>
                  <a:pt x="50831" y="76137"/>
                </a:lnTo>
                <a:lnTo>
                  <a:pt x="53086" y="63626"/>
                </a:lnTo>
                <a:lnTo>
                  <a:pt x="40512" y="61341"/>
                </a:lnTo>
                <a:close/>
              </a:path>
              <a:path w="82550" h="289560">
                <a:moveTo>
                  <a:pt x="58038" y="0"/>
                </a:moveTo>
                <a:lnTo>
                  <a:pt x="6985" y="68199"/>
                </a:lnTo>
                <a:lnTo>
                  <a:pt x="38264" y="73862"/>
                </a:lnTo>
                <a:lnTo>
                  <a:pt x="40512" y="61341"/>
                </a:lnTo>
                <a:lnTo>
                  <a:pt x="76041" y="61341"/>
                </a:lnTo>
                <a:lnTo>
                  <a:pt x="58038" y="0"/>
                </a:lnTo>
                <a:close/>
              </a:path>
            </a:pathLst>
          </a:custGeom>
          <a:solidFill>
            <a:srgbClr val="000000"/>
          </a:solidFill>
        </p:spPr>
        <p:txBody>
          <a:bodyPr wrap="square" lIns="0" tIns="0" rIns="0" bIns="0" rtlCol="0"/>
          <a:lstStyle/>
          <a:p>
            <a:endParaRPr/>
          </a:p>
        </p:txBody>
      </p:sp>
      <p:sp>
        <p:nvSpPr>
          <p:cNvPr id="16" name="object 16"/>
          <p:cNvSpPr/>
          <p:nvPr/>
        </p:nvSpPr>
        <p:spPr>
          <a:xfrm>
            <a:off x="3803777" y="5332857"/>
            <a:ext cx="82550" cy="290830"/>
          </a:xfrm>
          <a:custGeom>
            <a:avLst/>
            <a:gdLst/>
            <a:ahLst/>
            <a:cxnLst/>
            <a:rect l="l" t="t" r="r" b="b"/>
            <a:pathLst>
              <a:path w="82550" h="290829">
                <a:moveTo>
                  <a:pt x="38395" y="216819"/>
                </a:moveTo>
                <a:lnTo>
                  <a:pt x="7112" y="222377"/>
                </a:lnTo>
                <a:lnTo>
                  <a:pt x="58038" y="290703"/>
                </a:lnTo>
                <a:lnTo>
                  <a:pt x="76164" y="229362"/>
                </a:lnTo>
                <a:lnTo>
                  <a:pt x="40639" y="229362"/>
                </a:lnTo>
                <a:lnTo>
                  <a:pt x="38395" y="216819"/>
                </a:lnTo>
                <a:close/>
              </a:path>
              <a:path w="82550" h="290829">
                <a:moveTo>
                  <a:pt x="50854" y="214605"/>
                </a:moveTo>
                <a:lnTo>
                  <a:pt x="38395" y="216819"/>
                </a:lnTo>
                <a:lnTo>
                  <a:pt x="40639" y="229362"/>
                </a:lnTo>
                <a:lnTo>
                  <a:pt x="53086" y="227076"/>
                </a:lnTo>
                <a:lnTo>
                  <a:pt x="50854" y="214605"/>
                </a:lnTo>
                <a:close/>
              </a:path>
              <a:path w="82550" h="290829">
                <a:moveTo>
                  <a:pt x="82169" y="209042"/>
                </a:moveTo>
                <a:lnTo>
                  <a:pt x="50854" y="214605"/>
                </a:lnTo>
                <a:lnTo>
                  <a:pt x="53086" y="227076"/>
                </a:lnTo>
                <a:lnTo>
                  <a:pt x="40639" y="229362"/>
                </a:lnTo>
                <a:lnTo>
                  <a:pt x="76164" y="229362"/>
                </a:lnTo>
                <a:lnTo>
                  <a:pt x="82169" y="209042"/>
                </a:lnTo>
                <a:close/>
              </a:path>
              <a:path w="82550" h="290829">
                <a:moveTo>
                  <a:pt x="12446" y="0"/>
                </a:moveTo>
                <a:lnTo>
                  <a:pt x="0" y="2286"/>
                </a:lnTo>
                <a:lnTo>
                  <a:pt x="38395" y="216819"/>
                </a:lnTo>
                <a:lnTo>
                  <a:pt x="50854" y="214605"/>
                </a:lnTo>
                <a:lnTo>
                  <a:pt x="12446" y="0"/>
                </a:lnTo>
                <a:close/>
              </a:path>
            </a:pathLst>
          </a:custGeom>
          <a:solidFill>
            <a:srgbClr val="000000"/>
          </a:solidFill>
        </p:spPr>
        <p:txBody>
          <a:bodyPr wrap="square" lIns="0" tIns="0" rIns="0" bIns="0" rtlCol="0"/>
          <a:lstStyle/>
          <a:p>
            <a:endParaRPr/>
          </a:p>
        </p:txBody>
      </p:sp>
      <p:sp>
        <p:nvSpPr>
          <p:cNvPr id="17" name="object 17"/>
          <p:cNvSpPr/>
          <p:nvPr/>
        </p:nvSpPr>
        <p:spPr>
          <a:xfrm>
            <a:off x="3956177" y="4113657"/>
            <a:ext cx="82550" cy="290830"/>
          </a:xfrm>
          <a:custGeom>
            <a:avLst/>
            <a:gdLst/>
            <a:ahLst/>
            <a:cxnLst/>
            <a:rect l="l" t="t" r="r" b="b"/>
            <a:pathLst>
              <a:path w="82550" h="290829">
                <a:moveTo>
                  <a:pt x="38395" y="216819"/>
                </a:moveTo>
                <a:lnTo>
                  <a:pt x="7112" y="222377"/>
                </a:lnTo>
                <a:lnTo>
                  <a:pt x="58038" y="290703"/>
                </a:lnTo>
                <a:lnTo>
                  <a:pt x="76164" y="229362"/>
                </a:lnTo>
                <a:lnTo>
                  <a:pt x="40639" y="229362"/>
                </a:lnTo>
                <a:lnTo>
                  <a:pt x="38395" y="216819"/>
                </a:lnTo>
                <a:close/>
              </a:path>
              <a:path w="82550" h="290829">
                <a:moveTo>
                  <a:pt x="50854" y="214605"/>
                </a:moveTo>
                <a:lnTo>
                  <a:pt x="38395" y="216819"/>
                </a:lnTo>
                <a:lnTo>
                  <a:pt x="40639" y="229362"/>
                </a:lnTo>
                <a:lnTo>
                  <a:pt x="53086" y="227076"/>
                </a:lnTo>
                <a:lnTo>
                  <a:pt x="50854" y="214605"/>
                </a:lnTo>
                <a:close/>
              </a:path>
              <a:path w="82550" h="290829">
                <a:moveTo>
                  <a:pt x="82169" y="209042"/>
                </a:moveTo>
                <a:lnTo>
                  <a:pt x="50854" y="214605"/>
                </a:lnTo>
                <a:lnTo>
                  <a:pt x="53086" y="227076"/>
                </a:lnTo>
                <a:lnTo>
                  <a:pt x="40639" y="229362"/>
                </a:lnTo>
                <a:lnTo>
                  <a:pt x="76164" y="229362"/>
                </a:lnTo>
                <a:lnTo>
                  <a:pt x="82169" y="209042"/>
                </a:lnTo>
                <a:close/>
              </a:path>
              <a:path w="82550" h="290829">
                <a:moveTo>
                  <a:pt x="12446" y="0"/>
                </a:moveTo>
                <a:lnTo>
                  <a:pt x="0" y="2286"/>
                </a:lnTo>
                <a:lnTo>
                  <a:pt x="38395" y="216819"/>
                </a:lnTo>
                <a:lnTo>
                  <a:pt x="50854" y="214605"/>
                </a:lnTo>
                <a:lnTo>
                  <a:pt x="12446" y="0"/>
                </a:lnTo>
                <a:close/>
              </a:path>
            </a:pathLst>
          </a:custGeom>
          <a:solidFill>
            <a:srgbClr val="000000"/>
          </a:solidFill>
        </p:spPr>
        <p:txBody>
          <a:bodyPr wrap="square" lIns="0" tIns="0" rIns="0" bIns="0" rtlCol="0"/>
          <a:lstStyle/>
          <a:p>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48023"/>
            <a:ext cx="7229475" cy="2922905"/>
          </a:xfrm>
          <a:prstGeom prst="rect">
            <a:avLst/>
          </a:prstGeom>
        </p:spPr>
        <p:txBody>
          <a:bodyPr vert="horz" wrap="square" lIns="0" tIns="89535" rIns="0" bIns="0" rtlCol="0">
            <a:spAutoFit/>
          </a:bodyPr>
          <a:lstStyle/>
          <a:p>
            <a:pPr marL="287020" indent="-274955">
              <a:lnSpc>
                <a:spcPct val="100000"/>
              </a:lnSpc>
              <a:spcBef>
                <a:spcPts val="705"/>
              </a:spcBef>
              <a:buClr>
                <a:srgbClr val="0E6EC5"/>
              </a:buClr>
              <a:buSzPct val="70000"/>
              <a:buFont typeface="Wingdings"/>
              <a:buChar char=""/>
              <a:tabLst>
                <a:tab pos="287655" algn="l"/>
              </a:tabLst>
            </a:pPr>
            <a:r>
              <a:rPr sz="2000" b="1" spc="-5" dirty="0">
                <a:latin typeface="Times New Roman"/>
                <a:cs typeface="Times New Roman"/>
              </a:rPr>
              <a:t>Prevention</a:t>
            </a:r>
            <a:r>
              <a:rPr sz="2000" b="1" spc="-35" dirty="0">
                <a:latin typeface="Times New Roman"/>
                <a:cs typeface="Times New Roman"/>
              </a:rPr>
              <a:t> </a:t>
            </a:r>
            <a:r>
              <a:rPr sz="2000" b="1" dirty="0">
                <a:latin typeface="Times New Roman"/>
                <a:cs typeface="Times New Roman"/>
              </a:rPr>
              <a:t>:</a:t>
            </a:r>
            <a:endParaRPr sz="2000">
              <a:latin typeface="Times New Roman"/>
              <a:cs typeface="Times New Roman"/>
            </a:endParaRPr>
          </a:p>
          <a:p>
            <a:pPr marL="287020" marR="508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(1) Corrosion can be prevented by adding </a:t>
            </a:r>
            <a:r>
              <a:rPr sz="2000" spc="-5" dirty="0">
                <a:latin typeface="Times New Roman"/>
                <a:cs typeface="Times New Roman"/>
              </a:rPr>
              <a:t>alkali </a:t>
            </a:r>
            <a:r>
              <a:rPr sz="2000" dirty="0">
                <a:latin typeface="Times New Roman"/>
                <a:cs typeface="Times New Roman"/>
              </a:rPr>
              <a:t>to neutralize</a:t>
            </a:r>
            <a:r>
              <a:rPr sz="2000" spc="-215" dirty="0">
                <a:latin typeface="Times New Roman"/>
                <a:cs typeface="Times New Roman"/>
              </a:rPr>
              <a:t> </a:t>
            </a:r>
            <a:r>
              <a:rPr sz="2000" dirty="0">
                <a:latin typeface="Times New Roman"/>
                <a:cs typeface="Times New Roman"/>
              </a:rPr>
              <a:t>acidity  &amp; </a:t>
            </a:r>
            <a:r>
              <a:rPr sz="2000" spc="-5" dirty="0">
                <a:latin typeface="Times New Roman"/>
                <a:cs typeface="Times New Roman"/>
              </a:rPr>
              <a:t>anti-oxidant </a:t>
            </a:r>
            <a:r>
              <a:rPr sz="2000" dirty="0">
                <a:latin typeface="Times New Roman"/>
                <a:cs typeface="Times New Roman"/>
              </a:rPr>
              <a:t>to remove</a:t>
            </a:r>
            <a:r>
              <a:rPr sz="2000" spc="-80" dirty="0">
                <a:latin typeface="Times New Roman"/>
                <a:cs typeface="Times New Roman"/>
              </a:rPr>
              <a:t> </a:t>
            </a:r>
            <a:r>
              <a:rPr sz="2000" dirty="0">
                <a:latin typeface="Times New Roman"/>
                <a:cs typeface="Times New Roman"/>
              </a:rPr>
              <a:t>oxygen</a:t>
            </a:r>
            <a:endParaRPr sz="2000">
              <a:latin typeface="Times New Roman"/>
              <a:cs typeface="Times New Roman"/>
            </a:endParaRPr>
          </a:p>
          <a:p>
            <a:pPr marL="2870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(2) By keeping pH value 8 to</a:t>
            </a:r>
            <a:r>
              <a:rPr sz="2000" spc="-105" dirty="0">
                <a:latin typeface="Times New Roman"/>
                <a:cs typeface="Times New Roman"/>
              </a:rPr>
              <a:t> </a:t>
            </a:r>
            <a:r>
              <a:rPr sz="2000" dirty="0">
                <a:latin typeface="Times New Roman"/>
                <a:cs typeface="Times New Roman"/>
              </a:rPr>
              <a:t>9.</a:t>
            </a:r>
            <a:endParaRPr sz="2000">
              <a:latin typeface="Times New Roman"/>
              <a:cs typeface="Times New Roman"/>
            </a:endParaRPr>
          </a:p>
          <a:p>
            <a:pPr marL="2870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(3) Oxygen is removed from boiler feed-water by adding</a:t>
            </a:r>
            <a:r>
              <a:rPr sz="2000" spc="-210" dirty="0">
                <a:latin typeface="Times New Roman"/>
                <a:cs typeface="Times New Roman"/>
              </a:rPr>
              <a:t> </a:t>
            </a:r>
            <a:r>
              <a:rPr sz="2000" dirty="0">
                <a:latin typeface="Times New Roman"/>
                <a:cs typeface="Times New Roman"/>
              </a:rPr>
              <a:t>Na2SO3.</a:t>
            </a:r>
            <a:endParaRPr sz="2000">
              <a:latin typeface="Times New Roman"/>
              <a:cs typeface="Times New Roman"/>
            </a:endParaRPr>
          </a:p>
          <a:p>
            <a:pPr marL="287020" marR="170180" indent="-274955">
              <a:lnSpc>
                <a:spcPct val="100000"/>
              </a:lnSpc>
              <a:spcBef>
                <a:spcPts val="605"/>
              </a:spcBef>
              <a:buClr>
                <a:srgbClr val="0E6EC5"/>
              </a:buClr>
              <a:buSzPct val="70000"/>
              <a:buFont typeface="Wingdings"/>
              <a:buChar char=""/>
              <a:tabLst>
                <a:tab pos="287655" algn="l"/>
              </a:tabLst>
            </a:pPr>
            <a:r>
              <a:rPr sz="2000" dirty="0">
                <a:latin typeface="Times New Roman"/>
                <a:cs typeface="Times New Roman"/>
              </a:rPr>
              <a:t>(4) Oxygen can </a:t>
            </a:r>
            <a:r>
              <a:rPr sz="2000" spc="-5" dirty="0">
                <a:latin typeface="Times New Roman"/>
                <a:cs typeface="Times New Roman"/>
              </a:rPr>
              <a:t>also </a:t>
            </a:r>
            <a:r>
              <a:rPr sz="2000" dirty="0">
                <a:latin typeface="Times New Roman"/>
                <a:cs typeface="Times New Roman"/>
              </a:rPr>
              <a:t>removed by treating it with hydrazine</a:t>
            </a:r>
            <a:r>
              <a:rPr sz="2000" spc="-180" dirty="0">
                <a:latin typeface="Times New Roman"/>
                <a:cs typeface="Times New Roman"/>
              </a:rPr>
              <a:t> </a:t>
            </a:r>
            <a:r>
              <a:rPr sz="2000" dirty="0">
                <a:latin typeface="Times New Roman"/>
                <a:cs typeface="Times New Roman"/>
              </a:rPr>
              <a:t>hydrate  </a:t>
            </a:r>
            <a:r>
              <a:rPr sz="2000" spc="5" dirty="0">
                <a:latin typeface="Times New Roman"/>
                <a:cs typeface="Times New Roman"/>
              </a:rPr>
              <a:t>NH2–NH2</a:t>
            </a:r>
            <a:endParaRPr sz="2000">
              <a:latin typeface="Times New Roman"/>
              <a:cs typeface="Times New Roman"/>
            </a:endParaRPr>
          </a:p>
          <a:p>
            <a:pPr marL="1091565">
              <a:lnSpc>
                <a:spcPct val="100000"/>
              </a:lnSpc>
              <a:spcBef>
                <a:spcPts val="600"/>
              </a:spcBef>
            </a:pPr>
            <a:r>
              <a:rPr sz="2000" dirty="0">
                <a:latin typeface="Times New Roman"/>
                <a:cs typeface="Times New Roman"/>
              </a:rPr>
              <a:t>NH2-NH2 + </a:t>
            </a:r>
            <a:r>
              <a:rPr sz="2000" spc="-5" dirty="0">
                <a:latin typeface="Times New Roman"/>
                <a:cs typeface="Times New Roman"/>
              </a:rPr>
              <a:t>O2 </a:t>
            </a:r>
            <a:r>
              <a:rPr sz="2000" dirty="0">
                <a:latin typeface="Times New Roman"/>
                <a:cs typeface="Times New Roman"/>
              </a:rPr>
              <a:t>→ 2N2 +</a:t>
            </a:r>
            <a:r>
              <a:rPr sz="2000" spc="-65" dirty="0">
                <a:latin typeface="Times New Roman"/>
                <a:cs typeface="Times New Roman"/>
              </a:rPr>
              <a:t> </a:t>
            </a:r>
            <a:r>
              <a:rPr sz="2000" dirty="0">
                <a:latin typeface="Times New Roman"/>
                <a:cs typeface="Times New Roman"/>
              </a:rPr>
              <a:t>2H2O</a:t>
            </a:r>
            <a:endParaRPr sz="2000">
              <a:latin typeface="Times New Roman"/>
              <a:cs typeface="Times New Roman"/>
            </a:endParaRPr>
          </a:p>
        </p:txBody>
      </p:sp>
      <p:sp>
        <p:nvSpPr>
          <p:cNvPr id="3" name="object 3"/>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28</a:t>
            </a:r>
            <a:endParaRPr sz="1400">
              <a:latin typeface="Times New Roman"/>
              <a:cs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512" y="531876"/>
            <a:ext cx="3183890" cy="376555"/>
          </a:xfrm>
          <a:prstGeom prst="rect">
            <a:avLst/>
          </a:prstGeom>
          <a:ln w="9144">
            <a:solidFill>
              <a:srgbClr val="FFFF00"/>
            </a:solidFill>
          </a:ln>
        </p:spPr>
        <p:txBody>
          <a:bodyPr vert="horz" wrap="square" lIns="0" tIns="38100" rIns="0" bIns="0" rtlCol="0">
            <a:spAutoFit/>
          </a:bodyPr>
          <a:lstStyle/>
          <a:p>
            <a:pPr marL="90805">
              <a:lnSpc>
                <a:spcPct val="100000"/>
              </a:lnSpc>
              <a:spcBef>
                <a:spcPts val="300"/>
              </a:spcBef>
            </a:pPr>
            <a:r>
              <a:rPr sz="1800" dirty="0">
                <a:solidFill>
                  <a:srgbClr val="003399"/>
                </a:solidFill>
                <a:latin typeface="Times New Roman"/>
                <a:cs typeface="Times New Roman"/>
              </a:rPr>
              <a:t>III. </a:t>
            </a:r>
            <a:r>
              <a:rPr sz="1800" spc="-5" dirty="0">
                <a:solidFill>
                  <a:srgbClr val="003399"/>
                </a:solidFill>
                <a:latin typeface="Times New Roman"/>
                <a:cs typeface="Times New Roman"/>
              </a:rPr>
              <a:t>Priming </a:t>
            </a:r>
            <a:r>
              <a:rPr sz="1800" dirty="0">
                <a:solidFill>
                  <a:srgbClr val="003399"/>
                </a:solidFill>
                <a:latin typeface="Times New Roman"/>
                <a:cs typeface="Times New Roman"/>
              </a:rPr>
              <a:t>and</a:t>
            </a:r>
            <a:r>
              <a:rPr sz="1800" spc="-5" dirty="0">
                <a:solidFill>
                  <a:srgbClr val="003399"/>
                </a:solidFill>
                <a:latin typeface="Times New Roman"/>
                <a:cs typeface="Times New Roman"/>
              </a:rPr>
              <a:t> foaming</a:t>
            </a:r>
            <a:endParaRPr sz="1800">
              <a:latin typeface="Times New Roman"/>
              <a:cs typeface="Times New Roman"/>
            </a:endParaRPr>
          </a:p>
        </p:txBody>
      </p:sp>
      <p:sp>
        <p:nvSpPr>
          <p:cNvPr id="3" name="object 3"/>
          <p:cNvSpPr/>
          <p:nvPr/>
        </p:nvSpPr>
        <p:spPr>
          <a:xfrm>
            <a:off x="929639" y="1557527"/>
            <a:ext cx="1444752" cy="1511808"/>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1194917" y="3096260"/>
            <a:ext cx="743585"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Times New Roman"/>
                <a:cs typeface="Times New Roman"/>
              </a:rPr>
              <a:t>Foa</a:t>
            </a:r>
            <a:r>
              <a:rPr sz="1600" spc="-40" dirty="0">
                <a:latin typeface="Times New Roman"/>
                <a:cs typeface="Times New Roman"/>
              </a:rPr>
              <a:t>m</a:t>
            </a:r>
            <a:r>
              <a:rPr sz="1600" spc="-5" dirty="0">
                <a:latin typeface="Times New Roman"/>
                <a:cs typeface="Times New Roman"/>
              </a:rPr>
              <a:t>ing</a:t>
            </a:r>
            <a:endParaRPr sz="1600">
              <a:latin typeface="Times New Roman"/>
              <a:cs typeface="Times New Roman"/>
            </a:endParaRPr>
          </a:p>
        </p:txBody>
      </p:sp>
      <p:sp>
        <p:nvSpPr>
          <p:cNvPr id="5" name="object 5"/>
          <p:cNvSpPr txBox="1"/>
          <p:nvPr/>
        </p:nvSpPr>
        <p:spPr>
          <a:xfrm>
            <a:off x="1122070" y="5185917"/>
            <a:ext cx="675640"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Times New Roman"/>
                <a:cs typeface="Times New Roman"/>
              </a:rPr>
              <a:t>Pri</a:t>
            </a:r>
            <a:r>
              <a:rPr sz="1600" spc="-40" dirty="0">
                <a:latin typeface="Times New Roman"/>
                <a:cs typeface="Times New Roman"/>
              </a:rPr>
              <a:t>m</a:t>
            </a:r>
            <a:r>
              <a:rPr sz="1600" spc="-5" dirty="0">
                <a:latin typeface="Times New Roman"/>
                <a:cs typeface="Times New Roman"/>
              </a:rPr>
              <a:t>ing</a:t>
            </a:r>
            <a:endParaRPr sz="1600">
              <a:latin typeface="Times New Roman"/>
              <a:cs typeface="Times New Roman"/>
            </a:endParaRPr>
          </a:p>
        </p:txBody>
      </p:sp>
      <p:sp>
        <p:nvSpPr>
          <p:cNvPr id="6" name="object 6"/>
          <p:cNvSpPr/>
          <p:nvPr/>
        </p:nvSpPr>
        <p:spPr>
          <a:xfrm>
            <a:off x="845819" y="3521964"/>
            <a:ext cx="1502664" cy="158496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700527" y="2110006"/>
            <a:ext cx="1583436" cy="1111729"/>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843783" y="3738371"/>
            <a:ext cx="1702308" cy="1443227"/>
          </a:xfrm>
          <a:prstGeom prst="rect">
            <a:avLst/>
          </a:prstGeom>
          <a:blipFill>
            <a:blip r:embed="rId5" cstate="print"/>
            <a:stretch>
              <a:fillRect/>
            </a:stretch>
          </a:blipFill>
        </p:spPr>
        <p:txBody>
          <a:bodyPr wrap="square" lIns="0" tIns="0" rIns="0" bIns="0" rtlCol="0"/>
          <a:lstStyle/>
          <a:p>
            <a:endParaRPr/>
          </a:p>
        </p:txBody>
      </p:sp>
      <p:sp>
        <p:nvSpPr>
          <p:cNvPr id="9" name="object 9"/>
          <p:cNvSpPr txBox="1"/>
          <p:nvPr/>
        </p:nvSpPr>
        <p:spPr>
          <a:xfrm>
            <a:off x="2779522" y="3311728"/>
            <a:ext cx="1100455" cy="240029"/>
          </a:xfrm>
          <a:prstGeom prst="rect">
            <a:avLst/>
          </a:prstGeom>
        </p:spPr>
        <p:txBody>
          <a:bodyPr vert="horz" wrap="square" lIns="0" tIns="13335" rIns="0" bIns="0" rtlCol="0">
            <a:spAutoFit/>
          </a:bodyPr>
          <a:lstStyle/>
          <a:p>
            <a:pPr marL="12700">
              <a:lnSpc>
                <a:spcPct val="100000"/>
              </a:lnSpc>
              <a:spcBef>
                <a:spcPts val="105"/>
              </a:spcBef>
            </a:pPr>
            <a:r>
              <a:rPr sz="1400" spc="-5" dirty="0">
                <a:latin typeface="Times New Roman"/>
                <a:cs typeface="Times New Roman"/>
              </a:rPr>
              <a:t>Normal</a:t>
            </a:r>
            <a:r>
              <a:rPr sz="1400" spc="-55" dirty="0">
                <a:latin typeface="Times New Roman"/>
                <a:cs typeface="Times New Roman"/>
              </a:rPr>
              <a:t> </a:t>
            </a:r>
            <a:r>
              <a:rPr sz="1400" dirty="0">
                <a:latin typeface="Times New Roman"/>
                <a:cs typeface="Times New Roman"/>
              </a:rPr>
              <a:t>bubble</a:t>
            </a:r>
            <a:endParaRPr sz="1400">
              <a:latin typeface="Times New Roman"/>
              <a:cs typeface="Times New Roman"/>
            </a:endParaRPr>
          </a:p>
        </p:txBody>
      </p:sp>
      <p:sp>
        <p:nvSpPr>
          <p:cNvPr id="10" name="object 10"/>
          <p:cNvSpPr txBox="1"/>
          <p:nvPr/>
        </p:nvSpPr>
        <p:spPr>
          <a:xfrm>
            <a:off x="2850895" y="5328361"/>
            <a:ext cx="1322705" cy="240029"/>
          </a:xfrm>
          <a:prstGeom prst="rect">
            <a:avLst/>
          </a:prstGeom>
        </p:spPr>
        <p:txBody>
          <a:bodyPr vert="horz" wrap="square" lIns="0" tIns="13335" rIns="0" bIns="0" rtlCol="0">
            <a:spAutoFit/>
          </a:bodyPr>
          <a:lstStyle/>
          <a:p>
            <a:pPr marL="12700">
              <a:lnSpc>
                <a:spcPct val="100000"/>
              </a:lnSpc>
              <a:spcBef>
                <a:spcPts val="105"/>
              </a:spcBef>
            </a:pPr>
            <a:r>
              <a:rPr sz="1400" dirty="0">
                <a:latin typeface="Times New Roman"/>
                <a:cs typeface="Times New Roman"/>
              </a:rPr>
              <a:t>Carry over</a:t>
            </a:r>
            <a:r>
              <a:rPr sz="1400" spc="-95" dirty="0">
                <a:latin typeface="Times New Roman"/>
                <a:cs typeface="Times New Roman"/>
              </a:rPr>
              <a:t> </a:t>
            </a:r>
            <a:r>
              <a:rPr sz="1400" dirty="0">
                <a:latin typeface="Times New Roman"/>
                <a:cs typeface="Times New Roman"/>
              </a:rPr>
              <a:t>bubble</a:t>
            </a:r>
            <a:endParaRPr sz="1400">
              <a:latin typeface="Times New Roman"/>
              <a:cs typeface="Times New Roman"/>
            </a:endParaRPr>
          </a:p>
        </p:txBody>
      </p:sp>
      <p:sp>
        <p:nvSpPr>
          <p:cNvPr id="11" name="object 11"/>
          <p:cNvSpPr txBox="1"/>
          <p:nvPr/>
        </p:nvSpPr>
        <p:spPr>
          <a:xfrm>
            <a:off x="4788408" y="1053083"/>
            <a:ext cx="3816350" cy="1661160"/>
          </a:xfrm>
          <a:prstGeom prst="rect">
            <a:avLst/>
          </a:prstGeom>
          <a:solidFill>
            <a:srgbClr val="FFFF66"/>
          </a:solidFill>
        </p:spPr>
        <p:txBody>
          <a:bodyPr vert="horz" wrap="square" lIns="0" tIns="37465" rIns="0" bIns="0" rtlCol="0">
            <a:spAutoFit/>
          </a:bodyPr>
          <a:lstStyle/>
          <a:p>
            <a:pPr marL="91440">
              <a:lnSpc>
                <a:spcPct val="100000"/>
              </a:lnSpc>
              <a:spcBef>
                <a:spcPts val="295"/>
              </a:spcBef>
            </a:pPr>
            <a:r>
              <a:rPr sz="1800" spc="-5" dirty="0">
                <a:latin typeface="Times New Roman"/>
                <a:cs typeface="Times New Roman"/>
              </a:rPr>
              <a:t>Foaming</a:t>
            </a:r>
            <a:endParaRPr sz="1800">
              <a:latin typeface="Times New Roman"/>
              <a:cs typeface="Times New Roman"/>
            </a:endParaRPr>
          </a:p>
          <a:p>
            <a:pPr marL="91440" marR="81915" algn="just">
              <a:lnSpc>
                <a:spcPct val="100000"/>
              </a:lnSpc>
              <a:spcBef>
                <a:spcPts val="1195"/>
              </a:spcBef>
            </a:pPr>
            <a:r>
              <a:rPr sz="1800" spc="-5" dirty="0">
                <a:solidFill>
                  <a:srgbClr val="003399"/>
                </a:solidFill>
                <a:latin typeface="Times New Roman"/>
                <a:cs typeface="Times New Roman"/>
              </a:rPr>
              <a:t>It </a:t>
            </a:r>
            <a:r>
              <a:rPr sz="1800" dirty="0">
                <a:solidFill>
                  <a:srgbClr val="003399"/>
                </a:solidFill>
                <a:latin typeface="Times New Roman"/>
                <a:cs typeface="Times New Roman"/>
              </a:rPr>
              <a:t>is </a:t>
            </a:r>
            <a:r>
              <a:rPr sz="2000" spc="-5" dirty="0">
                <a:solidFill>
                  <a:srgbClr val="003399"/>
                </a:solidFill>
                <a:latin typeface="Times New Roman"/>
                <a:cs typeface="Times New Roman"/>
              </a:rPr>
              <a:t>the </a:t>
            </a:r>
            <a:r>
              <a:rPr sz="1800" spc="-5" dirty="0">
                <a:solidFill>
                  <a:srgbClr val="003399"/>
                </a:solidFill>
                <a:latin typeface="Times New Roman"/>
                <a:cs typeface="Times New Roman"/>
              </a:rPr>
              <a:t>production of </a:t>
            </a:r>
            <a:r>
              <a:rPr sz="1800" dirty="0">
                <a:solidFill>
                  <a:srgbClr val="003399"/>
                </a:solidFill>
                <a:latin typeface="Times New Roman"/>
                <a:cs typeface="Times New Roman"/>
              </a:rPr>
              <a:t>continuous foam  or hard </a:t>
            </a:r>
            <a:r>
              <a:rPr sz="1800" spc="-5" dirty="0">
                <a:solidFill>
                  <a:srgbClr val="003399"/>
                </a:solidFill>
                <a:latin typeface="Times New Roman"/>
                <a:cs typeface="Times New Roman"/>
              </a:rPr>
              <a:t>bubblers </a:t>
            </a:r>
            <a:r>
              <a:rPr sz="1800" dirty="0">
                <a:solidFill>
                  <a:srgbClr val="003399"/>
                </a:solidFill>
                <a:latin typeface="Times New Roman"/>
                <a:cs typeface="Times New Roman"/>
              </a:rPr>
              <a:t>in </a:t>
            </a:r>
            <a:r>
              <a:rPr sz="1800" spc="-5" dirty="0">
                <a:solidFill>
                  <a:srgbClr val="003399"/>
                </a:solidFill>
                <a:latin typeface="Times New Roman"/>
                <a:cs typeface="Times New Roman"/>
              </a:rPr>
              <a:t>boilers. Foaming is  </a:t>
            </a:r>
            <a:r>
              <a:rPr sz="1800" dirty="0">
                <a:solidFill>
                  <a:srgbClr val="003399"/>
                </a:solidFill>
                <a:latin typeface="Times New Roman"/>
                <a:cs typeface="Times New Roman"/>
              </a:rPr>
              <a:t>due to the </a:t>
            </a:r>
            <a:r>
              <a:rPr sz="1800" spc="-5" dirty="0">
                <a:solidFill>
                  <a:srgbClr val="003399"/>
                </a:solidFill>
                <a:latin typeface="Times New Roman"/>
                <a:cs typeface="Times New Roman"/>
              </a:rPr>
              <a:t>presence </a:t>
            </a:r>
            <a:r>
              <a:rPr sz="1800" dirty="0">
                <a:solidFill>
                  <a:srgbClr val="003399"/>
                </a:solidFill>
                <a:latin typeface="Times New Roman"/>
                <a:cs typeface="Times New Roman"/>
              </a:rPr>
              <a:t>of </a:t>
            </a:r>
            <a:r>
              <a:rPr sz="1800" spc="-5" dirty="0">
                <a:solidFill>
                  <a:srgbClr val="003399"/>
                </a:solidFill>
                <a:latin typeface="Times New Roman"/>
                <a:cs typeface="Times New Roman"/>
              </a:rPr>
              <a:t>substance like  </a:t>
            </a:r>
            <a:r>
              <a:rPr sz="1800" dirty="0">
                <a:solidFill>
                  <a:srgbClr val="003399"/>
                </a:solidFill>
                <a:latin typeface="Times New Roman"/>
                <a:cs typeface="Times New Roman"/>
              </a:rPr>
              <a:t>oil in boiling</a:t>
            </a:r>
            <a:r>
              <a:rPr sz="1800" spc="-40" dirty="0">
                <a:solidFill>
                  <a:srgbClr val="003399"/>
                </a:solidFill>
                <a:latin typeface="Times New Roman"/>
                <a:cs typeface="Times New Roman"/>
              </a:rPr>
              <a:t> </a:t>
            </a:r>
            <a:r>
              <a:rPr sz="1800" spc="-15" dirty="0">
                <a:solidFill>
                  <a:srgbClr val="003399"/>
                </a:solidFill>
                <a:latin typeface="Times New Roman"/>
                <a:cs typeface="Times New Roman"/>
              </a:rPr>
              <a:t>water.</a:t>
            </a:r>
            <a:endParaRPr sz="1800">
              <a:latin typeface="Times New Roman"/>
              <a:cs typeface="Times New Roman"/>
            </a:endParaRPr>
          </a:p>
        </p:txBody>
      </p:sp>
      <p:sp>
        <p:nvSpPr>
          <p:cNvPr id="12" name="object 12"/>
          <p:cNvSpPr txBox="1"/>
          <p:nvPr/>
        </p:nvSpPr>
        <p:spPr>
          <a:xfrm>
            <a:off x="4860035" y="2895600"/>
            <a:ext cx="3903345" cy="2708275"/>
          </a:xfrm>
          <a:prstGeom prst="rect">
            <a:avLst/>
          </a:prstGeom>
          <a:solidFill>
            <a:srgbClr val="FFFF66"/>
          </a:solidFill>
        </p:spPr>
        <p:txBody>
          <a:bodyPr vert="horz" wrap="square" lIns="0" tIns="37465" rIns="0" bIns="0" rtlCol="0">
            <a:spAutoFit/>
          </a:bodyPr>
          <a:lstStyle/>
          <a:p>
            <a:pPr marL="91440">
              <a:lnSpc>
                <a:spcPct val="100000"/>
              </a:lnSpc>
              <a:spcBef>
                <a:spcPts val="295"/>
              </a:spcBef>
            </a:pPr>
            <a:r>
              <a:rPr sz="2000" spc="-5" dirty="0">
                <a:latin typeface="Times New Roman"/>
                <a:cs typeface="Times New Roman"/>
              </a:rPr>
              <a:t>Priming</a:t>
            </a:r>
            <a:endParaRPr sz="2000">
              <a:latin typeface="Times New Roman"/>
              <a:cs typeface="Times New Roman"/>
            </a:endParaRPr>
          </a:p>
          <a:p>
            <a:pPr marL="91440" marR="82550" algn="just">
              <a:lnSpc>
                <a:spcPct val="100000"/>
              </a:lnSpc>
              <a:spcBef>
                <a:spcPts val="1205"/>
              </a:spcBef>
            </a:pPr>
            <a:r>
              <a:rPr sz="2000" dirty="0">
                <a:solidFill>
                  <a:srgbClr val="003399"/>
                </a:solidFill>
                <a:latin typeface="Times New Roman"/>
                <a:cs typeface="Times New Roman"/>
              </a:rPr>
              <a:t>It </a:t>
            </a:r>
            <a:r>
              <a:rPr sz="2000" spc="-5" dirty="0">
                <a:solidFill>
                  <a:srgbClr val="003399"/>
                </a:solidFill>
                <a:latin typeface="Times New Roman"/>
                <a:cs typeface="Times New Roman"/>
              </a:rPr>
              <a:t>is the process in which some  particles in water are carried along  </a:t>
            </a:r>
            <a:r>
              <a:rPr sz="2000" dirty="0">
                <a:solidFill>
                  <a:srgbClr val="003399"/>
                </a:solidFill>
                <a:latin typeface="Times New Roman"/>
                <a:cs typeface="Times New Roman"/>
              </a:rPr>
              <a:t>with </a:t>
            </a:r>
            <a:r>
              <a:rPr sz="2000" spc="-5" dirty="0">
                <a:solidFill>
                  <a:srgbClr val="003399"/>
                </a:solidFill>
                <a:latin typeface="Times New Roman"/>
                <a:cs typeface="Times New Roman"/>
              </a:rPr>
              <a:t>the </a:t>
            </a:r>
            <a:r>
              <a:rPr sz="2000" spc="-10" dirty="0">
                <a:solidFill>
                  <a:srgbClr val="003399"/>
                </a:solidFill>
                <a:latin typeface="Times New Roman"/>
                <a:cs typeface="Times New Roman"/>
              </a:rPr>
              <a:t>steam. </a:t>
            </a:r>
            <a:r>
              <a:rPr sz="2000" dirty="0">
                <a:solidFill>
                  <a:srgbClr val="003399"/>
                </a:solidFill>
                <a:latin typeface="Times New Roman"/>
                <a:cs typeface="Times New Roman"/>
              </a:rPr>
              <a:t>The </a:t>
            </a:r>
            <a:r>
              <a:rPr sz="2000" spc="-5" dirty="0">
                <a:solidFill>
                  <a:srgbClr val="003399"/>
                </a:solidFill>
                <a:latin typeface="Times New Roman"/>
                <a:cs typeface="Times New Roman"/>
              </a:rPr>
              <a:t>resulting  </a:t>
            </a:r>
            <a:r>
              <a:rPr sz="2000" dirty="0">
                <a:solidFill>
                  <a:srgbClr val="003399"/>
                </a:solidFill>
                <a:latin typeface="Times New Roman"/>
                <a:cs typeface="Times New Roman"/>
              </a:rPr>
              <a:t>process </a:t>
            </a:r>
            <a:r>
              <a:rPr sz="2000" spc="-5" dirty="0">
                <a:solidFill>
                  <a:srgbClr val="003399"/>
                </a:solidFill>
                <a:latin typeface="Times New Roman"/>
                <a:cs typeface="Times New Roman"/>
              </a:rPr>
              <a:t>is called as </a:t>
            </a:r>
            <a:r>
              <a:rPr sz="2000" dirty="0">
                <a:solidFill>
                  <a:srgbClr val="003399"/>
                </a:solidFill>
                <a:latin typeface="Times New Roman"/>
                <a:cs typeface="Times New Roman"/>
              </a:rPr>
              <a:t>wet </a:t>
            </a:r>
            <a:r>
              <a:rPr sz="2000" spc="-5" dirty="0">
                <a:solidFill>
                  <a:srgbClr val="003399"/>
                </a:solidFill>
                <a:latin typeface="Times New Roman"/>
                <a:cs typeface="Times New Roman"/>
              </a:rPr>
              <a:t>steam </a:t>
            </a:r>
            <a:r>
              <a:rPr sz="2000" spc="5" dirty="0">
                <a:solidFill>
                  <a:srgbClr val="003399"/>
                </a:solidFill>
                <a:latin typeface="Times New Roman"/>
                <a:cs typeface="Times New Roman"/>
              </a:rPr>
              <a:t>or  </a:t>
            </a:r>
            <a:r>
              <a:rPr sz="2000" spc="-5" dirty="0">
                <a:solidFill>
                  <a:srgbClr val="003399"/>
                </a:solidFill>
                <a:latin typeface="Times New Roman"/>
                <a:cs typeface="Times New Roman"/>
              </a:rPr>
              <a:t>carry </a:t>
            </a:r>
            <a:r>
              <a:rPr sz="2000" spc="-25" dirty="0">
                <a:solidFill>
                  <a:srgbClr val="003399"/>
                </a:solidFill>
                <a:latin typeface="Times New Roman"/>
                <a:cs typeface="Times New Roman"/>
              </a:rPr>
              <a:t>over. </a:t>
            </a:r>
            <a:r>
              <a:rPr sz="2000" dirty="0">
                <a:solidFill>
                  <a:srgbClr val="003399"/>
                </a:solidFill>
                <a:latin typeface="Times New Roman"/>
                <a:cs typeface="Times New Roman"/>
              </a:rPr>
              <a:t>The </a:t>
            </a:r>
            <a:r>
              <a:rPr sz="2000" spc="-5" dirty="0">
                <a:solidFill>
                  <a:srgbClr val="003399"/>
                </a:solidFill>
                <a:latin typeface="Times New Roman"/>
                <a:cs typeface="Times New Roman"/>
              </a:rPr>
              <a:t>process of formation  </a:t>
            </a:r>
            <a:r>
              <a:rPr sz="2000" dirty="0">
                <a:solidFill>
                  <a:srgbClr val="003399"/>
                </a:solidFill>
                <a:latin typeface="Times New Roman"/>
                <a:cs typeface="Times New Roman"/>
              </a:rPr>
              <a:t>of wet </a:t>
            </a:r>
            <a:r>
              <a:rPr sz="2000" spc="-5" dirty="0">
                <a:solidFill>
                  <a:srgbClr val="003399"/>
                </a:solidFill>
                <a:latin typeface="Times New Roman"/>
                <a:cs typeface="Times New Roman"/>
              </a:rPr>
              <a:t>steam in boilers </a:t>
            </a:r>
            <a:r>
              <a:rPr sz="2000" spc="-10" dirty="0">
                <a:solidFill>
                  <a:srgbClr val="003399"/>
                </a:solidFill>
                <a:latin typeface="Times New Roman"/>
                <a:cs typeface="Times New Roman"/>
              </a:rPr>
              <a:t>is </a:t>
            </a:r>
            <a:r>
              <a:rPr sz="2000" spc="-5" dirty="0">
                <a:solidFill>
                  <a:srgbClr val="003399"/>
                </a:solidFill>
                <a:latin typeface="Times New Roman"/>
                <a:cs typeface="Times New Roman"/>
              </a:rPr>
              <a:t>called </a:t>
            </a:r>
            <a:r>
              <a:rPr sz="2000" spc="-15" dirty="0">
                <a:solidFill>
                  <a:srgbClr val="003399"/>
                </a:solidFill>
                <a:latin typeface="Times New Roman"/>
                <a:cs typeface="Times New Roman"/>
              </a:rPr>
              <a:t>as  </a:t>
            </a:r>
            <a:r>
              <a:rPr sz="2000" spc="-5" dirty="0">
                <a:solidFill>
                  <a:srgbClr val="003399"/>
                </a:solidFill>
                <a:latin typeface="Times New Roman"/>
                <a:cs typeface="Times New Roman"/>
              </a:rPr>
              <a:t>priming.</a:t>
            </a:r>
            <a:endParaRPr sz="2000">
              <a:latin typeface="Times New Roman"/>
              <a:cs typeface="Times New Roman"/>
            </a:endParaRPr>
          </a:p>
        </p:txBody>
      </p:sp>
      <p:sp>
        <p:nvSpPr>
          <p:cNvPr id="13" name="object 13"/>
          <p:cNvSpPr txBox="1"/>
          <p:nvPr/>
        </p:nvSpPr>
        <p:spPr>
          <a:xfrm>
            <a:off x="4804028" y="5970219"/>
            <a:ext cx="1397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7</a:t>
            </a:r>
            <a:endParaRPr sz="1800">
              <a:latin typeface="Times New Roman"/>
              <a:cs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091539"/>
            <a:ext cx="7985759" cy="4827270"/>
          </a:xfrm>
          <a:prstGeom prst="rect">
            <a:avLst/>
          </a:prstGeom>
        </p:spPr>
        <p:txBody>
          <a:bodyPr vert="horz" wrap="square" lIns="0" tIns="88900" rIns="0" bIns="0" rtlCol="0">
            <a:spAutoFit/>
          </a:bodyPr>
          <a:lstStyle/>
          <a:p>
            <a:pPr marL="287020" indent="-274955">
              <a:lnSpc>
                <a:spcPct val="100000"/>
              </a:lnSpc>
              <a:spcBef>
                <a:spcPts val="700"/>
              </a:spcBef>
              <a:buClr>
                <a:srgbClr val="0E6EC5"/>
              </a:buClr>
              <a:buSzPct val="70000"/>
              <a:buFont typeface="Wingdings"/>
              <a:buChar char=""/>
              <a:tabLst>
                <a:tab pos="287655" algn="l"/>
              </a:tabLst>
            </a:pPr>
            <a:r>
              <a:rPr sz="2000" b="1" dirty="0">
                <a:latin typeface="Times New Roman"/>
                <a:cs typeface="Times New Roman"/>
              </a:rPr>
              <a:t>Causes of</a:t>
            </a:r>
            <a:r>
              <a:rPr sz="2000" b="1" spc="-40" dirty="0">
                <a:latin typeface="Times New Roman"/>
                <a:cs typeface="Times New Roman"/>
              </a:rPr>
              <a:t> </a:t>
            </a:r>
            <a:r>
              <a:rPr sz="2000" b="1" spc="-5" dirty="0">
                <a:latin typeface="Times New Roman"/>
                <a:cs typeface="Times New Roman"/>
              </a:rPr>
              <a:t>Priming</a:t>
            </a:r>
            <a:endParaRPr sz="2000">
              <a:latin typeface="Times New Roman"/>
              <a:cs typeface="Times New Roman"/>
            </a:endParaRPr>
          </a:p>
          <a:p>
            <a:pPr marL="2870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(1) the presence of </a:t>
            </a:r>
            <a:r>
              <a:rPr sz="2000" spc="-10" dirty="0">
                <a:latin typeface="Times New Roman"/>
                <a:cs typeface="Times New Roman"/>
              </a:rPr>
              <a:t>large </a:t>
            </a:r>
            <a:r>
              <a:rPr sz="2000" spc="-5" dirty="0">
                <a:latin typeface="Times New Roman"/>
                <a:cs typeface="Times New Roman"/>
              </a:rPr>
              <a:t>amount </a:t>
            </a:r>
            <a:r>
              <a:rPr sz="2000" dirty="0">
                <a:latin typeface="Times New Roman"/>
                <a:cs typeface="Times New Roman"/>
              </a:rPr>
              <a:t>of dissolved</a:t>
            </a:r>
            <a:r>
              <a:rPr sz="2000" spc="-155" dirty="0">
                <a:latin typeface="Times New Roman"/>
                <a:cs typeface="Times New Roman"/>
              </a:rPr>
              <a:t> </a:t>
            </a:r>
            <a:r>
              <a:rPr sz="2000" spc="-5" dirty="0">
                <a:latin typeface="Times New Roman"/>
                <a:cs typeface="Times New Roman"/>
              </a:rPr>
              <a:t>solids</a:t>
            </a:r>
            <a:endParaRPr sz="2000">
              <a:latin typeface="Times New Roman"/>
              <a:cs typeface="Times New Roman"/>
            </a:endParaRPr>
          </a:p>
          <a:p>
            <a:pPr marL="2870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(2) high </a:t>
            </a:r>
            <a:r>
              <a:rPr sz="2000" spc="-5" dirty="0">
                <a:latin typeface="Times New Roman"/>
                <a:cs typeface="Times New Roman"/>
              </a:rPr>
              <a:t>steam</a:t>
            </a:r>
            <a:r>
              <a:rPr sz="2000" spc="-75" dirty="0">
                <a:latin typeface="Times New Roman"/>
                <a:cs typeface="Times New Roman"/>
              </a:rPr>
              <a:t> </a:t>
            </a:r>
            <a:r>
              <a:rPr sz="2000" spc="-5" dirty="0">
                <a:latin typeface="Times New Roman"/>
                <a:cs typeface="Times New Roman"/>
              </a:rPr>
              <a:t>velocities.</a:t>
            </a:r>
            <a:endParaRPr sz="2000">
              <a:latin typeface="Times New Roman"/>
              <a:cs typeface="Times New Roman"/>
            </a:endParaRPr>
          </a:p>
          <a:p>
            <a:pPr marL="2870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(3) sudden</a:t>
            </a:r>
            <a:r>
              <a:rPr sz="2000" spc="-65" dirty="0">
                <a:latin typeface="Times New Roman"/>
                <a:cs typeface="Times New Roman"/>
              </a:rPr>
              <a:t> </a:t>
            </a:r>
            <a:r>
              <a:rPr sz="2000" dirty="0">
                <a:latin typeface="Times New Roman"/>
                <a:cs typeface="Times New Roman"/>
              </a:rPr>
              <a:t>boiling</a:t>
            </a:r>
            <a:endParaRPr sz="2000">
              <a:latin typeface="Times New Roman"/>
              <a:cs typeface="Times New Roman"/>
            </a:endParaRPr>
          </a:p>
          <a:p>
            <a:pPr marL="2870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(4) improper boiler</a:t>
            </a:r>
            <a:r>
              <a:rPr sz="2000" spc="-85" dirty="0">
                <a:latin typeface="Times New Roman"/>
                <a:cs typeface="Times New Roman"/>
              </a:rPr>
              <a:t> </a:t>
            </a:r>
            <a:r>
              <a:rPr sz="2000" dirty="0">
                <a:latin typeface="Times New Roman"/>
                <a:cs typeface="Times New Roman"/>
              </a:rPr>
              <a:t>design</a:t>
            </a:r>
            <a:endParaRPr sz="2000">
              <a:latin typeface="Times New Roman"/>
              <a:cs typeface="Times New Roman"/>
            </a:endParaRPr>
          </a:p>
          <a:p>
            <a:pPr marL="2870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(5) sudden increase in </a:t>
            </a:r>
            <a:r>
              <a:rPr sz="2000" spc="-5" dirty="0">
                <a:latin typeface="Times New Roman"/>
                <a:cs typeface="Times New Roman"/>
              </a:rPr>
              <a:t>steam-production</a:t>
            </a:r>
            <a:r>
              <a:rPr sz="2000" spc="-145" dirty="0">
                <a:latin typeface="Times New Roman"/>
                <a:cs typeface="Times New Roman"/>
              </a:rPr>
              <a:t> </a:t>
            </a:r>
            <a:r>
              <a:rPr sz="2000" dirty="0">
                <a:latin typeface="Times New Roman"/>
                <a:cs typeface="Times New Roman"/>
              </a:rPr>
              <a:t>rate.</a:t>
            </a:r>
            <a:endParaRPr sz="2000">
              <a:latin typeface="Times New Roman"/>
              <a:cs typeface="Times New Roman"/>
            </a:endParaRPr>
          </a:p>
          <a:p>
            <a:pPr>
              <a:lnSpc>
                <a:spcPct val="100000"/>
              </a:lnSpc>
              <a:spcBef>
                <a:spcPts val="35"/>
              </a:spcBef>
              <a:buClr>
                <a:srgbClr val="0E6EC5"/>
              </a:buClr>
              <a:buFont typeface="Wingdings"/>
              <a:buChar char=""/>
            </a:pPr>
            <a:endParaRPr sz="3100">
              <a:latin typeface="Times New Roman"/>
              <a:cs typeface="Times New Roman"/>
            </a:endParaRPr>
          </a:p>
          <a:p>
            <a:pPr marL="287020" indent="-274955">
              <a:lnSpc>
                <a:spcPct val="100000"/>
              </a:lnSpc>
              <a:spcBef>
                <a:spcPts val="5"/>
              </a:spcBef>
              <a:buClr>
                <a:srgbClr val="0E6EC5"/>
              </a:buClr>
              <a:buSzPct val="70000"/>
              <a:buFont typeface="Wingdings"/>
              <a:buChar char=""/>
              <a:tabLst>
                <a:tab pos="287655" algn="l"/>
              </a:tabLst>
            </a:pPr>
            <a:r>
              <a:rPr sz="2000" b="1" dirty="0">
                <a:latin typeface="Times New Roman"/>
                <a:cs typeface="Times New Roman"/>
              </a:rPr>
              <a:t>Disadvantages of</a:t>
            </a:r>
            <a:r>
              <a:rPr sz="2000" b="1" spc="-55" dirty="0">
                <a:latin typeface="Times New Roman"/>
                <a:cs typeface="Times New Roman"/>
              </a:rPr>
              <a:t> </a:t>
            </a:r>
            <a:r>
              <a:rPr sz="2000" b="1" spc="-5" dirty="0">
                <a:latin typeface="Times New Roman"/>
                <a:cs typeface="Times New Roman"/>
              </a:rPr>
              <a:t>Priming</a:t>
            </a:r>
            <a:endParaRPr sz="2000">
              <a:latin typeface="Times New Roman"/>
              <a:cs typeface="Times New Roman"/>
            </a:endParaRPr>
          </a:p>
          <a:p>
            <a:pPr marL="2870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(1) Dissolved </a:t>
            </a:r>
            <a:r>
              <a:rPr sz="2000" spc="-5" dirty="0">
                <a:latin typeface="Times New Roman"/>
                <a:cs typeface="Times New Roman"/>
              </a:rPr>
              <a:t>salt </a:t>
            </a:r>
            <a:r>
              <a:rPr sz="2000" dirty="0">
                <a:latin typeface="Times New Roman"/>
                <a:cs typeface="Times New Roman"/>
              </a:rPr>
              <a:t>in boiler water are carried </a:t>
            </a:r>
            <a:r>
              <a:rPr sz="2000" spc="5" dirty="0">
                <a:latin typeface="Times New Roman"/>
                <a:cs typeface="Times New Roman"/>
              </a:rPr>
              <a:t>out </a:t>
            </a:r>
            <a:r>
              <a:rPr sz="2000" dirty="0">
                <a:latin typeface="Times New Roman"/>
                <a:cs typeface="Times New Roman"/>
              </a:rPr>
              <a:t>by the wet </a:t>
            </a:r>
            <a:r>
              <a:rPr sz="2000" spc="-5" dirty="0">
                <a:latin typeface="Times New Roman"/>
                <a:cs typeface="Times New Roman"/>
              </a:rPr>
              <a:t>steam </a:t>
            </a:r>
            <a:r>
              <a:rPr sz="2000" dirty="0">
                <a:latin typeface="Times New Roman"/>
                <a:cs typeface="Times New Roman"/>
              </a:rPr>
              <a:t>to</a:t>
            </a:r>
            <a:r>
              <a:rPr sz="2000" spc="-220" dirty="0">
                <a:latin typeface="Times New Roman"/>
                <a:cs typeface="Times New Roman"/>
              </a:rPr>
              <a:t> </a:t>
            </a:r>
            <a:r>
              <a:rPr sz="2000" dirty="0">
                <a:latin typeface="Times New Roman"/>
                <a:cs typeface="Times New Roman"/>
              </a:rPr>
              <a:t>turbine</a:t>
            </a:r>
            <a:endParaRPr sz="2000">
              <a:latin typeface="Times New Roman"/>
              <a:cs typeface="Times New Roman"/>
            </a:endParaRPr>
          </a:p>
          <a:p>
            <a:pPr marL="287020">
              <a:lnSpc>
                <a:spcPct val="100000"/>
              </a:lnSpc>
            </a:pPr>
            <a:r>
              <a:rPr sz="2000" dirty="0">
                <a:latin typeface="Times New Roman"/>
                <a:cs typeface="Times New Roman"/>
              </a:rPr>
              <a:t>blades - which reduces their</a:t>
            </a:r>
            <a:r>
              <a:rPr sz="2000" spc="-125" dirty="0">
                <a:latin typeface="Times New Roman"/>
                <a:cs typeface="Times New Roman"/>
              </a:rPr>
              <a:t> </a:t>
            </a:r>
            <a:r>
              <a:rPr sz="2000" spc="-15" dirty="0">
                <a:latin typeface="Times New Roman"/>
                <a:cs typeface="Times New Roman"/>
              </a:rPr>
              <a:t>efficiency.</a:t>
            </a:r>
            <a:endParaRPr sz="2000">
              <a:latin typeface="Times New Roman"/>
              <a:cs typeface="Times New Roman"/>
            </a:endParaRPr>
          </a:p>
          <a:p>
            <a:pPr marL="287020" marR="508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(2) Dissolved </a:t>
            </a:r>
            <a:r>
              <a:rPr sz="2000" spc="-5" dirty="0">
                <a:latin typeface="Times New Roman"/>
                <a:cs typeface="Times New Roman"/>
              </a:rPr>
              <a:t>salts </a:t>
            </a:r>
            <a:r>
              <a:rPr sz="2000" spc="-10" dirty="0">
                <a:latin typeface="Times New Roman"/>
                <a:cs typeface="Times New Roman"/>
              </a:rPr>
              <a:t>may </a:t>
            </a:r>
            <a:r>
              <a:rPr sz="2000" dirty="0">
                <a:latin typeface="Times New Roman"/>
                <a:cs typeface="Times New Roman"/>
              </a:rPr>
              <a:t>enter the parts of other </a:t>
            </a:r>
            <a:r>
              <a:rPr sz="2000" spc="-5" dirty="0">
                <a:latin typeface="Times New Roman"/>
                <a:cs typeface="Times New Roman"/>
              </a:rPr>
              <a:t>machinery </a:t>
            </a:r>
            <a:r>
              <a:rPr sz="2000" spc="-10" dirty="0">
                <a:latin typeface="Times New Roman"/>
                <a:cs typeface="Times New Roman"/>
              </a:rPr>
              <a:t>may </a:t>
            </a:r>
            <a:r>
              <a:rPr sz="2000" dirty="0">
                <a:latin typeface="Times New Roman"/>
                <a:cs typeface="Times New Roman"/>
              </a:rPr>
              <a:t>decrease</a:t>
            </a:r>
            <a:r>
              <a:rPr sz="2000" spc="-120" dirty="0">
                <a:latin typeface="Times New Roman"/>
                <a:cs typeface="Times New Roman"/>
              </a:rPr>
              <a:t> </a:t>
            </a:r>
            <a:r>
              <a:rPr sz="2000" dirty="0">
                <a:latin typeface="Times New Roman"/>
                <a:cs typeface="Times New Roman"/>
              </a:rPr>
              <a:t>the  </a:t>
            </a:r>
            <a:r>
              <a:rPr sz="2000" spc="-5" dirty="0">
                <a:latin typeface="Times New Roman"/>
                <a:cs typeface="Times New Roman"/>
              </a:rPr>
              <a:t>life </a:t>
            </a:r>
            <a:r>
              <a:rPr sz="2000" dirty="0">
                <a:latin typeface="Times New Roman"/>
                <a:cs typeface="Times New Roman"/>
              </a:rPr>
              <a:t>of the</a:t>
            </a:r>
            <a:r>
              <a:rPr sz="2000" spc="-45" dirty="0">
                <a:latin typeface="Times New Roman"/>
                <a:cs typeface="Times New Roman"/>
              </a:rPr>
              <a:t> </a:t>
            </a:r>
            <a:r>
              <a:rPr sz="2000" spc="-15" dirty="0">
                <a:latin typeface="Times New Roman"/>
                <a:cs typeface="Times New Roman"/>
              </a:rPr>
              <a:t>machinery.</a:t>
            </a:r>
            <a:endParaRPr sz="2000">
              <a:latin typeface="Times New Roman"/>
              <a:cs typeface="Times New Roman"/>
            </a:endParaRPr>
          </a:p>
          <a:p>
            <a:pPr marL="2870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(3) Actual height of the water </a:t>
            </a:r>
            <a:r>
              <a:rPr sz="2000" spc="-5" dirty="0">
                <a:latin typeface="Times New Roman"/>
                <a:cs typeface="Times New Roman"/>
              </a:rPr>
              <a:t>column </a:t>
            </a:r>
            <a:r>
              <a:rPr sz="2000" dirty="0">
                <a:latin typeface="Times New Roman"/>
                <a:cs typeface="Times New Roman"/>
              </a:rPr>
              <a:t>cannot be judge </a:t>
            </a:r>
            <a:r>
              <a:rPr sz="2000" spc="-15" dirty="0">
                <a:latin typeface="Times New Roman"/>
                <a:cs typeface="Times New Roman"/>
              </a:rPr>
              <a:t>properly,</a:t>
            </a:r>
            <a:r>
              <a:rPr sz="2000" spc="-350" dirty="0">
                <a:latin typeface="Times New Roman"/>
                <a:cs typeface="Times New Roman"/>
              </a:rPr>
              <a:t> </a:t>
            </a:r>
            <a:r>
              <a:rPr sz="2000" dirty="0">
                <a:latin typeface="Times New Roman"/>
                <a:cs typeface="Times New Roman"/>
              </a:rPr>
              <a:t>Thereby</a:t>
            </a:r>
            <a:endParaRPr sz="2000">
              <a:latin typeface="Times New Roman"/>
              <a:cs typeface="Times New Roman"/>
            </a:endParaRPr>
          </a:p>
        </p:txBody>
      </p:sp>
      <p:sp>
        <p:nvSpPr>
          <p:cNvPr id="3" name="object 3"/>
          <p:cNvSpPr txBox="1"/>
          <p:nvPr/>
        </p:nvSpPr>
        <p:spPr>
          <a:xfrm>
            <a:off x="810564" y="5892495"/>
            <a:ext cx="6604634" cy="3308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making </a:t>
            </a:r>
            <a:r>
              <a:rPr sz="2000" dirty="0">
                <a:latin typeface="Times New Roman"/>
                <a:cs typeface="Times New Roman"/>
              </a:rPr>
              <a:t>the </a:t>
            </a:r>
            <a:r>
              <a:rPr sz="2000" spc="-5" dirty="0">
                <a:latin typeface="Times New Roman"/>
                <a:cs typeface="Times New Roman"/>
              </a:rPr>
              <a:t>maintenance </a:t>
            </a:r>
            <a:r>
              <a:rPr sz="2000" dirty="0">
                <a:latin typeface="Times New Roman"/>
                <a:cs typeface="Times New Roman"/>
              </a:rPr>
              <a:t>of the boiler pressure </a:t>
            </a:r>
            <a:r>
              <a:rPr sz="2000" spc="-5" dirty="0">
                <a:latin typeface="Times New Roman"/>
                <a:cs typeface="Times New Roman"/>
              </a:rPr>
              <a:t>becomes</a:t>
            </a:r>
            <a:r>
              <a:rPr sz="2000" spc="-95" dirty="0">
                <a:latin typeface="Times New Roman"/>
                <a:cs typeface="Times New Roman"/>
              </a:rPr>
              <a:t> </a:t>
            </a:r>
            <a:r>
              <a:rPr sz="2000" spc="-5" dirty="0">
                <a:latin typeface="Times New Roman"/>
                <a:cs typeface="Times New Roman"/>
              </a:rPr>
              <a:t>difficult.</a:t>
            </a:r>
            <a:endParaRPr sz="2000">
              <a:latin typeface="Times New Roman"/>
              <a:cs typeface="Times New Roman"/>
            </a:endParaRPr>
          </a:p>
        </p:txBody>
      </p:sp>
      <p:sp>
        <p:nvSpPr>
          <p:cNvPr id="4" name="object 4"/>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30</a:t>
            </a:r>
            <a:endParaRPr sz="1400">
              <a:latin typeface="Times New Roman"/>
              <a:cs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95755"/>
            <a:ext cx="6644640" cy="2389505"/>
          </a:xfrm>
          <a:prstGeom prst="rect">
            <a:avLst/>
          </a:prstGeom>
        </p:spPr>
        <p:txBody>
          <a:bodyPr vert="horz" wrap="square" lIns="0" tIns="13335" rIns="0" bIns="0" rtlCol="0">
            <a:spAutoFit/>
          </a:bodyPr>
          <a:lstStyle/>
          <a:p>
            <a:pPr marL="287020" indent="-274320">
              <a:lnSpc>
                <a:spcPts val="3110"/>
              </a:lnSpc>
              <a:spcBef>
                <a:spcPts val="105"/>
              </a:spcBef>
              <a:buClr>
                <a:srgbClr val="0E6EC5"/>
              </a:buClr>
              <a:buSzPct val="69230"/>
              <a:buFont typeface="Wingdings"/>
              <a:buChar char=""/>
              <a:tabLst>
                <a:tab pos="287020" algn="l"/>
              </a:tabLst>
            </a:pPr>
            <a:r>
              <a:rPr sz="2600" b="1" spc="-5" dirty="0">
                <a:latin typeface="Times New Roman"/>
                <a:cs typeface="Times New Roman"/>
              </a:rPr>
              <a:t>Prevention </a:t>
            </a:r>
            <a:r>
              <a:rPr sz="2600" b="1" dirty="0">
                <a:latin typeface="Times New Roman"/>
                <a:cs typeface="Times New Roman"/>
              </a:rPr>
              <a:t>of</a:t>
            </a:r>
            <a:r>
              <a:rPr sz="2600" b="1" spc="-35" dirty="0">
                <a:latin typeface="Times New Roman"/>
                <a:cs typeface="Times New Roman"/>
              </a:rPr>
              <a:t> </a:t>
            </a:r>
            <a:r>
              <a:rPr sz="2600" b="1" dirty="0">
                <a:latin typeface="Times New Roman"/>
                <a:cs typeface="Times New Roman"/>
              </a:rPr>
              <a:t>Priming</a:t>
            </a:r>
            <a:endParaRPr sz="2600">
              <a:latin typeface="Times New Roman"/>
              <a:cs typeface="Times New Roman"/>
            </a:endParaRPr>
          </a:p>
          <a:p>
            <a:pPr marL="287020" indent="-274320">
              <a:lnSpc>
                <a:spcPts val="3095"/>
              </a:lnSpc>
              <a:buClr>
                <a:srgbClr val="0E6EC5"/>
              </a:buClr>
              <a:buSzPct val="69230"/>
              <a:buFont typeface="Wingdings"/>
              <a:buChar char=""/>
              <a:tabLst>
                <a:tab pos="287020" algn="l"/>
              </a:tabLst>
            </a:pPr>
            <a:r>
              <a:rPr sz="2600" dirty="0">
                <a:latin typeface="Times New Roman"/>
                <a:cs typeface="Times New Roman"/>
              </a:rPr>
              <a:t>(1) By improving boiler</a:t>
            </a:r>
            <a:r>
              <a:rPr sz="2600" spc="-55" dirty="0">
                <a:latin typeface="Times New Roman"/>
                <a:cs typeface="Times New Roman"/>
              </a:rPr>
              <a:t> </a:t>
            </a:r>
            <a:r>
              <a:rPr sz="2600" dirty="0">
                <a:latin typeface="Times New Roman"/>
                <a:cs typeface="Times New Roman"/>
              </a:rPr>
              <a:t>design.</a:t>
            </a:r>
            <a:endParaRPr sz="2600">
              <a:latin typeface="Times New Roman"/>
              <a:cs typeface="Times New Roman"/>
            </a:endParaRPr>
          </a:p>
          <a:p>
            <a:pPr marL="287020" indent="-274320">
              <a:lnSpc>
                <a:spcPts val="3095"/>
              </a:lnSpc>
              <a:buClr>
                <a:srgbClr val="0E6EC5"/>
              </a:buClr>
              <a:buSzPct val="69230"/>
              <a:buFont typeface="Wingdings"/>
              <a:buChar char=""/>
              <a:tabLst>
                <a:tab pos="287020" algn="l"/>
              </a:tabLst>
            </a:pPr>
            <a:r>
              <a:rPr sz="2600" dirty="0">
                <a:latin typeface="Times New Roman"/>
                <a:cs typeface="Times New Roman"/>
              </a:rPr>
              <a:t>(2) By </a:t>
            </a:r>
            <a:r>
              <a:rPr sz="2600" spc="-5" dirty="0">
                <a:latin typeface="Times New Roman"/>
                <a:cs typeface="Times New Roman"/>
              </a:rPr>
              <a:t>fitting mechanical steam</a:t>
            </a:r>
            <a:r>
              <a:rPr sz="2600" spc="10" dirty="0">
                <a:latin typeface="Times New Roman"/>
                <a:cs typeface="Times New Roman"/>
              </a:rPr>
              <a:t> </a:t>
            </a:r>
            <a:r>
              <a:rPr sz="2600" spc="-5" dirty="0">
                <a:latin typeface="Times New Roman"/>
                <a:cs typeface="Times New Roman"/>
              </a:rPr>
              <a:t>purifiers.</a:t>
            </a:r>
            <a:endParaRPr sz="2600">
              <a:latin typeface="Times New Roman"/>
              <a:cs typeface="Times New Roman"/>
            </a:endParaRPr>
          </a:p>
          <a:p>
            <a:pPr marL="287020" indent="-274320">
              <a:lnSpc>
                <a:spcPts val="3095"/>
              </a:lnSpc>
              <a:buClr>
                <a:srgbClr val="0E6EC5"/>
              </a:buClr>
              <a:buSzPct val="69230"/>
              <a:buFont typeface="Wingdings"/>
              <a:buChar char=""/>
              <a:tabLst>
                <a:tab pos="287020" algn="l"/>
              </a:tabLst>
            </a:pPr>
            <a:r>
              <a:rPr sz="2600" dirty="0">
                <a:latin typeface="Times New Roman"/>
                <a:cs typeface="Times New Roman"/>
              </a:rPr>
              <a:t>(3) By </a:t>
            </a:r>
            <a:r>
              <a:rPr sz="2600" spc="-5" dirty="0">
                <a:latin typeface="Times New Roman"/>
                <a:cs typeface="Times New Roman"/>
              </a:rPr>
              <a:t>maintaining </a:t>
            </a:r>
            <a:r>
              <a:rPr sz="2600" dirty="0">
                <a:latin typeface="Times New Roman"/>
                <a:cs typeface="Times New Roman"/>
              </a:rPr>
              <a:t>low water </a:t>
            </a:r>
            <a:r>
              <a:rPr sz="2600" spc="-5" dirty="0">
                <a:latin typeface="Times New Roman"/>
                <a:cs typeface="Times New Roman"/>
              </a:rPr>
              <a:t>level </a:t>
            </a:r>
            <a:r>
              <a:rPr sz="2600" dirty="0">
                <a:latin typeface="Times New Roman"/>
                <a:cs typeface="Times New Roman"/>
              </a:rPr>
              <a:t>in</a:t>
            </a:r>
            <a:r>
              <a:rPr sz="2600" spc="-30" dirty="0">
                <a:latin typeface="Times New Roman"/>
                <a:cs typeface="Times New Roman"/>
              </a:rPr>
              <a:t> </a:t>
            </a:r>
            <a:r>
              <a:rPr sz="2600" dirty="0">
                <a:latin typeface="Times New Roman"/>
                <a:cs typeface="Times New Roman"/>
              </a:rPr>
              <a:t>boilers</a:t>
            </a:r>
            <a:endParaRPr sz="2600">
              <a:latin typeface="Times New Roman"/>
              <a:cs typeface="Times New Roman"/>
            </a:endParaRPr>
          </a:p>
          <a:p>
            <a:pPr marL="287020" indent="-274320">
              <a:lnSpc>
                <a:spcPts val="3100"/>
              </a:lnSpc>
              <a:buClr>
                <a:srgbClr val="0E6EC5"/>
              </a:buClr>
              <a:buSzPct val="69230"/>
              <a:buFont typeface="Wingdings"/>
              <a:buChar char=""/>
              <a:tabLst>
                <a:tab pos="287020" algn="l"/>
              </a:tabLst>
            </a:pPr>
            <a:r>
              <a:rPr sz="2600" dirty="0">
                <a:latin typeface="Times New Roman"/>
                <a:cs typeface="Times New Roman"/>
              </a:rPr>
              <a:t>(4) By using soft</a:t>
            </a:r>
            <a:r>
              <a:rPr sz="2600" spc="-40" dirty="0">
                <a:latin typeface="Times New Roman"/>
                <a:cs typeface="Times New Roman"/>
              </a:rPr>
              <a:t> </a:t>
            </a:r>
            <a:r>
              <a:rPr sz="2600" spc="-25" dirty="0">
                <a:latin typeface="Times New Roman"/>
                <a:cs typeface="Times New Roman"/>
              </a:rPr>
              <a:t>water.</a:t>
            </a:r>
            <a:endParaRPr sz="2600">
              <a:latin typeface="Times New Roman"/>
              <a:cs typeface="Times New Roman"/>
            </a:endParaRPr>
          </a:p>
          <a:p>
            <a:pPr marL="287020" indent="-274320">
              <a:lnSpc>
                <a:spcPts val="3110"/>
              </a:lnSpc>
              <a:buClr>
                <a:srgbClr val="0E6EC5"/>
              </a:buClr>
              <a:buSzPct val="69230"/>
              <a:buFont typeface="Wingdings"/>
              <a:buChar char=""/>
              <a:tabLst>
                <a:tab pos="287020" algn="l"/>
              </a:tabLst>
            </a:pPr>
            <a:r>
              <a:rPr sz="2600" dirty="0">
                <a:latin typeface="Times New Roman"/>
                <a:cs typeface="Times New Roman"/>
              </a:rPr>
              <a:t>(5) By </a:t>
            </a:r>
            <a:r>
              <a:rPr sz="2600" spc="-5" dirty="0">
                <a:latin typeface="Times New Roman"/>
                <a:cs typeface="Times New Roman"/>
              </a:rPr>
              <a:t>decreasing </a:t>
            </a:r>
            <a:r>
              <a:rPr sz="2600" dirty="0">
                <a:latin typeface="Times New Roman"/>
                <a:cs typeface="Times New Roman"/>
              </a:rPr>
              <a:t>the amount of dissolved</a:t>
            </a:r>
            <a:r>
              <a:rPr sz="2600" spc="-65" dirty="0">
                <a:latin typeface="Times New Roman"/>
                <a:cs typeface="Times New Roman"/>
              </a:rPr>
              <a:t> </a:t>
            </a:r>
            <a:r>
              <a:rPr sz="2600" spc="-5" dirty="0">
                <a:latin typeface="Times New Roman"/>
                <a:cs typeface="Times New Roman"/>
              </a:rPr>
              <a:t>salts.</a:t>
            </a:r>
            <a:endParaRPr sz="2600">
              <a:latin typeface="Times New Roman"/>
              <a:cs typeface="Times New Roman"/>
            </a:endParaRPr>
          </a:p>
        </p:txBody>
      </p:sp>
      <p:sp>
        <p:nvSpPr>
          <p:cNvPr id="3" name="object 3"/>
          <p:cNvSpPr txBox="1"/>
          <p:nvPr/>
        </p:nvSpPr>
        <p:spPr>
          <a:xfrm>
            <a:off x="383540" y="4170705"/>
            <a:ext cx="7466965" cy="2181225"/>
          </a:xfrm>
          <a:prstGeom prst="rect">
            <a:avLst/>
          </a:prstGeom>
        </p:spPr>
        <p:txBody>
          <a:bodyPr vert="horz" wrap="square" lIns="0" tIns="31114" rIns="0" bIns="0" rtlCol="0">
            <a:spAutoFit/>
          </a:bodyPr>
          <a:lstStyle/>
          <a:p>
            <a:pPr marL="287020" indent="-274320">
              <a:lnSpc>
                <a:spcPct val="100000"/>
              </a:lnSpc>
              <a:spcBef>
                <a:spcPts val="244"/>
              </a:spcBef>
              <a:buClr>
                <a:srgbClr val="0E6EC5"/>
              </a:buClr>
              <a:buSzPct val="68421"/>
              <a:buFont typeface="Wingdings"/>
              <a:buChar char=""/>
              <a:tabLst>
                <a:tab pos="287020" algn="l"/>
              </a:tabLst>
            </a:pPr>
            <a:r>
              <a:rPr sz="1900" b="1" spc="-5" dirty="0">
                <a:latin typeface="Times New Roman"/>
                <a:cs typeface="Times New Roman"/>
              </a:rPr>
              <a:t>( B) FOAMING</a:t>
            </a:r>
            <a:r>
              <a:rPr sz="1900" b="1" spc="25" dirty="0">
                <a:latin typeface="Times New Roman"/>
                <a:cs typeface="Times New Roman"/>
              </a:rPr>
              <a:t> </a:t>
            </a:r>
            <a:r>
              <a:rPr sz="1900" b="1" spc="-5" dirty="0">
                <a:latin typeface="Times New Roman"/>
                <a:cs typeface="Times New Roman"/>
              </a:rPr>
              <a:t>:</a:t>
            </a:r>
            <a:endParaRPr sz="1900">
              <a:latin typeface="Times New Roman"/>
              <a:cs typeface="Times New Roman"/>
            </a:endParaRPr>
          </a:p>
          <a:p>
            <a:pPr marL="287020" indent="-274320">
              <a:lnSpc>
                <a:spcPct val="100000"/>
              </a:lnSpc>
              <a:spcBef>
                <a:spcPts val="140"/>
              </a:spcBef>
              <a:buClr>
                <a:srgbClr val="0E6EC5"/>
              </a:buClr>
              <a:buSzPct val="68421"/>
              <a:buFont typeface="Wingdings"/>
              <a:buChar char=""/>
              <a:tabLst>
                <a:tab pos="287020" algn="l"/>
              </a:tabLst>
            </a:pPr>
            <a:r>
              <a:rPr sz="1900" spc="-5" dirty="0">
                <a:latin typeface="Times New Roman"/>
                <a:cs typeface="Times New Roman"/>
              </a:rPr>
              <a:t>It is the production of foam or bubbles in boiler which do not break</a:t>
            </a:r>
            <a:r>
              <a:rPr sz="1900" spc="165" dirty="0">
                <a:latin typeface="Times New Roman"/>
                <a:cs typeface="Times New Roman"/>
              </a:rPr>
              <a:t> </a:t>
            </a:r>
            <a:r>
              <a:rPr sz="1900" spc="-25" dirty="0">
                <a:latin typeface="Times New Roman"/>
                <a:cs typeface="Times New Roman"/>
              </a:rPr>
              <a:t>easily.</a:t>
            </a:r>
            <a:endParaRPr sz="1900">
              <a:latin typeface="Times New Roman"/>
              <a:cs typeface="Times New Roman"/>
            </a:endParaRPr>
          </a:p>
          <a:p>
            <a:pPr marL="287020" indent="-274320">
              <a:lnSpc>
                <a:spcPct val="100000"/>
              </a:lnSpc>
              <a:spcBef>
                <a:spcPts val="145"/>
              </a:spcBef>
              <a:buClr>
                <a:srgbClr val="0E6EC5"/>
              </a:buClr>
              <a:buSzPct val="68421"/>
              <a:buFont typeface="Wingdings"/>
              <a:buChar char=""/>
              <a:tabLst>
                <a:tab pos="287020" algn="l"/>
              </a:tabLst>
            </a:pPr>
            <a:r>
              <a:rPr sz="1900" b="1" spc="-5" dirty="0">
                <a:latin typeface="Times New Roman"/>
                <a:cs typeface="Times New Roman"/>
              </a:rPr>
              <a:t>Causes of Foaming</a:t>
            </a:r>
            <a:r>
              <a:rPr sz="1900" b="1" spc="30" dirty="0">
                <a:latin typeface="Times New Roman"/>
                <a:cs typeface="Times New Roman"/>
              </a:rPr>
              <a:t> </a:t>
            </a:r>
            <a:r>
              <a:rPr sz="1900" b="1" spc="-5" dirty="0">
                <a:latin typeface="Times New Roman"/>
                <a:cs typeface="Times New Roman"/>
              </a:rPr>
              <a:t>:</a:t>
            </a:r>
            <a:endParaRPr sz="1900">
              <a:latin typeface="Times New Roman"/>
              <a:cs typeface="Times New Roman"/>
            </a:endParaRPr>
          </a:p>
          <a:p>
            <a:pPr marL="287020" indent="-274320">
              <a:lnSpc>
                <a:spcPct val="100000"/>
              </a:lnSpc>
              <a:spcBef>
                <a:spcPts val="145"/>
              </a:spcBef>
              <a:buClr>
                <a:srgbClr val="0E6EC5"/>
              </a:buClr>
              <a:buSzPct val="68421"/>
              <a:buFont typeface="Wingdings"/>
              <a:buChar char=""/>
              <a:tabLst>
                <a:tab pos="287020" algn="l"/>
              </a:tabLst>
            </a:pPr>
            <a:r>
              <a:rPr sz="1900" spc="-5" dirty="0">
                <a:latin typeface="Times New Roman"/>
                <a:cs typeface="Times New Roman"/>
              </a:rPr>
              <a:t>It is due to the presence of oily substances in</a:t>
            </a:r>
            <a:r>
              <a:rPr sz="1900" dirty="0">
                <a:latin typeface="Times New Roman"/>
                <a:cs typeface="Times New Roman"/>
              </a:rPr>
              <a:t> </a:t>
            </a:r>
            <a:r>
              <a:rPr sz="1900" spc="-20" dirty="0">
                <a:latin typeface="Times New Roman"/>
                <a:cs typeface="Times New Roman"/>
              </a:rPr>
              <a:t>water.</a:t>
            </a:r>
            <a:endParaRPr sz="1900">
              <a:latin typeface="Times New Roman"/>
              <a:cs typeface="Times New Roman"/>
            </a:endParaRPr>
          </a:p>
          <a:p>
            <a:pPr marL="287020" indent="-274320">
              <a:lnSpc>
                <a:spcPct val="100000"/>
              </a:lnSpc>
              <a:spcBef>
                <a:spcPts val="145"/>
              </a:spcBef>
              <a:buClr>
                <a:srgbClr val="0E6EC5"/>
              </a:buClr>
              <a:buSzPct val="68421"/>
              <a:buFont typeface="Wingdings"/>
              <a:buChar char=""/>
              <a:tabLst>
                <a:tab pos="287020" algn="l"/>
              </a:tabLst>
            </a:pPr>
            <a:r>
              <a:rPr sz="1900" spc="-5" dirty="0">
                <a:latin typeface="Times New Roman"/>
                <a:cs typeface="Times New Roman"/>
              </a:rPr>
              <a:t>(1) Low level of water in</a:t>
            </a:r>
            <a:r>
              <a:rPr sz="1900" spc="30" dirty="0">
                <a:latin typeface="Times New Roman"/>
                <a:cs typeface="Times New Roman"/>
              </a:rPr>
              <a:t> </a:t>
            </a:r>
            <a:r>
              <a:rPr sz="1900" spc="-20" dirty="0">
                <a:latin typeface="Times New Roman"/>
                <a:cs typeface="Times New Roman"/>
              </a:rPr>
              <a:t>boiler.</a:t>
            </a:r>
            <a:endParaRPr sz="1900">
              <a:latin typeface="Times New Roman"/>
              <a:cs typeface="Times New Roman"/>
            </a:endParaRPr>
          </a:p>
          <a:p>
            <a:pPr marL="287020" indent="-274320">
              <a:lnSpc>
                <a:spcPct val="100000"/>
              </a:lnSpc>
              <a:spcBef>
                <a:spcPts val="145"/>
              </a:spcBef>
              <a:buClr>
                <a:srgbClr val="0E6EC5"/>
              </a:buClr>
              <a:buSzPct val="68421"/>
              <a:buFont typeface="Wingdings"/>
              <a:buChar char=""/>
              <a:tabLst>
                <a:tab pos="287020" algn="l"/>
              </a:tabLst>
            </a:pPr>
            <a:r>
              <a:rPr sz="1900" spc="-5" dirty="0">
                <a:latin typeface="Times New Roman"/>
                <a:cs typeface="Times New Roman"/>
              </a:rPr>
              <a:t>(2) The presence of dissolved salts in</a:t>
            </a:r>
            <a:r>
              <a:rPr sz="1900" dirty="0">
                <a:latin typeface="Times New Roman"/>
                <a:cs typeface="Times New Roman"/>
              </a:rPr>
              <a:t> </a:t>
            </a:r>
            <a:r>
              <a:rPr sz="1900" spc="-20" dirty="0">
                <a:latin typeface="Times New Roman"/>
                <a:cs typeface="Times New Roman"/>
              </a:rPr>
              <a:t>water.</a:t>
            </a:r>
            <a:endParaRPr sz="1900">
              <a:latin typeface="Times New Roman"/>
              <a:cs typeface="Times New Roman"/>
            </a:endParaRPr>
          </a:p>
          <a:p>
            <a:pPr marL="287020" indent="-274320">
              <a:lnSpc>
                <a:spcPct val="100000"/>
              </a:lnSpc>
              <a:spcBef>
                <a:spcPts val="145"/>
              </a:spcBef>
              <a:buClr>
                <a:srgbClr val="0E6EC5"/>
              </a:buClr>
              <a:buSzPct val="68421"/>
              <a:buFont typeface="Wingdings"/>
              <a:buChar char=""/>
              <a:tabLst>
                <a:tab pos="287020" algn="l"/>
              </a:tabLst>
            </a:pPr>
            <a:r>
              <a:rPr sz="1900" spc="-5" dirty="0">
                <a:latin typeface="Times New Roman"/>
                <a:cs typeface="Times New Roman"/>
              </a:rPr>
              <a:t>(3) Sudden increase in steam production</a:t>
            </a:r>
            <a:r>
              <a:rPr sz="1900" dirty="0">
                <a:latin typeface="Times New Roman"/>
                <a:cs typeface="Times New Roman"/>
              </a:rPr>
              <a:t> rate.</a:t>
            </a:r>
            <a:endParaRPr sz="1900">
              <a:latin typeface="Times New Roman"/>
              <a:cs typeface="Times New Roman"/>
            </a:endParaRPr>
          </a:p>
        </p:txBody>
      </p:sp>
      <p:sp>
        <p:nvSpPr>
          <p:cNvPr id="4" name="object 4"/>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31</a:t>
            </a:r>
            <a:endParaRPr sz="1400">
              <a:latin typeface="Times New Roman"/>
              <a:cs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48023"/>
            <a:ext cx="7134859" cy="3989704"/>
          </a:xfrm>
          <a:prstGeom prst="rect">
            <a:avLst/>
          </a:prstGeom>
        </p:spPr>
        <p:txBody>
          <a:bodyPr vert="horz" wrap="square" lIns="0" tIns="89535" rIns="0" bIns="0" rtlCol="0">
            <a:spAutoFit/>
          </a:bodyPr>
          <a:lstStyle/>
          <a:p>
            <a:pPr marL="287020" indent="-274955">
              <a:lnSpc>
                <a:spcPct val="100000"/>
              </a:lnSpc>
              <a:spcBef>
                <a:spcPts val="705"/>
              </a:spcBef>
              <a:buClr>
                <a:srgbClr val="0E6EC5"/>
              </a:buClr>
              <a:buSzPct val="70000"/>
              <a:buFont typeface="Wingdings"/>
              <a:buChar char=""/>
              <a:tabLst>
                <a:tab pos="287655" algn="l"/>
              </a:tabLst>
            </a:pPr>
            <a:r>
              <a:rPr sz="2000" b="1" dirty="0">
                <a:latin typeface="Times New Roman"/>
                <a:cs typeface="Times New Roman"/>
              </a:rPr>
              <a:t>Disadvantages of foaming</a:t>
            </a:r>
            <a:r>
              <a:rPr sz="2000" b="1" spc="-100" dirty="0">
                <a:latin typeface="Times New Roman"/>
                <a:cs typeface="Times New Roman"/>
              </a:rPr>
              <a:t> </a:t>
            </a:r>
            <a:r>
              <a:rPr sz="2000" b="1" dirty="0">
                <a:latin typeface="Times New Roman"/>
                <a:cs typeface="Times New Roman"/>
              </a:rPr>
              <a:t>:</a:t>
            </a:r>
            <a:endParaRPr sz="2000">
              <a:latin typeface="Times New Roman"/>
              <a:cs typeface="Times New Roman"/>
            </a:endParaRPr>
          </a:p>
          <a:p>
            <a:pPr marL="2870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(1) Actual height of the water </a:t>
            </a:r>
            <a:r>
              <a:rPr sz="2000" spc="-5" dirty="0">
                <a:latin typeface="Times New Roman"/>
                <a:cs typeface="Times New Roman"/>
              </a:rPr>
              <a:t>column </a:t>
            </a:r>
            <a:r>
              <a:rPr sz="2000" dirty="0">
                <a:latin typeface="Times New Roman"/>
                <a:cs typeface="Times New Roman"/>
              </a:rPr>
              <a:t>cannot be</a:t>
            </a:r>
            <a:r>
              <a:rPr sz="2000" spc="-265" dirty="0">
                <a:latin typeface="Times New Roman"/>
                <a:cs typeface="Times New Roman"/>
              </a:rPr>
              <a:t> </a:t>
            </a:r>
            <a:r>
              <a:rPr sz="2000" dirty="0">
                <a:latin typeface="Times New Roman"/>
                <a:cs typeface="Times New Roman"/>
              </a:rPr>
              <a:t>judge.</a:t>
            </a:r>
            <a:endParaRPr sz="2000">
              <a:latin typeface="Times New Roman"/>
              <a:cs typeface="Times New Roman"/>
            </a:endParaRPr>
          </a:p>
          <a:p>
            <a:pPr marL="287020" marR="1727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(2) Dissolved </a:t>
            </a:r>
            <a:r>
              <a:rPr sz="2000" spc="-5" dirty="0">
                <a:latin typeface="Times New Roman"/>
                <a:cs typeface="Times New Roman"/>
              </a:rPr>
              <a:t>salts </a:t>
            </a:r>
            <a:r>
              <a:rPr sz="2000" dirty="0">
                <a:latin typeface="Times New Roman"/>
                <a:cs typeface="Times New Roman"/>
              </a:rPr>
              <a:t>in water carried by the wet </a:t>
            </a:r>
            <a:r>
              <a:rPr sz="2000" spc="-5" dirty="0">
                <a:latin typeface="Times New Roman"/>
                <a:cs typeface="Times New Roman"/>
              </a:rPr>
              <a:t>steam may</a:t>
            </a:r>
            <a:r>
              <a:rPr sz="2000" spc="-140" dirty="0">
                <a:latin typeface="Times New Roman"/>
                <a:cs typeface="Times New Roman"/>
              </a:rPr>
              <a:t> </a:t>
            </a:r>
            <a:r>
              <a:rPr sz="2000" spc="-5" dirty="0">
                <a:latin typeface="Times New Roman"/>
                <a:cs typeface="Times New Roman"/>
              </a:rPr>
              <a:t>damage  </a:t>
            </a:r>
            <a:r>
              <a:rPr sz="2000" dirty="0">
                <a:latin typeface="Times New Roman"/>
                <a:cs typeface="Times New Roman"/>
              </a:rPr>
              <a:t>turbine blads or </a:t>
            </a:r>
            <a:r>
              <a:rPr sz="2000" spc="-5" dirty="0">
                <a:latin typeface="Times New Roman"/>
                <a:cs typeface="Times New Roman"/>
              </a:rPr>
              <a:t>machinery</a:t>
            </a:r>
            <a:r>
              <a:rPr sz="2000" spc="-95" dirty="0">
                <a:latin typeface="Times New Roman"/>
                <a:cs typeface="Times New Roman"/>
              </a:rPr>
              <a:t> </a:t>
            </a:r>
            <a:r>
              <a:rPr sz="2000" dirty="0">
                <a:latin typeface="Times New Roman"/>
                <a:cs typeface="Times New Roman"/>
              </a:rPr>
              <a:t>parts.</a:t>
            </a:r>
            <a:endParaRPr sz="2000">
              <a:latin typeface="Times New Roman"/>
              <a:cs typeface="Times New Roman"/>
            </a:endParaRPr>
          </a:p>
          <a:p>
            <a:pPr marL="2870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(3) </a:t>
            </a:r>
            <a:r>
              <a:rPr sz="2000" spc="-5" dirty="0">
                <a:latin typeface="Times New Roman"/>
                <a:cs typeface="Times New Roman"/>
              </a:rPr>
              <a:t>Boiler </a:t>
            </a:r>
            <a:r>
              <a:rPr sz="2000" dirty="0">
                <a:latin typeface="Times New Roman"/>
                <a:cs typeface="Times New Roman"/>
              </a:rPr>
              <a:t>pressure cannot be</a:t>
            </a:r>
            <a:r>
              <a:rPr sz="2000" spc="-120" dirty="0">
                <a:latin typeface="Times New Roman"/>
                <a:cs typeface="Times New Roman"/>
              </a:rPr>
              <a:t> </a:t>
            </a:r>
            <a:r>
              <a:rPr sz="2000" spc="-5" dirty="0">
                <a:latin typeface="Times New Roman"/>
                <a:cs typeface="Times New Roman"/>
              </a:rPr>
              <a:t>maintained.</a:t>
            </a:r>
            <a:endParaRPr sz="2000">
              <a:latin typeface="Times New Roman"/>
              <a:cs typeface="Times New Roman"/>
            </a:endParaRPr>
          </a:p>
          <a:p>
            <a:pPr>
              <a:lnSpc>
                <a:spcPct val="100000"/>
              </a:lnSpc>
              <a:spcBef>
                <a:spcPts val="40"/>
              </a:spcBef>
              <a:buClr>
                <a:srgbClr val="0E6EC5"/>
              </a:buClr>
              <a:buFont typeface="Wingdings"/>
              <a:buChar char=""/>
            </a:pPr>
            <a:endParaRPr sz="3100">
              <a:latin typeface="Times New Roman"/>
              <a:cs typeface="Times New Roman"/>
            </a:endParaRPr>
          </a:p>
          <a:p>
            <a:pPr marL="287020" indent="-274955">
              <a:lnSpc>
                <a:spcPct val="100000"/>
              </a:lnSpc>
              <a:buClr>
                <a:srgbClr val="0E6EC5"/>
              </a:buClr>
              <a:buSzPct val="70000"/>
              <a:buFont typeface="Wingdings"/>
              <a:buChar char=""/>
              <a:tabLst>
                <a:tab pos="287655" algn="l"/>
              </a:tabLst>
            </a:pPr>
            <a:r>
              <a:rPr sz="2000" b="1" spc="-5" dirty="0">
                <a:latin typeface="Times New Roman"/>
                <a:cs typeface="Times New Roman"/>
              </a:rPr>
              <a:t>Prevention </a:t>
            </a:r>
            <a:r>
              <a:rPr sz="2000" b="1" dirty="0">
                <a:latin typeface="Times New Roman"/>
                <a:cs typeface="Times New Roman"/>
              </a:rPr>
              <a:t>of Foaming</a:t>
            </a:r>
            <a:r>
              <a:rPr sz="2000" b="1" spc="-75" dirty="0">
                <a:latin typeface="Times New Roman"/>
                <a:cs typeface="Times New Roman"/>
              </a:rPr>
              <a:t> </a:t>
            </a:r>
            <a:r>
              <a:rPr sz="2000" b="1" dirty="0">
                <a:latin typeface="Times New Roman"/>
                <a:cs typeface="Times New Roman"/>
              </a:rPr>
              <a:t>:</a:t>
            </a:r>
            <a:endParaRPr sz="2000">
              <a:latin typeface="Times New Roman"/>
              <a:cs typeface="Times New Roman"/>
            </a:endParaRPr>
          </a:p>
          <a:p>
            <a:pPr marL="287020"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(1) By the addition of anti-foaming </a:t>
            </a:r>
            <a:r>
              <a:rPr sz="2000" spc="-5" dirty="0">
                <a:latin typeface="Times New Roman"/>
                <a:cs typeface="Times New Roman"/>
              </a:rPr>
              <a:t>chemicals like castor </a:t>
            </a:r>
            <a:r>
              <a:rPr sz="2000" dirty="0">
                <a:latin typeface="Times New Roman"/>
                <a:cs typeface="Times New Roman"/>
              </a:rPr>
              <a:t>oil,</a:t>
            </a:r>
            <a:r>
              <a:rPr sz="2000" spc="-145" dirty="0">
                <a:latin typeface="Times New Roman"/>
                <a:cs typeface="Times New Roman"/>
              </a:rPr>
              <a:t> </a:t>
            </a:r>
            <a:r>
              <a:rPr sz="2000" spc="-5" dirty="0">
                <a:latin typeface="Times New Roman"/>
                <a:cs typeface="Times New Roman"/>
              </a:rPr>
              <a:t>Gallic</a:t>
            </a:r>
            <a:endParaRPr sz="2000">
              <a:latin typeface="Times New Roman"/>
              <a:cs typeface="Times New Roman"/>
            </a:endParaRPr>
          </a:p>
          <a:p>
            <a:pPr marL="287020">
              <a:lnSpc>
                <a:spcPct val="100000"/>
              </a:lnSpc>
            </a:pPr>
            <a:r>
              <a:rPr sz="2000" spc="-5" dirty="0">
                <a:latin typeface="Times New Roman"/>
                <a:cs typeface="Times New Roman"/>
              </a:rPr>
              <a:t>acid, </a:t>
            </a:r>
            <a:r>
              <a:rPr sz="2000" dirty="0">
                <a:latin typeface="Times New Roman"/>
                <a:cs typeface="Times New Roman"/>
              </a:rPr>
              <a:t>tennic </a:t>
            </a:r>
            <a:r>
              <a:rPr sz="2000" spc="-5" dirty="0">
                <a:latin typeface="Times New Roman"/>
                <a:cs typeface="Times New Roman"/>
              </a:rPr>
              <a:t>acid</a:t>
            </a:r>
            <a:r>
              <a:rPr sz="2000" spc="-45" dirty="0">
                <a:latin typeface="Times New Roman"/>
                <a:cs typeface="Times New Roman"/>
              </a:rPr>
              <a:t> </a:t>
            </a:r>
            <a:r>
              <a:rPr sz="2000" spc="-5" dirty="0">
                <a:latin typeface="Times New Roman"/>
                <a:cs typeface="Times New Roman"/>
              </a:rPr>
              <a:t>etc.</a:t>
            </a:r>
            <a:endParaRPr sz="2000">
              <a:latin typeface="Times New Roman"/>
              <a:cs typeface="Times New Roman"/>
            </a:endParaRPr>
          </a:p>
          <a:p>
            <a:pPr marL="287020" marR="594995" indent="-274955">
              <a:lnSpc>
                <a:spcPct val="100000"/>
              </a:lnSpc>
              <a:spcBef>
                <a:spcPts val="600"/>
              </a:spcBef>
              <a:buClr>
                <a:srgbClr val="0E6EC5"/>
              </a:buClr>
              <a:buSzPct val="70000"/>
              <a:buFont typeface="Wingdings"/>
              <a:buChar char=""/>
              <a:tabLst>
                <a:tab pos="287655" algn="l"/>
              </a:tabLst>
            </a:pPr>
            <a:r>
              <a:rPr sz="2000" dirty="0">
                <a:latin typeface="Times New Roman"/>
                <a:cs typeface="Times New Roman"/>
              </a:rPr>
              <a:t>(2) removing oil from boiler water by adding compounds</a:t>
            </a:r>
            <a:r>
              <a:rPr sz="2000" spc="-225" dirty="0">
                <a:latin typeface="Times New Roman"/>
                <a:cs typeface="Times New Roman"/>
              </a:rPr>
              <a:t> </a:t>
            </a:r>
            <a:r>
              <a:rPr sz="2000" spc="-5" dirty="0">
                <a:latin typeface="Times New Roman"/>
                <a:cs typeface="Times New Roman"/>
              </a:rPr>
              <a:t>like  </a:t>
            </a:r>
            <a:r>
              <a:rPr sz="2000" dirty="0">
                <a:latin typeface="Times New Roman"/>
                <a:cs typeface="Times New Roman"/>
              </a:rPr>
              <a:t>sodium</a:t>
            </a:r>
            <a:r>
              <a:rPr sz="2000" spc="-45" dirty="0">
                <a:latin typeface="Times New Roman"/>
                <a:cs typeface="Times New Roman"/>
              </a:rPr>
              <a:t> </a:t>
            </a:r>
            <a:r>
              <a:rPr sz="2000" spc="-5" dirty="0">
                <a:latin typeface="Times New Roman"/>
                <a:cs typeface="Times New Roman"/>
              </a:rPr>
              <a:t>aluminate.</a:t>
            </a:r>
            <a:endParaRPr sz="2000">
              <a:latin typeface="Times New Roman"/>
              <a:cs typeface="Times New Roman"/>
            </a:endParaRPr>
          </a:p>
        </p:txBody>
      </p:sp>
      <p:sp>
        <p:nvSpPr>
          <p:cNvPr id="3" name="object 3"/>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32</a:t>
            </a:r>
            <a:endParaRPr sz="1400">
              <a:latin typeface="Times New Roman"/>
              <a:cs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3400" y="304800"/>
            <a:ext cx="7408545" cy="707390"/>
          </a:xfrm>
          <a:prstGeom prst="rect">
            <a:avLst/>
          </a:prstGeom>
          <a:solidFill>
            <a:srgbClr val="FFFF66"/>
          </a:solidFill>
        </p:spPr>
        <p:txBody>
          <a:bodyPr vert="horz" wrap="square" lIns="0" tIns="36830" rIns="0" bIns="0" rtlCol="0">
            <a:spAutoFit/>
          </a:bodyPr>
          <a:lstStyle/>
          <a:p>
            <a:pPr marL="91440">
              <a:lnSpc>
                <a:spcPct val="100000"/>
              </a:lnSpc>
              <a:spcBef>
                <a:spcPts val="290"/>
              </a:spcBef>
            </a:pPr>
            <a:r>
              <a:rPr sz="2000" dirty="0">
                <a:solidFill>
                  <a:srgbClr val="990000"/>
                </a:solidFill>
                <a:latin typeface="Times New Roman"/>
                <a:cs typeface="Times New Roman"/>
              </a:rPr>
              <a:t>II . Softening of water/ External </a:t>
            </a:r>
            <a:r>
              <a:rPr sz="2000" spc="-5" dirty="0">
                <a:solidFill>
                  <a:srgbClr val="990000"/>
                </a:solidFill>
                <a:latin typeface="Times New Roman"/>
                <a:cs typeface="Times New Roman"/>
              </a:rPr>
              <a:t>treatment </a:t>
            </a:r>
            <a:r>
              <a:rPr sz="2000" dirty="0">
                <a:solidFill>
                  <a:srgbClr val="990000"/>
                </a:solidFill>
                <a:latin typeface="Times New Roman"/>
                <a:cs typeface="Times New Roman"/>
              </a:rPr>
              <a:t>of water –</a:t>
            </a:r>
            <a:r>
              <a:rPr sz="2000" spc="-150" dirty="0">
                <a:solidFill>
                  <a:srgbClr val="990000"/>
                </a:solidFill>
                <a:latin typeface="Times New Roman"/>
                <a:cs typeface="Times New Roman"/>
              </a:rPr>
              <a:t> </a:t>
            </a:r>
            <a:r>
              <a:rPr sz="2000" dirty="0">
                <a:solidFill>
                  <a:srgbClr val="990000"/>
                </a:solidFill>
                <a:latin typeface="Times New Roman"/>
                <a:cs typeface="Times New Roman"/>
              </a:rPr>
              <a:t>External</a:t>
            </a:r>
            <a:endParaRPr sz="2000">
              <a:latin typeface="Times New Roman"/>
              <a:cs typeface="Times New Roman"/>
            </a:endParaRPr>
          </a:p>
          <a:p>
            <a:pPr marL="91440">
              <a:lnSpc>
                <a:spcPct val="100000"/>
              </a:lnSpc>
              <a:spcBef>
                <a:spcPts val="5"/>
              </a:spcBef>
            </a:pPr>
            <a:r>
              <a:rPr sz="2000" dirty="0">
                <a:solidFill>
                  <a:srgbClr val="990000"/>
                </a:solidFill>
                <a:latin typeface="Times New Roman"/>
                <a:cs typeface="Times New Roman"/>
              </a:rPr>
              <a:t>Conditioning of</a:t>
            </a:r>
            <a:r>
              <a:rPr sz="2000" spc="-55" dirty="0">
                <a:solidFill>
                  <a:srgbClr val="990000"/>
                </a:solidFill>
                <a:latin typeface="Times New Roman"/>
                <a:cs typeface="Times New Roman"/>
              </a:rPr>
              <a:t> </a:t>
            </a:r>
            <a:r>
              <a:rPr sz="2000" dirty="0">
                <a:solidFill>
                  <a:srgbClr val="990000"/>
                </a:solidFill>
                <a:latin typeface="Times New Roman"/>
                <a:cs typeface="Times New Roman"/>
              </a:rPr>
              <a:t>water</a:t>
            </a:r>
            <a:endParaRPr sz="2000">
              <a:latin typeface="Times New Roman"/>
              <a:cs typeface="Times New Roman"/>
            </a:endParaRPr>
          </a:p>
        </p:txBody>
      </p:sp>
      <p:sp>
        <p:nvSpPr>
          <p:cNvPr id="3" name="object 3"/>
          <p:cNvSpPr txBox="1"/>
          <p:nvPr/>
        </p:nvSpPr>
        <p:spPr>
          <a:xfrm>
            <a:off x="1295400" y="990600"/>
            <a:ext cx="5904230" cy="2630805"/>
          </a:xfrm>
          <a:prstGeom prst="rect">
            <a:avLst/>
          </a:prstGeom>
          <a:solidFill>
            <a:srgbClr val="FFFF66"/>
          </a:solidFill>
          <a:ln w="9144">
            <a:solidFill>
              <a:srgbClr val="990000"/>
            </a:solidFill>
          </a:ln>
        </p:spPr>
        <p:txBody>
          <a:bodyPr vert="horz" wrap="square" lIns="0" tIns="37465" rIns="0" bIns="0" rtlCol="0">
            <a:spAutoFit/>
          </a:bodyPr>
          <a:lstStyle/>
          <a:p>
            <a:pPr marL="434340" marR="382270" indent="-342900">
              <a:lnSpc>
                <a:spcPct val="100000"/>
              </a:lnSpc>
              <a:spcBef>
                <a:spcPts val="295"/>
              </a:spcBef>
            </a:pPr>
            <a:r>
              <a:rPr sz="2000" dirty="0">
                <a:solidFill>
                  <a:srgbClr val="003399"/>
                </a:solidFill>
                <a:latin typeface="Times New Roman"/>
                <a:cs typeface="Times New Roman"/>
              </a:rPr>
              <a:t>Softening of hard water can be done by the</a:t>
            </a:r>
            <a:r>
              <a:rPr sz="2000" spc="-150" dirty="0">
                <a:solidFill>
                  <a:srgbClr val="003399"/>
                </a:solidFill>
                <a:latin typeface="Times New Roman"/>
                <a:cs typeface="Times New Roman"/>
              </a:rPr>
              <a:t> </a:t>
            </a:r>
            <a:r>
              <a:rPr sz="2000" dirty="0">
                <a:solidFill>
                  <a:srgbClr val="003399"/>
                </a:solidFill>
                <a:latin typeface="Times New Roman"/>
                <a:cs typeface="Times New Roman"/>
              </a:rPr>
              <a:t>following  </a:t>
            </a:r>
            <a:r>
              <a:rPr sz="2000" spc="-5" dirty="0">
                <a:solidFill>
                  <a:srgbClr val="003399"/>
                </a:solidFill>
                <a:latin typeface="Times New Roman"/>
                <a:cs typeface="Times New Roman"/>
              </a:rPr>
              <a:t>methods</a:t>
            </a:r>
            <a:endParaRPr sz="2000">
              <a:latin typeface="Times New Roman"/>
              <a:cs typeface="Times New Roman"/>
            </a:endParaRPr>
          </a:p>
          <a:p>
            <a:pPr marL="434340" indent="-343535">
              <a:lnSpc>
                <a:spcPct val="100000"/>
              </a:lnSpc>
              <a:spcBef>
                <a:spcPts val="1200"/>
              </a:spcBef>
              <a:buAutoNum type="arabicPeriod"/>
              <a:tabLst>
                <a:tab pos="434340" algn="l"/>
                <a:tab pos="434975" algn="l"/>
              </a:tabLst>
            </a:pPr>
            <a:r>
              <a:rPr sz="2000" spc="-10" dirty="0">
                <a:solidFill>
                  <a:srgbClr val="990000"/>
                </a:solidFill>
                <a:latin typeface="Times New Roman"/>
                <a:cs typeface="Times New Roman"/>
              </a:rPr>
              <a:t>Lime </a:t>
            </a:r>
            <a:r>
              <a:rPr sz="2000" dirty="0">
                <a:solidFill>
                  <a:srgbClr val="990000"/>
                </a:solidFill>
                <a:latin typeface="Times New Roman"/>
                <a:cs typeface="Times New Roman"/>
              </a:rPr>
              <a:t>soda</a:t>
            </a:r>
            <a:r>
              <a:rPr sz="2000" spc="-10" dirty="0">
                <a:solidFill>
                  <a:srgbClr val="990000"/>
                </a:solidFill>
                <a:latin typeface="Times New Roman"/>
                <a:cs typeface="Times New Roman"/>
              </a:rPr>
              <a:t> </a:t>
            </a:r>
            <a:r>
              <a:rPr sz="2000" dirty="0">
                <a:solidFill>
                  <a:srgbClr val="990000"/>
                </a:solidFill>
                <a:latin typeface="Times New Roman"/>
                <a:cs typeface="Times New Roman"/>
              </a:rPr>
              <a:t>process</a:t>
            </a:r>
            <a:endParaRPr sz="2000">
              <a:latin typeface="Times New Roman"/>
              <a:cs typeface="Times New Roman"/>
            </a:endParaRPr>
          </a:p>
          <a:p>
            <a:pPr marL="434340" indent="-343535">
              <a:lnSpc>
                <a:spcPct val="100000"/>
              </a:lnSpc>
              <a:spcBef>
                <a:spcPts val="1200"/>
              </a:spcBef>
              <a:buAutoNum type="arabicPeriod"/>
              <a:tabLst>
                <a:tab pos="434340" algn="l"/>
                <a:tab pos="434975" algn="l"/>
              </a:tabLst>
            </a:pPr>
            <a:r>
              <a:rPr sz="2000" dirty="0">
                <a:solidFill>
                  <a:srgbClr val="990000"/>
                </a:solidFill>
                <a:latin typeface="Times New Roman"/>
                <a:cs typeface="Times New Roman"/>
              </a:rPr>
              <a:t>Zeolite</a:t>
            </a:r>
            <a:r>
              <a:rPr sz="2000" spc="-30" dirty="0">
                <a:solidFill>
                  <a:srgbClr val="990000"/>
                </a:solidFill>
                <a:latin typeface="Times New Roman"/>
                <a:cs typeface="Times New Roman"/>
              </a:rPr>
              <a:t> </a:t>
            </a:r>
            <a:r>
              <a:rPr sz="2000" spc="-5" dirty="0">
                <a:solidFill>
                  <a:srgbClr val="990000"/>
                </a:solidFill>
                <a:latin typeface="Times New Roman"/>
                <a:cs typeface="Times New Roman"/>
              </a:rPr>
              <a:t>methods</a:t>
            </a:r>
            <a:endParaRPr sz="2000">
              <a:latin typeface="Times New Roman"/>
              <a:cs typeface="Times New Roman"/>
            </a:endParaRPr>
          </a:p>
          <a:p>
            <a:pPr marL="434340" indent="-343535">
              <a:lnSpc>
                <a:spcPct val="100000"/>
              </a:lnSpc>
              <a:spcBef>
                <a:spcPts val="1200"/>
              </a:spcBef>
              <a:buAutoNum type="arabicPeriod"/>
              <a:tabLst>
                <a:tab pos="434340" algn="l"/>
                <a:tab pos="434975" algn="l"/>
              </a:tabLst>
            </a:pPr>
            <a:r>
              <a:rPr sz="2000" dirty="0">
                <a:solidFill>
                  <a:srgbClr val="990000"/>
                </a:solidFill>
                <a:latin typeface="Times New Roman"/>
                <a:cs typeface="Times New Roman"/>
              </a:rPr>
              <a:t>Ion exchange resin</a:t>
            </a:r>
            <a:r>
              <a:rPr sz="2000" spc="-80" dirty="0">
                <a:solidFill>
                  <a:srgbClr val="990000"/>
                </a:solidFill>
                <a:latin typeface="Times New Roman"/>
                <a:cs typeface="Times New Roman"/>
              </a:rPr>
              <a:t> </a:t>
            </a:r>
            <a:r>
              <a:rPr sz="2000" spc="-5" dirty="0">
                <a:solidFill>
                  <a:srgbClr val="990000"/>
                </a:solidFill>
                <a:latin typeface="Times New Roman"/>
                <a:cs typeface="Times New Roman"/>
              </a:rPr>
              <a:t>method</a:t>
            </a:r>
            <a:endParaRPr sz="2000">
              <a:latin typeface="Times New Roman"/>
              <a:cs typeface="Times New Roman"/>
            </a:endParaRPr>
          </a:p>
          <a:p>
            <a:pPr marL="434340" indent="-343535">
              <a:lnSpc>
                <a:spcPct val="100000"/>
              </a:lnSpc>
              <a:spcBef>
                <a:spcPts val="1200"/>
              </a:spcBef>
              <a:buAutoNum type="arabicPeriod"/>
              <a:tabLst>
                <a:tab pos="434340" algn="l"/>
                <a:tab pos="434975" algn="l"/>
              </a:tabLst>
            </a:pPr>
            <a:r>
              <a:rPr sz="2000" dirty="0">
                <a:solidFill>
                  <a:srgbClr val="990000"/>
                </a:solidFill>
                <a:latin typeface="Times New Roman"/>
                <a:cs typeface="Times New Roman"/>
              </a:rPr>
              <a:t>Mixed bed deionizer</a:t>
            </a:r>
            <a:r>
              <a:rPr sz="2000" spc="-80" dirty="0">
                <a:solidFill>
                  <a:srgbClr val="990000"/>
                </a:solidFill>
                <a:latin typeface="Times New Roman"/>
                <a:cs typeface="Times New Roman"/>
              </a:rPr>
              <a:t> </a:t>
            </a:r>
            <a:r>
              <a:rPr sz="2000" spc="-5" dirty="0">
                <a:solidFill>
                  <a:srgbClr val="990000"/>
                </a:solidFill>
                <a:latin typeface="Times New Roman"/>
                <a:cs typeface="Times New Roman"/>
              </a:rPr>
              <a:t>method</a:t>
            </a:r>
            <a:endParaRPr sz="2000">
              <a:latin typeface="Times New Roman"/>
              <a:cs typeface="Times New Roman"/>
            </a:endParaRPr>
          </a:p>
        </p:txBody>
      </p:sp>
      <p:grpSp>
        <p:nvGrpSpPr>
          <p:cNvPr id="4" name="object 4"/>
          <p:cNvGrpSpPr/>
          <p:nvPr/>
        </p:nvGrpSpPr>
        <p:grpSpPr>
          <a:xfrm>
            <a:off x="833627" y="3653028"/>
            <a:ext cx="2828925" cy="410209"/>
            <a:chOff x="833627" y="3653028"/>
            <a:chExt cx="2828925" cy="410209"/>
          </a:xfrm>
        </p:grpSpPr>
        <p:sp>
          <p:nvSpPr>
            <p:cNvPr id="5" name="object 5"/>
            <p:cNvSpPr/>
            <p:nvPr/>
          </p:nvSpPr>
          <p:spPr>
            <a:xfrm>
              <a:off x="838199" y="3657600"/>
              <a:ext cx="2819400" cy="401320"/>
            </a:xfrm>
            <a:custGeom>
              <a:avLst/>
              <a:gdLst/>
              <a:ahLst/>
              <a:cxnLst/>
              <a:rect l="l" t="t" r="r" b="b"/>
              <a:pathLst>
                <a:path w="2819400" h="401320">
                  <a:moveTo>
                    <a:pt x="2819400" y="0"/>
                  </a:moveTo>
                  <a:lnTo>
                    <a:pt x="0" y="0"/>
                  </a:lnTo>
                  <a:lnTo>
                    <a:pt x="0" y="400812"/>
                  </a:lnTo>
                  <a:lnTo>
                    <a:pt x="2819400" y="400812"/>
                  </a:lnTo>
                  <a:lnTo>
                    <a:pt x="2819400" y="0"/>
                  </a:lnTo>
                  <a:close/>
                </a:path>
              </a:pathLst>
            </a:custGeom>
            <a:solidFill>
              <a:srgbClr val="FFFF66"/>
            </a:solidFill>
          </p:spPr>
          <p:txBody>
            <a:bodyPr wrap="square" lIns="0" tIns="0" rIns="0" bIns="0" rtlCol="0"/>
            <a:lstStyle/>
            <a:p>
              <a:endParaRPr/>
            </a:p>
          </p:txBody>
        </p:sp>
        <p:sp>
          <p:nvSpPr>
            <p:cNvPr id="6" name="object 6"/>
            <p:cNvSpPr/>
            <p:nvPr/>
          </p:nvSpPr>
          <p:spPr>
            <a:xfrm>
              <a:off x="838199" y="3657600"/>
              <a:ext cx="2819400" cy="401320"/>
            </a:xfrm>
            <a:custGeom>
              <a:avLst/>
              <a:gdLst/>
              <a:ahLst/>
              <a:cxnLst/>
              <a:rect l="l" t="t" r="r" b="b"/>
              <a:pathLst>
                <a:path w="2819400" h="401320">
                  <a:moveTo>
                    <a:pt x="0" y="400812"/>
                  </a:moveTo>
                  <a:lnTo>
                    <a:pt x="2819400" y="400812"/>
                  </a:lnTo>
                  <a:lnTo>
                    <a:pt x="2819400" y="0"/>
                  </a:lnTo>
                  <a:lnTo>
                    <a:pt x="0" y="0"/>
                  </a:lnTo>
                  <a:lnTo>
                    <a:pt x="0" y="400812"/>
                  </a:lnTo>
                  <a:close/>
                </a:path>
              </a:pathLst>
            </a:custGeom>
            <a:ln w="9144">
              <a:solidFill>
                <a:srgbClr val="990000"/>
              </a:solidFill>
            </a:ln>
          </p:spPr>
          <p:txBody>
            <a:bodyPr wrap="square" lIns="0" tIns="0" rIns="0" bIns="0" rtlCol="0"/>
            <a:lstStyle/>
            <a:p>
              <a:endParaRPr/>
            </a:p>
          </p:txBody>
        </p:sp>
      </p:grpSp>
      <p:sp>
        <p:nvSpPr>
          <p:cNvPr id="7" name="object 7"/>
          <p:cNvSpPr txBox="1"/>
          <p:nvPr/>
        </p:nvSpPr>
        <p:spPr>
          <a:xfrm>
            <a:off x="917244" y="3682365"/>
            <a:ext cx="2170430" cy="330835"/>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99"/>
                </a:solidFill>
                <a:latin typeface="Times New Roman"/>
                <a:cs typeface="Times New Roman"/>
              </a:rPr>
              <a:t>1. </a:t>
            </a:r>
            <a:r>
              <a:rPr sz="2000" spc="-10" dirty="0">
                <a:solidFill>
                  <a:srgbClr val="003399"/>
                </a:solidFill>
                <a:latin typeface="Times New Roman"/>
                <a:cs typeface="Times New Roman"/>
              </a:rPr>
              <a:t>Lime </a:t>
            </a:r>
            <a:r>
              <a:rPr sz="2000" dirty="0">
                <a:solidFill>
                  <a:srgbClr val="003399"/>
                </a:solidFill>
                <a:latin typeface="Times New Roman"/>
                <a:cs typeface="Times New Roman"/>
              </a:rPr>
              <a:t>soda</a:t>
            </a:r>
            <a:r>
              <a:rPr sz="2000" spc="-60" dirty="0">
                <a:solidFill>
                  <a:srgbClr val="003399"/>
                </a:solidFill>
                <a:latin typeface="Times New Roman"/>
                <a:cs typeface="Times New Roman"/>
              </a:rPr>
              <a:t> </a:t>
            </a:r>
            <a:r>
              <a:rPr sz="2000" dirty="0">
                <a:solidFill>
                  <a:srgbClr val="003399"/>
                </a:solidFill>
                <a:latin typeface="Times New Roman"/>
                <a:cs typeface="Times New Roman"/>
              </a:rPr>
              <a:t>process</a:t>
            </a:r>
            <a:endParaRPr sz="2000">
              <a:latin typeface="Times New Roman"/>
              <a:cs typeface="Times New Roman"/>
            </a:endParaRPr>
          </a:p>
        </p:txBody>
      </p:sp>
      <p:sp>
        <p:nvSpPr>
          <p:cNvPr id="8" name="object 8"/>
          <p:cNvSpPr txBox="1"/>
          <p:nvPr/>
        </p:nvSpPr>
        <p:spPr>
          <a:xfrm>
            <a:off x="609600" y="4114800"/>
            <a:ext cx="7922259" cy="1323340"/>
          </a:xfrm>
          <a:prstGeom prst="rect">
            <a:avLst/>
          </a:prstGeom>
          <a:ln w="9144">
            <a:solidFill>
              <a:srgbClr val="990000"/>
            </a:solidFill>
          </a:ln>
        </p:spPr>
        <p:txBody>
          <a:bodyPr vert="horz" wrap="square" lIns="0" tIns="38100" rIns="0" bIns="0" rtlCol="0">
            <a:spAutoFit/>
          </a:bodyPr>
          <a:lstStyle/>
          <a:p>
            <a:pPr marL="91440" marR="83185" algn="just">
              <a:lnSpc>
                <a:spcPct val="100000"/>
              </a:lnSpc>
              <a:spcBef>
                <a:spcPts val="300"/>
              </a:spcBef>
            </a:pPr>
            <a:r>
              <a:rPr sz="2000" dirty="0">
                <a:solidFill>
                  <a:srgbClr val="003399"/>
                </a:solidFill>
                <a:latin typeface="Times New Roman"/>
                <a:cs typeface="Times New Roman"/>
              </a:rPr>
              <a:t>It </a:t>
            </a:r>
            <a:r>
              <a:rPr sz="2000" spc="-10" dirty="0">
                <a:solidFill>
                  <a:srgbClr val="003399"/>
                </a:solidFill>
                <a:latin typeface="Times New Roman"/>
                <a:cs typeface="Times New Roman"/>
              </a:rPr>
              <a:t>is </a:t>
            </a:r>
            <a:r>
              <a:rPr sz="2000" dirty="0">
                <a:solidFill>
                  <a:srgbClr val="003399"/>
                </a:solidFill>
                <a:latin typeface="Times New Roman"/>
                <a:cs typeface="Times New Roman"/>
              </a:rPr>
              <a:t>a process </a:t>
            </a:r>
            <a:r>
              <a:rPr sz="2000" spc="-5" dirty="0">
                <a:solidFill>
                  <a:srgbClr val="003399"/>
                </a:solidFill>
                <a:latin typeface="Times New Roman"/>
                <a:cs typeface="Times New Roman"/>
              </a:rPr>
              <a:t>in which </a:t>
            </a:r>
            <a:r>
              <a:rPr sz="2000" spc="-10" dirty="0">
                <a:solidFill>
                  <a:srgbClr val="003399"/>
                </a:solidFill>
                <a:latin typeface="Times New Roman"/>
                <a:cs typeface="Times New Roman"/>
              </a:rPr>
              <a:t>Lime </a:t>
            </a:r>
            <a:r>
              <a:rPr sz="2000" dirty="0">
                <a:solidFill>
                  <a:srgbClr val="003399"/>
                </a:solidFill>
                <a:latin typeface="Times New Roman"/>
                <a:cs typeface="Times New Roman"/>
              </a:rPr>
              <a:t>(Ca(OH)</a:t>
            </a:r>
            <a:r>
              <a:rPr sz="1950" baseline="-21367" dirty="0">
                <a:solidFill>
                  <a:srgbClr val="003399"/>
                </a:solidFill>
                <a:latin typeface="Times New Roman"/>
                <a:cs typeface="Times New Roman"/>
              </a:rPr>
              <a:t>2</a:t>
            </a:r>
            <a:r>
              <a:rPr sz="2000" dirty="0">
                <a:solidFill>
                  <a:srgbClr val="003399"/>
                </a:solidFill>
                <a:latin typeface="Times New Roman"/>
                <a:cs typeface="Times New Roman"/>
              </a:rPr>
              <a:t>) </a:t>
            </a:r>
            <a:r>
              <a:rPr sz="2000" spc="-5" dirty="0">
                <a:solidFill>
                  <a:srgbClr val="003399"/>
                </a:solidFill>
                <a:latin typeface="Times New Roman"/>
                <a:cs typeface="Times New Roman"/>
              </a:rPr>
              <a:t>and </a:t>
            </a:r>
            <a:r>
              <a:rPr sz="2000" dirty="0">
                <a:solidFill>
                  <a:srgbClr val="003399"/>
                </a:solidFill>
                <a:latin typeface="Times New Roman"/>
                <a:cs typeface="Times New Roman"/>
              </a:rPr>
              <a:t>soda (Na</a:t>
            </a:r>
            <a:r>
              <a:rPr sz="1950" baseline="-21367" dirty="0">
                <a:solidFill>
                  <a:srgbClr val="003399"/>
                </a:solidFill>
                <a:latin typeface="Times New Roman"/>
                <a:cs typeface="Times New Roman"/>
              </a:rPr>
              <a:t>2</a:t>
            </a:r>
            <a:r>
              <a:rPr sz="2000" dirty="0">
                <a:solidFill>
                  <a:srgbClr val="003399"/>
                </a:solidFill>
                <a:latin typeface="Times New Roman"/>
                <a:cs typeface="Times New Roman"/>
              </a:rPr>
              <a:t>CO</a:t>
            </a:r>
            <a:r>
              <a:rPr sz="1950" baseline="-21367" dirty="0">
                <a:solidFill>
                  <a:srgbClr val="003399"/>
                </a:solidFill>
                <a:latin typeface="Times New Roman"/>
                <a:cs typeface="Times New Roman"/>
              </a:rPr>
              <a:t>3</a:t>
            </a:r>
            <a:r>
              <a:rPr sz="2000" dirty="0">
                <a:solidFill>
                  <a:srgbClr val="003399"/>
                </a:solidFill>
                <a:latin typeface="Times New Roman"/>
                <a:cs typeface="Times New Roman"/>
              </a:rPr>
              <a:t>) </a:t>
            </a:r>
            <a:r>
              <a:rPr sz="2000" spc="-5" dirty="0">
                <a:solidFill>
                  <a:srgbClr val="003399"/>
                </a:solidFill>
                <a:latin typeface="Times New Roman"/>
                <a:cs typeface="Times New Roman"/>
              </a:rPr>
              <a:t>are added to  </a:t>
            </a:r>
            <a:r>
              <a:rPr sz="2000" dirty="0">
                <a:solidFill>
                  <a:srgbClr val="003399"/>
                </a:solidFill>
                <a:latin typeface="Times New Roman"/>
                <a:cs typeface="Times New Roman"/>
              </a:rPr>
              <a:t>the </a:t>
            </a:r>
            <a:r>
              <a:rPr sz="2000" spc="-5" dirty="0">
                <a:solidFill>
                  <a:srgbClr val="003399"/>
                </a:solidFill>
                <a:latin typeface="Times New Roman"/>
                <a:cs typeface="Times New Roman"/>
              </a:rPr>
              <a:t>hard water to convert the </a:t>
            </a:r>
            <a:r>
              <a:rPr sz="2000" dirty="0">
                <a:solidFill>
                  <a:srgbClr val="003399"/>
                </a:solidFill>
                <a:latin typeface="Times New Roman"/>
                <a:cs typeface="Times New Roman"/>
              </a:rPr>
              <a:t>soluble </a:t>
            </a:r>
            <a:r>
              <a:rPr sz="2000" spc="-5" dirty="0">
                <a:solidFill>
                  <a:srgbClr val="003399"/>
                </a:solidFill>
                <a:latin typeface="Times New Roman"/>
                <a:cs typeface="Times New Roman"/>
              </a:rPr>
              <a:t>calcium and magnesium </a:t>
            </a:r>
            <a:r>
              <a:rPr sz="2000" dirty="0">
                <a:solidFill>
                  <a:srgbClr val="003399"/>
                </a:solidFill>
                <a:latin typeface="Times New Roman"/>
                <a:cs typeface="Times New Roman"/>
              </a:rPr>
              <a:t>salts </a:t>
            </a:r>
            <a:r>
              <a:rPr sz="2000" spc="-5" dirty="0">
                <a:solidFill>
                  <a:srgbClr val="003399"/>
                </a:solidFill>
                <a:latin typeface="Times New Roman"/>
                <a:cs typeface="Times New Roman"/>
              </a:rPr>
              <a:t>to  insoluble compounds </a:t>
            </a:r>
            <a:r>
              <a:rPr sz="2000" dirty="0">
                <a:solidFill>
                  <a:srgbClr val="003399"/>
                </a:solidFill>
                <a:latin typeface="Times New Roman"/>
                <a:cs typeface="Times New Roman"/>
              </a:rPr>
              <a:t>by a </a:t>
            </a:r>
            <a:r>
              <a:rPr sz="2000" spc="-5" dirty="0">
                <a:solidFill>
                  <a:srgbClr val="003399"/>
                </a:solidFill>
                <a:latin typeface="Times New Roman"/>
                <a:cs typeface="Times New Roman"/>
              </a:rPr>
              <a:t>chemical reaction. The </a:t>
            </a:r>
            <a:r>
              <a:rPr sz="2000" dirty="0">
                <a:solidFill>
                  <a:srgbClr val="003399"/>
                </a:solidFill>
                <a:latin typeface="Times New Roman"/>
                <a:cs typeface="Times New Roman"/>
              </a:rPr>
              <a:t>CaCO</a:t>
            </a:r>
            <a:r>
              <a:rPr sz="1950" baseline="-21367" dirty="0">
                <a:solidFill>
                  <a:srgbClr val="003399"/>
                </a:solidFill>
                <a:latin typeface="Times New Roman"/>
                <a:cs typeface="Times New Roman"/>
              </a:rPr>
              <a:t>3 </a:t>
            </a:r>
            <a:r>
              <a:rPr sz="2000" spc="-5" dirty="0">
                <a:solidFill>
                  <a:srgbClr val="003399"/>
                </a:solidFill>
                <a:latin typeface="Times New Roman"/>
                <a:cs typeface="Times New Roman"/>
              </a:rPr>
              <a:t>and </a:t>
            </a:r>
            <a:r>
              <a:rPr sz="2000" dirty="0">
                <a:solidFill>
                  <a:srgbClr val="003399"/>
                </a:solidFill>
                <a:latin typeface="Times New Roman"/>
                <a:cs typeface="Times New Roman"/>
              </a:rPr>
              <a:t>Mg(OH)</a:t>
            </a:r>
            <a:r>
              <a:rPr sz="1950" baseline="-21367" dirty="0">
                <a:solidFill>
                  <a:srgbClr val="003399"/>
                </a:solidFill>
                <a:latin typeface="Times New Roman"/>
                <a:cs typeface="Times New Roman"/>
              </a:rPr>
              <a:t>2 </a:t>
            </a:r>
            <a:r>
              <a:rPr sz="2000" spc="-15" dirty="0">
                <a:solidFill>
                  <a:srgbClr val="003399"/>
                </a:solidFill>
                <a:latin typeface="Times New Roman"/>
                <a:cs typeface="Times New Roman"/>
              </a:rPr>
              <a:t>so  </a:t>
            </a:r>
            <a:r>
              <a:rPr sz="2000" spc="-5" dirty="0">
                <a:solidFill>
                  <a:srgbClr val="003399"/>
                </a:solidFill>
                <a:latin typeface="Times New Roman"/>
                <a:cs typeface="Times New Roman"/>
              </a:rPr>
              <a:t>precipitated </a:t>
            </a:r>
            <a:r>
              <a:rPr sz="2000" dirty="0">
                <a:solidFill>
                  <a:srgbClr val="003399"/>
                </a:solidFill>
                <a:latin typeface="Times New Roman"/>
                <a:cs typeface="Times New Roman"/>
              </a:rPr>
              <a:t>are filtered </a:t>
            </a:r>
            <a:r>
              <a:rPr sz="2000" spc="-10" dirty="0">
                <a:solidFill>
                  <a:srgbClr val="003399"/>
                </a:solidFill>
                <a:latin typeface="Times New Roman"/>
                <a:cs typeface="Times New Roman"/>
              </a:rPr>
              <a:t>off </a:t>
            </a:r>
            <a:r>
              <a:rPr sz="2000" dirty="0">
                <a:solidFill>
                  <a:srgbClr val="003399"/>
                </a:solidFill>
                <a:latin typeface="Times New Roman"/>
                <a:cs typeface="Times New Roman"/>
              </a:rPr>
              <a:t>and removed</a:t>
            </a:r>
            <a:r>
              <a:rPr sz="2000" spc="-110" dirty="0">
                <a:solidFill>
                  <a:srgbClr val="003399"/>
                </a:solidFill>
                <a:latin typeface="Times New Roman"/>
                <a:cs typeface="Times New Roman"/>
              </a:rPr>
              <a:t> </a:t>
            </a:r>
            <a:r>
              <a:rPr sz="2000" spc="-25" dirty="0">
                <a:solidFill>
                  <a:srgbClr val="003399"/>
                </a:solidFill>
                <a:latin typeface="Times New Roman"/>
                <a:cs typeface="Times New Roman"/>
              </a:rPr>
              <a:t>easily.</a:t>
            </a:r>
            <a:endParaRPr sz="2000">
              <a:latin typeface="Times New Roman"/>
              <a:cs typeface="Times New Roman"/>
            </a:endParaRPr>
          </a:p>
        </p:txBody>
      </p:sp>
      <p:grpSp>
        <p:nvGrpSpPr>
          <p:cNvPr id="9" name="object 9"/>
          <p:cNvGrpSpPr/>
          <p:nvPr/>
        </p:nvGrpSpPr>
        <p:grpSpPr>
          <a:xfrm>
            <a:off x="1062227" y="5530595"/>
            <a:ext cx="4330065" cy="1332230"/>
            <a:chOff x="1062227" y="5530595"/>
            <a:chExt cx="4330065" cy="1332230"/>
          </a:xfrm>
        </p:grpSpPr>
        <p:sp>
          <p:nvSpPr>
            <p:cNvPr id="10" name="object 10"/>
            <p:cNvSpPr/>
            <p:nvPr/>
          </p:nvSpPr>
          <p:spPr>
            <a:xfrm>
              <a:off x="1066799" y="5535167"/>
              <a:ext cx="4320540" cy="1323340"/>
            </a:xfrm>
            <a:custGeom>
              <a:avLst/>
              <a:gdLst/>
              <a:ahLst/>
              <a:cxnLst/>
              <a:rect l="l" t="t" r="r" b="b"/>
              <a:pathLst>
                <a:path w="4320540" h="1323340">
                  <a:moveTo>
                    <a:pt x="4320540" y="0"/>
                  </a:moveTo>
                  <a:lnTo>
                    <a:pt x="0" y="0"/>
                  </a:lnTo>
                  <a:lnTo>
                    <a:pt x="0" y="1322832"/>
                  </a:lnTo>
                  <a:lnTo>
                    <a:pt x="4320540" y="1322832"/>
                  </a:lnTo>
                  <a:lnTo>
                    <a:pt x="4320540" y="0"/>
                  </a:lnTo>
                  <a:close/>
                </a:path>
              </a:pathLst>
            </a:custGeom>
            <a:solidFill>
              <a:srgbClr val="FFFF66"/>
            </a:solidFill>
          </p:spPr>
          <p:txBody>
            <a:bodyPr wrap="square" lIns="0" tIns="0" rIns="0" bIns="0" rtlCol="0"/>
            <a:lstStyle/>
            <a:p>
              <a:endParaRPr/>
            </a:p>
          </p:txBody>
        </p:sp>
        <p:sp>
          <p:nvSpPr>
            <p:cNvPr id="11" name="object 11"/>
            <p:cNvSpPr/>
            <p:nvPr/>
          </p:nvSpPr>
          <p:spPr>
            <a:xfrm>
              <a:off x="1066799" y="5535167"/>
              <a:ext cx="4320540" cy="1323340"/>
            </a:xfrm>
            <a:custGeom>
              <a:avLst/>
              <a:gdLst/>
              <a:ahLst/>
              <a:cxnLst/>
              <a:rect l="l" t="t" r="r" b="b"/>
              <a:pathLst>
                <a:path w="4320540" h="1323340">
                  <a:moveTo>
                    <a:pt x="0" y="1322832"/>
                  </a:moveTo>
                  <a:lnTo>
                    <a:pt x="4320540" y="1322832"/>
                  </a:lnTo>
                  <a:lnTo>
                    <a:pt x="4320540" y="0"/>
                  </a:lnTo>
                  <a:lnTo>
                    <a:pt x="0" y="0"/>
                  </a:lnTo>
                  <a:lnTo>
                    <a:pt x="0" y="1322832"/>
                  </a:lnTo>
                  <a:close/>
                </a:path>
              </a:pathLst>
            </a:custGeom>
            <a:ln w="9143">
              <a:solidFill>
                <a:srgbClr val="990000"/>
              </a:solidFill>
            </a:ln>
          </p:spPr>
          <p:txBody>
            <a:bodyPr wrap="square" lIns="0" tIns="0" rIns="0" bIns="0" rtlCol="0"/>
            <a:lstStyle/>
            <a:p>
              <a:endParaRPr/>
            </a:p>
          </p:txBody>
        </p:sp>
      </p:grpSp>
      <p:sp>
        <p:nvSpPr>
          <p:cNvPr id="12" name="object 12"/>
          <p:cNvSpPr txBox="1"/>
          <p:nvPr/>
        </p:nvSpPr>
        <p:spPr>
          <a:xfrm>
            <a:off x="1071372" y="5408349"/>
            <a:ext cx="4311650" cy="1397000"/>
          </a:xfrm>
          <a:prstGeom prst="rect">
            <a:avLst/>
          </a:prstGeom>
        </p:spPr>
        <p:txBody>
          <a:bodyPr vert="horz" wrap="square" lIns="0" tIns="164465" rIns="0" bIns="0" rtlCol="0">
            <a:spAutoFit/>
          </a:bodyPr>
          <a:lstStyle/>
          <a:p>
            <a:pPr marL="86995">
              <a:lnSpc>
                <a:spcPct val="100000"/>
              </a:lnSpc>
              <a:spcBef>
                <a:spcPts val="1295"/>
              </a:spcBef>
            </a:pPr>
            <a:r>
              <a:rPr sz="2000" dirty="0">
                <a:latin typeface="Times New Roman"/>
                <a:cs typeface="Times New Roman"/>
              </a:rPr>
              <a:t>It is further divided in to two</a:t>
            </a:r>
            <a:r>
              <a:rPr sz="2000" spc="-140" dirty="0">
                <a:latin typeface="Times New Roman"/>
                <a:cs typeface="Times New Roman"/>
              </a:rPr>
              <a:t> </a:t>
            </a:r>
            <a:r>
              <a:rPr sz="2000" spc="-5" dirty="0">
                <a:latin typeface="Times New Roman"/>
                <a:cs typeface="Times New Roman"/>
              </a:rPr>
              <a:t>types</a:t>
            </a:r>
            <a:endParaRPr sz="2000">
              <a:latin typeface="Times New Roman"/>
              <a:cs typeface="Times New Roman"/>
            </a:endParaRPr>
          </a:p>
          <a:p>
            <a:pPr marL="429895" indent="-343535">
              <a:lnSpc>
                <a:spcPct val="100000"/>
              </a:lnSpc>
              <a:spcBef>
                <a:spcPts val="1200"/>
              </a:spcBef>
              <a:buAutoNum type="arabicPeriod"/>
              <a:tabLst>
                <a:tab pos="429895" algn="l"/>
                <a:tab pos="430530" algn="l"/>
              </a:tabLst>
            </a:pPr>
            <a:r>
              <a:rPr sz="2000" dirty="0">
                <a:solidFill>
                  <a:srgbClr val="003399"/>
                </a:solidFill>
                <a:latin typeface="Times New Roman"/>
                <a:cs typeface="Times New Roman"/>
              </a:rPr>
              <a:t>Cold </a:t>
            </a:r>
            <a:r>
              <a:rPr sz="2000" spc="-10" dirty="0">
                <a:solidFill>
                  <a:srgbClr val="003399"/>
                </a:solidFill>
                <a:latin typeface="Times New Roman"/>
                <a:cs typeface="Times New Roman"/>
              </a:rPr>
              <a:t>lime </a:t>
            </a:r>
            <a:r>
              <a:rPr sz="2000" dirty="0">
                <a:solidFill>
                  <a:srgbClr val="003399"/>
                </a:solidFill>
                <a:latin typeface="Times New Roman"/>
                <a:cs typeface="Times New Roman"/>
              </a:rPr>
              <a:t>soda</a:t>
            </a:r>
            <a:r>
              <a:rPr sz="2000" spc="-25" dirty="0">
                <a:solidFill>
                  <a:srgbClr val="003399"/>
                </a:solidFill>
                <a:latin typeface="Times New Roman"/>
                <a:cs typeface="Times New Roman"/>
              </a:rPr>
              <a:t> </a:t>
            </a:r>
            <a:r>
              <a:rPr sz="2000" dirty="0">
                <a:solidFill>
                  <a:srgbClr val="003399"/>
                </a:solidFill>
                <a:latin typeface="Times New Roman"/>
                <a:cs typeface="Times New Roman"/>
              </a:rPr>
              <a:t>process</a:t>
            </a:r>
            <a:endParaRPr sz="2000">
              <a:latin typeface="Times New Roman"/>
              <a:cs typeface="Times New Roman"/>
            </a:endParaRPr>
          </a:p>
          <a:p>
            <a:pPr marL="429895" indent="-343535">
              <a:lnSpc>
                <a:spcPct val="100000"/>
              </a:lnSpc>
              <a:spcBef>
                <a:spcPts val="1200"/>
              </a:spcBef>
              <a:buAutoNum type="arabicPeriod"/>
              <a:tabLst>
                <a:tab pos="429895" algn="l"/>
                <a:tab pos="430530" algn="l"/>
              </a:tabLst>
            </a:pPr>
            <a:r>
              <a:rPr sz="2000" spc="5" dirty="0">
                <a:solidFill>
                  <a:srgbClr val="FF6600"/>
                </a:solidFill>
                <a:latin typeface="Times New Roman"/>
                <a:cs typeface="Times New Roman"/>
              </a:rPr>
              <a:t>Hot </a:t>
            </a:r>
            <a:r>
              <a:rPr sz="2000" spc="-10" dirty="0">
                <a:solidFill>
                  <a:srgbClr val="FF6600"/>
                </a:solidFill>
                <a:latin typeface="Times New Roman"/>
                <a:cs typeface="Times New Roman"/>
              </a:rPr>
              <a:t>lime </a:t>
            </a:r>
            <a:r>
              <a:rPr sz="2000" dirty="0">
                <a:solidFill>
                  <a:srgbClr val="FF6600"/>
                </a:solidFill>
                <a:latin typeface="Times New Roman"/>
                <a:cs typeface="Times New Roman"/>
              </a:rPr>
              <a:t>soda</a:t>
            </a:r>
            <a:r>
              <a:rPr sz="2000" spc="-35" dirty="0">
                <a:solidFill>
                  <a:srgbClr val="FF6600"/>
                </a:solidFill>
                <a:latin typeface="Times New Roman"/>
                <a:cs typeface="Times New Roman"/>
              </a:rPr>
              <a:t> </a:t>
            </a:r>
            <a:r>
              <a:rPr sz="2000" dirty="0">
                <a:solidFill>
                  <a:srgbClr val="FF6600"/>
                </a:solidFill>
                <a:latin typeface="Times New Roman"/>
                <a:cs typeface="Times New Roman"/>
              </a:rPr>
              <a:t>process</a:t>
            </a:r>
            <a:endParaRPr sz="2000">
              <a:latin typeface="Times New Roman"/>
              <a:cs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31419"/>
            <a:ext cx="5358130" cy="482600"/>
          </a:xfrm>
          <a:prstGeom prst="rect">
            <a:avLst/>
          </a:prstGeom>
        </p:spPr>
        <p:txBody>
          <a:bodyPr vert="horz" wrap="square" lIns="0" tIns="12700" rIns="0" bIns="0" rtlCol="0">
            <a:spAutoFit/>
          </a:bodyPr>
          <a:lstStyle/>
          <a:p>
            <a:pPr marL="12700">
              <a:lnSpc>
                <a:spcPct val="100000"/>
              </a:lnSpc>
              <a:spcBef>
                <a:spcPts val="100"/>
              </a:spcBef>
            </a:pPr>
            <a:r>
              <a:rPr sz="3000" dirty="0"/>
              <a:t>2. </a:t>
            </a:r>
            <a:r>
              <a:rPr sz="3000" spc="-5" dirty="0"/>
              <a:t>Z</a:t>
            </a:r>
            <a:r>
              <a:rPr spc="-5" dirty="0"/>
              <a:t>EOLITE OR PERMUTIT</a:t>
            </a:r>
            <a:r>
              <a:rPr spc="400" dirty="0"/>
              <a:t> </a:t>
            </a:r>
            <a:r>
              <a:rPr spc="-5" dirty="0"/>
              <a:t>PROCESS</a:t>
            </a:r>
            <a:r>
              <a:rPr sz="3000" spc="-5" dirty="0"/>
              <a:t>:</a:t>
            </a:r>
            <a:endParaRPr sz="3000"/>
          </a:p>
        </p:txBody>
      </p:sp>
      <p:sp>
        <p:nvSpPr>
          <p:cNvPr id="3" name="object 3"/>
          <p:cNvSpPr txBox="1"/>
          <p:nvPr/>
        </p:nvSpPr>
        <p:spPr>
          <a:xfrm>
            <a:off x="358140" y="1316482"/>
            <a:ext cx="7528559" cy="2470150"/>
          </a:xfrm>
          <a:prstGeom prst="rect">
            <a:avLst/>
          </a:prstGeom>
        </p:spPr>
        <p:txBody>
          <a:bodyPr vert="horz" wrap="square" lIns="0" tIns="12700" rIns="0" bIns="0" rtlCol="0">
            <a:spAutoFit/>
          </a:bodyPr>
          <a:lstStyle/>
          <a:p>
            <a:pPr marL="311785" marR="30480" indent="-274320" algn="just">
              <a:lnSpc>
                <a:spcPct val="100000"/>
              </a:lnSpc>
              <a:spcBef>
                <a:spcPts val="100"/>
              </a:spcBef>
            </a:pPr>
            <a:r>
              <a:rPr sz="2700" dirty="0">
                <a:latin typeface="Times New Roman"/>
                <a:cs typeface="Times New Roman"/>
              </a:rPr>
              <a:t>Zeolite - hydrated sodium alumino silicate, capable of  exchanging reversibly its sodium ions </a:t>
            </a:r>
            <a:r>
              <a:rPr sz="2700" spc="-5" dirty="0">
                <a:latin typeface="Times New Roman"/>
                <a:cs typeface="Times New Roman"/>
              </a:rPr>
              <a:t>for </a:t>
            </a:r>
            <a:r>
              <a:rPr sz="2700" dirty="0">
                <a:latin typeface="Times New Roman"/>
                <a:cs typeface="Times New Roman"/>
              </a:rPr>
              <a:t>hardness-  producing ions in</a:t>
            </a:r>
            <a:r>
              <a:rPr sz="2700" spc="-50" dirty="0">
                <a:latin typeface="Times New Roman"/>
                <a:cs typeface="Times New Roman"/>
              </a:rPr>
              <a:t> </a:t>
            </a:r>
            <a:r>
              <a:rPr sz="2700" spc="-25" dirty="0">
                <a:latin typeface="Times New Roman"/>
                <a:cs typeface="Times New Roman"/>
              </a:rPr>
              <a:t>water.</a:t>
            </a:r>
            <a:endParaRPr sz="2700">
              <a:latin typeface="Times New Roman"/>
              <a:cs typeface="Times New Roman"/>
            </a:endParaRPr>
          </a:p>
          <a:p>
            <a:pPr marL="114300">
              <a:lnSpc>
                <a:spcPct val="100000"/>
              </a:lnSpc>
              <a:spcBef>
                <a:spcPts val="1015"/>
              </a:spcBef>
            </a:pPr>
            <a:r>
              <a:rPr sz="2000" dirty="0">
                <a:solidFill>
                  <a:srgbClr val="000099"/>
                </a:solidFill>
                <a:latin typeface="Arial"/>
                <a:cs typeface="Arial"/>
              </a:rPr>
              <a:t>The general chemical structure of</a:t>
            </a:r>
            <a:r>
              <a:rPr sz="2000" spc="-135" dirty="0">
                <a:solidFill>
                  <a:srgbClr val="000099"/>
                </a:solidFill>
                <a:latin typeface="Arial"/>
                <a:cs typeface="Arial"/>
              </a:rPr>
              <a:t> </a:t>
            </a:r>
            <a:r>
              <a:rPr sz="2000" dirty="0">
                <a:solidFill>
                  <a:srgbClr val="000099"/>
                </a:solidFill>
                <a:latin typeface="Arial"/>
                <a:cs typeface="Arial"/>
              </a:rPr>
              <a:t>Zeolite:</a:t>
            </a:r>
            <a:endParaRPr sz="2000">
              <a:latin typeface="Arial"/>
              <a:cs typeface="Arial"/>
            </a:endParaRPr>
          </a:p>
          <a:p>
            <a:pPr marL="316865">
              <a:lnSpc>
                <a:spcPct val="100000"/>
              </a:lnSpc>
              <a:spcBef>
                <a:spcPts val="705"/>
              </a:spcBef>
            </a:pPr>
            <a:r>
              <a:rPr sz="2000" dirty="0">
                <a:solidFill>
                  <a:srgbClr val="000099"/>
                </a:solidFill>
                <a:latin typeface="Arial"/>
                <a:cs typeface="Arial"/>
              </a:rPr>
              <a:t>Na</a:t>
            </a:r>
            <a:r>
              <a:rPr sz="1950" baseline="-21367" dirty="0">
                <a:solidFill>
                  <a:srgbClr val="000099"/>
                </a:solidFill>
                <a:latin typeface="Arial"/>
                <a:cs typeface="Arial"/>
              </a:rPr>
              <a:t>2</a:t>
            </a:r>
            <a:r>
              <a:rPr sz="2000" dirty="0">
                <a:solidFill>
                  <a:srgbClr val="000099"/>
                </a:solidFill>
                <a:latin typeface="Arial"/>
                <a:cs typeface="Arial"/>
              </a:rPr>
              <a:t>O.Al</a:t>
            </a:r>
            <a:r>
              <a:rPr sz="1950" baseline="-21367" dirty="0">
                <a:solidFill>
                  <a:srgbClr val="000099"/>
                </a:solidFill>
                <a:latin typeface="Arial"/>
                <a:cs typeface="Arial"/>
              </a:rPr>
              <a:t>2</a:t>
            </a:r>
            <a:r>
              <a:rPr sz="2000" dirty="0">
                <a:solidFill>
                  <a:srgbClr val="000099"/>
                </a:solidFill>
                <a:latin typeface="Arial"/>
                <a:cs typeface="Arial"/>
              </a:rPr>
              <a:t>O</a:t>
            </a:r>
            <a:r>
              <a:rPr sz="1950" baseline="-21367" dirty="0">
                <a:solidFill>
                  <a:srgbClr val="000099"/>
                </a:solidFill>
                <a:latin typeface="Arial"/>
                <a:cs typeface="Arial"/>
              </a:rPr>
              <a:t>3</a:t>
            </a:r>
            <a:r>
              <a:rPr sz="2000" dirty="0">
                <a:solidFill>
                  <a:srgbClr val="000099"/>
                </a:solidFill>
                <a:latin typeface="Arial"/>
                <a:cs typeface="Arial"/>
              </a:rPr>
              <a:t>.</a:t>
            </a:r>
            <a:r>
              <a:rPr sz="2000" i="1" dirty="0">
                <a:solidFill>
                  <a:srgbClr val="000099"/>
                </a:solidFill>
                <a:latin typeface="Arial"/>
                <a:cs typeface="Arial"/>
              </a:rPr>
              <a:t>x</a:t>
            </a:r>
            <a:r>
              <a:rPr sz="2000" dirty="0">
                <a:solidFill>
                  <a:srgbClr val="000099"/>
                </a:solidFill>
                <a:latin typeface="Arial"/>
                <a:cs typeface="Arial"/>
              </a:rPr>
              <a:t>SiO</a:t>
            </a:r>
            <a:r>
              <a:rPr sz="1950" baseline="-21367" dirty="0">
                <a:solidFill>
                  <a:srgbClr val="000099"/>
                </a:solidFill>
                <a:latin typeface="Arial"/>
                <a:cs typeface="Arial"/>
              </a:rPr>
              <a:t>2</a:t>
            </a:r>
            <a:r>
              <a:rPr sz="2000" dirty="0">
                <a:solidFill>
                  <a:srgbClr val="000099"/>
                </a:solidFill>
                <a:latin typeface="Arial"/>
                <a:cs typeface="Arial"/>
              </a:rPr>
              <a:t>.</a:t>
            </a:r>
            <a:r>
              <a:rPr sz="2000" i="1" dirty="0">
                <a:solidFill>
                  <a:srgbClr val="000099"/>
                </a:solidFill>
                <a:latin typeface="Arial"/>
                <a:cs typeface="Arial"/>
              </a:rPr>
              <a:t>y</a:t>
            </a:r>
            <a:r>
              <a:rPr sz="2000" dirty="0">
                <a:solidFill>
                  <a:srgbClr val="000099"/>
                </a:solidFill>
                <a:latin typeface="Arial"/>
                <a:cs typeface="Arial"/>
              </a:rPr>
              <a:t>H</a:t>
            </a:r>
            <a:r>
              <a:rPr sz="1950" baseline="-21367" dirty="0">
                <a:solidFill>
                  <a:srgbClr val="000099"/>
                </a:solidFill>
                <a:latin typeface="Arial"/>
                <a:cs typeface="Arial"/>
              </a:rPr>
              <a:t>2</a:t>
            </a:r>
            <a:r>
              <a:rPr sz="2000" dirty="0">
                <a:solidFill>
                  <a:srgbClr val="000099"/>
                </a:solidFill>
                <a:latin typeface="Arial"/>
                <a:cs typeface="Arial"/>
              </a:rPr>
              <a:t>O</a:t>
            </a:r>
            <a:endParaRPr sz="2000">
              <a:latin typeface="Arial"/>
              <a:cs typeface="Arial"/>
            </a:endParaRPr>
          </a:p>
          <a:p>
            <a:pPr marL="177800">
              <a:lnSpc>
                <a:spcPct val="100000"/>
              </a:lnSpc>
              <a:spcBef>
                <a:spcPts val="605"/>
              </a:spcBef>
            </a:pPr>
            <a:r>
              <a:rPr sz="2000" dirty="0">
                <a:solidFill>
                  <a:srgbClr val="000099"/>
                </a:solidFill>
                <a:latin typeface="Arial"/>
                <a:cs typeface="Arial"/>
              </a:rPr>
              <a:t>(</a:t>
            </a:r>
            <a:r>
              <a:rPr sz="2000" i="1" dirty="0">
                <a:solidFill>
                  <a:srgbClr val="000099"/>
                </a:solidFill>
                <a:latin typeface="Arial"/>
                <a:cs typeface="Arial"/>
              </a:rPr>
              <a:t>x </a:t>
            </a:r>
            <a:r>
              <a:rPr sz="2000" dirty="0">
                <a:solidFill>
                  <a:srgbClr val="000099"/>
                </a:solidFill>
                <a:latin typeface="Arial"/>
                <a:cs typeface="Arial"/>
              </a:rPr>
              <a:t>= 2-10 and </a:t>
            </a:r>
            <a:r>
              <a:rPr sz="2000" i="1" dirty="0">
                <a:solidFill>
                  <a:srgbClr val="000099"/>
                </a:solidFill>
                <a:latin typeface="Arial"/>
                <a:cs typeface="Arial"/>
              </a:rPr>
              <a:t>y </a:t>
            </a:r>
            <a:r>
              <a:rPr sz="2000" dirty="0">
                <a:solidFill>
                  <a:srgbClr val="000099"/>
                </a:solidFill>
                <a:latin typeface="Arial"/>
                <a:cs typeface="Arial"/>
              </a:rPr>
              <a:t>=</a:t>
            </a:r>
            <a:r>
              <a:rPr sz="2000" spc="-110" dirty="0">
                <a:solidFill>
                  <a:srgbClr val="000099"/>
                </a:solidFill>
                <a:latin typeface="Arial"/>
                <a:cs typeface="Arial"/>
              </a:rPr>
              <a:t> </a:t>
            </a:r>
            <a:r>
              <a:rPr sz="2000" dirty="0">
                <a:solidFill>
                  <a:srgbClr val="000099"/>
                </a:solidFill>
                <a:latin typeface="Arial"/>
                <a:cs typeface="Arial"/>
              </a:rPr>
              <a:t>2-6)</a:t>
            </a:r>
            <a:endParaRPr sz="2000">
              <a:latin typeface="Arial"/>
              <a:cs typeface="Arial"/>
            </a:endParaRPr>
          </a:p>
        </p:txBody>
      </p:sp>
      <p:sp>
        <p:nvSpPr>
          <p:cNvPr id="4" name="object 4"/>
          <p:cNvSpPr txBox="1"/>
          <p:nvPr/>
        </p:nvSpPr>
        <p:spPr>
          <a:xfrm>
            <a:off x="8344534" y="5902664"/>
            <a:ext cx="180340" cy="197485"/>
          </a:xfrm>
          <a:prstGeom prst="rect">
            <a:avLst/>
          </a:prstGeom>
        </p:spPr>
        <p:txBody>
          <a:bodyPr vert="horz" wrap="square" lIns="0" tIns="0" rIns="0" bIns="0" rtlCol="0">
            <a:spAutoFit/>
          </a:bodyPr>
          <a:lstStyle/>
          <a:p>
            <a:pPr>
              <a:lnSpc>
                <a:spcPts val="1530"/>
              </a:lnSpc>
            </a:pPr>
            <a:r>
              <a:rPr sz="1400" b="1" spc="5" dirty="0">
                <a:solidFill>
                  <a:srgbClr val="FFFFFF"/>
                </a:solidFill>
                <a:latin typeface="Times New Roman"/>
                <a:cs typeface="Times New Roman"/>
              </a:rPr>
              <a:t>43</a:t>
            </a:r>
            <a:endParaRPr sz="1400">
              <a:latin typeface="Times New Roman"/>
              <a:cs typeface="Times New Roman"/>
            </a:endParaRPr>
          </a:p>
        </p:txBody>
      </p:sp>
      <p:grpSp>
        <p:nvGrpSpPr>
          <p:cNvPr id="5" name="object 5"/>
          <p:cNvGrpSpPr/>
          <p:nvPr/>
        </p:nvGrpSpPr>
        <p:grpSpPr>
          <a:xfrm>
            <a:off x="4111878" y="2667000"/>
            <a:ext cx="4857115" cy="3886200"/>
            <a:chOff x="4111878" y="2667000"/>
            <a:chExt cx="4857115" cy="3886200"/>
          </a:xfrm>
        </p:grpSpPr>
        <p:sp>
          <p:nvSpPr>
            <p:cNvPr id="6" name="object 6"/>
            <p:cNvSpPr/>
            <p:nvPr/>
          </p:nvSpPr>
          <p:spPr>
            <a:xfrm>
              <a:off x="5257799" y="2667000"/>
              <a:ext cx="3710940" cy="3886200"/>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111878" y="4185792"/>
              <a:ext cx="2212975" cy="1153795"/>
            </a:xfrm>
            <a:custGeom>
              <a:avLst/>
              <a:gdLst/>
              <a:ahLst/>
              <a:cxnLst/>
              <a:rect l="l" t="t" r="r" b="b"/>
              <a:pathLst>
                <a:path w="2212975" h="1153795">
                  <a:moveTo>
                    <a:pt x="2177832" y="16088"/>
                  </a:moveTo>
                  <a:lnTo>
                    <a:pt x="0" y="1142618"/>
                  </a:lnTo>
                  <a:lnTo>
                    <a:pt x="5842" y="1153794"/>
                  </a:lnTo>
                  <a:lnTo>
                    <a:pt x="2183653" y="27401"/>
                  </a:lnTo>
                  <a:lnTo>
                    <a:pt x="2190431" y="16724"/>
                  </a:lnTo>
                  <a:lnTo>
                    <a:pt x="2177832" y="16088"/>
                  </a:lnTo>
                  <a:close/>
                </a:path>
                <a:path w="2212975" h="1153795">
                  <a:moveTo>
                    <a:pt x="2212640" y="5333"/>
                  </a:moveTo>
                  <a:lnTo>
                    <a:pt x="2198624" y="5333"/>
                  </a:lnTo>
                  <a:lnTo>
                    <a:pt x="2204466" y="16636"/>
                  </a:lnTo>
                  <a:lnTo>
                    <a:pt x="2183653" y="27401"/>
                  </a:lnTo>
                  <a:lnTo>
                    <a:pt x="2148967" y="82041"/>
                  </a:lnTo>
                  <a:lnTo>
                    <a:pt x="2147062" y="85089"/>
                  </a:lnTo>
                  <a:lnTo>
                    <a:pt x="2147951" y="88899"/>
                  </a:lnTo>
                  <a:lnTo>
                    <a:pt x="2153793" y="92709"/>
                  </a:lnTo>
                  <a:lnTo>
                    <a:pt x="2157730" y="91820"/>
                  </a:lnTo>
                  <a:lnTo>
                    <a:pt x="2159635" y="88899"/>
                  </a:lnTo>
                  <a:lnTo>
                    <a:pt x="2212640" y="5333"/>
                  </a:lnTo>
                  <a:close/>
                </a:path>
                <a:path w="2212975" h="1153795">
                  <a:moveTo>
                    <a:pt x="2190431" y="16724"/>
                  </a:moveTo>
                  <a:lnTo>
                    <a:pt x="2183653" y="27401"/>
                  </a:lnTo>
                  <a:lnTo>
                    <a:pt x="2203238" y="17271"/>
                  </a:lnTo>
                  <a:lnTo>
                    <a:pt x="2201291" y="17271"/>
                  </a:lnTo>
                  <a:lnTo>
                    <a:pt x="2190431" y="16724"/>
                  </a:lnTo>
                  <a:close/>
                </a:path>
                <a:path w="2212975" h="1153795">
                  <a:moveTo>
                    <a:pt x="2196211" y="7619"/>
                  </a:moveTo>
                  <a:lnTo>
                    <a:pt x="2190431" y="16724"/>
                  </a:lnTo>
                  <a:lnTo>
                    <a:pt x="2201291" y="17271"/>
                  </a:lnTo>
                  <a:lnTo>
                    <a:pt x="2196211" y="7619"/>
                  </a:lnTo>
                  <a:close/>
                </a:path>
                <a:path w="2212975" h="1153795">
                  <a:moveTo>
                    <a:pt x="2199805" y="7619"/>
                  </a:moveTo>
                  <a:lnTo>
                    <a:pt x="2196211" y="7619"/>
                  </a:lnTo>
                  <a:lnTo>
                    <a:pt x="2201291" y="17271"/>
                  </a:lnTo>
                  <a:lnTo>
                    <a:pt x="2203238" y="17271"/>
                  </a:lnTo>
                  <a:lnTo>
                    <a:pt x="2204466" y="16636"/>
                  </a:lnTo>
                  <a:lnTo>
                    <a:pt x="2199805" y="7619"/>
                  </a:lnTo>
                  <a:close/>
                </a:path>
                <a:path w="2212975" h="1153795">
                  <a:moveTo>
                    <a:pt x="2198624" y="5333"/>
                  </a:moveTo>
                  <a:lnTo>
                    <a:pt x="2177832" y="16088"/>
                  </a:lnTo>
                  <a:lnTo>
                    <a:pt x="2190431" y="16724"/>
                  </a:lnTo>
                  <a:lnTo>
                    <a:pt x="2196211" y="7619"/>
                  </a:lnTo>
                  <a:lnTo>
                    <a:pt x="2199805" y="7619"/>
                  </a:lnTo>
                  <a:lnTo>
                    <a:pt x="2198624" y="5333"/>
                  </a:lnTo>
                  <a:close/>
                </a:path>
                <a:path w="2212975" h="1153795">
                  <a:moveTo>
                    <a:pt x="2110232" y="0"/>
                  </a:moveTo>
                  <a:lnTo>
                    <a:pt x="2107311" y="2666"/>
                  </a:lnTo>
                  <a:lnTo>
                    <a:pt x="2107057" y="6222"/>
                  </a:lnTo>
                  <a:lnTo>
                    <a:pt x="2106930" y="9651"/>
                  </a:lnTo>
                  <a:lnTo>
                    <a:pt x="2109597" y="12699"/>
                  </a:lnTo>
                  <a:lnTo>
                    <a:pt x="2113153" y="12826"/>
                  </a:lnTo>
                  <a:lnTo>
                    <a:pt x="2177832" y="16088"/>
                  </a:lnTo>
                  <a:lnTo>
                    <a:pt x="2198624" y="5333"/>
                  </a:lnTo>
                  <a:lnTo>
                    <a:pt x="2212640" y="5333"/>
                  </a:lnTo>
                  <a:lnTo>
                    <a:pt x="2113788" y="126"/>
                  </a:lnTo>
                  <a:lnTo>
                    <a:pt x="2110232" y="0"/>
                  </a:lnTo>
                  <a:close/>
                </a:path>
              </a:pathLst>
            </a:custGeom>
            <a:solidFill>
              <a:srgbClr val="005FD0"/>
            </a:solidFill>
          </p:spPr>
          <p:txBody>
            <a:bodyPr wrap="square" lIns="0" tIns="0" rIns="0" bIns="0" rtlCol="0"/>
            <a:lstStyle/>
            <a:p>
              <a:endParaRPr/>
            </a:p>
          </p:txBody>
        </p:sp>
      </p:grpSp>
      <p:sp>
        <p:nvSpPr>
          <p:cNvPr id="8" name="object 8"/>
          <p:cNvSpPr txBox="1"/>
          <p:nvPr/>
        </p:nvSpPr>
        <p:spPr>
          <a:xfrm>
            <a:off x="2590800" y="5410200"/>
            <a:ext cx="2438400" cy="376555"/>
          </a:xfrm>
          <a:prstGeom prst="rect">
            <a:avLst/>
          </a:prstGeom>
          <a:solidFill>
            <a:srgbClr val="0E6EC5"/>
          </a:solidFill>
          <a:ln w="9144">
            <a:solidFill>
              <a:srgbClr val="85DFD0"/>
            </a:solidFill>
          </a:ln>
        </p:spPr>
        <p:txBody>
          <a:bodyPr vert="horz" wrap="square" lIns="0" tIns="40640" rIns="0" bIns="0" rtlCol="0">
            <a:spAutoFit/>
          </a:bodyPr>
          <a:lstStyle/>
          <a:p>
            <a:pPr marL="92075">
              <a:lnSpc>
                <a:spcPct val="100000"/>
              </a:lnSpc>
              <a:spcBef>
                <a:spcPts val="320"/>
              </a:spcBef>
            </a:pPr>
            <a:r>
              <a:rPr sz="1800" spc="-5" dirty="0">
                <a:solidFill>
                  <a:srgbClr val="000099"/>
                </a:solidFill>
                <a:latin typeface="Arial"/>
                <a:cs typeface="Arial"/>
              </a:rPr>
              <a:t>Micro pores </a:t>
            </a:r>
            <a:r>
              <a:rPr sz="1800" dirty="0">
                <a:solidFill>
                  <a:srgbClr val="000099"/>
                </a:solidFill>
                <a:latin typeface="Arial"/>
                <a:cs typeface="Arial"/>
              </a:rPr>
              <a:t>of</a:t>
            </a:r>
            <a:r>
              <a:rPr sz="1800" spc="-20" dirty="0">
                <a:solidFill>
                  <a:srgbClr val="000099"/>
                </a:solidFill>
                <a:latin typeface="Arial"/>
                <a:cs typeface="Arial"/>
              </a:rPr>
              <a:t> </a:t>
            </a:r>
            <a:r>
              <a:rPr sz="1800" spc="-5" dirty="0">
                <a:solidFill>
                  <a:srgbClr val="000099"/>
                </a:solidFill>
                <a:latin typeface="Arial"/>
                <a:cs typeface="Arial"/>
              </a:rPr>
              <a:t>Zeolite</a:t>
            </a:r>
            <a:endParaRPr sz="1800">
              <a:latin typeface="Arial"/>
              <a:cs typeface="Arial"/>
            </a:endParaRPr>
          </a:p>
        </p:txBody>
      </p:sp>
      <p:sp>
        <p:nvSpPr>
          <p:cNvPr id="9" name="object 9"/>
          <p:cNvSpPr txBox="1"/>
          <p:nvPr/>
        </p:nvSpPr>
        <p:spPr>
          <a:xfrm>
            <a:off x="4804028" y="5863234"/>
            <a:ext cx="3385820" cy="788035"/>
          </a:xfrm>
          <a:prstGeom prst="rect">
            <a:avLst/>
          </a:prstGeom>
        </p:spPr>
        <p:txBody>
          <a:bodyPr vert="horz" wrap="square" lIns="0" tIns="119380" rIns="0" bIns="0" rtlCol="0">
            <a:spAutoFit/>
          </a:bodyPr>
          <a:lstStyle/>
          <a:p>
            <a:pPr marL="12700">
              <a:lnSpc>
                <a:spcPct val="100000"/>
              </a:lnSpc>
              <a:spcBef>
                <a:spcPts val="940"/>
              </a:spcBef>
            </a:pPr>
            <a:r>
              <a:rPr sz="1800" dirty="0">
                <a:latin typeface="Times New Roman"/>
                <a:cs typeface="Times New Roman"/>
              </a:rPr>
              <a:t>10</a:t>
            </a:r>
            <a:endParaRPr sz="1800">
              <a:latin typeface="Times New Roman"/>
              <a:cs typeface="Times New Roman"/>
            </a:endParaRPr>
          </a:p>
          <a:p>
            <a:pPr marL="927100">
              <a:lnSpc>
                <a:spcPct val="100000"/>
              </a:lnSpc>
              <a:spcBef>
                <a:spcPts val="845"/>
              </a:spcBef>
            </a:pPr>
            <a:r>
              <a:rPr sz="1800" spc="-5" dirty="0">
                <a:latin typeface="Times New Roman"/>
                <a:cs typeface="Times New Roman"/>
              </a:rPr>
              <a:t>Porous </a:t>
            </a:r>
            <a:r>
              <a:rPr sz="1800" dirty="0">
                <a:latin typeface="Times New Roman"/>
                <a:cs typeface="Times New Roman"/>
              </a:rPr>
              <a:t>structure of</a:t>
            </a:r>
            <a:r>
              <a:rPr sz="1800" spc="-65" dirty="0">
                <a:latin typeface="Times New Roman"/>
                <a:cs typeface="Times New Roman"/>
              </a:rPr>
              <a:t> </a:t>
            </a:r>
            <a:r>
              <a:rPr sz="1800" dirty="0">
                <a:latin typeface="Times New Roman"/>
                <a:cs typeface="Times New Roman"/>
              </a:rPr>
              <a:t>Zeolite</a:t>
            </a:r>
            <a:endParaRPr sz="1800">
              <a:latin typeface="Times New Roman"/>
              <a:cs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46810"/>
            <a:ext cx="7049134" cy="3989704"/>
          </a:xfrm>
          <a:prstGeom prst="rect">
            <a:avLst/>
          </a:prstGeom>
        </p:spPr>
        <p:txBody>
          <a:bodyPr vert="horz" wrap="square" lIns="0" tIns="89535" rIns="0" bIns="0" rtlCol="0">
            <a:spAutoFit/>
          </a:bodyPr>
          <a:lstStyle/>
          <a:p>
            <a:pPr marL="12700">
              <a:lnSpc>
                <a:spcPct val="100000"/>
              </a:lnSpc>
              <a:spcBef>
                <a:spcPts val="705"/>
              </a:spcBef>
            </a:pPr>
            <a:r>
              <a:rPr sz="2200" spc="-55" dirty="0">
                <a:latin typeface="Times New Roman"/>
                <a:cs typeface="Times New Roman"/>
              </a:rPr>
              <a:t>Two</a:t>
            </a:r>
            <a:r>
              <a:rPr sz="2200" spc="-10" dirty="0">
                <a:latin typeface="Times New Roman"/>
                <a:cs typeface="Times New Roman"/>
              </a:rPr>
              <a:t> </a:t>
            </a:r>
            <a:r>
              <a:rPr sz="2200" dirty="0">
                <a:latin typeface="Times New Roman"/>
                <a:cs typeface="Times New Roman"/>
              </a:rPr>
              <a:t>types:</a:t>
            </a:r>
            <a:endParaRPr sz="2200">
              <a:latin typeface="Times New Roman"/>
              <a:cs typeface="Times New Roman"/>
            </a:endParaRPr>
          </a:p>
          <a:p>
            <a:pPr marL="348615" marR="3430904" indent="-348615">
              <a:lnSpc>
                <a:spcPct val="122700"/>
              </a:lnSpc>
              <a:spcBef>
                <a:spcPts val="5"/>
              </a:spcBef>
              <a:buAutoNum type="romanLcParenBoth"/>
              <a:tabLst>
                <a:tab pos="348615" algn="l"/>
                <a:tab pos="2268855" algn="l"/>
              </a:tabLst>
            </a:pPr>
            <a:r>
              <a:rPr sz="2200" spc="-5" dirty="0">
                <a:latin typeface="Times New Roman"/>
                <a:cs typeface="Times New Roman"/>
              </a:rPr>
              <a:t>Nat</a:t>
            </a:r>
            <a:r>
              <a:rPr sz="2200" spc="5" dirty="0">
                <a:latin typeface="Times New Roman"/>
                <a:cs typeface="Times New Roman"/>
              </a:rPr>
              <a:t>u</a:t>
            </a:r>
            <a:r>
              <a:rPr sz="2200" spc="-5" dirty="0">
                <a:latin typeface="Times New Roman"/>
                <a:cs typeface="Times New Roman"/>
              </a:rPr>
              <a:t>ral</a:t>
            </a:r>
            <a:r>
              <a:rPr sz="2200" spc="20" dirty="0">
                <a:latin typeface="Times New Roman"/>
                <a:cs typeface="Times New Roman"/>
              </a:rPr>
              <a:t> </a:t>
            </a:r>
            <a:r>
              <a:rPr sz="2200" spc="-5" dirty="0">
                <a:latin typeface="Times New Roman"/>
                <a:cs typeface="Times New Roman"/>
              </a:rPr>
              <a:t>Ze</a:t>
            </a:r>
            <a:r>
              <a:rPr sz="2200" spc="5" dirty="0">
                <a:latin typeface="Times New Roman"/>
                <a:cs typeface="Times New Roman"/>
              </a:rPr>
              <a:t>o</a:t>
            </a:r>
            <a:r>
              <a:rPr sz="2200" spc="-5" dirty="0">
                <a:latin typeface="Times New Roman"/>
                <a:cs typeface="Times New Roman"/>
              </a:rPr>
              <a:t>l</a:t>
            </a:r>
            <a:r>
              <a:rPr sz="2200" dirty="0">
                <a:latin typeface="Times New Roman"/>
                <a:cs typeface="Times New Roman"/>
              </a:rPr>
              <a:t>i</a:t>
            </a:r>
            <a:r>
              <a:rPr sz="2200" spc="-5" dirty="0">
                <a:latin typeface="Times New Roman"/>
                <a:cs typeface="Times New Roman"/>
              </a:rPr>
              <a:t>te:</a:t>
            </a:r>
            <a:r>
              <a:rPr sz="2200" dirty="0">
                <a:latin typeface="Times New Roman"/>
                <a:cs typeface="Times New Roman"/>
              </a:rPr>
              <a:t>	no</a:t>
            </a:r>
            <a:r>
              <a:rPr sz="2200" spc="-30" dirty="0">
                <a:latin typeface="Times New Roman"/>
                <a:cs typeface="Times New Roman"/>
              </a:rPr>
              <a:t>n</a:t>
            </a:r>
            <a:r>
              <a:rPr sz="2200" spc="-5" dirty="0">
                <a:latin typeface="Times New Roman"/>
                <a:cs typeface="Times New Roman"/>
              </a:rPr>
              <a:t>-p</a:t>
            </a:r>
            <a:r>
              <a:rPr sz="2200" dirty="0">
                <a:latin typeface="Times New Roman"/>
                <a:cs typeface="Times New Roman"/>
              </a:rPr>
              <a:t>o</a:t>
            </a:r>
            <a:r>
              <a:rPr sz="2200" spc="-5" dirty="0">
                <a:latin typeface="Times New Roman"/>
                <a:cs typeface="Times New Roman"/>
              </a:rPr>
              <a:t>rous.  e.g.,</a:t>
            </a:r>
            <a:r>
              <a:rPr sz="2200" spc="-15" dirty="0">
                <a:latin typeface="Times New Roman"/>
                <a:cs typeface="Times New Roman"/>
              </a:rPr>
              <a:t> </a:t>
            </a:r>
            <a:r>
              <a:rPr sz="2200" spc="-5" dirty="0">
                <a:latin typeface="Times New Roman"/>
                <a:cs typeface="Times New Roman"/>
              </a:rPr>
              <a:t>Natrolite</a:t>
            </a:r>
            <a:endParaRPr sz="2200">
              <a:latin typeface="Times New Roman"/>
              <a:cs typeface="Times New Roman"/>
            </a:endParaRPr>
          </a:p>
          <a:p>
            <a:pPr marL="424815" indent="-412750">
              <a:lnSpc>
                <a:spcPct val="100000"/>
              </a:lnSpc>
              <a:spcBef>
                <a:spcPts val="600"/>
              </a:spcBef>
              <a:buAutoNum type="romanLcParenBoth"/>
              <a:tabLst>
                <a:tab pos="425450" algn="l"/>
              </a:tabLst>
            </a:pPr>
            <a:r>
              <a:rPr sz="2200" dirty="0">
                <a:latin typeface="Times New Roman"/>
                <a:cs typeface="Times New Roman"/>
              </a:rPr>
              <a:t>Synthetic </a:t>
            </a:r>
            <a:r>
              <a:rPr sz="2200" spc="-5" dirty="0">
                <a:latin typeface="Times New Roman"/>
                <a:cs typeface="Times New Roman"/>
              </a:rPr>
              <a:t>zeolite: porous &amp; possess gel</a:t>
            </a:r>
            <a:r>
              <a:rPr sz="2200" spc="-20" dirty="0">
                <a:latin typeface="Times New Roman"/>
                <a:cs typeface="Times New Roman"/>
              </a:rPr>
              <a:t> </a:t>
            </a:r>
            <a:r>
              <a:rPr sz="2200" spc="-5" dirty="0">
                <a:latin typeface="Times New Roman"/>
                <a:cs typeface="Times New Roman"/>
              </a:rPr>
              <a:t>structure.</a:t>
            </a:r>
            <a:endParaRPr sz="2200">
              <a:latin typeface="Times New Roman"/>
              <a:cs typeface="Times New Roman"/>
            </a:endParaRPr>
          </a:p>
          <a:p>
            <a:pPr>
              <a:lnSpc>
                <a:spcPct val="100000"/>
              </a:lnSpc>
              <a:spcBef>
                <a:spcPts val="45"/>
              </a:spcBef>
            </a:pPr>
            <a:endParaRPr sz="3300">
              <a:latin typeface="Times New Roman"/>
              <a:cs typeface="Times New Roman"/>
            </a:endParaRPr>
          </a:p>
          <a:p>
            <a:pPr marL="287020" marR="67310" indent="-274955">
              <a:lnSpc>
                <a:spcPct val="100000"/>
              </a:lnSpc>
            </a:pPr>
            <a:r>
              <a:rPr sz="2200" spc="-5" dirty="0">
                <a:latin typeface="Times New Roman"/>
                <a:cs typeface="Times New Roman"/>
              </a:rPr>
              <a:t>They are prepared by heating together china </a:t>
            </a:r>
            <a:r>
              <a:rPr sz="2200" spc="-30" dirty="0">
                <a:latin typeface="Times New Roman"/>
                <a:cs typeface="Times New Roman"/>
              </a:rPr>
              <a:t>clay, </a:t>
            </a:r>
            <a:r>
              <a:rPr sz="2200" spc="-5" dirty="0">
                <a:latin typeface="Times New Roman"/>
                <a:cs typeface="Times New Roman"/>
              </a:rPr>
              <a:t>feldspar and  soda</a:t>
            </a:r>
            <a:r>
              <a:rPr sz="2200" spc="-20" dirty="0">
                <a:latin typeface="Times New Roman"/>
                <a:cs typeface="Times New Roman"/>
              </a:rPr>
              <a:t> </a:t>
            </a:r>
            <a:r>
              <a:rPr sz="2200" spc="-5" dirty="0">
                <a:latin typeface="Times New Roman"/>
                <a:cs typeface="Times New Roman"/>
              </a:rPr>
              <a:t>ash.</a:t>
            </a:r>
            <a:endParaRPr sz="2200">
              <a:latin typeface="Times New Roman"/>
              <a:cs typeface="Times New Roman"/>
            </a:endParaRPr>
          </a:p>
          <a:p>
            <a:pPr>
              <a:lnSpc>
                <a:spcPct val="100000"/>
              </a:lnSpc>
              <a:spcBef>
                <a:spcPts val="50"/>
              </a:spcBef>
            </a:pPr>
            <a:endParaRPr sz="3300">
              <a:latin typeface="Times New Roman"/>
              <a:cs typeface="Times New Roman"/>
            </a:endParaRPr>
          </a:p>
          <a:p>
            <a:pPr marL="287020" marR="5080" indent="-274955">
              <a:lnSpc>
                <a:spcPct val="100000"/>
              </a:lnSpc>
            </a:pPr>
            <a:r>
              <a:rPr sz="2200" spc="-5" dirty="0">
                <a:latin typeface="Times New Roman"/>
                <a:cs typeface="Times New Roman"/>
              </a:rPr>
              <a:t>Zeolites possess higher exchange capacity </a:t>
            </a:r>
            <a:r>
              <a:rPr sz="2200" dirty="0">
                <a:latin typeface="Times New Roman"/>
                <a:cs typeface="Times New Roman"/>
              </a:rPr>
              <a:t>per </a:t>
            </a:r>
            <a:r>
              <a:rPr sz="2200" spc="-5" dirty="0">
                <a:latin typeface="Times New Roman"/>
                <a:cs typeface="Times New Roman"/>
              </a:rPr>
              <a:t>unit weight than  natural</a:t>
            </a:r>
            <a:r>
              <a:rPr sz="2200" spc="-10" dirty="0">
                <a:latin typeface="Times New Roman"/>
                <a:cs typeface="Times New Roman"/>
              </a:rPr>
              <a:t> </a:t>
            </a:r>
            <a:r>
              <a:rPr sz="2200" spc="-5" dirty="0">
                <a:latin typeface="Times New Roman"/>
                <a:cs typeface="Times New Roman"/>
              </a:rPr>
              <a:t>zeolite.</a:t>
            </a:r>
            <a:endParaRPr sz="22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80</a:t>
            </a:fld>
            <a:endParaRPr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318005"/>
            <a:ext cx="1042035"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rPr>
              <a:t>Process:</a:t>
            </a:r>
          </a:p>
        </p:txBody>
      </p:sp>
      <p:sp>
        <p:nvSpPr>
          <p:cNvPr id="3" name="object 3"/>
          <p:cNvSpPr txBox="1"/>
          <p:nvPr/>
        </p:nvSpPr>
        <p:spPr>
          <a:xfrm>
            <a:off x="383540" y="1759661"/>
            <a:ext cx="8270240" cy="156591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Hard </a:t>
            </a:r>
            <a:r>
              <a:rPr sz="2400" spc="-5" dirty="0">
                <a:latin typeface="Times New Roman"/>
                <a:cs typeface="Times New Roman"/>
              </a:rPr>
              <a:t>water </a:t>
            </a:r>
            <a:r>
              <a:rPr sz="2400" dirty="0">
                <a:latin typeface="Times New Roman"/>
                <a:cs typeface="Times New Roman"/>
              </a:rPr>
              <a:t>is percolated at a </a:t>
            </a:r>
            <a:r>
              <a:rPr sz="2400" spc="-5" dirty="0">
                <a:latin typeface="Times New Roman"/>
                <a:cs typeface="Times New Roman"/>
              </a:rPr>
              <a:t>specified </a:t>
            </a:r>
            <a:r>
              <a:rPr sz="2400" dirty="0">
                <a:latin typeface="Times New Roman"/>
                <a:cs typeface="Times New Roman"/>
              </a:rPr>
              <a:t>rate through a bed of</a:t>
            </a:r>
            <a:r>
              <a:rPr sz="2400" spc="-114" dirty="0">
                <a:latin typeface="Times New Roman"/>
                <a:cs typeface="Times New Roman"/>
              </a:rPr>
              <a:t> </a:t>
            </a:r>
            <a:r>
              <a:rPr sz="2400" dirty="0">
                <a:latin typeface="Times New Roman"/>
                <a:cs typeface="Times New Roman"/>
              </a:rPr>
              <a:t>zeolite,</a:t>
            </a:r>
            <a:endParaRPr sz="2400">
              <a:latin typeface="Times New Roman"/>
              <a:cs typeface="Times New Roman"/>
            </a:endParaRPr>
          </a:p>
          <a:p>
            <a:pPr marL="286385">
              <a:lnSpc>
                <a:spcPct val="100000"/>
              </a:lnSpc>
              <a:spcBef>
                <a:spcPts val="5"/>
              </a:spcBef>
            </a:pPr>
            <a:r>
              <a:rPr sz="2400" dirty="0">
                <a:latin typeface="Times New Roman"/>
                <a:cs typeface="Times New Roman"/>
              </a:rPr>
              <a:t>kept in a</a:t>
            </a:r>
            <a:r>
              <a:rPr sz="2400" spc="-30" dirty="0">
                <a:latin typeface="Times New Roman"/>
                <a:cs typeface="Times New Roman"/>
              </a:rPr>
              <a:t> </a:t>
            </a:r>
            <a:r>
              <a:rPr sz="2400" spc="-15" dirty="0">
                <a:latin typeface="Times New Roman"/>
                <a:cs typeface="Times New Roman"/>
              </a:rPr>
              <a:t>cylinder.</a:t>
            </a:r>
            <a:endParaRPr sz="2400">
              <a:latin typeface="Times New Roman"/>
              <a:cs typeface="Times New Roman"/>
            </a:endParaRPr>
          </a:p>
          <a:p>
            <a:pPr marL="286385" marR="219710" indent="-274320">
              <a:lnSpc>
                <a:spcPct val="100000"/>
              </a:lnSpc>
              <a:spcBef>
                <a:spcPts val="600"/>
              </a:spcBef>
            </a:pPr>
            <a:r>
              <a:rPr sz="2400" dirty="0">
                <a:latin typeface="Times New Roman"/>
                <a:cs typeface="Times New Roman"/>
              </a:rPr>
              <a:t>The hardness-causing ions are retained by the zeolite </a:t>
            </a:r>
            <a:r>
              <a:rPr sz="2400" spc="-5" dirty="0">
                <a:latin typeface="Times New Roman"/>
                <a:cs typeface="Times New Roman"/>
              </a:rPr>
              <a:t>as </a:t>
            </a:r>
            <a:r>
              <a:rPr sz="2400" dirty="0">
                <a:latin typeface="Times New Roman"/>
                <a:cs typeface="Times New Roman"/>
              </a:rPr>
              <a:t>CaZe</a:t>
            </a:r>
            <a:r>
              <a:rPr sz="2400" spc="-220" dirty="0">
                <a:latin typeface="Times New Roman"/>
                <a:cs typeface="Times New Roman"/>
              </a:rPr>
              <a:t> </a:t>
            </a:r>
            <a:r>
              <a:rPr sz="2400" dirty="0">
                <a:latin typeface="Times New Roman"/>
                <a:cs typeface="Times New Roman"/>
              </a:rPr>
              <a:t>and  MgZe; while the outgoing water contains sodium</a:t>
            </a:r>
            <a:r>
              <a:rPr sz="2400" spc="-125" dirty="0">
                <a:latin typeface="Times New Roman"/>
                <a:cs typeface="Times New Roman"/>
              </a:rPr>
              <a:t> </a:t>
            </a:r>
            <a:r>
              <a:rPr sz="2400" dirty="0">
                <a:latin typeface="Times New Roman"/>
                <a:cs typeface="Times New Roman"/>
              </a:rPr>
              <a:t>salts.</a:t>
            </a:r>
            <a:endParaRPr sz="2400">
              <a:latin typeface="Times New Roman"/>
              <a:cs typeface="Times New Roman"/>
            </a:endParaRPr>
          </a:p>
        </p:txBody>
      </p:sp>
      <p:sp>
        <p:nvSpPr>
          <p:cNvPr id="4" name="object 4"/>
          <p:cNvSpPr txBox="1"/>
          <p:nvPr/>
        </p:nvSpPr>
        <p:spPr>
          <a:xfrm>
            <a:off x="358140" y="3741801"/>
            <a:ext cx="2651760" cy="909319"/>
          </a:xfrm>
          <a:prstGeom prst="rect">
            <a:avLst/>
          </a:prstGeom>
        </p:spPr>
        <p:txBody>
          <a:bodyPr vert="horz" wrap="square" lIns="0" tIns="12700" rIns="0" bIns="0" rtlCol="0">
            <a:spAutoFit/>
          </a:bodyPr>
          <a:lstStyle/>
          <a:p>
            <a:pPr marL="38100" marR="30480">
              <a:lnSpc>
                <a:spcPct val="120800"/>
              </a:lnSpc>
              <a:spcBef>
                <a:spcPts val="100"/>
              </a:spcBef>
            </a:pPr>
            <a:r>
              <a:rPr sz="2400" spc="-5" dirty="0">
                <a:solidFill>
                  <a:srgbClr val="6F2F9F"/>
                </a:solidFill>
                <a:latin typeface="Times New Roman"/>
                <a:cs typeface="Times New Roman"/>
              </a:rPr>
              <a:t>Na</a:t>
            </a:r>
            <a:r>
              <a:rPr sz="2400" spc="-7" baseline="-20833" dirty="0">
                <a:solidFill>
                  <a:srgbClr val="6F2F9F"/>
                </a:solidFill>
                <a:latin typeface="Times New Roman"/>
                <a:cs typeface="Times New Roman"/>
              </a:rPr>
              <a:t>2</a:t>
            </a:r>
            <a:r>
              <a:rPr sz="2400" spc="-5" dirty="0">
                <a:solidFill>
                  <a:srgbClr val="6F2F9F"/>
                </a:solidFill>
                <a:latin typeface="Times New Roman"/>
                <a:cs typeface="Times New Roman"/>
              </a:rPr>
              <a:t>Ze </a:t>
            </a:r>
            <a:r>
              <a:rPr sz="2400" dirty="0">
                <a:solidFill>
                  <a:srgbClr val="6F2F9F"/>
                </a:solidFill>
                <a:latin typeface="Times New Roman"/>
                <a:cs typeface="Times New Roman"/>
              </a:rPr>
              <a:t>+ </a:t>
            </a:r>
            <a:r>
              <a:rPr sz="2400" spc="-5" dirty="0">
                <a:solidFill>
                  <a:srgbClr val="6F2F9F"/>
                </a:solidFill>
                <a:latin typeface="Times New Roman"/>
                <a:cs typeface="Times New Roman"/>
              </a:rPr>
              <a:t>Ca(HCO</a:t>
            </a:r>
            <a:r>
              <a:rPr sz="2400" spc="-7" baseline="-20833" dirty="0">
                <a:solidFill>
                  <a:srgbClr val="6F2F9F"/>
                </a:solidFill>
                <a:latin typeface="Times New Roman"/>
                <a:cs typeface="Times New Roman"/>
              </a:rPr>
              <a:t>3</a:t>
            </a:r>
            <a:r>
              <a:rPr sz="2400" spc="-5" dirty="0">
                <a:solidFill>
                  <a:srgbClr val="6F2F9F"/>
                </a:solidFill>
                <a:latin typeface="Times New Roman"/>
                <a:cs typeface="Times New Roman"/>
              </a:rPr>
              <a:t>)</a:t>
            </a:r>
            <a:r>
              <a:rPr sz="2400" spc="-7" baseline="-20833" dirty="0">
                <a:solidFill>
                  <a:srgbClr val="6F2F9F"/>
                </a:solidFill>
                <a:latin typeface="Times New Roman"/>
                <a:cs typeface="Times New Roman"/>
              </a:rPr>
              <a:t>2  </a:t>
            </a:r>
            <a:r>
              <a:rPr sz="2400" spc="-5" dirty="0">
                <a:solidFill>
                  <a:srgbClr val="6F2F9F"/>
                </a:solidFill>
                <a:latin typeface="Times New Roman"/>
                <a:cs typeface="Times New Roman"/>
              </a:rPr>
              <a:t>Na</a:t>
            </a:r>
            <a:r>
              <a:rPr sz="2400" spc="-7" baseline="-20833" dirty="0">
                <a:solidFill>
                  <a:srgbClr val="6F2F9F"/>
                </a:solidFill>
                <a:latin typeface="Times New Roman"/>
                <a:cs typeface="Times New Roman"/>
              </a:rPr>
              <a:t>2</a:t>
            </a:r>
            <a:r>
              <a:rPr sz="2400" spc="-5" dirty="0">
                <a:solidFill>
                  <a:srgbClr val="6F2F9F"/>
                </a:solidFill>
                <a:latin typeface="Times New Roman"/>
                <a:cs typeface="Times New Roman"/>
              </a:rPr>
              <a:t>Ze </a:t>
            </a:r>
            <a:r>
              <a:rPr sz="2400" dirty="0">
                <a:solidFill>
                  <a:srgbClr val="6F2F9F"/>
                </a:solidFill>
                <a:latin typeface="Times New Roman"/>
                <a:cs typeface="Times New Roman"/>
              </a:rPr>
              <a:t>+</a:t>
            </a:r>
            <a:r>
              <a:rPr sz="2400" spc="-50" dirty="0">
                <a:solidFill>
                  <a:srgbClr val="6F2F9F"/>
                </a:solidFill>
                <a:latin typeface="Times New Roman"/>
                <a:cs typeface="Times New Roman"/>
              </a:rPr>
              <a:t> </a:t>
            </a:r>
            <a:r>
              <a:rPr sz="2400" spc="-5" dirty="0">
                <a:solidFill>
                  <a:srgbClr val="6F2F9F"/>
                </a:solidFill>
                <a:latin typeface="Times New Roman"/>
                <a:cs typeface="Times New Roman"/>
              </a:rPr>
              <a:t>Mg(HCO</a:t>
            </a:r>
            <a:r>
              <a:rPr sz="2400" spc="-7" baseline="-20833" dirty="0">
                <a:solidFill>
                  <a:srgbClr val="6F2F9F"/>
                </a:solidFill>
                <a:latin typeface="Times New Roman"/>
                <a:cs typeface="Times New Roman"/>
              </a:rPr>
              <a:t>3</a:t>
            </a:r>
            <a:r>
              <a:rPr sz="2400" spc="-5" dirty="0">
                <a:solidFill>
                  <a:srgbClr val="6F2F9F"/>
                </a:solidFill>
                <a:latin typeface="Times New Roman"/>
                <a:cs typeface="Times New Roman"/>
              </a:rPr>
              <a:t>)</a:t>
            </a:r>
            <a:r>
              <a:rPr sz="2400" spc="-7" baseline="-20833" dirty="0">
                <a:solidFill>
                  <a:srgbClr val="6F2F9F"/>
                </a:solidFill>
                <a:latin typeface="Times New Roman"/>
                <a:cs typeface="Times New Roman"/>
              </a:rPr>
              <a:t>2</a:t>
            </a:r>
            <a:endParaRPr sz="2400" baseline="-20833">
              <a:latin typeface="Times New Roman"/>
              <a:cs typeface="Times New Roman"/>
            </a:endParaRPr>
          </a:p>
        </p:txBody>
      </p:sp>
      <p:sp>
        <p:nvSpPr>
          <p:cNvPr id="5" name="object 5"/>
          <p:cNvSpPr txBox="1"/>
          <p:nvPr/>
        </p:nvSpPr>
        <p:spPr>
          <a:xfrm>
            <a:off x="3763390" y="3741801"/>
            <a:ext cx="2482850" cy="909319"/>
          </a:xfrm>
          <a:prstGeom prst="rect">
            <a:avLst/>
          </a:prstGeom>
        </p:spPr>
        <p:txBody>
          <a:bodyPr vert="horz" wrap="square" lIns="0" tIns="12700" rIns="0" bIns="0" rtlCol="0">
            <a:spAutoFit/>
          </a:bodyPr>
          <a:lstStyle/>
          <a:p>
            <a:pPr marL="124460" marR="30480" indent="-86995">
              <a:lnSpc>
                <a:spcPct val="120800"/>
              </a:lnSpc>
              <a:spcBef>
                <a:spcPts val="100"/>
              </a:spcBef>
            </a:pPr>
            <a:r>
              <a:rPr sz="2400" dirty="0">
                <a:solidFill>
                  <a:srgbClr val="6F2F9F"/>
                </a:solidFill>
                <a:latin typeface="Times New Roman"/>
                <a:cs typeface="Times New Roman"/>
              </a:rPr>
              <a:t>CaZe + </a:t>
            </a:r>
            <a:r>
              <a:rPr sz="2400" spc="-5" dirty="0">
                <a:solidFill>
                  <a:srgbClr val="6F2F9F"/>
                </a:solidFill>
                <a:latin typeface="Times New Roman"/>
                <a:cs typeface="Times New Roman"/>
              </a:rPr>
              <a:t>2NaHCO</a:t>
            </a:r>
            <a:r>
              <a:rPr sz="2400" spc="-7" baseline="-20833" dirty="0">
                <a:solidFill>
                  <a:srgbClr val="6F2F9F"/>
                </a:solidFill>
                <a:latin typeface="Times New Roman"/>
                <a:cs typeface="Times New Roman"/>
              </a:rPr>
              <a:t>3  </a:t>
            </a:r>
            <a:r>
              <a:rPr sz="2400" spc="-5" dirty="0">
                <a:solidFill>
                  <a:srgbClr val="6F2F9F"/>
                </a:solidFill>
                <a:latin typeface="Times New Roman"/>
                <a:cs typeface="Times New Roman"/>
              </a:rPr>
              <a:t>MgZe +</a:t>
            </a:r>
            <a:r>
              <a:rPr sz="2400" spc="-65" dirty="0">
                <a:solidFill>
                  <a:srgbClr val="6F2F9F"/>
                </a:solidFill>
                <a:latin typeface="Times New Roman"/>
                <a:cs typeface="Times New Roman"/>
              </a:rPr>
              <a:t> </a:t>
            </a:r>
            <a:r>
              <a:rPr sz="2400" spc="-5" dirty="0">
                <a:solidFill>
                  <a:srgbClr val="6F2F9F"/>
                </a:solidFill>
                <a:latin typeface="Times New Roman"/>
                <a:cs typeface="Times New Roman"/>
              </a:rPr>
              <a:t>2NaHCO</a:t>
            </a:r>
            <a:r>
              <a:rPr sz="2400" spc="-7" baseline="-20833" dirty="0">
                <a:solidFill>
                  <a:srgbClr val="6F2F9F"/>
                </a:solidFill>
                <a:latin typeface="Times New Roman"/>
                <a:cs typeface="Times New Roman"/>
              </a:rPr>
              <a:t>3</a:t>
            </a:r>
            <a:endParaRPr sz="2400" baseline="-20833">
              <a:latin typeface="Times New Roman"/>
              <a:cs typeface="Times New Roman"/>
            </a:endParaRPr>
          </a:p>
        </p:txBody>
      </p:sp>
      <p:sp>
        <p:nvSpPr>
          <p:cNvPr id="6" name="object 6"/>
          <p:cNvSpPr txBox="1"/>
          <p:nvPr/>
        </p:nvSpPr>
        <p:spPr>
          <a:xfrm>
            <a:off x="358140" y="5068112"/>
            <a:ext cx="1991360" cy="909319"/>
          </a:xfrm>
          <a:prstGeom prst="rect">
            <a:avLst/>
          </a:prstGeom>
        </p:spPr>
        <p:txBody>
          <a:bodyPr vert="horz" wrap="square" lIns="0" tIns="12700" rIns="0" bIns="0" rtlCol="0">
            <a:spAutoFit/>
          </a:bodyPr>
          <a:lstStyle/>
          <a:p>
            <a:pPr marL="38100" marR="30480">
              <a:lnSpc>
                <a:spcPct val="120800"/>
              </a:lnSpc>
              <a:spcBef>
                <a:spcPts val="100"/>
              </a:spcBef>
            </a:pPr>
            <a:r>
              <a:rPr sz="2400" spc="-5" dirty="0">
                <a:solidFill>
                  <a:srgbClr val="001F5F"/>
                </a:solidFill>
                <a:latin typeface="Times New Roman"/>
                <a:cs typeface="Times New Roman"/>
              </a:rPr>
              <a:t>Na</a:t>
            </a:r>
            <a:r>
              <a:rPr sz="2400" spc="-7" baseline="-20833" dirty="0">
                <a:solidFill>
                  <a:srgbClr val="001F5F"/>
                </a:solidFill>
                <a:latin typeface="Times New Roman"/>
                <a:cs typeface="Times New Roman"/>
              </a:rPr>
              <a:t>2</a:t>
            </a:r>
            <a:r>
              <a:rPr sz="2400" spc="-5" dirty="0">
                <a:solidFill>
                  <a:srgbClr val="001F5F"/>
                </a:solidFill>
                <a:latin typeface="Times New Roman"/>
                <a:cs typeface="Times New Roman"/>
              </a:rPr>
              <a:t>Ze </a:t>
            </a:r>
            <a:r>
              <a:rPr sz="2400" dirty="0">
                <a:solidFill>
                  <a:srgbClr val="001F5F"/>
                </a:solidFill>
                <a:latin typeface="Times New Roman"/>
                <a:cs typeface="Times New Roman"/>
              </a:rPr>
              <a:t>+ </a:t>
            </a:r>
            <a:r>
              <a:rPr sz="2400" spc="-5" dirty="0">
                <a:solidFill>
                  <a:srgbClr val="001F5F"/>
                </a:solidFill>
                <a:latin typeface="Times New Roman"/>
                <a:cs typeface="Times New Roman"/>
              </a:rPr>
              <a:t>CaCl</a:t>
            </a:r>
            <a:r>
              <a:rPr sz="2400" spc="-7" baseline="-20833" dirty="0">
                <a:solidFill>
                  <a:srgbClr val="001F5F"/>
                </a:solidFill>
                <a:latin typeface="Times New Roman"/>
                <a:cs typeface="Times New Roman"/>
              </a:rPr>
              <a:t>2  </a:t>
            </a:r>
            <a:r>
              <a:rPr sz="2400" spc="-5" dirty="0">
                <a:solidFill>
                  <a:srgbClr val="001F5F"/>
                </a:solidFill>
                <a:latin typeface="Times New Roman"/>
                <a:cs typeface="Times New Roman"/>
              </a:rPr>
              <a:t>Na</a:t>
            </a:r>
            <a:r>
              <a:rPr sz="2400" spc="-7" baseline="-20833" dirty="0">
                <a:solidFill>
                  <a:srgbClr val="001F5F"/>
                </a:solidFill>
                <a:latin typeface="Times New Roman"/>
                <a:cs typeface="Times New Roman"/>
              </a:rPr>
              <a:t>2</a:t>
            </a:r>
            <a:r>
              <a:rPr sz="2400" spc="-5" dirty="0">
                <a:solidFill>
                  <a:srgbClr val="001F5F"/>
                </a:solidFill>
                <a:latin typeface="Times New Roman"/>
                <a:cs typeface="Times New Roman"/>
              </a:rPr>
              <a:t>Ze </a:t>
            </a:r>
            <a:r>
              <a:rPr sz="2400" dirty="0">
                <a:solidFill>
                  <a:srgbClr val="001F5F"/>
                </a:solidFill>
                <a:latin typeface="Times New Roman"/>
                <a:cs typeface="Times New Roman"/>
              </a:rPr>
              <a:t>+</a:t>
            </a:r>
            <a:r>
              <a:rPr sz="2400" spc="-65" dirty="0">
                <a:solidFill>
                  <a:srgbClr val="001F5F"/>
                </a:solidFill>
                <a:latin typeface="Times New Roman"/>
                <a:cs typeface="Times New Roman"/>
              </a:rPr>
              <a:t> </a:t>
            </a:r>
            <a:r>
              <a:rPr sz="2400" spc="-5" dirty="0">
                <a:solidFill>
                  <a:srgbClr val="001F5F"/>
                </a:solidFill>
                <a:latin typeface="Times New Roman"/>
                <a:cs typeface="Times New Roman"/>
              </a:rPr>
              <a:t>MgCl</a:t>
            </a:r>
            <a:r>
              <a:rPr sz="2400" spc="-7" baseline="-20833" dirty="0">
                <a:solidFill>
                  <a:srgbClr val="001F5F"/>
                </a:solidFill>
                <a:latin typeface="Times New Roman"/>
                <a:cs typeface="Times New Roman"/>
              </a:rPr>
              <a:t>2</a:t>
            </a:r>
            <a:endParaRPr sz="2400" baseline="-20833">
              <a:latin typeface="Times New Roman"/>
              <a:cs typeface="Times New Roman"/>
            </a:endParaRPr>
          </a:p>
        </p:txBody>
      </p:sp>
      <p:sp>
        <p:nvSpPr>
          <p:cNvPr id="7" name="object 7"/>
          <p:cNvSpPr txBox="1"/>
          <p:nvPr/>
        </p:nvSpPr>
        <p:spPr>
          <a:xfrm>
            <a:off x="3889375" y="5068112"/>
            <a:ext cx="1974214" cy="909319"/>
          </a:xfrm>
          <a:prstGeom prst="rect">
            <a:avLst/>
          </a:prstGeom>
        </p:spPr>
        <p:txBody>
          <a:bodyPr vert="horz" wrap="square" lIns="0" tIns="12700" rIns="0" bIns="0" rtlCol="0">
            <a:spAutoFit/>
          </a:bodyPr>
          <a:lstStyle/>
          <a:p>
            <a:pPr marL="21590" marR="5080" indent="-9525">
              <a:lnSpc>
                <a:spcPct val="120800"/>
              </a:lnSpc>
              <a:spcBef>
                <a:spcPts val="100"/>
              </a:spcBef>
              <a:tabLst>
                <a:tab pos="822960" algn="l"/>
                <a:tab pos="919480" algn="l"/>
              </a:tabLst>
            </a:pPr>
            <a:r>
              <a:rPr sz="2400" dirty="0">
                <a:solidFill>
                  <a:srgbClr val="001F5F"/>
                </a:solidFill>
                <a:latin typeface="Times New Roman"/>
                <a:cs typeface="Times New Roman"/>
              </a:rPr>
              <a:t>CaZe	+ 2NaCl  MgZe		+</a:t>
            </a:r>
            <a:r>
              <a:rPr sz="2400" spc="-95" dirty="0">
                <a:solidFill>
                  <a:srgbClr val="001F5F"/>
                </a:solidFill>
                <a:latin typeface="Times New Roman"/>
                <a:cs typeface="Times New Roman"/>
              </a:rPr>
              <a:t> </a:t>
            </a:r>
            <a:r>
              <a:rPr sz="2400" spc="-5" dirty="0">
                <a:solidFill>
                  <a:srgbClr val="001F5F"/>
                </a:solidFill>
                <a:latin typeface="Times New Roman"/>
                <a:cs typeface="Times New Roman"/>
              </a:rPr>
              <a:t>2NaCl</a:t>
            </a:r>
            <a:endParaRPr sz="2400">
              <a:latin typeface="Times New Roman"/>
              <a:cs typeface="Times New Roman"/>
            </a:endParaRPr>
          </a:p>
        </p:txBody>
      </p:sp>
      <p:grpSp>
        <p:nvGrpSpPr>
          <p:cNvPr id="8" name="object 8"/>
          <p:cNvGrpSpPr/>
          <p:nvPr/>
        </p:nvGrpSpPr>
        <p:grpSpPr>
          <a:xfrm>
            <a:off x="3112007" y="4026408"/>
            <a:ext cx="407034" cy="71755"/>
            <a:chOff x="3112007" y="4026408"/>
            <a:chExt cx="407034" cy="71755"/>
          </a:xfrm>
        </p:grpSpPr>
        <p:sp>
          <p:nvSpPr>
            <p:cNvPr id="9" name="object 9"/>
            <p:cNvSpPr/>
            <p:nvPr/>
          </p:nvSpPr>
          <p:spPr>
            <a:xfrm>
              <a:off x="3124961" y="4039362"/>
              <a:ext cx="381000" cy="45720"/>
            </a:xfrm>
            <a:custGeom>
              <a:avLst/>
              <a:gdLst/>
              <a:ahLst/>
              <a:cxnLst/>
              <a:rect l="l" t="t" r="r" b="b"/>
              <a:pathLst>
                <a:path w="381000" h="45720">
                  <a:moveTo>
                    <a:pt x="358139" y="0"/>
                  </a:moveTo>
                  <a:lnTo>
                    <a:pt x="358139" y="11430"/>
                  </a:lnTo>
                  <a:lnTo>
                    <a:pt x="0" y="11430"/>
                  </a:lnTo>
                  <a:lnTo>
                    <a:pt x="0" y="34289"/>
                  </a:lnTo>
                  <a:lnTo>
                    <a:pt x="358139" y="34289"/>
                  </a:lnTo>
                  <a:lnTo>
                    <a:pt x="358139" y="45719"/>
                  </a:lnTo>
                  <a:lnTo>
                    <a:pt x="381000" y="22860"/>
                  </a:lnTo>
                  <a:lnTo>
                    <a:pt x="358139" y="0"/>
                  </a:lnTo>
                  <a:close/>
                </a:path>
              </a:pathLst>
            </a:custGeom>
            <a:solidFill>
              <a:srgbClr val="0E6EC5"/>
            </a:solidFill>
          </p:spPr>
          <p:txBody>
            <a:bodyPr wrap="square" lIns="0" tIns="0" rIns="0" bIns="0" rtlCol="0"/>
            <a:lstStyle/>
            <a:p>
              <a:endParaRPr/>
            </a:p>
          </p:txBody>
        </p:sp>
        <p:sp>
          <p:nvSpPr>
            <p:cNvPr id="10" name="object 10"/>
            <p:cNvSpPr/>
            <p:nvPr/>
          </p:nvSpPr>
          <p:spPr>
            <a:xfrm>
              <a:off x="3124961" y="4039362"/>
              <a:ext cx="381000" cy="45720"/>
            </a:xfrm>
            <a:custGeom>
              <a:avLst/>
              <a:gdLst/>
              <a:ahLst/>
              <a:cxnLst/>
              <a:rect l="l" t="t" r="r" b="b"/>
              <a:pathLst>
                <a:path w="381000" h="45720">
                  <a:moveTo>
                    <a:pt x="0" y="11430"/>
                  </a:moveTo>
                  <a:lnTo>
                    <a:pt x="358139" y="11430"/>
                  </a:lnTo>
                  <a:lnTo>
                    <a:pt x="358139" y="0"/>
                  </a:lnTo>
                  <a:lnTo>
                    <a:pt x="381000" y="22860"/>
                  </a:lnTo>
                  <a:lnTo>
                    <a:pt x="358139" y="45719"/>
                  </a:lnTo>
                  <a:lnTo>
                    <a:pt x="358139" y="34289"/>
                  </a:lnTo>
                  <a:lnTo>
                    <a:pt x="0" y="34289"/>
                  </a:lnTo>
                  <a:lnTo>
                    <a:pt x="0" y="11430"/>
                  </a:lnTo>
                  <a:close/>
                </a:path>
              </a:pathLst>
            </a:custGeom>
            <a:ln w="25908">
              <a:solidFill>
                <a:srgbClr val="085091"/>
              </a:solidFill>
            </a:ln>
          </p:spPr>
          <p:txBody>
            <a:bodyPr wrap="square" lIns="0" tIns="0" rIns="0" bIns="0" rtlCol="0"/>
            <a:lstStyle/>
            <a:p>
              <a:endParaRPr/>
            </a:p>
          </p:txBody>
        </p:sp>
      </p:grpSp>
      <p:grpSp>
        <p:nvGrpSpPr>
          <p:cNvPr id="11" name="object 11"/>
          <p:cNvGrpSpPr/>
          <p:nvPr/>
        </p:nvGrpSpPr>
        <p:grpSpPr>
          <a:xfrm>
            <a:off x="3188207" y="4407408"/>
            <a:ext cx="330835" cy="102235"/>
            <a:chOff x="3188207" y="4407408"/>
            <a:chExt cx="330835" cy="102235"/>
          </a:xfrm>
        </p:grpSpPr>
        <p:sp>
          <p:nvSpPr>
            <p:cNvPr id="12" name="object 12"/>
            <p:cNvSpPr/>
            <p:nvPr/>
          </p:nvSpPr>
          <p:spPr>
            <a:xfrm>
              <a:off x="3201161" y="4420362"/>
              <a:ext cx="304800" cy="76200"/>
            </a:xfrm>
            <a:custGeom>
              <a:avLst/>
              <a:gdLst/>
              <a:ahLst/>
              <a:cxnLst/>
              <a:rect l="l" t="t" r="r" b="b"/>
              <a:pathLst>
                <a:path w="304800" h="76200">
                  <a:moveTo>
                    <a:pt x="266700" y="0"/>
                  </a:moveTo>
                  <a:lnTo>
                    <a:pt x="266700" y="19050"/>
                  </a:lnTo>
                  <a:lnTo>
                    <a:pt x="0" y="19050"/>
                  </a:lnTo>
                  <a:lnTo>
                    <a:pt x="0" y="57150"/>
                  </a:lnTo>
                  <a:lnTo>
                    <a:pt x="266700" y="57150"/>
                  </a:lnTo>
                  <a:lnTo>
                    <a:pt x="266700" y="76200"/>
                  </a:lnTo>
                  <a:lnTo>
                    <a:pt x="304800" y="38100"/>
                  </a:lnTo>
                  <a:lnTo>
                    <a:pt x="266700" y="0"/>
                  </a:lnTo>
                  <a:close/>
                </a:path>
              </a:pathLst>
            </a:custGeom>
            <a:solidFill>
              <a:srgbClr val="0E6EC5"/>
            </a:solidFill>
          </p:spPr>
          <p:txBody>
            <a:bodyPr wrap="square" lIns="0" tIns="0" rIns="0" bIns="0" rtlCol="0"/>
            <a:lstStyle/>
            <a:p>
              <a:endParaRPr/>
            </a:p>
          </p:txBody>
        </p:sp>
        <p:sp>
          <p:nvSpPr>
            <p:cNvPr id="13" name="object 13"/>
            <p:cNvSpPr/>
            <p:nvPr/>
          </p:nvSpPr>
          <p:spPr>
            <a:xfrm>
              <a:off x="3201161" y="4420362"/>
              <a:ext cx="304800" cy="76200"/>
            </a:xfrm>
            <a:custGeom>
              <a:avLst/>
              <a:gdLst/>
              <a:ahLst/>
              <a:cxnLst/>
              <a:rect l="l" t="t" r="r" b="b"/>
              <a:pathLst>
                <a:path w="304800" h="76200">
                  <a:moveTo>
                    <a:pt x="0" y="19050"/>
                  </a:moveTo>
                  <a:lnTo>
                    <a:pt x="266700" y="19050"/>
                  </a:lnTo>
                  <a:lnTo>
                    <a:pt x="266700" y="0"/>
                  </a:lnTo>
                  <a:lnTo>
                    <a:pt x="304800" y="38100"/>
                  </a:lnTo>
                  <a:lnTo>
                    <a:pt x="266700" y="76200"/>
                  </a:lnTo>
                  <a:lnTo>
                    <a:pt x="266700" y="57150"/>
                  </a:lnTo>
                  <a:lnTo>
                    <a:pt x="0" y="57150"/>
                  </a:lnTo>
                  <a:lnTo>
                    <a:pt x="0" y="19050"/>
                  </a:lnTo>
                  <a:close/>
                </a:path>
              </a:pathLst>
            </a:custGeom>
            <a:ln w="25908">
              <a:solidFill>
                <a:srgbClr val="085091"/>
              </a:solidFill>
            </a:ln>
          </p:spPr>
          <p:txBody>
            <a:bodyPr wrap="square" lIns="0" tIns="0" rIns="0" bIns="0" rtlCol="0"/>
            <a:lstStyle/>
            <a:p>
              <a:endParaRPr/>
            </a:p>
          </p:txBody>
        </p:sp>
      </p:grpSp>
      <p:grpSp>
        <p:nvGrpSpPr>
          <p:cNvPr id="14" name="object 14"/>
          <p:cNvGrpSpPr/>
          <p:nvPr/>
        </p:nvGrpSpPr>
        <p:grpSpPr>
          <a:xfrm>
            <a:off x="2883407" y="5702808"/>
            <a:ext cx="635635" cy="102235"/>
            <a:chOff x="2883407" y="5702808"/>
            <a:chExt cx="635635" cy="102235"/>
          </a:xfrm>
        </p:grpSpPr>
        <p:sp>
          <p:nvSpPr>
            <p:cNvPr id="15" name="object 15"/>
            <p:cNvSpPr/>
            <p:nvPr/>
          </p:nvSpPr>
          <p:spPr>
            <a:xfrm>
              <a:off x="2896361" y="5715762"/>
              <a:ext cx="609600" cy="76200"/>
            </a:xfrm>
            <a:custGeom>
              <a:avLst/>
              <a:gdLst/>
              <a:ahLst/>
              <a:cxnLst/>
              <a:rect l="l" t="t" r="r" b="b"/>
              <a:pathLst>
                <a:path w="609600" h="76200">
                  <a:moveTo>
                    <a:pt x="571500" y="0"/>
                  </a:moveTo>
                  <a:lnTo>
                    <a:pt x="571500" y="19050"/>
                  </a:lnTo>
                  <a:lnTo>
                    <a:pt x="0" y="19050"/>
                  </a:lnTo>
                  <a:lnTo>
                    <a:pt x="0" y="57150"/>
                  </a:lnTo>
                  <a:lnTo>
                    <a:pt x="571500" y="57150"/>
                  </a:lnTo>
                  <a:lnTo>
                    <a:pt x="571500" y="76200"/>
                  </a:lnTo>
                  <a:lnTo>
                    <a:pt x="609600" y="38100"/>
                  </a:lnTo>
                  <a:lnTo>
                    <a:pt x="571500" y="0"/>
                  </a:lnTo>
                  <a:close/>
                </a:path>
              </a:pathLst>
            </a:custGeom>
            <a:solidFill>
              <a:srgbClr val="0E6EC5"/>
            </a:solidFill>
          </p:spPr>
          <p:txBody>
            <a:bodyPr wrap="square" lIns="0" tIns="0" rIns="0" bIns="0" rtlCol="0"/>
            <a:lstStyle/>
            <a:p>
              <a:endParaRPr/>
            </a:p>
          </p:txBody>
        </p:sp>
        <p:sp>
          <p:nvSpPr>
            <p:cNvPr id="16" name="object 16"/>
            <p:cNvSpPr/>
            <p:nvPr/>
          </p:nvSpPr>
          <p:spPr>
            <a:xfrm>
              <a:off x="2896361" y="5715762"/>
              <a:ext cx="609600" cy="76200"/>
            </a:xfrm>
            <a:custGeom>
              <a:avLst/>
              <a:gdLst/>
              <a:ahLst/>
              <a:cxnLst/>
              <a:rect l="l" t="t" r="r" b="b"/>
              <a:pathLst>
                <a:path w="609600" h="76200">
                  <a:moveTo>
                    <a:pt x="0" y="19050"/>
                  </a:moveTo>
                  <a:lnTo>
                    <a:pt x="571500" y="19050"/>
                  </a:lnTo>
                  <a:lnTo>
                    <a:pt x="571500" y="0"/>
                  </a:lnTo>
                  <a:lnTo>
                    <a:pt x="609600" y="38100"/>
                  </a:lnTo>
                  <a:lnTo>
                    <a:pt x="571500" y="76200"/>
                  </a:lnTo>
                  <a:lnTo>
                    <a:pt x="571500" y="57150"/>
                  </a:lnTo>
                  <a:lnTo>
                    <a:pt x="0" y="57150"/>
                  </a:lnTo>
                  <a:lnTo>
                    <a:pt x="0" y="19050"/>
                  </a:lnTo>
                  <a:close/>
                </a:path>
              </a:pathLst>
            </a:custGeom>
            <a:ln w="25908">
              <a:solidFill>
                <a:srgbClr val="085091"/>
              </a:solidFill>
            </a:ln>
          </p:spPr>
          <p:txBody>
            <a:bodyPr wrap="square" lIns="0" tIns="0" rIns="0" bIns="0" rtlCol="0"/>
            <a:lstStyle/>
            <a:p>
              <a:endParaRPr/>
            </a:p>
          </p:txBody>
        </p:sp>
      </p:grpSp>
      <p:grpSp>
        <p:nvGrpSpPr>
          <p:cNvPr id="17" name="object 17"/>
          <p:cNvGrpSpPr/>
          <p:nvPr/>
        </p:nvGrpSpPr>
        <p:grpSpPr>
          <a:xfrm>
            <a:off x="2959607" y="5321808"/>
            <a:ext cx="559435" cy="102235"/>
            <a:chOff x="2959607" y="5321808"/>
            <a:chExt cx="559435" cy="102235"/>
          </a:xfrm>
        </p:grpSpPr>
        <p:sp>
          <p:nvSpPr>
            <p:cNvPr id="18" name="object 18"/>
            <p:cNvSpPr/>
            <p:nvPr/>
          </p:nvSpPr>
          <p:spPr>
            <a:xfrm>
              <a:off x="2972561" y="5334762"/>
              <a:ext cx="533400" cy="76200"/>
            </a:xfrm>
            <a:custGeom>
              <a:avLst/>
              <a:gdLst/>
              <a:ahLst/>
              <a:cxnLst/>
              <a:rect l="l" t="t" r="r" b="b"/>
              <a:pathLst>
                <a:path w="533400" h="76200">
                  <a:moveTo>
                    <a:pt x="495300" y="0"/>
                  </a:moveTo>
                  <a:lnTo>
                    <a:pt x="495300" y="19050"/>
                  </a:lnTo>
                  <a:lnTo>
                    <a:pt x="0" y="19050"/>
                  </a:lnTo>
                  <a:lnTo>
                    <a:pt x="0" y="57150"/>
                  </a:lnTo>
                  <a:lnTo>
                    <a:pt x="495300" y="57150"/>
                  </a:lnTo>
                  <a:lnTo>
                    <a:pt x="495300" y="76200"/>
                  </a:lnTo>
                  <a:lnTo>
                    <a:pt x="533400" y="38100"/>
                  </a:lnTo>
                  <a:lnTo>
                    <a:pt x="495300" y="0"/>
                  </a:lnTo>
                  <a:close/>
                </a:path>
              </a:pathLst>
            </a:custGeom>
            <a:solidFill>
              <a:srgbClr val="0E6EC5"/>
            </a:solidFill>
          </p:spPr>
          <p:txBody>
            <a:bodyPr wrap="square" lIns="0" tIns="0" rIns="0" bIns="0" rtlCol="0"/>
            <a:lstStyle/>
            <a:p>
              <a:endParaRPr/>
            </a:p>
          </p:txBody>
        </p:sp>
        <p:sp>
          <p:nvSpPr>
            <p:cNvPr id="19" name="object 19"/>
            <p:cNvSpPr/>
            <p:nvPr/>
          </p:nvSpPr>
          <p:spPr>
            <a:xfrm>
              <a:off x="2972561" y="5334762"/>
              <a:ext cx="533400" cy="76200"/>
            </a:xfrm>
            <a:custGeom>
              <a:avLst/>
              <a:gdLst/>
              <a:ahLst/>
              <a:cxnLst/>
              <a:rect l="l" t="t" r="r" b="b"/>
              <a:pathLst>
                <a:path w="533400" h="76200">
                  <a:moveTo>
                    <a:pt x="0" y="19050"/>
                  </a:moveTo>
                  <a:lnTo>
                    <a:pt x="495300" y="19050"/>
                  </a:lnTo>
                  <a:lnTo>
                    <a:pt x="495300" y="0"/>
                  </a:lnTo>
                  <a:lnTo>
                    <a:pt x="533400" y="38100"/>
                  </a:lnTo>
                  <a:lnTo>
                    <a:pt x="495300" y="76200"/>
                  </a:lnTo>
                  <a:lnTo>
                    <a:pt x="495300" y="57150"/>
                  </a:lnTo>
                  <a:lnTo>
                    <a:pt x="0" y="57150"/>
                  </a:lnTo>
                  <a:lnTo>
                    <a:pt x="0" y="19050"/>
                  </a:lnTo>
                  <a:close/>
                </a:path>
              </a:pathLst>
            </a:custGeom>
            <a:ln w="25908">
              <a:solidFill>
                <a:srgbClr val="085091"/>
              </a:solidFill>
            </a:ln>
          </p:spPr>
          <p:txBody>
            <a:bodyPr wrap="square" lIns="0" tIns="0" rIns="0" bIns="0" rtlCol="0"/>
            <a:lstStyle/>
            <a:p>
              <a:endParaRPr/>
            </a:p>
          </p:txBody>
        </p:sp>
      </p:grpSp>
      <p:sp>
        <p:nvSpPr>
          <p:cNvPr id="20" name="object 20"/>
          <p:cNvSpPr txBox="1"/>
          <p:nvPr/>
        </p:nvSpPr>
        <p:spPr>
          <a:xfrm>
            <a:off x="381000" y="3429000"/>
            <a:ext cx="3124200" cy="338455"/>
          </a:xfrm>
          <a:prstGeom prst="rect">
            <a:avLst/>
          </a:prstGeom>
          <a:solidFill>
            <a:srgbClr val="33CCCC"/>
          </a:solidFill>
          <a:ln w="9144">
            <a:solidFill>
              <a:srgbClr val="85DFD0"/>
            </a:solidFill>
          </a:ln>
        </p:spPr>
        <p:txBody>
          <a:bodyPr vert="horz" wrap="square" lIns="0" tIns="41275" rIns="0" bIns="0" rtlCol="0">
            <a:spAutoFit/>
          </a:bodyPr>
          <a:lstStyle/>
          <a:p>
            <a:pPr marL="91440">
              <a:lnSpc>
                <a:spcPct val="100000"/>
              </a:lnSpc>
              <a:spcBef>
                <a:spcPts val="325"/>
              </a:spcBef>
            </a:pPr>
            <a:r>
              <a:rPr sz="1600" spc="-95" dirty="0">
                <a:solidFill>
                  <a:srgbClr val="000099"/>
                </a:solidFill>
                <a:latin typeface="Arial"/>
                <a:cs typeface="Arial"/>
              </a:rPr>
              <a:t>To </a:t>
            </a:r>
            <a:r>
              <a:rPr sz="1600" spc="-5" dirty="0">
                <a:solidFill>
                  <a:srgbClr val="000099"/>
                </a:solidFill>
                <a:latin typeface="Arial"/>
                <a:cs typeface="Arial"/>
              </a:rPr>
              <a:t>remove temporary</a:t>
            </a:r>
            <a:r>
              <a:rPr sz="1600" spc="135" dirty="0">
                <a:solidFill>
                  <a:srgbClr val="000099"/>
                </a:solidFill>
                <a:latin typeface="Arial"/>
                <a:cs typeface="Arial"/>
              </a:rPr>
              <a:t> </a:t>
            </a:r>
            <a:r>
              <a:rPr sz="1600" spc="-5" dirty="0">
                <a:solidFill>
                  <a:srgbClr val="000099"/>
                </a:solidFill>
                <a:latin typeface="Arial"/>
                <a:cs typeface="Arial"/>
              </a:rPr>
              <a:t>hardness</a:t>
            </a:r>
            <a:endParaRPr sz="1600">
              <a:latin typeface="Arial"/>
              <a:cs typeface="Arial"/>
            </a:endParaRPr>
          </a:p>
        </p:txBody>
      </p:sp>
      <p:sp>
        <p:nvSpPr>
          <p:cNvPr id="22" name="object 22"/>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81</a:t>
            </a:fld>
            <a:endParaRPr dirty="0"/>
          </a:p>
        </p:txBody>
      </p:sp>
      <p:sp>
        <p:nvSpPr>
          <p:cNvPr id="21" name="object 21"/>
          <p:cNvSpPr txBox="1"/>
          <p:nvPr/>
        </p:nvSpPr>
        <p:spPr>
          <a:xfrm>
            <a:off x="457200" y="4724400"/>
            <a:ext cx="2895600" cy="314325"/>
          </a:xfrm>
          <a:prstGeom prst="rect">
            <a:avLst/>
          </a:prstGeom>
          <a:solidFill>
            <a:srgbClr val="E1D600"/>
          </a:solidFill>
          <a:ln w="9144">
            <a:solidFill>
              <a:srgbClr val="85DFD0"/>
            </a:solidFill>
          </a:ln>
        </p:spPr>
        <p:txBody>
          <a:bodyPr vert="horz" wrap="square" lIns="0" tIns="40640" rIns="0" bIns="0" rtlCol="0">
            <a:spAutoFit/>
          </a:bodyPr>
          <a:lstStyle/>
          <a:p>
            <a:pPr marL="91440">
              <a:lnSpc>
                <a:spcPct val="100000"/>
              </a:lnSpc>
              <a:spcBef>
                <a:spcPts val="320"/>
              </a:spcBef>
            </a:pPr>
            <a:r>
              <a:rPr sz="1400" spc="-80" dirty="0">
                <a:solidFill>
                  <a:srgbClr val="000099"/>
                </a:solidFill>
                <a:latin typeface="Arial"/>
                <a:cs typeface="Arial"/>
              </a:rPr>
              <a:t>To </a:t>
            </a:r>
            <a:r>
              <a:rPr sz="1400" spc="-5" dirty="0">
                <a:solidFill>
                  <a:srgbClr val="000099"/>
                </a:solidFill>
                <a:latin typeface="Arial"/>
                <a:cs typeface="Arial"/>
              </a:rPr>
              <a:t>remove </a:t>
            </a:r>
            <a:r>
              <a:rPr sz="1400" dirty="0">
                <a:solidFill>
                  <a:srgbClr val="000099"/>
                </a:solidFill>
                <a:latin typeface="Arial"/>
                <a:cs typeface="Arial"/>
              </a:rPr>
              <a:t>permanent</a:t>
            </a:r>
            <a:r>
              <a:rPr sz="1400" spc="-10" dirty="0">
                <a:solidFill>
                  <a:srgbClr val="000099"/>
                </a:solidFill>
                <a:latin typeface="Arial"/>
                <a:cs typeface="Arial"/>
              </a:rPr>
              <a:t> </a:t>
            </a:r>
            <a:r>
              <a:rPr sz="1400" dirty="0">
                <a:solidFill>
                  <a:srgbClr val="000099"/>
                </a:solidFill>
                <a:latin typeface="Arial"/>
                <a:cs typeface="Arial"/>
              </a:rPr>
              <a:t>hardness</a:t>
            </a:r>
            <a:endParaRPr sz="1400">
              <a:latin typeface="Arial"/>
              <a:cs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81000" y="304798"/>
            <a:ext cx="8382000" cy="65531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82</a:t>
            </a:fld>
            <a:endParaRPr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93903"/>
            <a:ext cx="4406265" cy="452120"/>
          </a:xfrm>
          <a:prstGeom prst="rect">
            <a:avLst/>
          </a:prstGeom>
        </p:spPr>
        <p:txBody>
          <a:bodyPr vert="horz" wrap="square" lIns="0" tIns="12065" rIns="0" bIns="0" rtlCol="0">
            <a:spAutoFit/>
          </a:bodyPr>
          <a:lstStyle/>
          <a:p>
            <a:pPr marL="12700">
              <a:lnSpc>
                <a:spcPct val="100000"/>
              </a:lnSpc>
              <a:spcBef>
                <a:spcPts val="95"/>
              </a:spcBef>
            </a:pPr>
            <a:r>
              <a:rPr sz="2800" b="1" spc="-20" dirty="0">
                <a:latin typeface="Times New Roman"/>
                <a:cs typeface="Times New Roman"/>
              </a:rPr>
              <a:t>R</a:t>
            </a:r>
            <a:r>
              <a:rPr sz="2250" b="1" spc="-20" dirty="0">
                <a:latin typeface="Times New Roman"/>
                <a:cs typeface="Times New Roman"/>
              </a:rPr>
              <a:t>EGENERATION </a:t>
            </a:r>
            <a:r>
              <a:rPr sz="2250" b="1" spc="-10" dirty="0">
                <a:latin typeface="Times New Roman"/>
                <a:cs typeface="Times New Roman"/>
              </a:rPr>
              <a:t>OF</a:t>
            </a:r>
            <a:r>
              <a:rPr sz="2250" b="1" spc="105" dirty="0">
                <a:latin typeface="Times New Roman"/>
                <a:cs typeface="Times New Roman"/>
              </a:rPr>
              <a:t> </a:t>
            </a:r>
            <a:r>
              <a:rPr sz="2800" b="1" spc="-5" dirty="0">
                <a:latin typeface="Times New Roman"/>
                <a:cs typeface="Times New Roman"/>
              </a:rPr>
              <a:t>Z</a:t>
            </a:r>
            <a:r>
              <a:rPr sz="2250" b="1" spc="-5" dirty="0">
                <a:latin typeface="Times New Roman"/>
                <a:cs typeface="Times New Roman"/>
              </a:rPr>
              <a:t>EOLITE</a:t>
            </a:r>
            <a:r>
              <a:rPr sz="2800" b="1" spc="-5" dirty="0">
                <a:latin typeface="Times New Roman"/>
                <a:cs typeface="Times New Roman"/>
              </a:rPr>
              <a:t>:</a:t>
            </a:r>
            <a:endParaRPr sz="2800">
              <a:latin typeface="Times New Roman"/>
              <a:cs typeface="Times New Roman"/>
            </a:endParaRPr>
          </a:p>
        </p:txBody>
      </p:sp>
      <p:sp>
        <p:nvSpPr>
          <p:cNvPr id="3" name="object 3"/>
          <p:cNvSpPr txBox="1"/>
          <p:nvPr/>
        </p:nvSpPr>
        <p:spPr>
          <a:xfrm>
            <a:off x="383540" y="1578355"/>
            <a:ext cx="8264525" cy="695960"/>
          </a:xfrm>
          <a:prstGeom prst="rect">
            <a:avLst/>
          </a:prstGeom>
        </p:spPr>
        <p:txBody>
          <a:bodyPr vert="horz" wrap="square" lIns="0" tIns="12065" rIns="0" bIns="0" rtlCol="0">
            <a:spAutoFit/>
          </a:bodyPr>
          <a:lstStyle/>
          <a:p>
            <a:pPr marL="286385" marR="5080" indent="-274320">
              <a:lnSpc>
                <a:spcPct val="100000"/>
              </a:lnSpc>
              <a:spcBef>
                <a:spcPts val="95"/>
              </a:spcBef>
              <a:tabLst>
                <a:tab pos="430530" algn="l"/>
              </a:tabLst>
            </a:pPr>
            <a:r>
              <a:rPr sz="2200" spc="-5" dirty="0">
                <a:latin typeface="Times New Roman"/>
                <a:cs typeface="Times New Roman"/>
              </a:rPr>
              <a:t>At	this stage, the supply of hard water is stopped </a:t>
            </a:r>
            <a:r>
              <a:rPr sz="2200" spc="-10" dirty="0">
                <a:latin typeface="Times New Roman"/>
                <a:cs typeface="Times New Roman"/>
              </a:rPr>
              <a:t>and </a:t>
            </a:r>
            <a:r>
              <a:rPr sz="2200" spc="-5" dirty="0">
                <a:latin typeface="Times New Roman"/>
                <a:cs typeface="Times New Roman"/>
              </a:rPr>
              <a:t>exhausted zeolite is  reclaimed by treating </a:t>
            </a:r>
            <a:r>
              <a:rPr sz="2200" dirty="0">
                <a:latin typeface="Times New Roman"/>
                <a:cs typeface="Times New Roman"/>
              </a:rPr>
              <a:t>the </a:t>
            </a:r>
            <a:r>
              <a:rPr sz="2200" spc="-5" dirty="0">
                <a:latin typeface="Times New Roman"/>
                <a:cs typeface="Times New Roman"/>
              </a:rPr>
              <a:t>bed with concentrated NaCl</a:t>
            </a:r>
            <a:r>
              <a:rPr sz="2200" spc="85" dirty="0">
                <a:latin typeface="Times New Roman"/>
                <a:cs typeface="Times New Roman"/>
              </a:rPr>
              <a:t> </a:t>
            </a:r>
            <a:r>
              <a:rPr sz="2200" spc="-5" dirty="0">
                <a:latin typeface="Times New Roman"/>
                <a:cs typeface="Times New Roman"/>
              </a:rPr>
              <a:t>solution.</a:t>
            </a:r>
            <a:endParaRPr sz="2200">
              <a:latin typeface="Times New Roman"/>
              <a:cs typeface="Times New Roman"/>
            </a:endParaRPr>
          </a:p>
        </p:txBody>
      </p:sp>
      <p:sp>
        <p:nvSpPr>
          <p:cNvPr id="4" name="object 4"/>
          <p:cNvSpPr txBox="1"/>
          <p:nvPr/>
        </p:nvSpPr>
        <p:spPr>
          <a:xfrm>
            <a:off x="841044" y="2952140"/>
            <a:ext cx="2734945" cy="726440"/>
          </a:xfrm>
          <a:prstGeom prst="rect">
            <a:avLst/>
          </a:prstGeom>
        </p:spPr>
        <p:txBody>
          <a:bodyPr vert="horz" wrap="square" lIns="0" tIns="88265" rIns="0" bIns="0" rtlCol="0">
            <a:spAutoFit/>
          </a:bodyPr>
          <a:lstStyle/>
          <a:p>
            <a:pPr marL="297180">
              <a:lnSpc>
                <a:spcPct val="100000"/>
              </a:lnSpc>
              <a:spcBef>
                <a:spcPts val="695"/>
              </a:spcBef>
              <a:tabLst>
                <a:tab pos="1913255" algn="l"/>
              </a:tabLst>
            </a:pPr>
            <a:r>
              <a:rPr sz="1800" b="1" spc="-10" dirty="0">
                <a:solidFill>
                  <a:srgbClr val="6F2F9F"/>
                </a:solidFill>
                <a:latin typeface="Times New Roman"/>
                <a:cs typeface="Times New Roman"/>
              </a:rPr>
              <a:t>CaZe</a:t>
            </a:r>
            <a:r>
              <a:rPr sz="1800" b="1" spc="40" dirty="0">
                <a:solidFill>
                  <a:srgbClr val="6F2F9F"/>
                </a:solidFill>
                <a:latin typeface="Times New Roman"/>
                <a:cs typeface="Times New Roman"/>
              </a:rPr>
              <a:t> </a:t>
            </a:r>
            <a:r>
              <a:rPr sz="1800" b="1" spc="-5" dirty="0">
                <a:solidFill>
                  <a:srgbClr val="6F2F9F"/>
                </a:solidFill>
                <a:latin typeface="Times New Roman"/>
                <a:cs typeface="Times New Roman"/>
              </a:rPr>
              <a:t>or</a:t>
            </a:r>
            <a:r>
              <a:rPr sz="1800" b="1" spc="-30" dirty="0">
                <a:solidFill>
                  <a:srgbClr val="6F2F9F"/>
                </a:solidFill>
                <a:latin typeface="Times New Roman"/>
                <a:cs typeface="Times New Roman"/>
              </a:rPr>
              <a:t> </a:t>
            </a:r>
            <a:r>
              <a:rPr sz="1800" b="1" spc="-10" dirty="0">
                <a:solidFill>
                  <a:srgbClr val="6F2F9F"/>
                </a:solidFill>
                <a:latin typeface="Times New Roman"/>
                <a:cs typeface="Times New Roman"/>
              </a:rPr>
              <a:t>MgZe	</a:t>
            </a:r>
            <a:r>
              <a:rPr sz="1800" b="1" spc="-5" dirty="0">
                <a:solidFill>
                  <a:srgbClr val="6F2F9F"/>
                </a:solidFill>
                <a:latin typeface="Times New Roman"/>
                <a:cs typeface="Times New Roman"/>
              </a:rPr>
              <a:t>+</a:t>
            </a:r>
            <a:r>
              <a:rPr sz="1800" b="1" spc="-70" dirty="0">
                <a:solidFill>
                  <a:srgbClr val="6F2F9F"/>
                </a:solidFill>
                <a:latin typeface="Times New Roman"/>
                <a:cs typeface="Times New Roman"/>
              </a:rPr>
              <a:t> </a:t>
            </a:r>
            <a:r>
              <a:rPr sz="1800" b="1" spc="-5" dirty="0">
                <a:solidFill>
                  <a:srgbClr val="6F2F9F"/>
                </a:solidFill>
                <a:latin typeface="Times New Roman"/>
                <a:cs typeface="Times New Roman"/>
              </a:rPr>
              <a:t>2NaCl</a:t>
            </a:r>
            <a:endParaRPr sz="1800">
              <a:latin typeface="Times New Roman"/>
              <a:cs typeface="Times New Roman"/>
            </a:endParaRPr>
          </a:p>
          <a:p>
            <a:pPr marL="12700">
              <a:lnSpc>
                <a:spcPct val="100000"/>
              </a:lnSpc>
              <a:spcBef>
                <a:spcPts val="600"/>
              </a:spcBef>
              <a:tabLst>
                <a:tab pos="1992630" algn="l"/>
              </a:tabLst>
            </a:pPr>
            <a:r>
              <a:rPr sz="1800" b="1" spc="-5" dirty="0">
                <a:solidFill>
                  <a:srgbClr val="6F2F9F"/>
                </a:solidFill>
                <a:latin typeface="Times New Roman"/>
                <a:cs typeface="Times New Roman"/>
              </a:rPr>
              <a:t>(exhausted</a:t>
            </a:r>
            <a:r>
              <a:rPr sz="1800" b="1" spc="10" dirty="0">
                <a:solidFill>
                  <a:srgbClr val="6F2F9F"/>
                </a:solidFill>
                <a:latin typeface="Times New Roman"/>
                <a:cs typeface="Times New Roman"/>
              </a:rPr>
              <a:t> </a:t>
            </a:r>
            <a:r>
              <a:rPr sz="1800" b="1" spc="-5" dirty="0">
                <a:solidFill>
                  <a:srgbClr val="6F2F9F"/>
                </a:solidFill>
                <a:latin typeface="Times New Roman"/>
                <a:cs typeface="Times New Roman"/>
              </a:rPr>
              <a:t>zeolite)	</a:t>
            </a:r>
            <a:r>
              <a:rPr sz="1800" b="1" dirty="0">
                <a:solidFill>
                  <a:srgbClr val="6F2F9F"/>
                </a:solidFill>
                <a:latin typeface="Times New Roman"/>
                <a:cs typeface="Times New Roman"/>
              </a:rPr>
              <a:t>(Brine)</a:t>
            </a:r>
            <a:endParaRPr sz="1800">
              <a:latin typeface="Times New Roman"/>
              <a:cs typeface="Times New Roman"/>
            </a:endParaRPr>
          </a:p>
        </p:txBody>
      </p:sp>
      <p:sp>
        <p:nvSpPr>
          <p:cNvPr id="5" name="object 5"/>
          <p:cNvSpPr txBox="1"/>
          <p:nvPr/>
        </p:nvSpPr>
        <p:spPr>
          <a:xfrm>
            <a:off x="4295221" y="2952140"/>
            <a:ext cx="3092450" cy="726440"/>
          </a:xfrm>
          <a:prstGeom prst="rect">
            <a:avLst/>
          </a:prstGeom>
        </p:spPr>
        <p:txBody>
          <a:bodyPr vert="horz" wrap="square" lIns="0" tIns="88265" rIns="0" bIns="0" rtlCol="0">
            <a:spAutoFit/>
          </a:bodyPr>
          <a:lstStyle/>
          <a:p>
            <a:pPr marL="352425">
              <a:lnSpc>
                <a:spcPct val="100000"/>
              </a:lnSpc>
              <a:spcBef>
                <a:spcPts val="695"/>
              </a:spcBef>
              <a:tabLst>
                <a:tab pos="1534795" algn="l"/>
                <a:tab pos="2348865" algn="l"/>
              </a:tabLst>
            </a:pPr>
            <a:r>
              <a:rPr sz="1800" b="1" spc="-5" dirty="0">
                <a:solidFill>
                  <a:srgbClr val="6F2F9F"/>
                </a:solidFill>
                <a:latin typeface="Times New Roman"/>
                <a:cs typeface="Times New Roman"/>
              </a:rPr>
              <a:t>Na</a:t>
            </a:r>
            <a:r>
              <a:rPr sz="1800" b="1" spc="-7" baseline="-20833" dirty="0">
                <a:solidFill>
                  <a:srgbClr val="6F2F9F"/>
                </a:solidFill>
                <a:latin typeface="Times New Roman"/>
                <a:cs typeface="Times New Roman"/>
              </a:rPr>
              <a:t>2</a:t>
            </a:r>
            <a:r>
              <a:rPr sz="1800" b="1" spc="-5" dirty="0">
                <a:solidFill>
                  <a:srgbClr val="6F2F9F"/>
                </a:solidFill>
                <a:latin typeface="Times New Roman"/>
                <a:cs typeface="Times New Roman"/>
              </a:rPr>
              <a:t>Ze	</a:t>
            </a:r>
            <a:r>
              <a:rPr sz="1800" b="1" dirty="0">
                <a:solidFill>
                  <a:srgbClr val="6F2F9F"/>
                </a:solidFill>
                <a:latin typeface="Times New Roman"/>
                <a:cs typeface="Times New Roman"/>
              </a:rPr>
              <a:t>+	CaCl</a:t>
            </a:r>
            <a:r>
              <a:rPr sz="1800" b="1" baseline="-20833" dirty="0">
                <a:solidFill>
                  <a:srgbClr val="6F2F9F"/>
                </a:solidFill>
                <a:latin typeface="Times New Roman"/>
                <a:cs typeface="Times New Roman"/>
              </a:rPr>
              <a:t>2</a:t>
            </a:r>
            <a:endParaRPr sz="1800" baseline="-20833">
              <a:latin typeface="Times New Roman"/>
              <a:cs typeface="Times New Roman"/>
            </a:endParaRPr>
          </a:p>
          <a:p>
            <a:pPr marL="38100">
              <a:lnSpc>
                <a:spcPct val="100000"/>
              </a:lnSpc>
              <a:spcBef>
                <a:spcPts val="600"/>
              </a:spcBef>
            </a:pPr>
            <a:r>
              <a:rPr sz="1800" b="1" dirty="0">
                <a:solidFill>
                  <a:srgbClr val="6F2F9F"/>
                </a:solidFill>
                <a:latin typeface="Times New Roman"/>
                <a:cs typeface="Times New Roman"/>
              </a:rPr>
              <a:t>(Reclaimed </a:t>
            </a:r>
            <a:r>
              <a:rPr sz="1800" b="1" spc="-5" dirty="0">
                <a:solidFill>
                  <a:srgbClr val="6F2F9F"/>
                </a:solidFill>
                <a:latin typeface="Times New Roman"/>
                <a:cs typeface="Times New Roman"/>
              </a:rPr>
              <a:t>zeolite)</a:t>
            </a:r>
            <a:r>
              <a:rPr sz="1800" b="1" spc="415" dirty="0">
                <a:solidFill>
                  <a:srgbClr val="6F2F9F"/>
                </a:solidFill>
                <a:latin typeface="Times New Roman"/>
                <a:cs typeface="Times New Roman"/>
              </a:rPr>
              <a:t> </a:t>
            </a:r>
            <a:r>
              <a:rPr sz="1800" b="1" spc="-5" dirty="0">
                <a:solidFill>
                  <a:srgbClr val="6F2F9F"/>
                </a:solidFill>
                <a:latin typeface="Times New Roman"/>
                <a:cs typeface="Times New Roman"/>
              </a:rPr>
              <a:t>(washings)</a:t>
            </a:r>
            <a:endParaRPr sz="1800">
              <a:latin typeface="Times New Roman"/>
              <a:cs typeface="Times New Roman"/>
            </a:endParaRPr>
          </a:p>
        </p:txBody>
      </p:sp>
      <p:grpSp>
        <p:nvGrpSpPr>
          <p:cNvPr id="6" name="object 6"/>
          <p:cNvGrpSpPr/>
          <p:nvPr/>
        </p:nvGrpSpPr>
        <p:grpSpPr>
          <a:xfrm>
            <a:off x="3645408" y="3035807"/>
            <a:ext cx="559435" cy="178435"/>
            <a:chOff x="3645408" y="3035807"/>
            <a:chExt cx="559435" cy="178435"/>
          </a:xfrm>
        </p:grpSpPr>
        <p:sp>
          <p:nvSpPr>
            <p:cNvPr id="7" name="object 7"/>
            <p:cNvSpPr/>
            <p:nvPr/>
          </p:nvSpPr>
          <p:spPr>
            <a:xfrm>
              <a:off x="3658362" y="3048761"/>
              <a:ext cx="533400" cy="152400"/>
            </a:xfrm>
            <a:custGeom>
              <a:avLst/>
              <a:gdLst/>
              <a:ahLst/>
              <a:cxnLst/>
              <a:rect l="l" t="t" r="r" b="b"/>
              <a:pathLst>
                <a:path w="533400" h="152400">
                  <a:moveTo>
                    <a:pt x="457200" y="0"/>
                  </a:moveTo>
                  <a:lnTo>
                    <a:pt x="457200" y="38100"/>
                  </a:lnTo>
                  <a:lnTo>
                    <a:pt x="0" y="38100"/>
                  </a:lnTo>
                  <a:lnTo>
                    <a:pt x="0" y="114300"/>
                  </a:lnTo>
                  <a:lnTo>
                    <a:pt x="457200" y="114300"/>
                  </a:lnTo>
                  <a:lnTo>
                    <a:pt x="457200" y="152400"/>
                  </a:lnTo>
                  <a:lnTo>
                    <a:pt x="533400" y="76200"/>
                  </a:lnTo>
                  <a:lnTo>
                    <a:pt x="457200" y="0"/>
                  </a:lnTo>
                  <a:close/>
                </a:path>
              </a:pathLst>
            </a:custGeom>
            <a:solidFill>
              <a:srgbClr val="0E6EC5"/>
            </a:solidFill>
          </p:spPr>
          <p:txBody>
            <a:bodyPr wrap="square" lIns="0" tIns="0" rIns="0" bIns="0" rtlCol="0"/>
            <a:lstStyle/>
            <a:p>
              <a:endParaRPr/>
            </a:p>
          </p:txBody>
        </p:sp>
        <p:sp>
          <p:nvSpPr>
            <p:cNvPr id="8" name="object 8"/>
            <p:cNvSpPr/>
            <p:nvPr/>
          </p:nvSpPr>
          <p:spPr>
            <a:xfrm>
              <a:off x="3658362" y="3048761"/>
              <a:ext cx="533400" cy="152400"/>
            </a:xfrm>
            <a:custGeom>
              <a:avLst/>
              <a:gdLst/>
              <a:ahLst/>
              <a:cxnLst/>
              <a:rect l="l" t="t" r="r" b="b"/>
              <a:pathLst>
                <a:path w="533400" h="152400">
                  <a:moveTo>
                    <a:pt x="0" y="38100"/>
                  </a:moveTo>
                  <a:lnTo>
                    <a:pt x="457200" y="38100"/>
                  </a:lnTo>
                  <a:lnTo>
                    <a:pt x="457200" y="0"/>
                  </a:lnTo>
                  <a:lnTo>
                    <a:pt x="533400" y="76200"/>
                  </a:lnTo>
                  <a:lnTo>
                    <a:pt x="457200" y="152400"/>
                  </a:lnTo>
                  <a:lnTo>
                    <a:pt x="457200" y="114300"/>
                  </a:lnTo>
                  <a:lnTo>
                    <a:pt x="0" y="114300"/>
                  </a:lnTo>
                  <a:lnTo>
                    <a:pt x="0" y="38100"/>
                  </a:lnTo>
                  <a:close/>
                </a:path>
              </a:pathLst>
            </a:custGeom>
            <a:ln w="25908">
              <a:solidFill>
                <a:srgbClr val="085091"/>
              </a:solidFill>
            </a:ln>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83</a:t>
            </a:fld>
            <a:endParaRPr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31419"/>
            <a:ext cx="5380990" cy="482600"/>
          </a:xfrm>
          <a:prstGeom prst="rect">
            <a:avLst/>
          </a:prstGeom>
        </p:spPr>
        <p:txBody>
          <a:bodyPr vert="horz" wrap="square" lIns="0" tIns="12700" rIns="0" bIns="0" rtlCol="0">
            <a:spAutoFit/>
          </a:bodyPr>
          <a:lstStyle/>
          <a:p>
            <a:pPr marL="12700">
              <a:lnSpc>
                <a:spcPct val="100000"/>
              </a:lnSpc>
              <a:spcBef>
                <a:spcPts val="100"/>
              </a:spcBef>
            </a:pPr>
            <a:r>
              <a:rPr sz="3000" spc="-45" dirty="0"/>
              <a:t>L</a:t>
            </a:r>
            <a:r>
              <a:rPr spc="-45" dirty="0"/>
              <a:t>IMITATIONS </a:t>
            </a:r>
            <a:r>
              <a:rPr spc="-5" dirty="0"/>
              <a:t>OF </a:t>
            </a:r>
            <a:r>
              <a:rPr sz="3000" spc="-5" dirty="0"/>
              <a:t>Z</a:t>
            </a:r>
            <a:r>
              <a:rPr spc="-5" dirty="0"/>
              <a:t>EOLITE</a:t>
            </a:r>
            <a:r>
              <a:rPr spc="500" dirty="0"/>
              <a:t> </a:t>
            </a:r>
            <a:r>
              <a:rPr spc="-5" dirty="0"/>
              <a:t>PROCESS</a:t>
            </a:r>
            <a:r>
              <a:rPr sz="3000" spc="-5" dirty="0"/>
              <a:t>:</a:t>
            </a:r>
            <a:endParaRPr sz="30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84</a:t>
            </a:fld>
            <a:endParaRPr dirty="0"/>
          </a:p>
        </p:txBody>
      </p:sp>
      <p:sp>
        <p:nvSpPr>
          <p:cNvPr id="3" name="object 3"/>
          <p:cNvSpPr txBox="1"/>
          <p:nvPr/>
        </p:nvSpPr>
        <p:spPr>
          <a:xfrm>
            <a:off x="510540" y="1624024"/>
            <a:ext cx="7289165" cy="3043555"/>
          </a:xfrm>
          <a:prstGeom prst="rect">
            <a:avLst/>
          </a:prstGeom>
        </p:spPr>
        <p:txBody>
          <a:bodyPr vert="horz" wrap="square" lIns="0" tIns="12065" rIns="0" bIns="0" rtlCol="0">
            <a:spAutoFit/>
          </a:bodyPr>
          <a:lstStyle/>
          <a:p>
            <a:pPr marL="312420" indent="-274955">
              <a:lnSpc>
                <a:spcPct val="100000"/>
              </a:lnSpc>
              <a:spcBef>
                <a:spcPts val="95"/>
              </a:spcBef>
              <a:buClr>
                <a:srgbClr val="0E6EC5"/>
              </a:buClr>
              <a:buSzPct val="68181"/>
              <a:buAutoNum type="arabicPeriod"/>
              <a:tabLst>
                <a:tab pos="312420" algn="l"/>
                <a:tab pos="313055" algn="l"/>
              </a:tabLst>
            </a:pPr>
            <a:r>
              <a:rPr sz="2200" spc="-5" dirty="0">
                <a:latin typeface="Times New Roman"/>
                <a:cs typeface="Times New Roman"/>
              </a:rPr>
              <a:t>If the water is </a:t>
            </a:r>
            <a:r>
              <a:rPr sz="2200" dirty="0">
                <a:latin typeface="Times New Roman"/>
                <a:cs typeface="Times New Roman"/>
              </a:rPr>
              <a:t>turbid </a:t>
            </a:r>
            <a:r>
              <a:rPr sz="2200" spc="-5" dirty="0">
                <a:latin typeface="Times New Roman"/>
                <a:cs typeface="Times New Roman"/>
              </a:rPr>
              <a:t>---- then the </a:t>
            </a:r>
            <a:r>
              <a:rPr sz="2200" dirty="0">
                <a:latin typeface="Times New Roman"/>
                <a:cs typeface="Times New Roman"/>
              </a:rPr>
              <a:t>turbidity </a:t>
            </a:r>
            <a:r>
              <a:rPr sz="2200" spc="-5" dirty="0">
                <a:latin typeface="Times New Roman"/>
                <a:cs typeface="Times New Roman"/>
              </a:rPr>
              <a:t>causing</a:t>
            </a:r>
            <a:r>
              <a:rPr sz="2200" spc="75" dirty="0">
                <a:latin typeface="Times New Roman"/>
                <a:cs typeface="Times New Roman"/>
              </a:rPr>
              <a:t> </a:t>
            </a:r>
            <a:r>
              <a:rPr sz="2200" spc="-5" dirty="0">
                <a:latin typeface="Times New Roman"/>
                <a:cs typeface="Times New Roman"/>
              </a:rPr>
              <a:t>particles</a:t>
            </a:r>
            <a:endParaRPr sz="2200">
              <a:latin typeface="Times New Roman"/>
              <a:cs typeface="Times New Roman"/>
            </a:endParaRPr>
          </a:p>
          <a:p>
            <a:pPr marL="312420">
              <a:lnSpc>
                <a:spcPct val="100000"/>
              </a:lnSpc>
              <a:spcBef>
                <a:spcPts val="5"/>
              </a:spcBef>
            </a:pPr>
            <a:r>
              <a:rPr sz="2200" spc="-5" dirty="0">
                <a:latin typeface="Times New Roman"/>
                <a:cs typeface="Times New Roman"/>
              </a:rPr>
              <a:t>clogs the pores of the Zeolite and making it</a:t>
            </a:r>
            <a:r>
              <a:rPr sz="2200" spc="135" dirty="0">
                <a:latin typeface="Times New Roman"/>
                <a:cs typeface="Times New Roman"/>
              </a:rPr>
              <a:t> </a:t>
            </a:r>
            <a:r>
              <a:rPr sz="2200" spc="-5" dirty="0">
                <a:latin typeface="Times New Roman"/>
                <a:cs typeface="Times New Roman"/>
              </a:rPr>
              <a:t>inactive</a:t>
            </a:r>
            <a:endParaRPr sz="2200">
              <a:latin typeface="Times New Roman"/>
              <a:cs typeface="Times New Roman"/>
            </a:endParaRPr>
          </a:p>
          <a:p>
            <a:pPr marL="312420" marR="106045" indent="-274955">
              <a:lnSpc>
                <a:spcPct val="100000"/>
              </a:lnSpc>
              <a:spcBef>
                <a:spcPts val="1320"/>
              </a:spcBef>
              <a:buClr>
                <a:srgbClr val="0E6EC5"/>
              </a:buClr>
              <a:buSzPct val="68181"/>
              <a:buAutoNum type="arabicPeriod" startAt="2"/>
              <a:tabLst>
                <a:tab pos="312420" algn="l"/>
                <a:tab pos="313055" algn="l"/>
              </a:tabLst>
            </a:pPr>
            <a:r>
              <a:rPr sz="2200" spc="-5" dirty="0">
                <a:latin typeface="Times New Roman"/>
                <a:cs typeface="Times New Roman"/>
              </a:rPr>
              <a:t>The ions such as </a:t>
            </a:r>
            <a:r>
              <a:rPr sz="2200" spc="5" dirty="0">
                <a:latin typeface="Times New Roman"/>
                <a:cs typeface="Times New Roman"/>
              </a:rPr>
              <a:t>Mn</a:t>
            </a:r>
            <a:r>
              <a:rPr sz="2175" spc="7" baseline="24904" dirty="0">
                <a:latin typeface="Times New Roman"/>
                <a:cs typeface="Times New Roman"/>
              </a:rPr>
              <a:t>2+ </a:t>
            </a:r>
            <a:r>
              <a:rPr sz="2200" spc="-5" dirty="0">
                <a:latin typeface="Times New Roman"/>
                <a:cs typeface="Times New Roman"/>
              </a:rPr>
              <a:t>and </a:t>
            </a:r>
            <a:r>
              <a:rPr sz="2200" dirty="0">
                <a:latin typeface="Times New Roman"/>
                <a:cs typeface="Times New Roman"/>
              </a:rPr>
              <a:t>Fe</a:t>
            </a:r>
            <a:r>
              <a:rPr sz="2175" baseline="24904" dirty="0">
                <a:latin typeface="Times New Roman"/>
                <a:cs typeface="Times New Roman"/>
              </a:rPr>
              <a:t>2+ </a:t>
            </a:r>
            <a:r>
              <a:rPr sz="2200" spc="-10" dirty="0">
                <a:latin typeface="Times New Roman"/>
                <a:cs typeface="Times New Roman"/>
              </a:rPr>
              <a:t>forms </a:t>
            </a:r>
            <a:r>
              <a:rPr sz="2200" spc="-5" dirty="0">
                <a:latin typeface="Times New Roman"/>
                <a:cs typeface="Times New Roman"/>
              </a:rPr>
              <a:t>stable complex Zeolite  which can </a:t>
            </a:r>
            <a:r>
              <a:rPr sz="2200" dirty="0">
                <a:latin typeface="Times New Roman"/>
                <a:cs typeface="Times New Roman"/>
              </a:rPr>
              <a:t>not </a:t>
            </a:r>
            <a:r>
              <a:rPr sz="2200" spc="-5" dirty="0">
                <a:latin typeface="Times New Roman"/>
                <a:cs typeface="Times New Roman"/>
              </a:rPr>
              <a:t>be regenerated that easily as both </a:t>
            </a:r>
            <a:r>
              <a:rPr sz="2200" spc="-10" dirty="0">
                <a:latin typeface="Times New Roman"/>
                <a:cs typeface="Times New Roman"/>
              </a:rPr>
              <a:t>metal </a:t>
            </a:r>
            <a:r>
              <a:rPr sz="2200" spc="-5" dirty="0">
                <a:latin typeface="Times New Roman"/>
                <a:cs typeface="Times New Roman"/>
              </a:rPr>
              <a:t>ions  </a:t>
            </a:r>
            <a:r>
              <a:rPr sz="2200" dirty="0">
                <a:latin typeface="Times New Roman"/>
                <a:cs typeface="Times New Roman"/>
              </a:rPr>
              <a:t>bind </a:t>
            </a:r>
            <a:r>
              <a:rPr sz="2200" spc="-5" dirty="0">
                <a:latin typeface="Times New Roman"/>
                <a:cs typeface="Times New Roman"/>
              </a:rPr>
              <a:t>strongly and irreversibly to the zeolite</a:t>
            </a:r>
            <a:r>
              <a:rPr sz="2200" spc="75" dirty="0">
                <a:latin typeface="Times New Roman"/>
                <a:cs typeface="Times New Roman"/>
              </a:rPr>
              <a:t> </a:t>
            </a:r>
            <a:r>
              <a:rPr sz="2200" spc="-5" dirty="0">
                <a:latin typeface="Times New Roman"/>
                <a:cs typeface="Times New Roman"/>
              </a:rPr>
              <a:t>structure.</a:t>
            </a:r>
            <a:endParaRPr sz="2200">
              <a:latin typeface="Times New Roman"/>
              <a:cs typeface="Times New Roman"/>
            </a:endParaRPr>
          </a:p>
          <a:p>
            <a:pPr marL="312420" marR="30480" indent="-274955">
              <a:lnSpc>
                <a:spcPct val="100000"/>
              </a:lnSpc>
              <a:spcBef>
                <a:spcPts val="1320"/>
              </a:spcBef>
              <a:buClr>
                <a:srgbClr val="0E6EC5"/>
              </a:buClr>
              <a:buSzPct val="68181"/>
              <a:buAutoNum type="arabicPeriod" startAt="2"/>
              <a:tabLst>
                <a:tab pos="312420" algn="l"/>
                <a:tab pos="313055" algn="l"/>
              </a:tabLst>
            </a:pPr>
            <a:r>
              <a:rPr sz="2200" spc="-5" dirty="0">
                <a:latin typeface="Times New Roman"/>
                <a:cs typeface="Times New Roman"/>
              </a:rPr>
              <a:t>Any acid present in water (acidic water) should be neutralized  with soda before admitting the water to the plant, since acid  will </a:t>
            </a:r>
            <a:r>
              <a:rPr sz="2200" dirty="0">
                <a:latin typeface="Times New Roman"/>
                <a:cs typeface="Times New Roman"/>
              </a:rPr>
              <a:t>hydrolyze </a:t>
            </a:r>
            <a:r>
              <a:rPr sz="2200" spc="5" dirty="0">
                <a:latin typeface="Times New Roman"/>
                <a:cs typeface="Times New Roman"/>
              </a:rPr>
              <a:t>SiO</a:t>
            </a:r>
            <a:r>
              <a:rPr sz="2175" spc="7" baseline="-21072" dirty="0">
                <a:latin typeface="Times New Roman"/>
                <a:cs typeface="Times New Roman"/>
              </a:rPr>
              <a:t>2 </a:t>
            </a:r>
            <a:r>
              <a:rPr sz="2200" spc="-5" dirty="0">
                <a:latin typeface="Times New Roman"/>
                <a:cs typeface="Times New Roman"/>
              </a:rPr>
              <a:t>forming silicic</a:t>
            </a:r>
            <a:r>
              <a:rPr sz="2200" spc="-185" dirty="0">
                <a:latin typeface="Times New Roman"/>
                <a:cs typeface="Times New Roman"/>
              </a:rPr>
              <a:t> </a:t>
            </a:r>
            <a:r>
              <a:rPr sz="2200" spc="-5" dirty="0">
                <a:latin typeface="Times New Roman"/>
                <a:cs typeface="Times New Roman"/>
              </a:rPr>
              <a:t>acid</a:t>
            </a:r>
            <a:endParaRPr sz="2200">
              <a:latin typeface="Times New Roman"/>
              <a:cs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888619"/>
            <a:ext cx="2201545" cy="482600"/>
          </a:xfrm>
          <a:prstGeom prst="rect">
            <a:avLst/>
          </a:prstGeom>
        </p:spPr>
        <p:txBody>
          <a:bodyPr vert="horz" wrap="square" lIns="0" tIns="12700" rIns="0" bIns="0" rtlCol="0">
            <a:spAutoFit/>
          </a:bodyPr>
          <a:lstStyle/>
          <a:p>
            <a:pPr marL="12700">
              <a:lnSpc>
                <a:spcPct val="100000"/>
              </a:lnSpc>
              <a:spcBef>
                <a:spcPts val="100"/>
              </a:spcBef>
            </a:pPr>
            <a:r>
              <a:rPr sz="3000" dirty="0"/>
              <a:t>A</a:t>
            </a:r>
            <a:r>
              <a:rPr spc="-5" dirty="0"/>
              <a:t>D</a:t>
            </a:r>
            <a:r>
              <a:rPr spc="-330" dirty="0"/>
              <a:t>V</a:t>
            </a:r>
            <a:r>
              <a:rPr spc="-5" dirty="0"/>
              <a:t>A</a:t>
            </a:r>
            <a:r>
              <a:rPr spc="-15" dirty="0"/>
              <a:t>N</a:t>
            </a:r>
            <a:r>
              <a:rPr spc="-195" dirty="0"/>
              <a:t>T</a:t>
            </a:r>
            <a:r>
              <a:rPr spc="-5" dirty="0"/>
              <a:t>A</a:t>
            </a:r>
            <a:r>
              <a:rPr spc="-15" dirty="0"/>
              <a:t>G</a:t>
            </a:r>
            <a:r>
              <a:rPr spc="-5" dirty="0"/>
              <a:t>E</a:t>
            </a:r>
            <a:r>
              <a:rPr spc="-10" dirty="0"/>
              <a:t>S</a:t>
            </a:r>
            <a:r>
              <a:rPr sz="3000" dirty="0"/>
              <a:t>:</a:t>
            </a:r>
            <a:endParaRPr sz="3000"/>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85</a:t>
            </a:fld>
            <a:endParaRPr dirty="0"/>
          </a:p>
        </p:txBody>
      </p:sp>
      <p:sp>
        <p:nvSpPr>
          <p:cNvPr id="3" name="object 3"/>
          <p:cNvSpPr txBox="1"/>
          <p:nvPr/>
        </p:nvSpPr>
        <p:spPr>
          <a:xfrm>
            <a:off x="383540" y="1366254"/>
            <a:ext cx="8381365" cy="3105150"/>
          </a:xfrm>
          <a:prstGeom prst="rect">
            <a:avLst/>
          </a:prstGeom>
        </p:spPr>
        <p:txBody>
          <a:bodyPr vert="horz" wrap="square" lIns="0" tIns="88265" rIns="0" bIns="0" rtlCol="0">
            <a:spAutoFit/>
          </a:bodyPr>
          <a:lstStyle/>
          <a:p>
            <a:pPr marL="287020" indent="-274320">
              <a:lnSpc>
                <a:spcPct val="100000"/>
              </a:lnSpc>
              <a:spcBef>
                <a:spcPts val="695"/>
              </a:spcBef>
              <a:buClr>
                <a:srgbClr val="0E6EC5"/>
              </a:buClr>
              <a:buSzPct val="70000"/>
              <a:buFont typeface="Wingdings"/>
              <a:buChar char=""/>
              <a:tabLst>
                <a:tab pos="287020" algn="l"/>
              </a:tabLst>
            </a:pPr>
            <a:r>
              <a:rPr sz="2000" dirty="0">
                <a:latin typeface="Times New Roman"/>
                <a:cs typeface="Times New Roman"/>
              </a:rPr>
              <a:t>Residual hardness of water is about 10 </a:t>
            </a:r>
            <a:r>
              <a:rPr sz="2000" spc="5" dirty="0">
                <a:latin typeface="Times New Roman"/>
                <a:cs typeface="Times New Roman"/>
              </a:rPr>
              <a:t>ppm</a:t>
            </a:r>
            <a:r>
              <a:rPr sz="2000" spc="-165" dirty="0">
                <a:latin typeface="Times New Roman"/>
                <a:cs typeface="Times New Roman"/>
              </a:rPr>
              <a:t> </a:t>
            </a:r>
            <a:r>
              <a:rPr sz="2000" dirty="0">
                <a:latin typeface="Times New Roman"/>
                <a:cs typeface="Times New Roman"/>
              </a:rPr>
              <a:t>only</a:t>
            </a:r>
            <a:endParaRPr sz="2000">
              <a:latin typeface="Times New Roman"/>
              <a:cs typeface="Times New Roman"/>
            </a:endParaRPr>
          </a:p>
          <a:p>
            <a:pPr marL="287020" indent="-274320">
              <a:lnSpc>
                <a:spcPct val="100000"/>
              </a:lnSpc>
              <a:spcBef>
                <a:spcPts val="600"/>
              </a:spcBef>
              <a:buClr>
                <a:srgbClr val="0E6EC5"/>
              </a:buClr>
              <a:buSzPct val="70000"/>
              <a:buFont typeface="Wingdings"/>
              <a:buChar char=""/>
              <a:tabLst>
                <a:tab pos="287020" algn="l"/>
              </a:tabLst>
            </a:pPr>
            <a:r>
              <a:rPr sz="2000" dirty="0">
                <a:latin typeface="Times New Roman"/>
                <a:cs typeface="Times New Roman"/>
              </a:rPr>
              <a:t>Equipment is </a:t>
            </a:r>
            <a:r>
              <a:rPr sz="2000" spc="-5" dirty="0">
                <a:latin typeface="Times New Roman"/>
                <a:cs typeface="Times New Roman"/>
              </a:rPr>
              <a:t>small and </a:t>
            </a:r>
            <a:r>
              <a:rPr sz="2000" dirty="0">
                <a:latin typeface="Times New Roman"/>
                <a:cs typeface="Times New Roman"/>
              </a:rPr>
              <a:t>easy to</a:t>
            </a:r>
            <a:r>
              <a:rPr sz="2000" spc="-70" dirty="0">
                <a:latin typeface="Times New Roman"/>
                <a:cs typeface="Times New Roman"/>
              </a:rPr>
              <a:t> </a:t>
            </a:r>
            <a:r>
              <a:rPr sz="2000" dirty="0">
                <a:latin typeface="Times New Roman"/>
                <a:cs typeface="Times New Roman"/>
              </a:rPr>
              <a:t>handle</a:t>
            </a:r>
            <a:endParaRPr sz="2000">
              <a:latin typeface="Times New Roman"/>
              <a:cs typeface="Times New Roman"/>
            </a:endParaRPr>
          </a:p>
          <a:p>
            <a:pPr marL="287020" indent="-274320">
              <a:lnSpc>
                <a:spcPct val="100000"/>
              </a:lnSpc>
              <a:spcBef>
                <a:spcPts val="605"/>
              </a:spcBef>
              <a:buClr>
                <a:srgbClr val="0E6EC5"/>
              </a:buClr>
              <a:buSzPct val="70000"/>
              <a:buFont typeface="Wingdings"/>
              <a:buChar char=""/>
              <a:tabLst>
                <a:tab pos="287020" algn="l"/>
              </a:tabLst>
            </a:pPr>
            <a:r>
              <a:rPr sz="2000" spc="-25" dirty="0">
                <a:latin typeface="Times New Roman"/>
                <a:cs typeface="Times New Roman"/>
              </a:rPr>
              <a:t>Time </a:t>
            </a:r>
            <a:r>
              <a:rPr sz="2000" dirty="0">
                <a:latin typeface="Times New Roman"/>
                <a:cs typeface="Times New Roman"/>
              </a:rPr>
              <a:t>required for softening of water is</a:t>
            </a:r>
            <a:r>
              <a:rPr sz="2000" spc="-165" dirty="0">
                <a:latin typeface="Times New Roman"/>
                <a:cs typeface="Times New Roman"/>
              </a:rPr>
              <a:t> </a:t>
            </a:r>
            <a:r>
              <a:rPr sz="2000" spc="-5" dirty="0">
                <a:latin typeface="Times New Roman"/>
                <a:cs typeface="Times New Roman"/>
              </a:rPr>
              <a:t>small</a:t>
            </a:r>
            <a:endParaRPr sz="2000">
              <a:latin typeface="Times New Roman"/>
              <a:cs typeface="Times New Roman"/>
            </a:endParaRPr>
          </a:p>
          <a:p>
            <a:pPr marL="287020" indent="-274320">
              <a:lnSpc>
                <a:spcPct val="100000"/>
              </a:lnSpc>
              <a:spcBef>
                <a:spcPts val="600"/>
              </a:spcBef>
              <a:buClr>
                <a:srgbClr val="0E6EC5"/>
              </a:buClr>
              <a:buSzPct val="70000"/>
              <a:buFont typeface="Wingdings"/>
              <a:buChar char=""/>
              <a:tabLst>
                <a:tab pos="287020" algn="l"/>
              </a:tabLst>
            </a:pPr>
            <a:r>
              <a:rPr sz="2000" dirty="0">
                <a:latin typeface="Times New Roman"/>
                <a:cs typeface="Times New Roman"/>
              </a:rPr>
              <a:t>No sludge </a:t>
            </a:r>
            <a:r>
              <a:rPr sz="2000" spc="-5" dirty="0">
                <a:latin typeface="Times New Roman"/>
                <a:cs typeface="Times New Roman"/>
              </a:rPr>
              <a:t>formation </a:t>
            </a:r>
            <a:r>
              <a:rPr sz="2000" dirty="0">
                <a:latin typeface="Times New Roman"/>
                <a:cs typeface="Times New Roman"/>
              </a:rPr>
              <a:t>and the process is</a:t>
            </a:r>
            <a:r>
              <a:rPr sz="2000" spc="-120" dirty="0">
                <a:latin typeface="Times New Roman"/>
                <a:cs typeface="Times New Roman"/>
              </a:rPr>
              <a:t> </a:t>
            </a:r>
            <a:r>
              <a:rPr sz="2000" spc="-5" dirty="0">
                <a:latin typeface="Times New Roman"/>
                <a:cs typeface="Times New Roman"/>
              </a:rPr>
              <a:t>clean</a:t>
            </a:r>
            <a:endParaRPr sz="2000">
              <a:latin typeface="Times New Roman"/>
              <a:cs typeface="Times New Roman"/>
            </a:endParaRPr>
          </a:p>
          <a:p>
            <a:pPr marL="350520" indent="-338455">
              <a:lnSpc>
                <a:spcPct val="100000"/>
              </a:lnSpc>
              <a:spcBef>
                <a:spcPts val="600"/>
              </a:spcBef>
              <a:buClr>
                <a:srgbClr val="0E6EC5"/>
              </a:buClr>
              <a:buSzPct val="70000"/>
              <a:buFont typeface="Wingdings"/>
              <a:buChar char=""/>
              <a:tabLst>
                <a:tab pos="350520" algn="l"/>
                <a:tab pos="351155" algn="l"/>
              </a:tabLst>
            </a:pPr>
            <a:r>
              <a:rPr sz="2000" dirty="0">
                <a:latin typeface="Times New Roman"/>
                <a:cs typeface="Times New Roman"/>
              </a:rPr>
              <a:t>Zeolite can be regenerated easily using brine</a:t>
            </a:r>
            <a:r>
              <a:rPr sz="2000" spc="-120" dirty="0">
                <a:latin typeface="Times New Roman"/>
                <a:cs typeface="Times New Roman"/>
              </a:rPr>
              <a:t> </a:t>
            </a:r>
            <a:r>
              <a:rPr sz="2000" dirty="0">
                <a:latin typeface="Times New Roman"/>
                <a:cs typeface="Times New Roman"/>
              </a:rPr>
              <a:t>solution</a:t>
            </a:r>
            <a:endParaRPr sz="2000">
              <a:latin typeface="Times New Roman"/>
              <a:cs typeface="Times New Roman"/>
            </a:endParaRPr>
          </a:p>
          <a:p>
            <a:pPr marL="287020" indent="-274320">
              <a:lnSpc>
                <a:spcPct val="100000"/>
              </a:lnSpc>
              <a:spcBef>
                <a:spcPts val="600"/>
              </a:spcBef>
              <a:buClr>
                <a:srgbClr val="0E6EC5"/>
              </a:buClr>
              <a:buSzPct val="70000"/>
              <a:buFont typeface="Wingdings"/>
              <a:buChar char=""/>
              <a:tabLst>
                <a:tab pos="287020" algn="l"/>
              </a:tabLst>
            </a:pPr>
            <a:r>
              <a:rPr sz="2000" dirty="0">
                <a:latin typeface="Times New Roman"/>
                <a:cs typeface="Times New Roman"/>
              </a:rPr>
              <a:t>Any </a:t>
            </a:r>
            <a:r>
              <a:rPr sz="2000" spc="-5" dirty="0">
                <a:latin typeface="Times New Roman"/>
                <a:cs typeface="Times New Roman"/>
              </a:rPr>
              <a:t>type </a:t>
            </a:r>
            <a:r>
              <a:rPr sz="2000" dirty="0">
                <a:latin typeface="Times New Roman"/>
                <a:cs typeface="Times New Roman"/>
              </a:rPr>
              <a:t>of hardness can be </a:t>
            </a:r>
            <a:r>
              <a:rPr sz="2000" spc="-5" dirty="0">
                <a:latin typeface="Times New Roman"/>
                <a:cs typeface="Times New Roman"/>
              </a:rPr>
              <a:t>removed </a:t>
            </a:r>
            <a:r>
              <a:rPr sz="2000" dirty="0">
                <a:latin typeface="Times New Roman"/>
                <a:cs typeface="Times New Roman"/>
              </a:rPr>
              <a:t>without any </a:t>
            </a:r>
            <a:r>
              <a:rPr sz="2000" spc="-5" dirty="0">
                <a:latin typeface="Times New Roman"/>
                <a:cs typeface="Times New Roman"/>
              </a:rPr>
              <a:t>modifications </a:t>
            </a:r>
            <a:r>
              <a:rPr sz="2000" dirty="0">
                <a:latin typeface="Times New Roman"/>
                <a:cs typeface="Times New Roman"/>
              </a:rPr>
              <a:t>to the</a:t>
            </a:r>
            <a:r>
              <a:rPr sz="2000" spc="-90" dirty="0">
                <a:latin typeface="Times New Roman"/>
                <a:cs typeface="Times New Roman"/>
              </a:rPr>
              <a:t> </a:t>
            </a:r>
            <a:r>
              <a:rPr sz="2000" dirty="0">
                <a:latin typeface="Times New Roman"/>
                <a:cs typeface="Times New Roman"/>
              </a:rPr>
              <a:t>process.</a:t>
            </a:r>
            <a:endParaRPr sz="2000">
              <a:latin typeface="Times New Roman"/>
              <a:cs typeface="Times New Roman"/>
            </a:endParaRPr>
          </a:p>
          <a:p>
            <a:pPr marL="12700">
              <a:lnSpc>
                <a:spcPct val="100000"/>
              </a:lnSpc>
              <a:spcBef>
                <a:spcPts val="600"/>
              </a:spcBef>
            </a:pPr>
            <a:r>
              <a:rPr sz="2000" b="1" spc="-30" dirty="0">
                <a:latin typeface="Times New Roman"/>
                <a:cs typeface="Times New Roman"/>
              </a:rPr>
              <a:t>DISADVANTAGES</a:t>
            </a:r>
            <a:r>
              <a:rPr sz="2000" b="1" spc="-35" dirty="0">
                <a:latin typeface="Times New Roman"/>
                <a:cs typeface="Times New Roman"/>
              </a:rPr>
              <a:t> </a:t>
            </a:r>
            <a:r>
              <a:rPr sz="2000" b="1" dirty="0">
                <a:latin typeface="Times New Roman"/>
                <a:cs typeface="Times New Roman"/>
              </a:rPr>
              <a:t>:</a:t>
            </a:r>
            <a:endParaRPr sz="2000">
              <a:latin typeface="Times New Roman"/>
              <a:cs typeface="Times New Roman"/>
            </a:endParaRPr>
          </a:p>
          <a:p>
            <a:pPr marL="12700">
              <a:lnSpc>
                <a:spcPct val="100000"/>
              </a:lnSpc>
              <a:spcBef>
                <a:spcPts val="1090"/>
              </a:spcBef>
              <a:tabLst>
                <a:tab pos="286385" algn="l"/>
              </a:tabLst>
            </a:pPr>
            <a:r>
              <a:rPr sz="1250" spc="5" dirty="0">
                <a:solidFill>
                  <a:srgbClr val="0E6EC5"/>
                </a:solidFill>
                <a:latin typeface="Times New Roman"/>
                <a:cs typeface="Times New Roman"/>
              </a:rPr>
              <a:t>1.	</a:t>
            </a:r>
            <a:r>
              <a:rPr sz="1800" dirty="0">
                <a:latin typeface="Times New Roman"/>
                <a:cs typeface="Times New Roman"/>
              </a:rPr>
              <a:t>Soft water contains </a:t>
            </a:r>
            <a:r>
              <a:rPr sz="1800" spc="-5" dirty="0">
                <a:latin typeface="Times New Roman"/>
                <a:cs typeface="Times New Roman"/>
              </a:rPr>
              <a:t>more </a:t>
            </a:r>
            <a:r>
              <a:rPr sz="1800" dirty="0">
                <a:latin typeface="Times New Roman"/>
                <a:cs typeface="Times New Roman"/>
              </a:rPr>
              <a:t>sodium salts than in lime </a:t>
            </a:r>
            <a:r>
              <a:rPr sz="1800" spc="-5" dirty="0">
                <a:latin typeface="Times New Roman"/>
                <a:cs typeface="Times New Roman"/>
              </a:rPr>
              <a:t>soda</a:t>
            </a:r>
            <a:r>
              <a:rPr sz="1800" spc="-45" dirty="0">
                <a:latin typeface="Times New Roman"/>
                <a:cs typeface="Times New Roman"/>
              </a:rPr>
              <a:t> </a:t>
            </a:r>
            <a:r>
              <a:rPr sz="1800" spc="-5" dirty="0">
                <a:latin typeface="Times New Roman"/>
                <a:cs typeface="Times New Roman"/>
              </a:rPr>
              <a:t>process</a:t>
            </a:r>
            <a:endParaRPr sz="1800">
              <a:latin typeface="Times New Roman"/>
              <a:cs typeface="Times New Roman"/>
            </a:endParaRPr>
          </a:p>
        </p:txBody>
      </p:sp>
      <p:sp>
        <p:nvSpPr>
          <p:cNvPr id="4" name="object 4"/>
          <p:cNvSpPr txBox="1"/>
          <p:nvPr/>
        </p:nvSpPr>
        <p:spPr>
          <a:xfrm>
            <a:off x="7843519" y="4715332"/>
            <a:ext cx="102235" cy="208915"/>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3</a:t>
            </a:r>
            <a:endParaRPr sz="1200">
              <a:latin typeface="Times New Roman"/>
              <a:cs typeface="Times New Roman"/>
            </a:endParaRPr>
          </a:p>
        </p:txBody>
      </p:sp>
      <p:sp>
        <p:nvSpPr>
          <p:cNvPr id="5" name="object 5"/>
          <p:cNvSpPr txBox="1"/>
          <p:nvPr/>
        </p:nvSpPr>
        <p:spPr>
          <a:xfrm>
            <a:off x="358140" y="4582744"/>
            <a:ext cx="8051800" cy="300355"/>
          </a:xfrm>
          <a:prstGeom prst="rect">
            <a:avLst/>
          </a:prstGeom>
        </p:spPr>
        <p:txBody>
          <a:bodyPr vert="horz" wrap="square" lIns="0" tIns="12700" rIns="0" bIns="0" rtlCol="0">
            <a:spAutoFit/>
          </a:bodyPr>
          <a:lstStyle/>
          <a:p>
            <a:pPr marL="38100">
              <a:lnSpc>
                <a:spcPct val="100000"/>
              </a:lnSpc>
              <a:spcBef>
                <a:spcPts val="100"/>
              </a:spcBef>
              <a:tabLst>
                <a:tab pos="311785" algn="l"/>
              </a:tabLst>
            </a:pPr>
            <a:r>
              <a:rPr sz="1250" spc="5" dirty="0">
                <a:solidFill>
                  <a:srgbClr val="0E6EC5"/>
                </a:solidFill>
                <a:latin typeface="Times New Roman"/>
                <a:cs typeface="Times New Roman"/>
              </a:rPr>
              <a:t>2.	</a:t>
            </a:r>
            <a:r>
              <a:rPr sz="1800" dirty="0">
                <a:latin typeface="Times New Roman"/>
                <a:cs typeface="Times New Roman"/>
              </a:rPr>
              <a:t>It replaces only Ca</a:t>
            </a:r>
            <a:r>
              <a:rPr sz="1800" baseline="25462" dirty="0">
                <a:latin typeface="Times New Roman"/>
                <a:cs typeface="Times New Roman"/>
              </a:rPr>
              <a:t>2+ </a:t>
            </a:r>
            <a:r>
              <a:rPr sz="1800" dirty="0">
                <a:latin typeface="Times New Roman"/>
                <a:cs typeface="Times New Roman"/>
              </a:rPr>
              <a:t>and </a:t>
            </a:r>
            <a:r>
              <a:rPr sz="1800" spc="-5" dirty="0">
                <a:latin typeface="Times New Roman"/>
                <a:cs typeface="Times New Roman"/>
              </a:rPr>
              <a:t>Mg</a:t>
            </a:r>
            <a:r>
              <a:rPr sz="1800" spc="-7" baseline="25462" dirty="0">
                <a:latin typeface="Times New Roman"/>
                <a:cs typeface="Times New Roman"/>
              </a:rPr>
              <a:t>2+ </a:t>
            </a:r>
            <a:r>
              <a:rPr sz="1800" dirty="0">
                <a:latin typeface="Times New Roman"/>
                <a:cs typeface="Times New Roman"/>
              </a:rPr>
              <a:t>with </a:t>
            </a:r>
            <a:r>
              <a:rPr sz="1800" spc="-5" dirty="0">
                <a:latin typeface="Times New Roman"/>
                <a:cs typeface="Times New Roman"/>
              </a:rPr>
              <a:t>Na</a:t>
            </a:r>
            <a:r>
              <a:rPr sz="1800" spc="-7" baseline="25462" dirty="0">
                <a:latin typeface="Times New Roman"/>
                <a:cs typeface="Times New Roman"/>
              </a:rPr>
              <a:t>+ </a:t>
            </a:r>
            <a:r>
              <a:rPr sz="1800" dirty="0">
                <a:latin typeface="Times New Roman"/>
                <a:cs typeface="Times New Roman"/>
              </a:rPr>
              <a:t>but leaves all the other ions like </a:t>
            </a:r>
            <a:r>
              <a:rPr sz="1800" spc="-5" dirty="0">
                <a:latin typeface="Times New Roman"/>
                <a:cs typeface="Times New Roman"/>
              </a:rPr>
              <a:t>HCO</a:t>
            </a:r>
            <a:r>
              <a:rPr sz="1800" spc="220" dirty="0">
                <a:latin typeface="Times New Roman"/>
                <a:cs typeface="Times New Roman"/>
              </a:rPr>
              <a:t> </a:t>
            </a:r>
            <a:r>
              <a:rPr sz="1800" baseline="25462" dirty="0">
                <a:latin typeface="Times New Roman"/>
                <a:cs typeface="Times New Roman"/>
              </a:rPr>
              <a:t>- </a:t>
            </a:r>
            <a:r>
              <a:rPr sz="1800" dirty="0">
                <a:latin typeface="Times New Roman"/>
                <a:cs typeface="Times New Roman"/>
              </a:rPr>
              <a:t>and</a:t>
            </a:r>
            <a:endParaRPr sz="1800">
              <a:latin typeface="Times New Roman"/>
              <a:cs typeface="Times New Roman"/>
            </a:endParaRPr>
          </a:p>
        </p:txBody>
      </p:sp>
      <p:sp>
        <p:nvSpPr>
          <p:cNvPr id="6" name="object 6"/>
          <p:cNvSpPr txBox="1"/>
          <p:nvPr/>
        </p:nvSpPr>
        <p:spPr>
          <a:xfrm>
            <a:off x="632459" y="4857750"/>
            <a:ext cx="8064500" cy="299720"/>
          </a:xfrm>
          <a:prstGeom prst="rect">
            <a:avLst/>
          </a:prstGeom>
        </p:spPr>
        <p:txBody>
          <a:bodyPr vert="horz" wrap="square" lIns="0" tIns="12700" rIns="0" bIns="0" rtlCol="0">
            <a:spAutoFit/>
          </a:bodyPr>
          <a:lstStyle/>
          <a:p>
            <a:pPr marL="38100">
              <a:lnSpc>
                <a:spcPct val="100000"/>
              </a:lnSpc>
              <a:spcBef>
                <a:spcPts val="100"/>
              </a:spcBef>
              <a:tabLst>
                <a:tab pos="5132070" algn="l"/>
                <a:tab pos="6313170" algn="l"/>
              </a:tabLst>
            </a:pPr>
            <a:r>
              <a:rPr sz="1800" spc="-5" dirty="0">
                <a:latin typeface="Times New Roman"/>
                <a:cs typeface="Times New Roman"/>
              </a:rPr>
              <a:t>CO </a:t>
            </a:r>
            <a:r>
              <a:rPr sz="1800" spc="-7" baseline="25462" dirty="0">
                <a:latin typeface="Times New Roman"/>
                <a:cs typeface="Times New Roman"/>
              </a:rPr>
              <a:t>2-  </a:t>
            </a:r>
            <a:r>
              <a:rPr sz="1800" dirty="0">
                <a:latin typeface="Times New Roman"/>
                <a:cs typeface="Times New Roman"/>
              </a:rPr>
              <a:t>in the softened water (then it </a:t>
            </a:r>
            <a:r>
              <a:rPr sz="1800" spc="-5" dirty="0">
                <a:latin typeface="Times New Roman"/>
                <a:cs typeface="Times New Roman"/>
              </a:rPr>
              <a:t>may</a:t>
            </a:r>
            <a:r>
              <a:rPr sz="1800" spc="25" dirty="0">
                <a:latin typeface="Times New Roman"/>
                <a:cs typeface="Times New Roman"/>
              </a:rPr>
              <a:t> </a:t>
            </a:r>
            <a:r>
              <a:rPr sz="1800" dirty="0">
                <a:latin typeface="Times New Roman"/>
                <a:cs typeface="Times New Roman"/>
              </a:rPr>
              <a:t>form</a:t>
            </a:r>
            <a:r>
              <a:rPr sz="1800" spc="10" dirty="0">
                <a:latin typeface="Times New Roman"/>
                <a:cs typeface="Times New Roman"/>
              </a:rPr>
              <a:t> </a:t>
            </a:r>
            <a:r>
              <a:rPr sz="1800" spc="-5" dirty="0">
                <a:latin typeface="Times New Roman"/>
                <a:cs typeface="Times New Roman"/>
              </a:rPr>
              <a:t>NaHCO	</a:t>
            </a:r>
            <a:r>
              <a:rPr sz="1800" dirty="0">
                <a:latin typeface="Times New Roman"/>
                <a:cs typeface="Times New Roman"/>
              </a:rPr>
              <a:t>and </a:t>
            </a:r>
            <a:r>
              <a:rPr sz="1800" spc="-5" dirty="0">
                <a:latin typeface="Times New Roman"/>
                <a:cs typeface="Times New Roman"/>
              </a:rPr>
              <a:t>Na</a:t>
            </a:r>
            <a:r>
              <a:rPr sz="1800" spc="155" dirty="0">
                <a:latin typeface="Times New Roman"/>
                <a:cs typeface="Times New Roman"/>
              </a:rPr>
              <a:t> </a:t>
            </a:r>
            <a:r>
              <a:rPr sz="1800" spc="-5" dirty="0">
                <a:latin typeface="Times New Roman"/>
                <a:cs typeface="Times New Roman"/>
              </a:rPr>
              <a:t>CO	</a:t>
            </a:r>
            <a:r>
              <a:rPr sz="1800" dirty="0">
                <a:latin typeface="Times New Roman"/>
                <a:cs typeface="Times New Roman"/>
              </a:rPr>
              <a:t>which releases</a:t>
            </a:r>
            <a:r>
              <a:rPr sz="1800" spc="-85" dirty="0">
                <a:latin typeface="Times New Roman"/>
                <a:cs typeface="Times New Roman"/>
              </a:rPr>
              <a:t> </a:t>
            </a:r>
            <a:r>
              <a:rPr sz="1800" spc="-5" dirty="0">
                <a:latin typeface="Times New Roman"/>
                <a:cs typeface="Times New Roman"/>
              </a:rPr>
              <a:t>CO</a:t>
            </a:r>
            <a:endParaRPr sz="1800">
              <a:latin typeface="Times New Roman"/>
              <a:cs typeface="Times New Roman"/>
            </a:endParaRPr>
          </a:p>
        </p:txBody>
      </p:sp>
      <p:sp>
        <p:nvSpPr>
          <p:cNvPr id="7" name="object 7"/>
          <p:cNvSpPr txBox="1"/>
          <p:nvPr/>
        </p:nvSpPr>
        <p:spPr>
          <a:xfrm>
            <a:off x="8646668" y="4990338"/>
            <a:ext cx="1016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2</a:t>
            </a:r>
            <a:endParaRPr sz="1200">
              <a:latin typeface="Times New Roman"/>
              <a:cs typeface="Times New Roman"/>
            </a:endParaRPr>
          </a:p>
        </p:txBody>
      </p:sp>
      <p:sp>
        <p:nvSpPr>
          <p:cNvPr id="8" name="object 8"/>
          <p:cNvSpPr txBox="1"/>
          <p:nvPr/>
        </p:nvSpPr>
        <p:spPr>
          <a:xfrm>
            <a:off x="657859" y="4990338"/>
            <a:ext cx="6243320" cy="441959"/>
          </a:xfrm>
          <a:prstGeom prst="rect">
            <a:avLst/>
          </a:prstGeom>
        </p:spPr>
        <p:txBody>
          <a:bodyPr vert="horz" wrap="square" lIns="0" tIns="12700" rIns="0" bIns="0" rtlCol="0">
            <a:spAutoFit/>
          </a:bodyPr>
          <a:lstStyle/>
          <a:p>
            <a:pPr marL="329565">
              <a:lnSpc>
                <a:spcPts val="1280"/>
              </a:lnSpc>
              <a:spcBef>
                <a:spcPts val="100"/>
              </a:spcBef>
              <a:tabLst>
                <a:tab pos="4972050" algn="l"/>
                <a:tab pos="5760720" algn="l"/>
                <a:tab pos="6153785" algn="l"/>
              </a:tabLst>
            </a:pPr>
            <a:r>
              <a:rPr sz="1200" dirty="0">
                <a:latin typeface="Times New Roman"/>
                <a:cs typeface="Times New Roman"/>
              </a:rPr>
              <a:t>3	3	2	3</a:t>
            </a:r>
            <a:endParaRPr sz="1200">
              <a:latin typeface="Times New Roman"/>
              <a:cs typeface="Times New Roman"/>
            </a:endParaRPr>
          </a:p>
          <a:p>
            <a:pPr marL="12700">
              <a:lnSpc>
                <a:spcPts val="2000"/>
              </a:lnSpc>
            </a:pPr>
            <a:r>
              <a:rPr sz="1800" spc="-5" dirty="0">
                <a:latin typeface="Times New Roman"/>
                <a:cs typeface="Times New Roman"/>
              </a:rPr>
              <a:t>when the </a:t>
            </a:r>
            <a:r>
              <a:rPr sz="1800" dirty="0">
                <a:latin typeface="Times New Roman"/>
                <a:cs typeface="Times New Roman"/>
              </a:rPr>
              <a:t>water </a:t>
            </a:r>
            <a:r>
              <a:rPr sz="1800" spc="-5" dirty="0">
                <a:latin typeface="Times New Roman"/>
                <a:cs typeface="Times New Roman"/>
              </a:rPr>
              <a:t>is </a:t>
            </a:r>
            <a:r>
              <a:rPr sz="1800" dirty="0">
                <a:latin typeface="Times New Roman"/>
                <a:cs typeface="Times New Roman"/>
              </a:rPr>
              <a:t>boiled and causes</a:t>
            </a:r>
            <a:r>
              <a:rPr sz="1800" spc="-20" dirty="0">
                <a:latin typeface="Times New Roman"/>
                <a:cs typeface="Times New Roman"/>
              </a:rPr>
              <a:t> </a:t>
            </a:r>
            <a:r>
              <a:rPr sz="1800" dirty="0">
                <a:latin typeface="Times New Roman"/>
                <a:cs typeface="Times New Roman"/>
              </a:rPr>
              <a:t>corrosion)</a:t>
            </a:r>
            <a:endParaRPr sz="1800">
              <a:latin typeface="Times New Roman"/>
              <a:cs typeface="Times New Roman"/>
            </a:endParaRPr>
          </a:p>
        </p:txBody>
      </p:sp>
      <p:sp>
        <p:nvSpPr>
          <p:cNvPr id="9" name="object 9"/>
          <p:cNvSpPr txBox="1"/>
          <p:nvPr/>
        </p:nvSpPr>
        <p:spPr>
          <a:xfrm>
            <a:off x="383540" y="5543499"/>
            <a:ext cx="8100695" cy="299720"/>
          </a:xfrm>
          <a:prstGeom prst="rect">
            <a:avLst/>
          </a:prstGeom>
        </p:spPr>
        <p:txBody>
          <a:bodyPr vert="horz" wrap="square" lIns="0" tIns="12700" rIns="0" bIns="0" rtlCol="0">
            <a:spAutoFit/>
          </a:bodyPr>
          <a:lstStyle/>
          <a:p>
            <a:pPr marL="12700">
              <a:lnSpc>
                <a:spcPct val="100000"/>
              </a:lnSpc>
              <a:spcBef>
                <a:spcPts val="100"/>
              </a:spcBef>
              <a:tabLst>
                <a:tab pos="286385" algn="l"/>
              </a:tabLst>
            </a:pPr>
            <a:r>
              <a:rPr sz="1250" spc="5" dirty="0">
                <a:solidFill>
                  <a:srgbClr val="0E6EC5"/>
                </a:solidFill>
                <a:latin typeface="Times New Roman"/>
                <a:cs typeface="Times New Roman"/>
              </a:rPr>
              <a:t>3.	</a:t>
            </a:r>
            <a:r>
              <a:rPr sz="1800" dirty="0">
                <a:latin typeface="Times New Roman"/>
                <a:cs typeface="Times New Roman"/>
              </a:rPr>
              <a:t>It also causes caustic </a:t>
            </a:r>
            <a:r>
              <a:rPr sz="1800" spc="-5" dirty="0">
                <a:latin typeface="Times New Roman"/>
                <a:cs typeface="Times New Roman"/>
              </a:rPr>
              <a:t>embitterment </a:t>
            </a:r>
            <a:r>
              <a:rPr sz="1800" dirty="0">
                <a:latin typeface="Times New Roman"/>
                <a:cs typeface="Times New Roman"/>
              </a:rPr>
              <a:t>when sodium carbonate hydrolyses to give</a:t>
            </a:r>
            <a:r>
              <a:rPr sz="1800" spc="-80" dirty="0">
                <a:latin typeface="Times New Roman"/>
                <a:cs typeface="Times New Roman"/>
              </a:rPr>
              <a:t> </a:t>
            </a:r>
            <a:r>
              <a:rPr sz="1800" spc="-5" dirty="0">
                <a:latin typeface="Times New Roman"/>
                <a:cs typeface="Times New Roman"/>
              </a:rPr>
              <a:t>NaOH</a:t>
            </a:r>
            <a:endParaRPr sz="1800">
              <a:latin typeface="Times New Roman"/>
              <a:cs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015111"/>
            <a:ext cx="8448675" cy="4140835"/>
          </a:xfrm>
          <a:prstGeom prst="rect">
            <a:avLst/>
          </a:prstGeom>
        </p:spPr>
        <p:txBody>
          <a:bodyPr vert="horz" wrap="square" lIns="0" tIns="12065" rIns="0" bIns="0" rtlCol="0">
            <a:spAutoFit/>
          </a:bodyPr>
          <a:lstStyle/>
          <a:p>
            <a:pPr marL="165100">
              <a:lnSpc>
                <a:spcPct val="100000"/>
              </a:lnSpc>
              <a:spcBef>
                <a:spcPts val="95"/>
              </a:spcBef>
            </a:pPr>
            <a:r>
              <a:rPr sz="2200" dirty="0">
                <a:solidFill>
                  <a:srgbClr val="04607A"/>
                </a:solidFill>
                <a:latin typeface="Times New Roman"/>
                <a:cs typeface="Times New Roman"/>
              </a:rPr>
              <a:t>I</a:t>
            </a:r>
            <a:r>
              <a:rPr sz="1750" dirty="0">
                <a:solidFill>
                  <a:srgbClr val="04607A"/>
                </a:solidFill>
                <a:latin typeface="Times New Roman"/>
                <a:cs typeface="Times New Roman"/>
              </a:rPr>
              <a:t>ON </a:t>
            </a:r>
            <a:r>
              <a:rPr sz="2200" spc="5" dirty="0">
                <a:solidFill>
                  <a:srgbClr val="04607A"/>
                </a:solidFill>
                <a:latin typeface="Times New Roman"/>
                <a:cs typeface="Times New Roman"/>
              </a:rPr>
              <a:t>E</a:t>
            </a:r>
            <a:r>
              <a:rPr sz="1750" spc="5" dirty="0">
                <a:solidFill>
                  <a:srgbClr val="04607A"/>
                </a:solidFill>
                <a:latin typeface="Times New Roman"/>
                <a:cs typeface="Times New Roman"/>
              </a:rPr>
              <a:t>XCHANGE</a:t>
            </a:r>
            <a:r>
              <a:rPr sz="1750" spc="245" dirty="0">
                <a:solidFill>
                  <a:srgbClr val="04607A"/>
                </a:solidFill>
                <a:latin typeface="Times New Roman"/>
                <a:cs typeface="Times New Roman"/>
              </a:rPr>
              <a:t> </a:t>
            </a:r>
            <a:r>
              <a:rPr sz="2200" spc="5" dirty="0">
                <a:solidFill>
                  <a:srgbClr val="04607A"/>
                </a:solidFill>
                <a:latin typeface="Times New Roman"/>
                <a:cs typeface="Times New Roman"/>
              </a:rPr>
              <a:t>P</a:t>
            </a:r>
            <a:r>
              <a:rPr sz="1750" spc="5" dirty="0">
                <a:solidFill>
                  <a:srgbClr val="04607A"/>
                </a:solidFill>
                <a:latin typeface="Times New Roman"/>
                <a:cs typeface="Times New Roman"/>
              </a:rPr>
              <a:t>ROCESS</a:t>
            </a:r>
            <a:r>
              <a:rPr sz="2200" spc="5" dirty="0">
                <a:solidFill>
                  <a:srgbClr val="04607A"/>
                </a:solidFill>
                <a:latin typeface="Times New Roman"/>
                <a:cs typeface="Times New Roman"/>
              </a:rPr>
              <a:t>:</a:t>
            </a:r>
            <a:endParaRPr sz="2200">
              <a:latin typeface="Times New Roman"/>
              <a:cs typeface="Times New Roman"/>
            </a:endParaRPr>
          </a:p>
          <a:p>
            <a:pPr>
              <a:lnSpc>
                <a:spcPct val="100000"/>
              </a:lnSpc>
              <a:spcBef>
                <a:spcPts val="30"/>
              </a:spcBef>
            </a:pPr>
            <a:endParaRPr sz="3100">
              <a:latin typeface="Times New Roman"/>
              <a:cs typeface="Times New Roman"/>
            </a:endParaRPr>
          </a:p>
          <a:p>
            <a:pPr marL="286385" marR="365760" indent="-274320">
              <a:lnSpc>
                <a:spcPct val="100000"/>
              </a:lnSpc>
              <a:buClr>
                <a:srgbClr val="0E6EC5"/>
              </a:buClr>
              <a:buSzPct val="68181"/>
              <a:buFont typeface="Wingdings"/>
              <a:buChar char=""/>
              <a:tabLst>
                <a:tab pos="287020" algn="l"/>
              </a:tabLst>
            </a:pPr>
            <a:r>
              <a:rPr sz="2200" spc="-5" dirty="0">
                <a:solidFill>
                  <a:srgbClr val="000099"/>
                </a:solidFill>
                <a:latin typeface="Times New Roman"/>
                <a:cs typeface="Times New Roman"/>
              </a:rPr>
              <a:t>Ion exchange resins are insoluble, cross </a:t>
            </a:r>
            <a:r>
              <a:rPr sz="2200" dirty="0">
                <a:solidFill>
                  <a:srgbClr val="000099"/>
                </a:solidFill>
                <a:latin typeface="Times New Roman"/>
                <a:cs typeface="Times New Roman"/>
              </a:rPr>
              <a:t>linked, </a:t>
            </a:r>
            <a:r>
              <a:rPr sz="2200" spc="-5" dirty="0">
                <a:solidFill>
                  <a:srgbClr val="000099"/>
                </a:solidFill>
                <a:latin typeface="Times New Roman"/>
                <a:cs typeface="Times New Roman"/>
              </a:rPr>
              <a:t>long chain </a:t>
            </a:r>
            <a:r>
              <a:rPr sz="2200" spc="-10" dirty="0">
                <a:solidFill>
                  <a:srgbClr val="000099"/>
                </a:solidFill>
                <a:latin typeface="Times New Roman"/>
                <a:cs typeface="Times New Roman"/>
              </a:rPr>
              <a:t>organic  </a:t>
            </a:r>
            <a:r>
              <a:rPr sz="2200" spc="-5" dirty="0">
                <a:solidFill>
                  <a:srgbClr val="000099"/>
                </a:solidFill>
                <a:latin typeface="Times New Roman"/>
                <a:cs typeface="Times New Roman"/>
              </a:rPr>
              <a:t>polymers with a microporous structure, and the functional groups  attached to the chain is responsible for the </a:t>
            </a:r>
            <a:r>
              <a:rPr sz="2200" dirty="0">
                <a:solidFill>
                  <a:srgbClr val="000099"/>
                </a:solidFill>
                <a:latin typeface="Times New Roman"/>
                <a:cs typeface="Times New Roman"/>
              </a:rPr>
              <a:t>“ion-exchange”</a:t>
            </a:r>
            <a:r>
              <a:rPr sz="2200" spc="80" dirty="0">
                <a:solidFill>
                  <a:srgbClr val="000099"/>
                </a:solidFill>
                <a:latin typeface="Times New Roman"/>
                <a:cs typeface="Times New Roman"/>
              </a:rPr>
              <a:t> </a:t>
            </a:r>
            <a:r>
              <a:rPr sz="2200" spc="-5" dirty="0">
                <a:solidFill>
                  <a:srgbClr val="000099"/>
                </a:solidFill>
                <a:latin typeface="Times New Roman"/>
                <a:cs typeface="Times New Roman"/>
              </a:rPr>
              <a:t>properties.</a:t>
            </a:r>
            <a:endParaRPr sz="2200">
              <a:latin typeface="Times New Roman"/>
              <a:cs typeface="Times New Roman"/>
            </a:endParaRPr>
          </a:p>
          <a:p>
            <a:pPr>
              <a:lnSpc>
                <a:spcPct val="100000"/>
              </a:lnSpc>
              <a:spcBef>
                <a:spcPts val="50"/>
              </a:spcBef>
              <a:buClr>
                <a:srgbClr val="0E6EC5"/>
              </a:buClr>
              <a:buFont typeface="Wingdings"/>
              <a:buChar char=""/>
            </a:pPr>
            <a:endParaRPr sz="3300">
              <a:latin typeface="Times New Roman"/>
              <a:cs typeface="Times New Roman"/>
            </a:endParaRPr>
          </a:p>
          <a:p>
            <a:pPr marL="286385" marR="5080" indent="-274320">
              <a:lnSpc>
                <a:spcPct val="100000"/>
              </a:lnSpc>
              <a:buClr>
                <a:srgbClr val="0E6EC5"/>
              </a:buClr>
              <a:buSzPct val="68181"/>
              <a:buFont typeface="Wingdings"/>
              <a:buChar char=""/>
              <a:tabLst>
                <a:tab pos="287020" algn="l"/>
              </a:tabLst>
            </a:pPr>
            <a:r>
              <a:rPr sz="2200" spc="-5" dirty="0">
                <a:latin typeface="Times New Roman"/>
                <a:cs typeface="Times New Roman"/>
              </a:rPr>
              <a:t>Acidic functional groups (-COOH, -SO3H, etc.) exchange H+ with other  cations.</a:t>
            </a:r>
            <a:endParaRPr sz="2200">
              <a:latin typeface="Times New Roman"/>
              <a:cs typeface="Times New Roman"/>
            </a:endParaRPr>
          </a:p>
          <a:p>
            <a:pPr>
              <a:lnSpc>
                <a:spcPct val="100000"/>
              </a:lnSpc>
              <a:spcBef>
                <a:spcPts val="45"/>
              </a:spcBef>
              <a:buClr>
                <a:srgbClr val="0E6EC5"/>
              </a:buClr>
              <a:buFont typeface="Wingdings"/>
              <a:buChar char=""/>
            </a:pPr>
            <a:endParaRPr sz="3300">
              <a:latin typeface="Times New Roman"/>
              <a:cs typeface="Times New Roman"/>
            </a:endParaRPr>
          </a:p>
          <a:p>
            <a:pPr marL="286385" marR="609600" indent="-274320">
              <a:lnSpc>
                <a:spcPct val="100000"/>
              </a:lnSpc>
              <a:buClr>
                <a:srgbClr val="0E6EC5"/>
              </a:buClr>
              <a:buSzPct val="68181"/>
              <a:buFont typeface="Wingdings"/>
              <a:buChar char=""/>
              <a:tabLst>
                <a:tab pos="287020" algn="l"/>
                <a:tab pos="4998720" algn="l"/>
              </a:tabLst>
            </a:pPr>
            <a:r>
              <a:rPr sz="2200" spc="-5" dirty="0">
                <a:latin typeface="Times New Roman"/>
                <a:cs typeface="Times New Roman"/>
              </a:rPr>
              <a:t>Basic functional groups</a:t>
            </a:r>
            <a:r>
              <a:rPr sz="2200" spc="35" dirty="0">
                <a:latin typeface="Times New Roman"/>
                <a:cs typeface="Times New Roman"/>
              </a:rPr>
              <a:t> </a:t>
            </a:r>
            <a:r>
              <a:rPr sz="2200" spc="-5" dirty="0">
                <a:latin typeface="Times New Roman"/>
                <a:cs typeface="Times New Roman"/>
              </a:rPr>
              <a:t>(-NH2=NH</a:t>
            </a:r>
            <a:r>
              <a:rPr sz="2200" spc="40" dirty="0">
                <a:latin typeface="Times New Roman"/>
                <a:cs typeface="Times New Roman"/>
              </a:rPr>
              <a:t> </a:t>
            </a:r>
            <a:r>
              <a:rPr sz="2200" spc="-5" dirty="0">
                <a:latin typeface="Times New Roman"/>
                <a:cs typeface="Times New Roman"/>
              </a:rPr>
              <a:t>etc.)	exchange </a:t>
            </a:r>
            <a:r>
              <a:rPr sz="2200" dirty="0">
                <a:latin typeface="Times New Roman"/>
                <a:cs typeface="Times New Roman"/>
              </a:rPr>
              <a:t>OH- </a:t>
            </a:r>
            <a:r>
              <a:rPr sz="2200" spc="-5" dirty="0">
                <a:latin typeface="Times New Roman"/>
                <a:cs typeface="Times New Roman"/>
              </a:rPr>
              <a:t>with other  anions.</a:t>
            </a:r>
            <a:endParaRPr sz="22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86</a:t>
            </a:fld>
            <a:endParaRPr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0540" y="1545904"/>
            <a:ext cx="7097395" cy="1642110"/>
          </a:xfrm>
          <a:prstGeom prst="rect">
            <a:avLst/>
          </a:prstGeom>
        </p:spPr>
        <p:txBody>
          <a:bodyPr vert="horz" wrap="square" lIns="0" tIns="89535" rIns="0" bIns="0" rtlCol="0">
            <a:spAutoFit/>
          </a:bodyPr>
          <a:lstStyle/>
          <a:p>
            <a:pPr marL="38100">
              <a:lnSpc>
                <a:spcPct val="100000"/>
              </a:lnSpc>
              <a:spcBef>
                <a:spcPts val="705"/>
              </a:spcBef>
            </a:pPr>
            <a:r>
              <a:rPr sz="2400" dirty="0">
                <a:latin typeface="Times New Roman"/>
                <a:cs typeface="Times New Roman"/>
              </a:rPr>
              <a:t>Classification of</a:t>
            </a:r>
            <a:r>
              <a:rPr sz="2400" spc="-45" dirty="0">
                <a:latin typeface="Times New Roman"/>
                <a:cs typeface="Times New Roman"/>
              </a:rPr>
              <a:t> </a:t>
            </a:r>
            <a:r>
              <a:rPr sz="2400" dirty="0">
                <a:latin typeface="Times New Roman"/>
                <a:cs typeface="Times New Roman"/>
              </a:rPr>
              <a:t>Resins</a:t>
            </a:r>
            <a:endParaRPr sz="2400">
              <a:latin typeface="Times New Roman"/>
              <a:cs typeface="Times New Roman"/>
            </a:endParaRPr>
          </a:p>
          <a:p>
            <a:pPr marL="312420" marR="30480" indent="-274955">
              <a:lnSpc>
                <a:spcPct val="100000"/>
              </a:lnSpc>
              <a:spcBef>
                <a:spcPts val="600"/>
              </a:spcBef>
              <a:buClr>
                <a:srgbClr val="0E6EC5"/>
              </a:buClr>
              <a:buSzPct val="68750"/>
              <a:buFont typeface="Wingdings"/>
              <a:buChar char=""/>
              <a:tabLst>
                <a:tab pos="313055" algn="l"/>
                <a:tab pos="4746625" algn="l"/>
              </a:tabLst>
            </a:pPr>
            <a:r>
              <a:rPr sz="2400" spc="-5" dirty="0">
                <a:latin typeface="Times New Roman"/>
                <a:cs typeface="Times New Roman"/>
              </a:rPr>
              <a:t>A. </a:t>
            </a:r>
            <a:r>
              <a:rPr sz="2400" dirty="0">
                <a:latin typeface="Times New Roman"/>
                <a:cs typeface="Times New Roman"/>
              </a:rPr>
              <a:t>Cation-exchange</a:t>
            </a:r>
            <a:r>
              <a:rPr sz="2400" spc="10" dirty="0">
                <a:latin typeface="Times New Roman"/>
                <a:cs typeface="Times New Roman"/>
              </a:rPr>
              <a:t> </a:t>
            </a:r>
            <a:r>
              <a:rPr sz="2400" spc="-5" dirty="0">
                <a:latin typeface="Times New Roman"/>
                <a:cs typeface="Times New Roman"/>
              </a:rPr>
              <a:t>Resins(RH+)</a:t>
            </a:r>
            <a:r>
              <a:rPr sz="2400" spc="10" dirty="0">
                <a:latin typeface="Times New Roman"/>
                <a:cs typeface="Times New Roman"/>
              </a:rPr>
              <a:t> </a:t>
            </a:r>
            <a:r>
              <a:rPr sz="2400" dirty="0">
                <a:latin typeface="Times New Roman"/>
                <a:cs typeface="Times New Roman"/>
              </a:rPr>
              <a:t>:	Strongly acidic  </a:t>
            </a:r>
            <a:r>
              <a:rPr sz="2400" spc="-5" dirty="0">
                <a:latin typeface="Times New Roman"/>
                <a:cs typeface="Times New Roman"/>
              </a:rPr>
              <a:t>(SO</a:t>
            </a:r>
            <a:r>
              <a:rPr sz="2400" spc="-7" baseline="-20833" dirty="0">
                <a:latin typeface="Times New Roman"/>
                <a:cs typeface="Times New Roman"/>
              </a:rPr>
              <a:t>3</a:t>
            </a:r>
            <a:r>
              <a:rPr sz="2400" spc="-7" baseline="24305" dirty="0">
                <a:latin typeface="Times New Roman"/>
                <a:cs typeface="Times New Roman"/>
              </a:rPr>
              <a:t>-</a:t>
            </a:r>
            <a:r>
              <a:rPr sz="2400" spc="-5" dirty="0">
                <a:latin typeface="Times New Roman"/>
                <a:cs typeface="Times New Roman"/>
              </a:rPr>
              <a:t>H</a:t>
            </a:r>
            <a:r>
              <a:rPr sz="2400" spc="-7" baseline="24305" dirty="0">
                <a:latin typeface="Times New Roman"/>
                <a:cs typeface="Times New Roman"/>
              </a:rPr>
              <a:t>+</a:t>
            </a:r>
            <a:r>
              <a:rPr sz="2400" spc="-5" dirty="0">
                <a:latin typeface="Times New Roman"/>
                <a:cs typeface="Times New Roman"/>
              </a:rPr>
              <a:t>) </a:t>
            </a:r>
            <a:r>
              <a:rPr sz="2400" dirty="0">
                <a:latin typeface="Times New Roman"/>
                <a:cs typeface="Times New Roman"/>
              </a:rPr>
              <a:t>and weakly acidic </a:t>
            </a:r>
            <a:r>
              <a:rPr sz="2400" spc="-5" dirty="0">
                <a:latin typeface="Times New Roman"/>
                <a:cs typeface="Times New Roman"/>
              </a:rPr>
              <a:t>(COO</a:t>
            </a:r>
            <a:r>
              <a:rPr sz="2400" spc="-7" baseline="24305" dirty="0">
                <a:latin typeface="Times New Roman"/>
                <a:cs typeface="Times New Roman"/>
              </a:rPr>
              <a:t>-</a:t>
            </a:r>
            <a:r>
              <a:rPr sz="2400" spc="-5" dirty="0">
                <a:latin typeface="Times New Roman"/>
                <a:cs typeface="Times New Roman"/>
              </a:rPr>
              <a:t>H</a:t>
            </a:r>
            <a:r>
              <a:rPr sz="2400" spc="-7" baseline="24305" dirty="0">
                <a:latin typeface="Times New Roman"/>
                <a:cs typeface="Times New Roman"/>
              </a:rPr>
              <a:t>+</a:t>
            </a:r>
            <a:r>
              <a:rPr sz="2400" spc="-5" dirty="0">
                <a:latin typeface="Times New Roman"/>
                <a:cs typeface="Times New Roman"/>
              </a:rPr>
              <a:t>) </a:t>
            </a:r>
            <a:r>
              <a:rPr sz="2400" dirty="0">
                <a:latin typeface="Times New Roman"/>
                <a:cs typeface="Times New Roman"/>
              </a:rPr>
              <a:t>cation</a:t>
            </a:r>
            <a:r>
              <a:rPr sz="2400" spc="-50" dirty="0">
                <a:latin typeface="Times New Roman"/>
                <a:cs typeface="Times New Roman"/>
              </a:rPr>
              <a:t> </a:t>
            </a:r>
            <a:r>
              <a:rPr sz="2400" dirty="0">
                <a:latin typeface="Times New Roman"/>
                <a:cs typeface="Times New Roman"/>
              </a:rPr>
              <a:t>exchange  resins</a:t>
            </a:r>
            <a:endParaRPr sz="2400">
              <a:latin typeface="Times New Roman"/>
              <a:cs typeface="Times New Roman"/>
            </a:endParaRPr>
          </a:p>
        </p:txBody>
      </p:sp>
      <p:sp>
        <p:nvSpPr>
          <p:cNvPr id="3" name="object 3"/>
          <p:cNvSpPr/>
          <p:nvPr/>
        </p:nvSpPr>
        <p:spPr>
          <a:xfrm>
            <a:off x="1828800" y="3048000"/>
            <a:ext cx="5334000" cy="2590800"/>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87</a:t>
            </a:fld>
            <a:endParaRPr dirty="0"/>
          </a:p>
        </p:txBody>
      </p:sp>
      <p:sp>
        <p:nvSpPr>
          <p:cNvPr id="5" name="object 5"/>
          <p:cNvSpPr txBox="1"/>
          <p:nvPr/>
        </p:nvSpPr>
        <p:spPr>
          <a:xfrm>
            <a:off x="4804028" y="5995110"/>
            <a:ext cx="254000" cy="278765"/>
          </a:xfrm>
          <a:prstGeom prst="rect">
            <a:avLst/>
          </a:prstGeom>
        </p:spPr>
        <p:txBody>
          <a:bodyPr vert="horz" wrap="square" lIns="0" tIns="0" rIns="0" bIns="0" rtlCol="0">
            <a:spAutoFit/>
          </a:bodyPr>
          <a:lstStyle/>
          <a:p>
            <a:pPr marL="12700">
              <a:lnSpc>
                <a:spcPts val="2065"/>
              </a:lnSpc>
            </a:pPr>
            <a:r>
              <a:rPr sz="1800" dirty="0">
                <a:latin typeface="Times New Roman"/>
                <a:cs typeface="Times New Roman"/>
              </a:rPr>
              <a:t>12</a:t>
            </a:r>
            <a:endParaRPr sz="1800">
              <a:latin typeface="Times New Roman"/>
              <a:cs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0540" y="1625549"/>
            <a:ext cx="6933565" cy="635000"/>
          </a:xfrm>
          <a:prstGeom prst="rect">
            <a:avLst/>
          </a:prstGeom>
        </p:spPr>
        <p:txBody>
          <a:bodyPr vert="horz" wrap="square" lIns="0" tIns="13335" rIns="0" bIns="0" rtlCol="0">
            <a:spAutoFit/>
          </a:bodyPr>
          <a:lstStyle/>
          <a:p>
            <a:pPr marL="38100">
              <a:lnSpc>
                <a:spcPts val="2395"/>
              </a:lnSpc>
              <a:spcBef>
                <a:spcPts val="105"/>
              </a:spcBef>
              <a:tabLst>
                <a:tab pos="4058920" algn="l"/>
              </a:tabLst>
            </a:pPr>
            <a:r>
              <a:rPr sz="2000" dirty="0">
                <a:solidFill>
                  <a:srgbClr val="000000"/>
                </a:solidFill>
                <a:latin typeface="Arial"/>
                <a:cs typeface="Arial"/>
              </a:rPr>
              <a:t>2.  Anion Exchange resin</a:t>
            </a:r>
            <a:r>
              <a:rPr sz="2000" spc="-160" dirty="0">
                <a:solidFill>
                  <a:srgbClr val="000000"/>
                </a:solidFill>
                <a:latin typeface="Arial"/>
                <a:cs typeface="Arial"/>
              </a:rPr>
              <a:t> </a:t>
            </a:r>
            <a:r>
              <a:rPr sz="2000" spc="5" dirty="0">
                <a:solidFill>
                  <a:srgbClr val="000000"/>
                </a:solidFill>
                <a:latin typeface="Arial"/>
                <a:cs typeface="Arial"/>
              </a:rPr>
              <a:t>(ROH</a:t>
            </a:r>
            <a:r>
              <a:rPr sz="1950" spc="7" baseline="25641" dirty="0">
                <a:solidFill>
                  <a:srgbClr val="000000"/>
                </a:solidFill>
                <a:latin typeface="Arial"/>
                <a:cs typeface="Arial"/>
              </a:rPr>
              <a:t>-</a:t>
            </a:r>
            <a:r>
              <a:rPr sz="2000" spc="5" dirty="0">
                <a:solidFill>
                  <a:srgbClr val="000000"/>
                </a:solidFill>
                <a:latin typeface="Arial"/>
                <a:cs typeface="Arial"/>
              </a:rPr>
              <a:t>)</a:t>
            </a:r>
            <a:r>
              <a:rPr sz="2000" spc="-25" dirty="0">
                <a:solidFill>
                  <a:srgbClr val="000000"/>
                </a:solidFill>
                <a:latin typeface="Arial"/>
                <a:cs typeface="Arial"/>
              </a:rPr>
              <a:t> </a:t>
            </a:r>
            <a:r>
              <a:rPr sz="2000" dirty="0">
                <a:solidFill>
                  <a:srgbClr val="000000"/>
                </a:solidFill>
                <a:latin typeface="Arial"/>
                <a:cs typeface="Arial"/>
              </a:rPr>
              <a:t>–	Strongly basic</a:t>
            </a:r>
            <a:r>
              <a:rPr sz="2000" spc="-85" dirty="0">
                <a:solidFill>
                  <a:srgbClr val="000000"/>
                </a:solidFill>
                <a:latin typeface="Arial"/>
                <a:cs typeface="Arial"/>
              </a:rPr>
              <a:t> </a:t>
            </a:r>
            <a:r>
              <a:rPr sz="2000" spc="5" dirty="0">
                <a:solidFill>
                  <a:srgbClr val="000000"/>
                </a:solidFill>
                <a:latin typeface="Arial"/>
                <a:cs typeface="Arial"/>
              </a:rPr>
              <a:t>(R</a:t>
            </a:r>
            <a:r>
              <a:rPr sz="1950" spc="7" baseline="-21367" dirty="0">
                <a:solidFill>
                  <a:srgbClr val="000000"/>
                </a:solidFill>
                <a:latin typeface="Arial"/>
                <a:cs typeface="Arial"/>
              </a:rPr>
              <a:t>4</a:t>
            </a:r>
            <a:r>
              <a:rPr sz="2000" spc="5" dirty="0">
                <a:solidFill>
                  <a:srgbClr val="000000"/>
                </a:solidFill>
                <a:latin typeface="Arial"/>
                <a:cs typeface="Arial"/>
              </a:rPr>
              <a:t>N</a:t>
            </a:r>
            <a:r>
              <a:rPr sz="1950" spc="7" baseline="25641" dirty="0">
                <a:solidFill>
                  <a:srgbClr val="000000"/>
                </a:solidFill>
                <a:latin typeface="Arial"/>
                <a:cs typeface="Arial"/>
              </a:rPr>
              <a:t>+</a:t>
            </a:r>
            <a:r>
              <a:rPr sz="2000" spc="5" dirty="0">
                <a:solidFill>
                  <a:srgbClr val="000000"/>
                </a:solidFill>
                <a:latin typeface="Arial"/>
                <a:cs typeface="Arial"/>
              </a:rPr>
              <a:t>OH</a:t>
            </a:r>
            <a:r>
              <a:rPr sz="1950" spc="7" baseline="25641" dirty="0">
                <a:solidFill>
                  <a:srgbClr val="000000"/>
                </a:solidFill>
                <a:latin typeface="Arial"/>
                <a:cs typeface="Arial"/>
              </a:rPr>
              <a:t>-</a:t>
            </a:r>
            <a:r>
              <a:rPr sz="2000" spc="5" dirty="0">
                <a:solidFill>
                  <a:srgbClr val="000000"/>
                </a:solidFill>
                <a:latin typeface="Arial"/>
                <a:cs typeface="Arial"/>
              </a:rPr>
              <a:t>)</a:t>
            </a:r>
            <a:endParaRPr sz="2000">
              <a:latin typeface="Arial"/>
              <a:cs typeface="Arial"/>
            </a:endParaRPr>
          </a:p>
          <a:p>
            <a:pPr marL="312420">
              <a:lnSpc>
                <a:spcPts val="2395"/>
              </a:lnSpc>
            </a:pPr>
            <a:r>
              <a:rPr sz="2000" dirty="0">
                <a:solidFill>
                  <a:srgbClr val="000000"/>
                </a:solidFill>
                <a:latin typeface="Arial"/>
                <a:cs typeface="Arial"/>
              </a:rPr>
              <a:t>and weakly basic </a:t>
            </a:r>
            <a:r>
              <a:rPr sz="2000" spc="5" dirty="0">
                <a:solidFill>
                  <a:srgbClr val="000000"/>
                </a:solidFill>
                <a:latin typeface="Arial"/>
                <a:cs typeface="Arial"/>
              </a:rPr>
              <a:t>(RNH</a:t>
            </a:r>
            <a:r>
              <a:rPr sz="1950" spc="7" baseline="-21367" dirty="0">
                <a:solidFill>
                  <a:srgbClr val="000000"/>
                </a:solidFill>
                <a:latin typeface="Arial"/>
                <a:cs typeface="Arial"/>
              </a:rPr>
              <a:t>2</a:t>
            </a:r>
            <a:r>
              <a:rPr sz="1950" spc="7" baseline="25641" dirty="0">
                <a:solidFill>
                  <a:srgbClr val="000000"/>
                </a:solidFill>
                <a:latin typeface="Arial"/>
                <a:cs typeface="Arial"/>
              </a:rPr>
              <a:t>+</a:t>
            </a:r>
            <a:r>
              <a:rPr sz="2000" spc="5" dirty="0">
                <a:solidFill>
                  <a:srgbClr val="000000"/>
                </a:solidFill>
                <a:latin typeface="Arial"/>
                <a:cs typeface="Arial"/>
              </a:rPr>
              <a:t>OH</a:t>
            </a:r>
            <a:r>
              <a:rPr sz="1950" spc="7" baseline="25641" dirty="0">
                <a:solidFill>
                  <a:srgbClr val="000000"/>
                </a:solidFill>
                <a:latin typeface="Arial"/>
                <a:cs typeface="Arial"/>
              </a:rPr>
              <a:t>-</a:t>
            </a:r>
            <a:r>
              <a:rPr sz="2000" spc="5" dirty="0">
                <a:solidFill>
                  <a:srgbClr val="000000"/>
                </a:solidFill>
                <a:latin typeface="Arial"/>
                <a:cs typeface="Arial"/>
              </a:rPr>
              <a:t>) </a:t>
            </a:r>
            <a:r>
              <a:rPr sz="2000" dirty="0">
                <a:solidFill>
                  <a:srgbClr val="000000"/>
                </a:solidFill>
                <a:latin typeface="Arial"/>
                <a:cs typeface="Arial"/>
              </a:rPr>
              <a:t>anion exchange</a:t>
            </a:r>
            <a:r>
              <a:rPr sz="2000" spc="-165" dirty="0">
                <a:solidFill>
                  <a:srgbClr val="000000"/>
                </a:solidFill>
                <a:latin typeface="Arial"/>
                <a:cs typeface="Arial"/>
              </a:rPr>
              <a:t> </a:t>
            </a:r>
            <a:r>
              <a:rPr sz="2000" dirty="0">
                <a:solidFill>
                  <a:srgbClr val="000000"/>
                </a:solidFill>
                <a:latin typeface="Arial"/>
                <a:cs typeface="Arial"/>
              </a:rPr>
              <a:t>resins</a:t>
            </a:r>
            <a:endParaRPr sz="2000">
              <a:latin typeface="Arial"/>
              <a:cs typeface="Arial"/>
            </a:endParaRPr>
          </a:p>
        </p:txBody>
      </p:sp>
      <p:sp>
        <p:nvSpPr>
          <p:cNvPr id="3" name="object 3"/>
          <p:cNvSpPr txBox="1"/>
          <p:nvPr/>
        </p:nvSpPr>
        <p:spPr>
          <a:xfrm>
            <a:off x="7852664" y="5870549"/>
            <a:ext cx="684530" cy="476250"/>
          </a:xfrm>
          <a:prstGeom prst="rect">
            <a:avLst/>
          </a:prstGeom>
        </p:spPr>
        <p:txBody>
          <a:bodyPr vert="horz" wrap="square" lIns="0" tIns="12700" rIns="0" bIns="0" rtlCol="0">
            <a:spAutoFit/>
          </a:bodyPr>
          <a:lstStyle/>
          <a:p>
            <a:pPr marR="5080" algn="r">
              <a:lnSpc>
                <a:spcPts val="1530"/>
              </a:lnSpc>
              <a:spcBef>
                <a:spcPts val="100"/>
              </a:spcBef>
            </a:pPr>
            <a:r>
              <a:rPr sz="1400" b="1" spc="5" dirty="0">
                <a:solidFill>
                  <a:srgbClr val="FFFFFF"/>
                </a:solidFill>
                <a:latin typeface="Times New Roman"/>
                <a:cs typeface="Times New Roman"/>
              </a:rPr>
              <a:t>52</a:t>
            </a:r>
            <a:endParaRPr sz="1400">
              <a:latin typeface="Times New Roman"/>
              <a:cs typeface="Times New Roman"/>
            </a:endParaRPr>
          </a:p>
          <a:p>
            <a:pPr marL="12700">
              <a:lnSpc>
                <a:spcPts val="2010"/>
              </a:lnSpc>
            </a:pPr>
            <a:r>
              <a:rPr sz="1800" spc="-5" dirty="0">
                <a:latin typeface="Times New Roman"/>
                <a:cs typeface="Times New Roman"/>
              </a:rPr>
              <a:t>13</a:t>
            </a:r>
            <a:endParaRPr sz="1800">
              <a:latin typeface="Times New Roman"/>
              <a:cs typeface="Times New Roman"/>
            </a:endParaRPr>
          </a:p>
        </p:txBody>
      </p:sp>
      <p:sp>
        <p:nvSpPr>
          <p:cNvPr id="4" name="object 4"/>
          <p:cNvSpPr/>
          <p:nvPr/>
        </p:nvSpPr>
        <p:spPr>
          <a:xfrm>
            <a:off x="1371600" y="2514600"/>
            <a:ext cx="6248400" cy="38862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600" y="381000"/>
            <a:ext cx="8534400" cy="617220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7395209" y="5841108"/>
            <a:ext cx="1142365" cy="581660"/>
          </a:xfrm>
          <a:prstGeom prst="rect">
            <a:avLst/>
          </a:prstGeom>
        </p:spPr>
        <p:txBody>
          <a:bodyPr vert="horz" wrap="square" lIns="0" tIns="42545" rIns="0" bIns="0" rtlCol="0">
            <a:spAutoFit/>
          </a:bodyPr>
          <a:lstStyle/>
          <a:p>
            <a:pPr marR="5080" algn="r">
              <a:lnSpc>
                <a:spcPct val="100000"/>
              </a:lnSpc>
              <a:spcBef>
                <a:spcPts val="335"/>
              </a:spcBef>
            </a:pPr>
            <a:r>
              <a:rPr sz="1400" b="1" spc="5" dirty="0">
                <a:solidFill>
                  <a:srgbClr val="FFFFFF"/>
                </a:solidFill>
                <a:latin typeface="Times New Roman"/>
                <a:cs typeface="Times New Roman"/>
              </a:rPr>
              <a:t>53</a:t>
            </a:r>
            <a:endParaRPr sz="1400">
              <a:latin typeface="Times New Roman"/>
              <a:cs typeface="Times New Roman"/>
            </a:endParaRPr>
          </a:p>
          <a:p>
            <a:pPr marL="12700">
              <a:lnSpc>
                <a:spcPct val="100000"/>
              </a:lnSpc>
              <a:spcBef>
                <a:spcPts val="300"/>
              </a:spcBef>
            </a:pPr>
            <a:r>
              <a:rPr sz="1800" spc="-5" dirty="0">
                <a:latin typeface="Times New Roman"/>
                <a:cs typeface="Times New Roman"/>
              </a:rPr>
              <a:t>14</a:t>
            </a:r>
            <a:endParaRPr sz="1800">
              <a:latin typeface="Times New Roman"/>
              <a:cs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08532" y="541019"/>
            <a:ext cx="7504430" cy="401320"/>
          </a:xfrm>
          <a:prstGeom prst="rect">
            <a:avLst/>
          </a:prstGeom>
          <a:ln w="9144">
            <a:solidFill>
              <a:srgbClr val="85DFD0"/>
            </a:solidFill>
          </a:ln>
        </p:spPr>
        <p:txBody>
          <a:bodyPr vert="horz" wrap="square" lIns="0" tIns="37465" rIns="0" bIns="0" rtlCol="0">
            <a:spAutoFit/>
          </a:bodyPr>
          <a:lstStyle/>
          <a:p>
            <a:pPr marL="471805">
              <a:lnSpc>
                <a:spcPct val="100000"/>
              </a:lnSpc>
              <a:spcBef>
                <a:spcPts val="295"/>
              </a:spcBef>
            </a:pPr>
            <a:r>
              <a:rPr sz="2000" dirty="0">
                <a:solidFill>
                  <a:srgbClr val="000099"/>
                </a:solidFill>
              </a:rPr>
              <a:t>Process or Ion-exchange </a:t>
            </a:r>
            <a:r>
              <a:rPr sz="2000" spc="-5" dirty="0">
                <a:solidFill>
                  <a:srgbClr val="000099"/>
                </a:solidFill>
              </a:rPr>
              <a:t>mechanism </a:t>
            </a:r>
            <a:r>
              <a:rPr sz="2000" dirty="0">
                <a:solidFill>
                  <a:srgbClr val="000099"/>
                </a:solidFill>
              </a:rPr>
              <a:t>involved in water</a:t>
            </a:r>
            <a:r>
              <a:rPr sz="2000" spc="-170" dirty="0">
                <a:solidFill>
                  <a:srgbClr val="000099"/>
                </a:solidFill>
              </a:rPr>
              <a:t> </a:t>
            </a:r>
            <a:r>
              <a:rPr sz="2000" dirty="0">
                <a:solidFill>
                  <a:srgbClr val="000099"/>
                </a:solidFill>
              </a:rPr>
              <a:t>softening</a:t>
            </a:r>
            <a:endParaRPr sz="2000"/>
          </a:p>
        </p:txBody>
      </p:sp>
      <p:grpSp>
        <p:nvGrpSpPr>
          <p:cNvPr id="3" name="object 3"/>
          <p:cNvGrpSpPr/>
          <p:nvPr/>
        </p:nvGrpSpPr>
        <p:grpSpPr>
          <a:xfrm>
            <a:off x="482917" y="2768917"/>
            <a:ext cx="6701790" cy="870585"/>
            <a:chOff x="482917" y="2768917"/>
            <a:chExt cx="6701790" cy="870585"/>
          </a:xfrm>
        </p:grpSpPr>
        <p:sp>
          <p:nvSpPr>
            <p:cNvPr id="4" name="object 4"/>
            <p:cNvSpPr/>
            <p:nvPr/>
          </p:nvSpPr>
          <p:spPr>
            <a:xfrm>
              <a:off x="487680" y="2773679"/>
              <a:ext cx="6692265" cy="861060"/>
            </a:xfrm>
            <a:custGeom>
              <a:avLst/>
              <a:gdLst/>
              <a:ahLst/>
              <a:cxnLst/>
              <a:rect l="l" t="t" r="r" b="b"/>
              <a:pathLst>
                <a:path w="6692265" h="861060">
                  <a:moveTo>
                    <a:pt x="6691883" y="0"/>
                  </a:moveTo>
                  <a:lnTo>
                    <a:pt x="0" y="0"/>
                  </a:lnTo>
                  <a:lnTo>
                    <a:pt x="0" y="861060"/>
                  </a:lnTo>
                  <a:lnTo>
                    <a:pt x="6691883" y="861060"/>
                  </a:lnTo>
                  <a:lnTo>
                    <a:pt x="6691883" y="0"/>
                  </a:lnTo>
                  <a:close/>
                </a:path>
              </a:pathLst>
            </a:custGeom>
            <a:solidFill>
              <a:srgbClr val="FFFF66"/>
            </a:solidFill>
          </p:spPr>
          <p:txBody>
            <a:bodyPr wrap="square" lIns="0" tIns="0" rIns="0" bIns="0" rtlCol="0"/>
            <a:lstStyle/>
            <a:p>
              <a:endParaRPr/>
            </a:p>
          </p:txBody>
        </p:sp>
        <p:sp>
          <p:nvSpPr>
            <p:cNvPr id="5" name="object 5"/>
            <p:cNvSpPr/>
            <p:nvPr/>
          </p:nvSpPr>
          <p:spPr>
            <a:xfrm>
              <a:off x="487680" y="2773679"/>
              <a:ext cx="6692265" cy="861060"/>
            </a:xfrm>
            <a:custGeom>
              <a:avLst/>
              <a:gdLst/>
              <a:ahLst/>
              <a:cxnLst/>
              <a:rect l="l" t="t" r="r" b="b"/>
              <a:pathLst>
                <a:path w="6692265" h="861060">
                  <a:moveTo>
                    <a:pt x="0" y="861060"/>
                  </a:moveTo>
                  <a:lnTo>
                    <a:pt x="6691883" y="861060"/>
                  </a:lnTo>
                  <a:lnTo>
                    <a:pt x="6691883" y="0"/>
                  </a:lnTo>
                  <a:lnTo>
                    <a:pt x="0" y="0"/>
                  </a:lnTo>
                  <a:lnTo>
                    <a:pt x="0" y="861060"/>
                  </a:lnTo>
                  <a:close/>
                </a:path>
              </a:pathLst>
            </a:custGeom>
            <a:ln w="9143">
              <a:solidFill>
                <a:srgbClr val="85DFD0"/>
              </a:solidFill>
            </a:ln>
          </p:spPr>
          <p:txBody>
            <a:bodyPr wrap="square" lIns="0" tIns="0" rIns="0" bIns="0" rtlCol="0"/>
            <a:lstStyle/>
            <a:p>
              <a:endParaRPr/>
            </a:p>
          </p:txBody>
        </p:sp>
      </p:grpSp>
      <p:sp>
        <p:nvSpPr>
          <p:cNvPr id="6" name="object 6"/>
          <p:cNvSpPr txBox="1"/>
          <p:nvPr/>
        </p:nvSpPr>
        <p:spPr>
          <a:xfrm>
            <a:off x="528624" y="2646505"/>
            <a:ext cx="5662295" cy="939800"/>
          </a:xfrm>
          <a:prstGeom prst="rect">
            <a:avLst/>
          </a:prstGeom>
        </p:spPr>
        <p:txBody>
          <a:bodyPr vert="horz" wrap="square" lIns="0" tIns="164465" rIns="0" bIns="0" rtlCol="0">
            <a:spAutoFit/>
          </a:bodyPr>
          <a:lstStyle/>
          <a:p>
            <a:pPr marL="50800">
              <a:lnSpc>
                <a:spcPct val="100000"/>
              </a:lnSpc>
              <a:spcBef>
                <a:spcPts val="1295"/>
              </a:spcBef>
              <a:tabLst>
                <a:tab pos="3874135" algn="l"/>
                <a:tab pos="4782185" algn="l"/>
              </a:tabLst>
            </a:pPr>
            <a:r>
              <a:rPr sz="2000" dirty="0">
                <a:solidFill>
                  <a:srgbClr val="000099"/>
                </a:solidFill>
                <a:latin typeface="Times New Roman"/>
                <a:cs typeface="Times New Roman"/>
              </a:rPr>
              <a:t>2 </a:t>
            </a:r>
            <a:r>
              <a:rPr sz="2000" spc="5" dirty="0">
                <a:solidFill>
                  <a:srgbClr val="000099"/>
                </a:solidFill>
                <a:latin typeface="Times New Roman"/>
                <a:cs typeface="Times New Roman"/>
              </a:rPr>
              <a:t>RH</a:t>
            </a:r>
            <a:r>
              <a:rPr sz="1950" spc="7" baseline="25641" dirty="0">
                <a:solidFill>
                  <a:srgbClr val="000099"/>
                </a:solidFill>
                <a:latin typeface="Times New Roman"/>
                <a:cs typeface="Times New Roman"/>
              </a:rPr>
              <a:t>+  </a:t>
            </a:r>
            <a:r>
              <a:rPr sz="2000" dirty="0">
                <a:solidFill>
                  <a:srgbClr val="000099"/>
                </a:solidFill>
                <a:latin typeface="Times New Roman"/>
                <a:cs typeface="Times New Roman"/>
              </a:rPr>
              <a:t>+ </a:t>
            </a:r>
            <a:r>
              <a:rPr sz="2000" spc="5" dirty="0">
                <a:solidFill>
                  <a:srgbClr val="000099"/>
                </a:solidFill>
                <a:latin typeface="Times New Roman"/>
                <a:cs typeface="Times New Roman"/>
              </a:rPr>
              <a:t>Ca</a:t>
            </a:r>
            <a:r>
              <a:rPr sz="1950" spc="7" baseline="25641" dirty="0">
                <a:solidFill>
                  <a:srgbClr val="000099"/>
                </a:solidFill>
                <a:latin typeface="Times New Roman"/>
                <a:cs typeface="Times New Roman"/>
              </a:rPr>
              <a:t>2+</a:t>
            </a:r>
            <a:r>
              <a:rPr sz="1950" spc="37" baseline="25641" dirty="0">
                <a:solidFill>
                  <a:srgbClr val="000099"/>
                </a:solidFill>
                <a:latin typeface="Times New Roman"/>
                <a:cs typeface="Times New Roman"/>
              </a:rPr>
              <a:t> </a:t>
            </a:r>
            <a:r>
              <a:rPr sz="2000" dirty="0">
                <a:solidFill>
                  <a:srgbClr val="000099"/>
                </a:solidFill>
                <a:latin typeface="Times New Roman"/>
                <a:cs typeface="Times New Roman"/>
              </a:rPr>
              <a:t>(hard</a:t>
            </a:r>
            <a:r>
              <a:rPr sz="2000" spc="-35" dirty="0">
                <a:solidFill>
                  <a:srgbClr val="000099"/>
                </a:solidFill>
                <a:latin typeface="Times New Roman"/>
                <a:cs typeface="Times New Roman"/>
              </a:rPr>
              <a:t> </a:t>
            </a:r>
            <a:r>
              <a:rPr sz="2000" dirty="0">
                <a:solidFill>
                  <a:srgbClr val="000099"/>
                </a:solidFill>
                <a:latin typeface="Times New Roman"/>
                <a:cs typeface="Times New Roman"/>
              </a:rPr>
              <a:t>water)	</a:t>
            </a:r>
            <a:r>
              <a:rPr sz="2000" spc="5" dirty="0">
                <a:solidFill>
                  <a:srgbClr val="000099"/>
                </a:solidFill>
                <a:latin typeface="Times New Roman"/>
                <a:cs typeface="Times New Roman"/>
              </a:rPr>
              <a:t>R</a:t>
            </a:r>
            <a:r>
              <a:rPr sz="1950" spc="7" baseline="-21367" dirty="0">
                <a:solidFill>
                  <a:srgbClr val="000099"/>
                </a:solidFill>
                <a:latin typeface="Times New Roman"/>
                <a:cs typeface="Times New Roman"/>
              </a:rPr>
              <a:t>2</a:t>
            </a:r>
            <a:r>
              <a:rPr sz="2000" spc="5" dirty="0">
                <a:solidFill>
                  <a:srgbClr val="000099"/>
                </a:solidFill>
                <a:latin typeface="Times New Roman"/>
                <a:cs typeface="Times New Roman"/>
              </a:rPr>
              <a:t>Ca</a:t>
            </a:r>
            <a:r>
              <a:rPr sz="1950" spc="7" baseline="25641" dirty="0">
                <a:solidFill>
                  <a:srgbClr val="000099"/>
                </a:solidFill>
                <a:latin typeface="Times New Roman"/>
                <a:cs typeface="Times New Roman"/>
              </a:rPr>
              <a:t>2+	</a:t>
            </a:r>
            <a:r>
              <a:rPr sz="2000" dirty="0">
                <a:solidFill>
                  <a:srgbClr val="000099"/>
                </a:solidFill>
                <a:latin typeface="Times New Roman"/>
                <a:cs typeface="Times New Roman"/>
              </a:rPr>
              <a:t>+ 2</a:t>
            </a:r>
            <a:r>
              <a:rPr sz="2000" spc="-65" dirty="0">
                <a:solidFill>
                  <a:srgbClr val="000099"/>
                </a:solidFill>
                <a:latin typeface="Times New Roman"/>
                <a:cs typeface="Times New Roman"/>
              </a:rPr>
              <a:t> </a:t>
            </a:r>
            <a:r>
              <a:rPr sz="2000" spc="10" dirty="0">
                <a:solidFill>
                  <a:srgbClr val="000099"/>
                </a:solidFill>
                <a:latin typeface="Times New Roman"/>
                <a:cs typeface="Times New Roman"/>
              </a:rPr>
              <a:t>H</a:t>
            </a:r>
            <a:r>
              <a:rPr sz="1950" spc="15" baseline="25641" dirty="0">
                <a:solidFill>
                  <a:srgbClr val="000099"/>
                </a:solidFill>
                <a:latin typeface="Times New Roman"/>
                <a:cs typeface="Times New Roman"/>
              </a:rPr>
              <a:t>+</a:t>
            </a:r>
            <a:endParaRPr sz="1950" baseline="25641">
              <a:latin typeface="Times New Roman"/>
              <a:cs typeface="Times New Roman"/>
            </a:endParaRPr>
          </a:p>
          <a:p>
            <a:pPr marL="50800">
              <a:lnSpc>
                <a:spcPct val="100000"/>
              </a:lnSpc>
              <a:spcBef>
                <a:spcPts val="1200"/>
              </a:spcBef>
              <a:tabLst>
                <a:tab pos="3943985" algn="l"/>
              </a:tabLst>
            </a:pPr>
            <a:r>
              <a:rPr sz="2000" dirty="0">
                <a:solidFill>
                  <a:srgbClr val="000099"/>
                </a:solidFill>
                <a:latin typeface="Times New Roman"/>
                <a:cs typeface="Times New Roman"/>
              </a:rPr>
              <a:t>2 </a:t>
            </a:r>
            <a:r>
              <a:rPr sz="2000" spc="5" dirty="0">
                <a:solidFill>
                  <a:srgbClr val="000099"/>
                </a:solidFill>
                <a:latin typeface="Times New Roman"/>
                <a:cs typeface="Times New Roman"/>
              </a:rPr>
              <a:t>RH</a:t>
            </a:r>
            <a:r>
              <a:rPr sz="1950" spc="7" baseline="25641" dirty="0">
                <a:solidFill>
                  <a:srgbClr val="000099"/>
                </a:solidFill>
                <a:latin typeface="Times New Roman"/>
                <a:cs typeface="Times New Roman"/>
              </a:rPr>
              <a:t>+  </a:t>
            </a:r>
            <a:r>
              <a:rPr sz="2000" dirty="0">
                <a:solidFill>
                  <a:srgbClr val="000099"/>
                </a:solidFill>
                <a:latin typeface="Times New Roman"/>
                <a:cs typeface="Times New Roman"/>
              </a:rPr>
              <a:t>+ </a:t>
            </a:r>
            <a:r>
              <a:rPr sz="2000" spc="5" dirty="0">
                <a:solidFill>
                  <a:srgbClr val="000099"/>
                </a:solidFill>
                <a:latin typeface="Times New Roman"/>
                <a:cs typeface="Times New Roman"/>
              </a:rPr>
              <a:t>Mg</a:t>
            </a:r>
            <a:r>
              <a:rPr sz="1950" spc="7" baseline="25641" dirty="0">
                <a:solidFill>
                  <a:srgbClr val="000099"/>
                </a:solidFill>
                <a:latin typeface="Times New Roman"/>
                <a:cs typeface="Times New Roman"/>
              </a:rPr>
              <a:t>2+ </a:t>
            </a:r>
            <a:r>
              <a:rPr sz="2000" dirty="0">
                <a:solidFill>
                  <a:srgbClr val="000099"/>
                </a:solidFill>
                <a:latin typeface="Times New Roman"/>
                <a:cs typeface="Times New Roman"/>
              </a:rPr>
              <a:t>(hard</a:t>
            </a:r>
            <a:r>
              <a:rPr sz="2000" spc="-25" dirty="0">
                <a:solidFill>
                  <a:srgbClr val="000099"/>
                </a:solidFill>
                <a:latin typeface="Times New Roman"/>
                <a:cs typeface="Times New Roman"/>
              </a:rPr>
              <a:t> </a:t>
            </a:r>
            <a:r>
              <a:rPr sz="2000" dirty="0">
                <a:solidFill>
                  <a:srgbClr val="000099"/>
                </a:solidFill>
                <a:latin typeface="Times New Roman"/>
                <a:cs typeface="Times New Roman"/>
              </a:rPr>
              <a:t>water)	</a:t>
            </a:r>
            <a:r>
              <a:rPr sz="2000" spc="5" dirty="0">
                <a:solidFill>
                  <a:srgbClr val="000099"/>
                </a:solidFill>
                <a:latin typeface="Times New Roman"/>
                <a:cs typeface="Times New Roman"/>
              </a:rPr>
              <a:t>R</a:t>
            </a:r>
            <a:r>
              <a:rPr sz="1950" spc="7" baseline="-21367" dirty="0">
                <a:solidFill>
                  <a:srgbClr val="000099"/>
                </a:solidFill>
                <a:latin typeface="Times New Roman"/>
                <a:cs typeface="Times New Roman"/>
              </a:rPr>
              <a:t>2</a:t>
            </a:r>
            <a:r>
              <a:rPr sz="2000" spc="5" dirty="0">
                <a:solidFill>
                  <a:srgbClr val="000099"/>
                </a:solidFill>
                <a:latin typeface="Times New Roman"/>
                <a:cs typeface="Times New Roman"/>
              </a:rPr>
              <a:t>Mg</a:t>
            </a:r>
            <a:r>
              <a:rPr sz="1950" spc="7" baseline="25641" dirty="0">
                <a:solidFill>
                  <a:srgbClr val="000099"/>
                </a:solidFill>
                <a:latin typeface="Times New Roman"/>
                <a:cs typeface="Times New Roman"/>
              </a:rPr>
              <a:t>2+  </a:t>
            </a:r>
            <a:r>
              <a:rPr sz="2000" dirty="0">
                <a:solidFill>
                  <a:srgbClr val="000099"/>
                </a:solidFill>
                <a:latin typeface="Times New Roman"/>
                <a:cs typeface="Times New Roman"/>
              </a:rPr>
              <a:t>+ 2</a:t>
            </a:r>
            <a:r>
              <a:rPr sz="2000" spc="-80" dirty="0">
                <a:solidFill>
                  <a:srgbClr val="000099"/>
                </a:solidFill>
                <a:latin typeface="Times New Roman"/>
                <a:cs typeface="Times New Roman"/>
              </a:rPr>
              <a:t> </a:t>
            </a:r>
            <a:r>
              <a:rPr sz="2000" spc="10" dirty="0">
                <a:solidFill>
                  <a:srgbClr val="000099"/>
                </a:solidFill>
                <a:latin typeface="Times New Roman"/>
                <a:cs typeface="Times New Roman"/>
              </a:rPr>
              <a:t>H</a:t>
            </a:r>
            <a:r>
              <a:rPr sz="1950" spc="15" baseline="25641" dirty="0">
                <a:solidFill>
                  <a:srgbClr val="000099"/>
                </a:solidFill>
                <a:latin typeface="Times New Roman"/>
                <a:cs typeface="Times New Roman"/>
              </a:rPr>
              <a:t>+</a:t>
            </a:r>
            <a:endParaRPr sz="1950" baseline="25641">
              <a:latin typeface="Times New Roman"/>
              <a:cs typeface="Times New Roman"/>
            </a:endParaRPr>
          </a:p>
        </p:txBody>
      </p:sp>
      <p:sp>
        <p:nvSpPr>
          <p:cNvPr id="7" name="object 7"/>
          <p:cNvSpPr/>
          <p:nvPr/>
        </p:nvSpPr>
        <p:spPr>
          <a:xfrm>
            <a:off x="3352800" y="2933699"/>
            <a:ext cx="891540" cy="533400"/>
          </a:xfrm>
          <a:custGeom>
            <a:avLst/>
            <a:gdLst/>
            <a:ahLst/>
            <a:cxnLst/>
            <a:rect l="l" t="t" r="r" b="b"/>
            <a:pathLst>
              <a:path w="891539" h="533400">
                <a:moveTo>
                  <a:pt x="891540" y="495300"/>
                </a:moveTo>
                <a:lnTo>
                  <a:pt x="878840" y="488950"/>
                </a:lnTo>
                <a:lnTo>
                  <a:pt x="815340" y="457200"/>
                </a:lnTo>
                <a:lnTo>
                  <a:pt x="815340" y="488950"/>
                </a:lnTo>
                <a:lnTo>
                  <a:pt x="0" y="488950"/>
                </a:lnTo>
                <a:lnTo>
                  <a:pt x="0" y="501650"/>
                </a:lnTo>
                <a:lnTo>
                  <a:pt x="815340" y="501650"/>
                </a:lnTo>
                <a:lnTo>
                  <a:pt x="815340" y="533400"/>
                </a:lnTo>
                <a:lnTo>
                  <a:pt x="878840" y="501650"/>
                </a:lnTo>
                <a:lnTo>
                  <a:pt x="891540" y="495300"/>
                </a:lnTo>
                <a:close/>
              </a:path>
              <a:path w="891539" h="533400">
                <a:moveTo>
                  <a:pt x="891540" y="38100"/>
                </a:moveTo>
                <a:lnTo>
                  <a:pt x="878840" y="31750"/>
                </a:lnTo>
                <a:lnTo>
                  <a:pt x="815340" y="0"/>
                </a:lnTo>
                <a:lnTo>
                  <a:pt x="815340" y="31750"/>
                </a:lnTo>
                <a:lnTo>
                  <a:pt x="0" y="31750"/>
                </a:lnTo>
                <a:lnTo>
                  <a:pt x="0" y="44450"/>
                </a:lnTo>
                <a:lnTo>
                  <a:pt x="815340" y="44450"/>
                </a:lnTo>
                <a:lnTo>
                  <a:pt x="815340" y="76200"/>
                </a:lnTo>
                <a:lnTo>
                  <a:pt x="878840" y="44450"/>
                </a:lnTo>
                <a:lnTo>
                  <a:pt x="891540" y="38100"/>
                </a:lnTo>
                <a:close/>
              </a:path>
            </a:pathLst>
          </a:custGeom>
          <a:solidFill>
            <a:srgbClr val="000000"/>
          </a:solidFill>
        </p:spPr>
        <p:txBody>
          <a:bodyPr wrap="square" lIns="0" tIns="0" rIns="0" bIns="0" rtlCol="0"/>
          <a:lstStyle/>
          <a:p>
            <a:endParaRPr/>
          </a:p>
        </p:txBody>
      </p:sp>
      <p:grpSp>
        <p:nvGrpSpPr>
          <p:cNvPr id="8" name="object 8"/>
          <p:cNvGrpSpPr/>
          <p:nvPr/>
        </p:nvGrpSpPr>
        <p:grpSpPr>
          <a:xfrm>
            <a:off x="393001" y="4462081"/>
            <a:ext cx="7146925" cy="872490"/>
            <a:chOff x="393001" y="4462081"/>
            <a:chExt cx="7146925" cy="872490"/>
          </a:xfrm>
        </p:grpSpPr>
        <p:sp>
          <p:nvSpPr>
            <p:cNvPr id="9" name="object 9"/>
            <p:cNvSpPr/>
            <p:nvPr/>
          </p:nvSpPr>
          <p:spPr>
            <a:xfrm>
              <a:off x="397763" y="4466844"/>
              <a:ext cx="7137400" cy="862965"/>
            </a:xfrm>
            <a:custGeom>
              <a:avLst/>
              <a:gdLst/>
              <a:ahLst/>
              <a:cxnLst/>
              <a:rect l="l" t="t" r="r" b="b"/>
              <a:pathLst>
                <a:path w="7137400" h="862964">
                  <a:moveTo>
                    <a:pt x="7136892" y="0"/>
                  </a:moveTo>
                  <a:lnTo>
                    <a:pt x="0" y="0"/>
                  </a:lnTo>
                  <a:lnTo>
                    <a:pt x="0" y="862583"/>
                  </a:lnTo>
                  <a:lnTo>
                    <a:pt x="7136892" y="862583"/>
                  </a:lnTo>
                  <a:lnTo>
                    <a:pt x="7136892" y="0"/>
                  </a:lnTo>
                  <a:close/>
                </a:path>
              </a:pathLst>
            </a:custGeom>
            <a:solidFill>
              <a:srgbClr val="FFFF66"/>
            </a:solidFill>
          </p:spPr>
          <p:txBody>
            <a:bodyPr wrap="square" lIns="0" tIns="0" rIns="0" bIns="0" rtlCol="0"/>
            <a:lstStyle/>
            <a:p>
              <a:endParaRPr/>
            </a:p>
          </p:txBody>
        </p:sp>
        <p:sp>
          <p:nvSpPr>
            <p:cNvPr id="10" name="object 10"/>
            <p:cNvSpPr/>
            <p:nvPr/>
          </p:nvSpPr>
          <p:spPr>
            <a:xfrm>
              <a:off x="397763" y="4466844"/>
              <a:ext cx="7137400" cy="862965"/>
            </a:xfrm>
            <a:custGeom>
              <a:avLst/>
              <a:gdLst/>
              <a:ahLst/>
              <a:cxnLst/>
              <a:rect l="l" t="t" r="r" b="b"/>
              <a:pathLst>
                <a:path w="7137400" h="862964">
                  <a:moveTo>
                    <a:pt x="0" y="862583"/>
                  </a:moveTo>
                  <a:lnTo>
                    <a:pt x="7136892" y="862583"/>
                  </a:lnTo>
                  <a:lnTo>
                    <a:pt x="7136892" y="0"/>
                  </a:lnTo>
                  <a:lnTo>
                    <a:pt x="0" y="0"/>
                  </a:lnTo>
                  <a:lnTo>
                    <a:pt x="0" y="862583"/>
                  </a:lnTo>
                  <a:close/>
                </a:path>
              </a:pathLst>
            </a:custGeom>
            <a:ln w="9144">
              <a:solidFill>
                <a:srgbClr val="85DFD0"/>
              </a:solidFill>
            </a:ln>
          </p:spPr>
          <p:txBody>
            <a:bodyPr wrap="square" lIns="0" tIns="0" rIns="0" bIns="0" rtlCol="0"/>
            <a:lstStyle/>
            <a:p>
              <a:endParaRPr/>
            </a:p>
          </p:txBody>
        </p:sp>
      </p:grpSp>
      <p:sp>
        <p:nvSpPr>
          <p:cNvPr id="11" name="object 11"/>
          <p:cNvSpPr txBox="1"/>
          <p:nvPr/>
        </p:nvSpPr>
        <p:spPr>
          <a:xfrm>
            <a:off x="425399" y="4340453"/>
            <a:ext cx="6043295" cy="939800"/>
          </a:xfrm>
          <a:prstGeom prst="rect">
            <a:avLst/>
          </a:prstGeom>
        </p:spPr>
        <p:txBody>
          <a:bodyPr vert="horz" wrap="square" lIns="0" tIns="165100" rIns="0" bIns="0" rtlCol="0">
            <a:spAutoFit/>
          </a:bodyPr>
          <a:lstStyle/>
          <a:p>
            <a:pPr marL="63500">
              <a:lnSpc>
                <a:spcPct val="100000"/>
              </a:lnSpc>
              <a:spcBef>
                <a:spcPts val="1300"/>
              </a:spcBef>
              <a:tabLst>
                <a:tab pos="4064635" algn="l"/>
                <a:tab pos="5093335" algn="l"/>
              </a:tabLst>
            </a:pPr>
            <a:r>
              <a:rPr sz="2000" dirty="0">
                <a:solidFill>
                  <a:srgbClr val="FF3300"/>
                </a:solidFill>
                <a:latin typeface="Times New Roman"/>
                <a:cs typeface="Times New Roman"/>
              </a:rPr>
              <a:t>2 </a:t>
            </a:r>
            <a:r>
              <a:rPr sz="2000" spc="5" dirty="0">
                <a:solidFill>
                  <a:srgbClr val="FF3300"/>
                </a:solidFill>
                <a:latin typeface="Times New Roman"/>
                <a:cs typeface="Times New Roman"/>
              </a:rPr>
              <a:t>ROH</a:t>
            </a:r>
            <a:r>
              <a:rPr sz="1950" spc="7" baseline="25641" dirty="0">
                <a:solidFill>
                  <a:srgbClr val="FF3300"/>
                </a:solidFill>
                <a:latin typeface="Times New Roman"/>
                <a:cs typeface="Times New Roman"/>
              </a:rPr>
              <a:t>-  </a:t>
            </a:r>
            <a:r>
              <a:rPr sz="2000" dirty="0">
                <a:solidFill>
                  <a:srgbClr val="FF3300"/>
                </a:solidFill>
                <a:latin typeface="Times New Roman"/>
                <a:cs typeface="Times New Roman"/>
              </a:rPr>
              <a:t>+ </a:t>
            </a:r>
            <a:r>
              <a:rPr sz="2000" spc="10" dirty="0">
                <a:solidFill>
                  <a:srgbClr val="FF3300"/>
                </a:solidFill>
                <a:latin typeface="Times New Roman"/>
                <a:cs typeface="Times New Roman"/>
              </a:rPr>
              <a:t>SO</a:t>
            </a:r>
            <a:r>
              <a:rPr sz="1950" spc="15" baseline="-21367" dirty="0">
                <a:solidFill>
                  <a:srgbClr val="FF3300"/>
                </a:solidFill>
                <a:latin typeface="Times New Roman"/>
                <a:cs typeface="Times New Roman"/>
              </a:rPr>
              <a:t>4</a:t>
            </a:r>
            <a:r>
              <a:rPr sz="1950" spc="15" baseline="25641" dirty="0">
                <a:solidFill>
                  <a:srgbClr val="FF3300"/>
                </a:solidFill>
                <a:latin typeface="Times New Roman"/>
                <a:cs typeface="Times New Roman"/>
              </a:rPr>
              <a:t>2-</a:t>
            </a:r>
            <a:r>
              <a:rPr sz="1950" spc="37" baseline="25641" dirty="0">
                <a:solidFill>
                  <a:srgbClr val="FF3300"/>
                </a:solidFill>
                <a:latin typeface="Times New Roman"/>
                <a:cs typeface="Times New Roman"/>
              </a:rPr>
              <a:t> </a:t>
            </a:r>
            <a:r>
              <a:rPr sz="2000" dirty="0">
                <a:solidFill>
                  <a:srgbClr val="FF3300"/>
                </a:solidFill>
                <a:latin typeface="Times New Roman"/>
                <a:cs typeface="Times New Roman"/>
              </a:rPr>
              <a:t>(hard</a:t>
            </a:r>
            <a:r>
              <a:rPr sz="2000" spc="-20" dirty="0">
                <a:solidFill>
                  <a:srgbClr val="FF3300"/>
                </a:solidFill>
                <a:latin typeface="Times New Roman"/>
                <a:cs typeface="Times New Roman"/>
              </a:rPr>
              <a:t> </a:t>
            </a:r>
            <a:r>
              <a:rPr sz="2000" dirty="0">
                <a:solidFill>
                  <a:srgbClr val="FF3300"/>
                </a:solidFill>
                <a:latin typeface="Times New Roman"/>
                <a:cs typeface="Times New Roman"/>
              </a:rPr>
              <a:t>water)	</a:t>
            </a:r>
            <a:r>
              <a:rPr sz="2000" spc="5" dirty="0">
                <a:solidFill>
                  <a:srgbClr val="FF3300"/>
                </a:solidFill>
                <a:latin typeface="Times New Roman"/>
                <a:cs typeface="Times New Roman"/>
              </a:rPr>
              <a:t>R</a:t>
            </a:r>
            <a:r>
              <a:rPr sz="1950" spc="7" baseline="-21367" dirty="0">
                <a:solidFill>
                  <a:srgbClr val="FF3300"/>
                </a:solidFill>
                <a:latin typeface="Times New Roman"/>
                <a:cs typeface="Times New Roman"/>
              </a:rPr>
              <a:t>2</a:t>
            </a:r>
            <a:r>
              <a:rPr sz="2000" spc="5" dirty="0">
                <a:solidFill>
                  <a:srgbClr val="FF3300"/>
                </a:solidFill>
                <a:latin typeface="Times New Roman"/>
                <a:cs typeface="Times New Roman"/>
              </a:rPr>
              <a:t>SO</a:t>
            </a:r>
            <a:r>
              <a:rPr sz="1950" spc="7" baseline="-21367" dirty="0">
                <a:solidFill>
                  <a:srgbClr val="FF3300"/>
                </a:solidFill>
                <a:latin typeface="Times New Roman"/>
                <a:cs typeface="Times New Roman"/>
              </a:rPr>
              <a:t>4</a:t>
            </a:r>
            <a:r>
              <a:rPr sz="1950" spc="7" baseline="25641" dirty="0">
                <a:solidFill>
                  <a:srgbClr val="FF3300"/>
                </a:solidFill>
                <a:latin typeface="Times New Roman"/>
                <a:cs typeface="Times New Roman"/>
              </a:rPr>
              <a:t>2+	</a:t>
            </a:r>
            <a:r>
              <a:rPr sz="2000" dirty="0">
                <a:solidFill>
                  <a:srgbClr val="FF3300"/>
                </a:solidFill>
                <a:latin typeface="Times New Roman"/>
                <a:cs typeface="Times New Roman"/>
              </a:rPr>
              <a:t>+ 2</a:t>
            </a:r>
            <a:r>
              <a:rPr sz="2000" spc="-80" dirty="0">
                <a:solidFill>
                  <a:srgbClr val="FF3300"/>
                </a:solidFill>
                <a:latin typeface="Times New Roman"/>
                <a:cs typeface="Times New Roman"/>
              </a:rPr>
              <a:t> </a:t>
            </a:r>
            <a:r>
              <a:rPr sz="2000" spc="5" dirty="0">
                <a:solidFill>
                  <a:srgbClr val="FF3300"/>
                </a:solidFill>
                <a:latin typeface="Times New Roman"/>
                <a:cs typeface="Times New Roman"/>
              </a:rPr>
              <a:t>OH</a:t>
            </a:r>
            <a:r>
              <a:rPr sz="1950" spc="7" baseline="25641" dirty="0">
                <a:solidFill>
                  <a:srgbClr val="FF3300"/>
                </a:solidFill>
                <a:latin typeface="Times New Roman"/>
                <a:cs typeface="Times New Roman"/>
              </a:rPr>
              <a:t>-</a:t>
            </a:r>
            <a:endParaRPr sz="1950" baseline="25641">
              <a:latin typeface="Times New Roman"/>
              <a:cs typeface="Times New Roman"/>
            </a:endParaRPr>
          </a:p>
          <a:p>
            <a:pPr marL="63500">
              <a:lnSpc>
                <a:spcPct val="100000"/>
              </a:lnSpc>
              <a:spcBef>
                <a:spcPts val="1200"/>
              </a:spcBef>
              <a:tabLst>
                <a:tab pos="1733550" algn="l"/>
                <a:tab pos="4064635" algn="l"/>
                <a:tab pos="4800600" algn="l"/>
              </a:tabLst>
            </a:pPr>
            <a:r>
              <a:rPr sz="2000" dirty="0">
                <a:solidFill>
                  <a:srgbClr val="FF3300"/>
                </a:solidFill>
                <a:latin typeface="Times New Roman"/>
                <a:cs typeface="Times New Roman"/>
              </a:rPr>
              <a:t>2 </a:t>
            </a:r>
            <a:r>
              <a:rPr sz="2000" spc="5" dirty="0">
                <a:solidFill>
                  <a:srgbClr val="FF3300"/>
                </a:solidFill>
                <a:latin typeface="Times New Roman"/>
                <a:cs typeface="Times New Roman"/>
              </a:rPr>
              <a:t>ROH</a:t>
            </a:r>
            <a:r>
              <a:rPr sz="1950" spc="7" baseline="25641" dirty="0">
                <a:solidFill>
                  <a:srgbClr val="FF3300"/>
                </a:solidFill>
                <a:latin typeface="Times New Roman"/>
                <a:cs typeface="Times New Roman"/>
              </a:rPr>
              <a:t>-</a:t>
            </a:r>
            <a:r>
              <a:rPr sz="1950" spc="262" baseline="25641" dirty="0">
                <a:solidFill>
                  <a:srgbClr val="FF3300"/>
                </a:solidFill>
                <a:latin typeface="Times New Roman"/>
                <a:cs typeface="Times New Roman"/>
              </a:rPr>
              <a:t> </a:t>
            </a:r>
            <a:r>
              <a:rPr sz="2000" dirty="0">
                <a:solidFill>
                  <a:srgbClr val="FF3300"/>
                </a:solidFill>
                <a:latin typeface="Times New Roman"/>
                <a:cs typeface="Times New Roman"/>
              </a:rPr>
              <a:t>+</a:t>
            </a:r>
            <a:r>
              <a:rPr sz="2000" spc="5" dirty="0">
                <a:solidFill>
                  <a:srgbClr val="FF3300"/>
                </a:solidFill>
                <a:latin typeface="Times New Roman"/>
                <a:cs typeface="Times New Roman"/>
              </a:rPr>
              <a:t> </a:t>
            </a:r>
            <a:r>
              <a:rPr sz="2000" dirty="0">
                <a:solidFill>
                  <a:srgbClr val="FF3300"/>
                </a:solidFill>
                <a:latin typeface="Times New Roman"/>
                <a:cs typeface="Times New Roman"/>
              </a:rPr>
              <a:t>Cl</a:t>
            </a:r>
            <a:r>
              <a:rPr sz="1950" baseline="25641" dirty="0">
                <a:solidFill>
                  <a:srgbClr val="FF3300"/>
                </a:solidFill>
                <a:latin typeface="Times New Roman"/>
                <a:cs typeface="Times New Roman"/>
              </a:rPr>
              <a:t>-	</a:t>
            </a:r>
            <a:r>
              <a:rPr sz="2000" dirty="0">
                <a:solidFill>
                  <a:srgbClr val="FF3300"/>
                </a:solidFill>
                <a:latin typeface="Times New Roman"/>
                <a:cs typeface="Times New Roman"/>
              </a:rPr>
              <a:t>(hard</a:t>
            </a:r>
            <a:r>
              <a:rPr sz="2000" spc="-15" dirty="0">
                <a:solidFill>
                  <a:srgbClr val="FF3300"/>
                </a:solidFill>
                <a:latin typeface="Times New Roman"/>
                <a:cs typeface="Times New Roman"/>
              </a:rPr>
              <a:t> </a:t>
            </a:r>
            <a:r>
              <a:rPr sz="2000" dirty="0">
                <a:solidFill>
                  <a:srgbClr val="FF3300"/>
                </a:solidFill>
                <a:latin typeface="Times New Roman"/>
                <a:cs typeface="Times New Roman"/>
              </a:rPr>
              <a:t>water)	</a:t>
            </a:r>
            <a:r>
              <a:rPr sz="2000" spc="-5" dirty="0">
                <a:solidFill>
                  <a:srgbClr val="FF3300"/>
                </a:solidFill>
                <a:latin typeface="Times New Roman"/>
                <a:cs typeface="Times New Roman"/>
              </a:rPr>
              <a:t>R</a:t>
            </a:r>
            <a:r>
              <a:rPr sz="1950" spc="-7" baseline="-21367" dirty="0">
                <a:solidFill>
                  <a:srgbClr val="FF3300"/>
                </a:solidFill>
                <a:latin typeface="Times New Roman"/>
                <a:cs typeface="Times New Roman"/>
              </a:rPr>
              <a:t>2</a:t>
            </a:r>
            <a:r>
              <a:rPr sz="2000" spc="-5" dirty="0">
                <a:solidFill>
                  <a:srgbClr val="FF3300"/>
                </a:solidFill>
                <a:latin typeface="Times New Roman"/>
                <a:cs typeface="Times New Roman"/>
              </a:rPr>
              <a:t>Cl</a:t>
            </a:r>
            <a:r>
              <a:rPr sz="1950" spc="-7" baseline="25641" dirty="0">
                <a:solidFill>
                  <a:srgbClr val="FF3300"/>
                </a:solidFill>
                <a:latin typeface="Times New Roman"/>
                <a:cs typeface="Times New Roman"/>
              </a:rPr>
              <a:t>-	</a:t>
            </a:r>
            <a:r>
              <a:rPr sz="2000" dirty="0">
                <a:solidFill>
                  <a:srgbClr val="FF3300"/>
                </a:solidFill>
                <a:latin typeface="Times New Roman"/>
                <a:cs typeface="Times New Roman"/>
              </a:rPr>
              <a:t>+ 2</a:t>
            </a:r>
            <a:r>
              <a:rPr sz="2000" spc="-40" dirty="0">
                <a:solidFill>
                  <a:srgbClr val="FF3300"/>
                </a:solidFill>
                <a:latin typeface="Times New Roman"/>
                <a:cs typeface="Times New Roman"/>
              </a:rPr>
              <a:t> </a:t>
            </a:r>
            <a:r>
              <a:rPr sz="2000" spc="5" dirty="0">
                <a:solidFill>
                  <a:srgbClr val="FF3300"/>
                </a:solidFill>
                <a:latin typeface="Times New Roman"/>
                <a:cs typeface="Times New Roman"/>
              </a:rPr>
              <a:t>OH</a:t>
            </a:r>
            <a:r>
              <a:rPr sz="1950" spc="7" baseline="25641" dirty="0">
                <a:solidFill>
                  <a:srgbClr val="FF3300"/>
                </a:solidFill>
                <a:latin typeface="Times New Roman"/>
                <a:cs typeface="Times New Roman"/>
              </a:rPr>
              <a:t>-</a:t>
            </a:r>
            <a:endParaRPr sz="1950" baseline="25641">
              <a:latin typeface="Times New Roman"/>
              <a:cs typeface="Times New Roman"/>
            </a:endParaRPr>
          </a:p>
        </p:txBody>
      </p:sp>
      <p:sp>
        <p:nvSpPr>
          <p:cNvPr id="12" name="object 12"/>
          <p:cNvSpPr/>
          <p:nvPr/>
        </p:nvSpPr>
        <p:spPr>
          <a:xfrm>
            <a:off x="3429000" y="4610100"/>
            <a:ext cx="891540" cy="533400"/>
          </a:xfrm>
          <a:custGeom>
            <a:avLst/>
            <a:gdLst/>
            <a:ahLst/>
            <a:cxnLst/>
            <a:rect l="l" t="t" r="r" b="b"/>
            <a:pathLst>
              <a:path w="891539" h="533400">
                <a:moveTo>
                  <a:pt x="891540" y="495300"/>
                </a:moveTo>
                <a:lnTo>
                  <a:pt x="878840" y="488950"/>
                </a:lnTo>
                <a:lnTo>
                  <a:pt x="815340" y="457200"/>
                </a:lnTo>
                <a:lnTo>
                  <a:pt x="815340" y="488950"/>
                </a:lnTo>
                <a:lnTo>
                  <a:pt x="0" y="488950"/>
                </a:lnTo>
                <a:lnTo>
                  <a:pt x="0" y="501650"/>
                </a:lnTo>
                <a:lnTo>
                  <a:pt x="815340" y="501650"/>
                </a:lnTo>
                <a:lnTo>
                  <a:pt x="815340" y="533400"/>
                </a:lnTo>
                <a:lnTo>
                  <a:pt x="878840" y="501650"/>
                </a:lnTo>
                <a:lnTo>
                  <a:pt x="891540" y="495300"/>
                </a:lnTo>
                <a:close/>
              </a:path>
              <a:path w="891539" h="533400">
                <a:moveTo>
                  <a:pt x="891540" y="38100"/>
                </a:moveTo>
                <a:lnTo>
                  <a:pt x="878840" y="31750"/>
                </a:lnTo>
                <a:lnTo>
                  <a:pt x="815340" y="0"/>
                </a:lnTo>
                <a:lnTo>
                  <a:pt x="815340" y="31750"/>
                </a:lnTo>
                <a:lnTo>
                  <a:pt x="0" y="31750"/>
                </a:lnTo>
                <a:lnTo>
                  <a:pt x="0" y="44450"/>
                </a:lnTo>
                <a:lnTo>
                  <a:pt x="815340" y="44450"/>
                </a:lnTo>
                <a:lnTo>
                  <a:pt x="815340" y="76200"/>
                </a:lnTo>
                <a:lnTo>
                  <a:pt x="878840" y="44450"/>
                </a:lnTo>
                <a:lnTo>
                  <a:pt x="891540" y="38100"/>
                </a:lnTo>
                <a:close/>
              </a:path>
            </a:pathLst>
          </a:custGeom>
          <a:solidFill>
            <a:srgbClr val="000000"/>
          </a:solidFill>
        </p:spPr>
        <p:txBody>
          <a:bodyPr wrap="square" lIns="0" tIns="0" rIns="0" bIns="0" rtlCol="0"/>
          <a:lstStyle/>
          <a:p>
            <a:endParaRPr/>
          </a:p>
        </p:txBody>
      </p:sp>
      <p:grpSp>
        <p:nvGrpSpPr>
          <p:cNvPr id="13" name="object 13"/>
          <p:cNvGrpSpPr/>
          <p:nvPr/>
        </p:nvGrpSpPr>
        <p:grpSpPr>
          <a:xfrm>
            <a:off x="367093" y="5833681"/>
            <a:ext cx="3219450" cy="410845"/>
            <a:chOff x="367093" y="5833681"/>
            <a:chExt cx="3219450" cy="410845"/>
          </a:xfrm>
        </p:grpSpPr>
        <p:sp>
          <p:nvSpPr>
            <p:cNvPr id="14" name="object 14"/>
            <p:cNvSpPr/>
            <p:nvPr/>
          </p:nvSpPr>
          <p:spPr>
            <a:xfrm>
              <a:off x="371856" y="5838444"/>
              <a:ext cx="3209925" cy="401320"/>
            </a:xfrm>
            <a:custGeom>
              <a:avLst/>
              <a:gdLst/>
              <a:ahLst/>
              <a:cxnLst/>
              <a:rect l="l" t="t" r="r" b="b"/>
              <a:pathLst>
                <a:path w="3209925" h="401320">
                  <a:moveTo>
                    <a:pt x="3209544" y="0"/>
                  </a:moveTo>
                  <a:lnTo>
                    <a:pt x="0" y="0"/>
                  </a:lnTo>
                  <a:lnTo>
                    <a:pt x="0" y="400811"/>
                  </a:lnTo>
                  <a:lnTo>
                    <a:pt x="3209544" y="400811"/>
                  </a:lnTo>
                  <a:lnTo>
                    <a:pt x="3209544" y="0"/>
                  </a:lnTo>
                  <a:close/>
                </a:path>
              </a:pathLst>
            </a:custGeom>
            <a:solidFill>
              <a:srgbClr val="FFFF66"/>
            </a:solidFill>
          </p:spPr>
          <p:txBody>
            <a:bodyPr wrap="square" lIns="0" tIns="0" rIns="0" bIns="0" rtlCol="0"/>
            <a:lstStyle/>
            <a:p>
              <a:endParaRPr/>
            </a:p>
          </p:txBody>
        </p:sp>
        <p:sp>
          <p:nvSpPr>
            <p:cNvPr id="15" name="object 15"/>
            <p:cNvSpPr/>
            <p:nvPr/>
          </p:nvSpPr>
          <p:spPr>
            <a:xfrm>
              <a:off x="371856" y="5838444"/>
              <a:ext cx="3209925" cy="401320"/>
            </a:xfrm>
            <a:custGeom>
              <a:avLst/>
              <a:gdLst/>
              <a:ahLst/>
              <a:cxnLst/>
              <a:rect l="l" t="t" r="r" b="b"/>
              <a:pathLst>
                <a:path w="3209925" h="401320">
                  <a:moveTo>
                    <a:pt x="0" y="400811"/>
                  </a:moveTo>
                  <a:lnTo>
                    <a:pt x="3209544" y="400811"/>
                  </a:lnTo>
                  <a:lnTo>
                    <a:pt x="3209544" y="0"/>
                  </a:lnTo>
                  <a:lnTo>
                    <a:pt x="0" y="0"/>
                  </a:lnTo>
                  <a:lnTo>
                    <a:pt x="0" y="400811"/>
                  </a:lnTo>
                  <a:close/>
                </a:path>
              </a:pathLst>
            </a:custGeom>
            <a:ln w="9144">
              <a:solidFill>
                <a:srgbClr val="85DFD0"/>
              </a:solidFill>
            </a:ln>
          </p:spPr>
          <p:txBody>
            <a:bodyPr wrap="square" lIns="0" tIns="0" rIns="0" bIns="0" rtlCol="0"/>
            <a:lstStyle/>
            <a:p>
              <a:endParaRPr/>
            </a:p>
          </p:txBody>
        </p:sp>
      </p:grpSp>
      <p:sp>
        <p:nvSpPr>
          <p:cNvPr id="16" name="object 16"/>
          <p:cNvSpPr txBox="1"/>
          <p:nvPr/>
        </p:nvSpPr>
        <p:spPr>
          <a:xfrm>
            <a:off x="438200" y="5787338"/>
            <a:ext cx="343535" cy="331470"/>
          </a:xfrm>
          <a:prstGeom prst="rect">
            <a:avLst/>
          </a:prstGeom>
        </p:spPr>
        <p:txBody>
          <a:bodyPr vert="horz" wrap="square" lIns="0" tIns="13335" rIns="0" bIns="0" rtlCol="0">
            <a:spAutoFit/>
          </a:bodyPr>
          <a:lstStyle/>
          <a:p>
            <a:pPr marL="25400">
              <a:lnSpc>
                <a:spcPct val="100000"/>
              </a:lnSpc>
              <a:spcBef>
                <a:spcPts val="105"/>
              </a:spcBef>
            </a:pPr>
            <a:r>
              <a:rPr sz="3000" spc="15" baseline="-16666" dirty="0">
                <a:solidFill>
                  <a:srgbClr val="336600"/>
                </a:solidFill>
                <a:latin typeface="Times New Roman"/>
                <a:cs typeface="Times New Roman"/>
              </a:rPr>
              <a:t>H</a:t>
            </a:r>
            <a:r>
              <a:rPr sz="1300" spc="10" dirty="0">
                <a:solidFill>
                  <a:srgbClr val="336600"/>
                </a:solidFill>
                <a:latin typeface="Times New Roman"/>
                <a:cs typeface="Times New Roman"/>
              </a:rPr>
              <a:t>+</a:t>
            </a:r>
            <a:endParaRPr sz="1300">
              <a:latin typeface="Times New Roman"/>
              <a:cs typeface="Times New Roman"/>
            </a:endParaRPr>
          </a:p>
        </p:txBody>
      </p:sp>
      <p:sp>
        <p:nvSpPr>
          <p:cNvPr id="17" name="object 17"/>
          <p:cNvSpPr txBox="1"/>
          <p:nvPr/>
        </p:nvSpPr>
        <p:spPr>
          <a:xfrm>
            <a:off x="894892" y="5863538"/>
            <a:ext cx="2128520" cy="331470"/>
          </a:xfrm>
          <a:prstGeom prst="rect">
            <a:avLst/>
          </a:prstGeom>
        </p:spPr>
        <p:txBody>
          <a:bodyPr vert="horz" wrap="square" lIns="0" tIns="13335" rIns="0" bIns="0" rtlCol="0">
            <a:spAutoFit/>
          </a:bodyPr>
          <a:lstStyle/>
          <a:p>
            <a:pPr marL="38100">
              <a:lnSpc>
                <a:spcPct val="100000"/>
              </a:lnSpc>
              <a:spcBef>
                <a:spcPts val="105"/>
              </a:spcBef>
              <a:tabLst>
                <a:tab pos="1623060" algn="l"/>
              </a:tabLst>
            </a:pPr>
            <a:r>
              <a:rPr sz="2000" dirty="0">
                <a:solidFill>
                  <a:srgbClr val="336600"/>
                </a:solidFill>
                <a:latin typeface="Times New Roman"/>
                <a:cs typeface="Times New Roman"/>
              </a:rPr>
              <a:t>+ </a:t>
            </a:r>
            <a:r>
              <a:rPr sz="2000" spc="5" dirty="0">
                <a:solidFill>
                  <a:srgbClr val="336600"/>
                </a:solidFill>
                <a:latin typeface="Times New Roman"/>
                <a:cs typeface="Times New Roman"/>
              </a:rPr>
              <a:t>OH</a:t>
            </a:r>
            <a:r>
              <a:rPr sz="1950" spc="7" baseline="25641" dirty="0">
                <a:solidFill>
                  <a:srgbClr val="336600"/>
                </a:solidFill>
                <a:latin typeface="Times New Roman"/>
                <a:cs typeface="Times New Roman"/>
              </a:rPr>
              <a:t>-	</a:t>
            </a:r>
            <a:r>
              <a:rPr sz="2000" spc="5" dirty="0">
                <a:solidFill>
                  <a:srgbClr val="336600"/>
                </a:solidFill>
                <a:latin typeface="Times New Roman"/>
                <a:cs typeface="Times New Roman"/>
              </a:rPr>
              <a:t>H</a:t>
            </a:r>
            <a:r>
              <a:rPr sz="1950" spc="7" baseline="-21367" dirty="0">
                <a:solidFill>
                  <a:srgbClr val="336600"/>
                </a:solidFill>
                <a:latin typeface="Times New Roman"/>
                <a:cs typeface="Times New Roman"/>
              </a:rPr>
              <a:t>2</a:t>
            </a:r>
            <a:r>
              <a:rPr sz="2000" spc="5" dirty="0">
                <a:solidFill>
                  <a:srgbClr val="336600"/>
                </a:solidFill>
                <a:latin typeface="Times New Roman"/>
                <a:cs typeface="Times New Roman"/>
              </a:rPr>
              <a:t>O</a:t>
            </a:r>
            <a:endParaRPr sz="2000">
              <a:latin typeface="Times New Roman"/>
              <a:cs typeface="Times New Roman"/>
            </a:endParaRPr>
          </a:p>
        </p:txBody>
      </p:sp>
      <p:sp>
        <p:nvSpPr>
          <p:cNvPr id="18" name="object 18"/>
          <p:cNvSpPr/>
          <p:nvPr/>
        </p:nvSpPr>
        <p:spPr>
          <a:xfrm>
            <a:off x="1600072" y="5983236"/>
            <a:ext cx="610235" cy="76200"/>
          </a:xfrm>
          <a:custGeom>
            <a:avLst/>
            <a:gdLst/>
            <a:ahLst/>
            <a:cxnLst/>
            <a:rect l="l" t="t" r="r" b="b"/>
            <a:pathLst>
              <a:path w="610235" h="76200">
                <a:moveTo>
                  <a:pt x="599034" y="31483"/>
                </a:moveTo>
                <a:lnTo>
                  <a:pt x="546100" y="31483"/>
                </a:lnTo>
                <a:lnTo>
                  <a:pt x="546354" y="44183"/>
                </a:lnTo>
                <a:lnTo>
                  <a:pt x="533654" y="44437"/>
                </a:lnTo>
                <a:lnTo>
                  <a:pt x="534289" y="76174"/>
                </a:lnTo>
                <a:lnTo>
                  <a:pt x="609727" y="36563"/>
                </a:lnTo>
                <a:lnTo>
                  <a:pt x="599034" y="31483"/>
                </a:lnTo>
                <a:close/>
              </a:path>
              <a:path w="610235" h="76200">
                <a:moveTo>
                  <a:pt x="533399" y="31737"/>
                </a:moveTo>
                <a:lnTo>
                  <a:pt x="0" y="42405"/>
                </a:lnTo>
                <a:lnTo>
                  <a:pt x="254" y="55105"/>
                </a:lnTo>
                <a:lnTo>
                  <a:pt x="533654" y="44437"/>
                </a:lnTo>
                <a:lnTo>
                  <a:pt x="533399" y="31737"/>
                </a:lnTo>
                <a:close/>
              </a:path>
              <a:path w="610235" h="76200">
                <a:moveTo>
                  <a:pt x="546100" y="31483"/>
                </a:moveTo>
                <a:lnTo>
                  <a:pt x="533399" y="31737"/>
                </a:lnTo>
                <a:lnTo>
                  <a:pt x="533654" y="44437"/>
                </a:lnTo>
                <a:lnTo>
                  <a:pt x="546354" y="44183"/>
                </a:lnTo>
                <a:lnTo>
                  <a:pt x="546100" y="31483"/>
                </a:lnTo>
                <a:close/>
              </a:path>
              <a:path w="610235" h="76200">
                <a:moveTo>
                  <a:pt x="532765" y="0"/>
                </a:moveTo>
                <a:lnTo>
                  <a:pt x="533399" y="31737"/>
                </a:lnTo>
                <a:lnTo>
                  <a:pt x="546100" y="31483"/>
                </a:lnTo>
                <a:lnTo>
                  <a:pt x="599034" y="31483"/>
                </a:lnTo>
                <a:lnTo>
                  <a:pt x="532765" y="0"/>
                </a:lnTo>
                <a:close/>
              </a:path>
            </a:pathLst>
          </a:custGeom>
          <a:solidFill>
            <a:srgbClr val="85DFD0"/>
          </a:solidFill>
        </p:spPr>
        <p:txBody>
          <a:bodyPr wrap="square" lIns="0" tIns="0" rIns="0" bIns="0" rtlCol="0"/>
          <a:lstStyle/>
          <a:p>
            <a:endParaRPr/>
          </a:p>
        </p:txBody>
      </p:sp>
      <p:sp>
        <p:nvSpPr>
          <p:cNvPr id="19" name="object 19"/>
          <p:cNvSpPr txBox="1"/>
          <p:nvPr/>
        </p:nvSpPr>
        <p:spPr>
          <a:xfrm>
            <a:off x="487680" y="1764792"/>
            <a:ext cx="5988050" cy="401320"/>
          </a:xfrm>
          <a:prstGeom prst="rect">
            <a:avLst/>
          </a:prstGeom>
          <a:solidFill>
            <a:srgbClr val="FFFF66"/>
          </a:solidFill>
          <a:ln w="9144">
            <a:solidFill>
              <a:srgbClr val="85DFD0"/>
            </a:solidFill>
          </a:ln>
        </p:spPr>
        <p:txBody>
          <a:bodyPr vert="horz" wrap="square" lIns="0" tIns="38100" rIns="0" bIns="0" rtlCol="0">
            <a:spAutoFit/>
          </a:bodyPr>
          <a:lstStyle/>
          <a:p>
            <a:pPr marL="91440">
              <a:lnSpc>
                <a:spcPct val="100000"/>
              </a:lnSpc>
              <a:spcBef>
                <a:spcPts val="300"/>
              </a:spcBef>
            </a:pPr>
            <a:r>
              <a:rPr sz="2000" dirty="0">
                <a:solidFill>
                  <a:srgbClr val="000099"/>
                </a:solidFill>
                <a:latin typeface="Times New Roman"/>
                <a:cs typeface="Times New Roman"/>
              </a:rPr>
              <a:t>Reactions occurring at Cation exchange</a:t>
            </a:r>
            <a:r>
              <a:rPr sz="2000" spc="-125" dirty="0">
                <a:solidFill>
                  <a:srgbClr val="000099"/>
                </a:solidFill>
                <a:latin typeface="Times New Roman"/>
                <a:cs typeface="Times New Roman"/>
              </a:rPr>
              <a:t> </a:t>
            </a:r>
            <a:r>
              <a:rPr sz="2000" dirty="0">
                <a:solidFill>
                  <a:srgbClr val="000099"/>
                </a:solidFill>
                <a:latin typeface="Times New Roman"/>
                <a:cs typeface="Times New Roman"/>
              </a:rPr>
              <a:t>resin</a:t>
            </a:r>
            <a:endParaRPr sz="2000">
              <a:latin typeface="Times New Roman"/>
              <a:cs typeface="Times New Roman"/>
            </a:endParaRPr>
          </a:p>
        </p:txBody>
      </p:sp>
      <p:sp>
        <p:nvSpPr>
          <p:cNvPr id="20" name="object 20"/>
          <p:cNvSpPr txBox="1"/>
          <p:nvPr/>
        </p:nvSpPr>
        <p:spPr>
          <a:xfrm>
            <a:off x="397763" y="3857244"/>
            <a:ext cx="5417820" cy="401320"/>
          </a:xfrm>
          <a:prstGeom prst="rect">
            <a:avLst/>
          </a:prstGeom>
          <a:solidFill>
            <a:srgbClr val="FFFF66"/>
          </a:solidFill>
          <a:ln w="9144">
            <a:solidFill>
              <a:srgbClr val="85DFD0"/>
            </a:solidFill>
          </a:ln>
        </p:spPr>
        <p:txBody>
          <a:bodyPr vert="horz" wrap="square" lIns="0" tIns="38100" rIns="0" bIns="0" rtlCol="0">
            <a:spAutoFit/>
          </a:bodyPr>
          <a:lstStyle/>
          <a:p>
            <a:pPr marL="90805">
              <a:lnSpc>
                <a:spcPct val="100000"/>
              </a:lnSpc>
              <a:spcBef>
                <a:spcPts val="300"/>
              </a:spcBef>
            </a:pPr>
            <a:r>
              <a:rPr sz="2000" dirty="0">
                <a:solidFill>
                  <a:srgbClr val="FF3300"/>
                </a:solidFill>
                <a:latin typeface="Times New Roman"/>
                <a:cs typeface="Times New Roman"/>
              </a:rPr>
              <a:t>Reactions occurring at Anion exchange</a:t>
            </a:r>
            <a:r>
              <a:rPr sz="2000" spc="-204" dirty="0">
                <a:solidFill>
                  <a:srgbClr val="FF3300"/>
                </a:solidFill>
                <a:latin typeface="Times New Roman"/>
                <a:cs typeface="Times New Roman"/>
              </a:rPr>
              <a:t> </a:t>
            </a:r>
            <a:r>
              <a:rPr sz="2000" dirty="0">
                <a:solidFill>
                  <a:srgbClr val="FF3300"/>
                </a:solidFill>
                <a:latin typeface="Times New Roman"/>
                <a:cs typeface="Times New Roman"/>
              </a:rPr>
              <a:t>resin</a:t>
            </a:r>
            <a:endParaRPr sz="2000">
              <a:latin typeface="Times New Roman"/>
              <a:cs typeface="Times New Roman"/>
            </a:endParaRPr>
          </a:p>
        </p:txBody>
      </p:sp>
      <p:sp>
        <p:nvSpPr>
          <p:cNvPr id="21" name="object 21"/>
          <p:cNvSpPr txBox="1"/>
          <p:nvPr/>
        </p:nvSpPr>
        <p:spPr>
          <a:xfrm>
            <a:off x="397763" y="5381244"/>
            <a:ext cx="2854960" cy="401320"/>
          </a:xfrm>
          <a:prstGeom prst="rect">
            <a:avLst/>
          </a:prstGeom>
          <a:solidFill>
            <a:srgbClr val="FFFF66"/>
          </a:solidFill>
          <a:ln w="9144">
            <a:solidFill>
              <a:srgbClr val="85DFD0"/>
            </a:solidFill>
          </a:ln>
        </p:spPr>
        <p:txBody>
          <a:bodyPr vert="horz" wrap="square" lIns="0" tIns="38735" rIns="0" bIns="0" rtlCol="0">
            <a:spAutoFit/>
          </a:bodyPr>
          <a:lstStyle/>
          <a:p>
            <a:pPr marL="90805">
              <a:lnSpc>
                <a:spcPct val="100000"/>
              </a:lnSpc>
              <a:spcBef>
                <a:spcPts val="305"/>
              </a:spcBef>
            </a:pPr>
            <a:r>
              <a:rPr sz="2000" dirty="0">
                <a:solidFill>
                  <a:srgbClr val="000099"/>
                </a:solidFill>
                <a:latin typeface="Times New Roman"/>
                <a:cs typeface="Times New Roman"/>
              </a:rPr>
              <a:t>At the end of the</a:t>
            </a:r>
            <a:r>
              <a:rPr sz="2000" spc="-70" dirty="0">
                <a:solidFill>
                  <a:srgbClr val="000099"/>
                </a:solidFill>
                <a:latin typeface="Times New Roman"/>
                <a:cs typeface="Times New Roman"/>
              </a:rPr>
              <a:t> </a:t>
            </a:r>
            <a:r>
              <a:rPr sz="2000" dirty="0">
                <a:solidFill>
                  <a:srgbClr val="000099"/>
                </a:solidFill>
                <a:latin typeface="Times New Roman"/>
                <a:cs typeface="Times New Roman"/>
              </a:rPr>
              <a:t>process</a:t>
            </a:r>
            <a:endParaRPr sz="2000">
              <a:latin typeface="Times New Roman"/>
              <a:cs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21751" y="5870549"/>
            <a:ext cx="11557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5</a:t>
            </a:r>
            <a:endParaRPr sz="1400">
              <a:latin typeface="Times New Roman"/>
              <a:cs typeface="Times New Roman"/>
            </a:endParaRPr>
          </a:p>
        </p:txBody>
      </p:sp>
      <p:sp>
        <p:nvSpPr>
          <p:cNvPr id="3" name="object 3"/>
          <p:cNvSpPr txBox="1"/>
          <p:nvPr/>
        </p:nvSpPr>
        <p:spPr>
          <a:xfrm>
            <a:off x="8344534" y="5902664"/>
            <a:ext cx="90170" cy="197485"/>
          </a:xfrm>
          <a:prstGeom prst="rect">
            <a:avLst/>
          </a:prstGeom>
        </p:spPr>
        <p:txBody>
          <a:bodyPr vert="horz" wrap="square" lIns="0" tIns="0" rIns="0" bIns="0" rtlCol="0">
            <a:spAutoFit/>
          </a:bodyPr>
          <a:lstStyle/>
          <a:p>
            <a:pPr>
              <a:lnSpc>
                <a:spcPts val="1530"/>
              </a:lnSpc>
            </a:pPr>
            <a:r>
              <a:rPr sz="1400" b="1" spc="5" dirty="0">
                <a:solidFill>
                  <a:srgbClr val="FFFFFF"/>
                </a:solidFill>
                <a:latin typeface="Times New Roman"/>
                <a:cs typeface="Times New Roman"/>
              </a:rPr>
              <a:t>5</a:t>
            </a:r>
            <a:endParaRPr sz="1400">
              <a:latin typeface="Times New Roman"/>
              <a:cs typeface="Times New Roman"/>
            </a:endParaRPr>
          </a:p>
        </p:txBody>
      </p:sp>
      <p:sp>
        <p:nvSpPr>
          <p:cNvPr id="4" name="object 4"/>
          <p:cNvSpPr txBox="1">
            <a:spLocks noGrp="1"/>
          </p:cNvSpPr>
          <p:nvPr>
            <p:ph type="title"/>
          </p:nvPr>
        </p:nvSpPr>
        <p:spPr>
          <a:xfrm>
            <a:off x="2555748" y="188976"/>
            <a:ext cx="5546090" cy="466725"/>
          </a:xfrm>
          <a:prstGeom prst="rect">
            <a:avLst/>
          </a:prstGeom>
          <a:ln w="9144">
            <a:solidFill>
              <a:srgbClr val="85DFD0"/>
            </a:solidFill>
          </a:ln>
        </p:spPr>
        <p:txBody>
          <a:bodyPr vert="horz" wrap="square" lIns="0" tIns="38100" rIns="0" bIns="0" rtlCol="0">
            <a:spAutoFit/>
          </a:bodyPr>
          <a:lstStyle/>
          <a:p>
            <a:pPr marL="92075">
              <a:lnSpc>
                <a:spcPct val="100000"/>
              </a:lnSpc>
              <a:spcBef>
                <a:spcPts val="300"/>
              </a:spcBef>
            </a:pPr>
            <a:r>
              <a:rPr spc="-5" dirty="0">
                <a:solidFill>
                  <a:srgbClr val="336600"/>
                </a:solidFill>
                <a:latin typeface="Arial"/>
                <a:cs typeface="Arial"/>
              </a:rPr>
              <a:t>Regeneration </a:t>
            </a:r>
            <a:r>
              <a:rPr dirty="0">
                <a:solidFill>
                  <a:srgbClr val="336600"/>
                </a:solidFill>
                <a:latin typeface="Arial"/>
                <a:cs typeface="Arial"/>
              </a:rPr>
              <a:t>of </a:t>
            </a:r>
            <a:r>
              <a:rPr spc="-5" dirty="0">
                <a:solidFill>
                  <a:srgbClr val="336600"/>
                </a:solidFill>
                <a:latin typeface="Arial"/>
                <a:cs typeface="Arial"/>
              </a:rPr>
              <a:t>ion exchange</a:t>
            </a:r>
            <a:r>
              <a:rPr spc="75" dirty="0">
                <a:solidFill>
                  <a:srgbClr val="336600"/>
                </a:solidFill>
                <a:latin typeface="Arial"/>
                <a:cs typeface="Arial"/>
              </a:rPr>
              <a:t> </a:t>
            </a:r>
            <a:r>
              <a:rPr spc="-5" dirty="0">
                <a:solidFill>
                  <a:srgbClr val="336600"/>
                </a:solidFill>
                <a:latin typeface="Arial"/>
                <a:cs typeface="Arial"/>
              </a:rPr>
              <a:t>resins</a:t>
            </a:r>
          </a:p>
        </p:txBody>
      </p:sp>
      <p:sp>
        <p:nvSpPr>
          <p:cNvPr id="5" name="object 5"/>
          <p:cNvSpPr/>
          <p:nvPr/>
        </p:nvSpPr>
        <p:spPr>
          <a:xfrm>
            <a:off x="381000" y="1528572"/>
            <a:ext cx="8153400" cy="376555"/>
          </a:xfrm>
          <a:custGeom>
            <a:avLst/>
            <a:gdLst/>
            <a:ahLst/>
            <a:cxnLst/>
            <a:rect l="l" t="t" r="r" b="b"/>
            <a:pathLst>
              <a:path w="8153400" h="376555">
                <a:moveTo>
                  <a:pt x="8153400" y="0"/>
                </a:moveTo>
                <a:lnTo>
                  <a:pt x="0" y="0"/>
                </a:lnTo>
                <a:lnTo>
                  <a:pt x="0" y="376427"/>
                </a:lnTo>
                <a:lnTo>
                  <a:pt x="8153400" y="376427"/>
                </a:lnTo>
                <a:lnTo>
                  <a:pt x="8153400" y="0"/>
                </a:lnTo>
                <a:close/>
              </a:path>
            </a:pathLst>
          </a:custGeom>
          <a:solidFill>
            <a:srgbClr val="FFFF66"/>
          </a:solidFill>
        </p:spPr>
        <p:txBody>
          <a:bodyPr wrap="square" lIns="0" tIns="0" rIns="0" bIns="0" rtlCol="0"/>
          <a:lstStyle/>
          <a:p>
            <a:endParaRPr/>
          </a:p>
        </p:txBody>
      </p:sp>
      <p:sp>
        <p:nvSpPr>
          <p:cNvPr id="6" name="object 6"/>
          <p:cNvSpPr txBox="1"/>
          <p:nvPr/>
        </p:nvSpPr>
        <p:spPr>
          <a:xfrm>
            <a:off x="381000" y="1528572"/>
            <a:ext cx="8153400" cy="376555"/>
          </a:xfrm>
          <a:prstGeom prst="rect">
            <a:avLst/>
          </a:prstGeom>
          <a:ln w="9144">
            <a:solidFill>
              <a:srgbClr val="85DFD0"/>
            </a:solidFill>
          </a:ln>
        </p:spPr>
        <p:txBody>
          <a:bodyPr vert="horz" wrap="square" lIns="0" tIns="40005" rIns="0" bIns="0" rtlCol="0">
            <a:spAutoFit/>
          </a:bodyPr>
          <a:lstStyle/>
          <a:p>
            <a:pPr marL="91440">
              <a:lnSpc>
                <a:spcPct val="100000"/>
              </a:lnSpc>
              <a:spcBef>
                <a:spcPts val="315"/>
              </a:spcBef>
              <a:tabLst>
                <a:tab pos="4498340" algn="l"/>
              </a:tabLst>
            </a:pPr>
            <a:r>
              <a:rPr sz="1800" spc="-5" dirty="0">
                <a:solidFill>
                  <a:srgbClr val="000099"/>
                </a:solidFill>
                <a:latin typeface="Arial"/>
                <a:cs typeface="Arial"/>
              </a:rPr>
              <a:t>R</a:t>
            </a:r>
            <a:r>
              <a:rPr sz="1800" spc="-7" baseline="-20833" dirty="0">
                <a:solidFill>
                  <a:srgbClr val="000099"/>
                </a:solidFill>
                <a:latin typeface="Arial"/>
                <a:cs typeface="Arial"/>
              </a:rPr>
              <a:t>2</a:t>
            </a:r>
            <a:r>
              <a:rPr sz="1800" spc="-5" dirty="0">
                <a:solidFill>
                  <a:srgbClr val="000099"/>
                </a:solidFill>
                <a:latin typeface="Arial"/>
                <a:cs typeface="Arial"/>
              </a:rPr>
              <a:t>Ca</a:t>
            </a:r>
            <a:r>
              <a:rPr sz="1800" spc="-7" baseline="25462" dirty="0">
                <a:solidFill>
                  <a:srgbClr val="000099"/>
                </a:solidFill>
                <a:latin typeface="Arial"/>
                <a:cs typeface="Arial"/>
              </a:rPr>
              <a:t>2+   </a:t>
            </a:r>
            <a:r>
              <a:rPr sz="1800" dirty="0">
                <a:solidFill>
                  <a:srgbClr val="000099"/>
                </a:solidFill>
                <a:latin typeface="Arial"/>
                <a:cs typeface="Arial"/>
              </a:rPr>
              <a:t>+ </a:t>
            </a:r>
            <a:r>
              <a:rPr sz="1800" spc="-10" dirty="0">
                <a:solidFill>
                  <a:srgbClr val="000099"/>
                </a:solidFill>
                <a:latin typeface="Arial"/>
                <a:cs typeface="Arial"/>
              </a:rPr>
              <a:t>2H</a:t>
            </a:r>
            <a:r>
              <a:rPr sz="1800" spc="-15" baseline="25462" dirty="0">
                <a:solidFill>
                  <a:srgbClr val="000099"/>
                </a:solidFill>
                <a:latin typeface="Arial"/>
                <a:cs typeface="Arial"/>
              </a:rPr>
              <a:t>+</a:t>
            </a:r>
            <a:r>
              <a:rPr sz="1800" spc="465" baseline="25462" dirty="0">
                <a:solidFill>
                  <a:srgbClr val="000099"/>
                </a:solidFill>
                <a:latin typeface="Arial"/>
                <a:cs typeface="Arial"/>
              </a:rPr>
              <a:t> </a:t>
            </a:r>
            <a:r>
              <a:rPr sz="1800" spc="-5" dirty="0">
                <a:solidFill>
                  <a:srgbClr val="000099"/>
                </a:solidFill>
                <a:latin typeface="Arial"/>
                <a:cs typeface="Arial"/>
              </a:rPr>
              <a:t>(dil. HCl</a:t>
            </a:r>
            <a:r>
              <a:rPr sz="1800" spc="-60" dirty="0">
                <a:solidFill>
                  <a:srgbClr val="000099"/>
                </a:solidFill>
                <a:latin typeface="Arial"/>
                <a:cs typeface="Arial"/>
              </a:rPr>
              <a:t> </a:t>
            </a:r>
            <a:r>
              <a:rPr sz="1800" spc="-5" dirty="0">
                <a:solidFill>
                  <a:srgbClr val="000099"/>
                </a:solidFill>
                <a:latin typeface="Arial"/>
                <a:cs typeface="Arial"/>
              </a:rPr>
              <a:t>(or)</a:t>
            </a:r>
            <a:r>
              <a:rPr sz="1800" spc="10" dirty="0">
                <a:solidFill>
                  <a:srgbClr val="000099"/>
                </a:solidFill>
                <a:latin typeface="Arial"/>
                <a:cs typeface="Arial"/>
              </a:rPr>
              <a:t> </a:t>
            </a:r>
            <a:r>
              <a:rPr sz="1800" spc="-5" dirty="0">
                <a:solidFill>
                  <a:srgbClr val="000099"/>
                </a:solidFill>
                <a:latin typeface="Arial"/>
                <a:cs typeface="Arial"/>
              </a:rPr>
              <a:t>H</a:t>
            </a:r>
            <a:r>
              <a:rPr sz="1800" spc="-7" baseline="-20833" dirty="0">
                <a:solidFill>
                  <a:srgbClr val="000099"/>
                </a:solidFill>
                <a:latin typeface="Arial"/>
                <a:cs typeface="Arial"/>
              </a:rPr>
              <a:t>2</a:t>
            </a:r>
            <a:r>
              <a:rPr sz="1800" spc="-5" dirty="0">
                <a:solidFill>
                  <a:srgbClr val="000099"/>
                </a:solidFill>
                <a:latin typeface="Arial"/>
                <a:cs typeface="Arial"/>
              </a:rPr>
              <a:t>SO</a:t>
            </a:r>
            <a:r>
              <a:rPr sz="1800" spc="-7" baseline="-20833" dirty="0">
                <a:solidFill>
                  <a:srgbClr val="000099"/>
                </a:solidFill>
                <a:latin typeface="Arial"/>
                <a:cs typeface="Arial"/>
              </a:rPr>
              <a:t>4</a:t>
            </a:r>
            <a:r>
              <a:rPr sz="1800" spc="-5" dirty="0">
                <a:solidFill>
                  <a:srgbClr val="000099"/>
                </a:solidFill>
                <a:latin typeface="Arial"/>
                <a:cs typeface="Arial"/>
              </a:rPr>
              <a:t>)	2 RH</a:t>
            </a:r>
            <a:r>
              <a:rPr sz="1800" spc="-7" baseline="25462" dirty="0">
                <a:solidFill>
                  <a:srgbClr val="000099"/>
                </a:solidFill>
                <a:latin typeface="Arial"/>
                <a:cs typeface="Arial"/>
              </a:rPr>
              <a:t>+ </a:t>
            </a:r>
            <a:r>
              <a:rPr sz="1800" dirty="0">
                <a:solidFill>
                  <a:srgbClr val="000099"/>
                </a:solidFill>
                <a:latin typeface="Arial"/>
                <a:cs typeface="Arial"/>
              </a:rPr>
              <a:t>+ </a:t>
            </a:r>
            <a:r>
              <a:rPr sz="1800" spc="-5" dirty="0">
                <a:solidFill>
                  <a:srgbClr val="000099"/>
                </a:solidFill>
                <a:latin typeface="Arial"/>
                <a:cs typeface="Arial"/>
              </a:rPr>
              <a:t>Ca</a:t>
            </a:r>
            <a:r>
              <a:rPr sz="1800" spc="-7" baseline="25462" dirty="0">
                <a:solidFill>
                  <a:srgbClr val="000099"/>
                </a:solidFill>
                <a:latin typeface="Arial"/>
                <a:cs typeface="Arial"/>
              </a:rPr>
              <a:t>2+ </a:t>
            </a:r>
            <a:r>
              <a:rPr sz="1800" spc="-5" dirty="0">
                <a:solidFill>
                  <a:srgbClr val="000099"/>
                </a:solidFill>
                <a:latin typeface="Arial"/>
                <a:cs typeface="Arial"/>
              </a:rPr>
              <a:t>(CaCl</a:t>
            </a:r>
            <a:r>
              <a:rPr sz="1800" spc="-7" baseline="-20833" dirty="0">
                <a:solidFill>
                  <a:srgbClr val="000099"/>
                </a:solidFill>
                <a:latin typeface="Arial"/>
                <a:cs typeface="Arial"/>
              </a:rPr>
              <a:t>2</a:t>
            </a:r>
            <a:r>
              <a:rPr sz="1800" spc="-5" dirty="0">
                <a:solidFill>
                  <a:srgbClr val="000099"/>
                </a:solidFill>
                <a:latin typeface="Arial"/>
                <a:cs typeface="Arial"/>
              </a:rPr>
              <a:t>,</a:t>
            </a:r>
            <a:r>
              <a:rPr sz="1800" spc="-330" dirty="0">
                <a:solidFill>
                  <a:srgbClr val="000099"/>
                </a:solidFill>
                <a:latin typeface="Arial"/>
                <a:cs typeface="Arial"/>
              </a:rPr>
              <a:t> </a:t>
            </a:r>
            <a:r>
              <a:rPr sz="1800" spc="-10" dirty="0">
                <a:solidFill>
                  <a:srgbClr val="000099"/>
                </a:solidFill>
                <a:latin typeface="Arial"/>
                <a:cs typeface="Arial"/>
              </a:rPr>
              <a:t>washings)</a:t>
            </a:r>
            <a:endParaRPr sz="1800">
              <a:latin typeface="Arial"/>
              <a:cs typeface="Arial"/>
            </a:endParaRPr>
          </a:p>
        </p:txBody>
      </p:sp>
      <p:grpSp>
        <p:nvGrpSpPr>
          <p:cNvPr id="7" name="object 7"/>
          <p:cNvGrpSpPr/>
          <p:nvPr/>
        </p:nvGrpSpPr>
        <p:grpSpPr>
          <a:xfrm>
            <a:off x="440436" y="2667000"/>
            <a:ext cx="8313420" cy="386080"/>
            <a:chOff x="440436" y="2667000"/>
            <a:chExt cx="8313420" cy="386080"/>
          </a:xfrm>
        </p:grpSpPr>
        <p:sp>
          <p:nvSpPr>
            <p:cNvPr id="8" name="object 8"/>
            <p:cNvSpPr/>
            <p:nvPr/>
          </p:nvSpPr>
          <p:spPr>
            <a:xfrm>
              <a:off x="445008" y="2671572"/>
              <a:ext cx="8304530" cy="376555"/>
            </a:xfrm>
            <a:custGeom>
              <a:avLst/>
              <a:gdLst/>
              <a:ahLst/>
              <a:cxnLst/>
              <a:rect l="l" t="t" r="r" b="b"/>
              <a:pathLst>
                <a:path w="8304530" h="376555">
                  <a:moveTo>
                    <a:pt x="8304276" y="0"/>
                  </a:moveTo>
                  <a:lnTo>
                    <a:pt x="0" y="0"/>
                  </a:lnTo>
                  <a:lnTo>
                    <a:pt x="0" y="376427"/>
                  </a:lnTo>
                  <a:lnTo>
                    <a:pt x="8304276" y="376427"/>
                  </a:lnTo>
                  <a:lnTo>
                    <a:pt x="8304276" y="0"/>
                  </a:lnTo>
                  <a:close/>
                </a:path>
              </a:pathLst>
            </a:custGeom>
            <a:solidFill>
              <a:srgbClr val="FFFF66"/>
            </a:solidFill>
          </p:spPr>
          <p:txBody>
            <a:bodyPr wrap="square" lIns="0" tIns="0" rIns="0" bIns="0" rtlCol="0"/>
            <a:lstStyle/>
            <a:p>
              <a:endParaRPr/>
            </a:p>
          </p:txBody>
        </p:sp>
        <p:sp>
          <p:nvSpPr>
            <p:cNvPr id="9" name="object 9"/>
            <p:cNvSpPr/>
            <p:nvPr/>
          </p:nvSpPr>
          <p:spPr>
            <a:xfrm>
              <a:off x="445008" y="2671572"/>
              <a:ext cx="8304530" cy="376555"/>
            </a:xfrm>
            <a:custGeom>
              <a:avLst/>
              <a:gdLst/>
              <a:ahLst/>
              <a:cxnLst/>
              <a:rect l="l" t="t" r="r" b="b"/>
              <a:pathLst>
                <a:path w="8304530" h="376555">
                  <a:moveTo>
                    <a:pt x="0" y="376427"/>
                  </a:moveTo>
                  <a:lnTo>
                    <a:pt x="8304276" y="376427"/>
                  </a:lnTo>
                  <a:lnTo>
                    <a:pt x="8304276" y="0"/>
                  </a:lnTo>
                  <a:lnTo>
                    <a:pt x="0" y="0"/>
                  </a:lnTo>
                  <a:lnTo>
                    <a:pt x="0" y="376427"/>
                  </a:lnTo>
                  <a:close/>
                </a:path>
              </a:pathLst>
            </a:custGeom>
            <a:ln w="9144">
              <a:solidFill>
                <a:srgbClr val="85DFD0"/>
              </a:solidFill>
            </a:ln>
          </p:spPr>
          <p:txBody>
            <a:bodyPr wrap="square" lIns="0" tIns="0" rIns="0" bIns="0" rtlCol="0"/>
            <a:lstStyle/>
            <a:p>
              <a:endParaRPr/>
            </a:p>
          </p:txBody>
        </p:sp>
      </p:grpSp>
      <p:sp>
        <p:nvSpPr>
          <p:cNvPr id="10" name="object 10"/>
          <p:cNvSpPr txBox="1"/>
          <p:nvPr/>
        </p:nvSpPr>
        <p:spPr>
          <a:xfrm>
            <a:off x="472643" y="2699384"/>
            <a:ext cx="8000365" cy="299720"/>
          </a:xfrm>
          <a:prstGeom prst="rect">
            <a:avLst/>
          </a:prstGeom>
        </p:spPr>
        <p:txBody>
          <a:bodyPr vert="horz" wrap="square" lIns="0" tIns="12700" rIns="0" bIns="0" rtlCol="0">
            <a:spAutoFit/>
          </a:bodyPr>
          <a:lstStyle/>
          <a:p>
            <a:pPr marL="63500">
              <a:lnSpc>
                <a:spcPct val="100000"/>
              </a:lnSpc>
              <a:spcBef>
                <a:spcPts val="100"/>
              </a:spcBef>
              <a:tabLst>
                <a:tab pos="4307205" algn="l"/>
              </a:tabLst>
            </a:pPr>
            <a:r>
              <a:rPr sz="1800" spc="-5" dirty="0">
                <a:solidFill>
                  <a:srgbClr val="000099"/>
                </a:solidFill>
                <a:latin typeface="Arial"/>
                <a:cs typeface="Arial"/>
              </a:rPr>
              <a:t>R</a:t>
            </a:r>
            <a:r>
              <a:rPr sz="1800" spc="-7" baseline="-20833" dirty="0">
                <a:solidFill>
                  <a:srgbClr val="000099"/>
                </a:solidFill>
                <a:latin typeface="Arial"/>
                <a:cs typeface="Arial"/>
              </a:rPr>
              <a:t>2</a:t>
            </a:r>
            <a:r>
              <a:rPr sz="1800" spc="-5" dirty="0">
                <a:solidFill>
                  <a:srgbClr val="000099"/>
                </a:solidFill>
                <a:latin typeface="Arial"/>
                <a:cs typeface="Arial"/>
              </a:rPr>
              <a:t>SO</a:t>
            </a:r>
            <a:r>
              <a:rPr sz="1800" spc="-7" baseline="-20833" dirty="0">
                <a:solidFill>
                  <a:srgbClr val="000099"/>
                </a:solidFill>
                <a:latin typeface="Arial"/>
                <a:cs typeface="Arial"/>
              </a:rPr>
              <a:t>4</a:t>
            </a:r>
            <a:r>
              <a:rPr sz="1800" spc="-7" baseline="25462" dirty="0">
                <a:solidFill>
                  <a:srgbClr val="000099"/>
                </a:solidFill>
                <a:latin typeface="Arial"/>
                <a:cs typeface="Arial"/>
              </a:rPr>
              <a:t>2-   </a:t>
            </a:r>
            <a:r>
              <a:rPr sz="1800" dirty="0">
                <a:solidFill>
                  <a:srgbClr val="000099"/>
                </a:solidFill>
                <a:latin typeface="Arial"/>
                <a:cs typeface="Arial"/>
              </a:rPr>
              <a:t>+ </a:t>
            </a:r>
            <a:r>
              <a:rPr sz="1800" spc="-5" dirty="0">
                <a:solidFill>
                  <a:srgbClr val="000099"/>
                </a:solidFill>
                <a:latin typeface="Arial"/>
                <a:cs typeface="Arial"/>
              </a:rPr>
              <a:t>2OH</a:t>
            </a:r>
            <a:r>
              <a:rPr sz="1800" spc="-7" baseline="25462" dirty="0">
                <a:solidFill>
                  <a:srgbClr val="000099"/>
                </a:solidFill>
                <a:latin typeface="Arial"/>
                <a:cs typeface="Arial"/>
              </a:rPr>
              <a:t>-</a:t>
            </a:r>
            <a:r>
              <a:rPr sz="1800" spc="292" baseline="25462" dirty="0">
                <a:solidFill>
                  <a:srgbClr val="000099"/>
                </a:solidFill>
                <a:latin typeface="Arial"/>
                <a:cs typeface="Arial"/>
              </a:rPr>
              <a:t> </a:t>
            </a:r>
            <a:r>
              <a:rPr sz="1800" spc="-5" dirty="0">
                <a:solidFill>
                  <a:srgbClr val="000099"/>
                </a:solidFill>
                <a:latin typeface="Arial"/>
                <a:cs typeface="Arial"/>
              </a:rPr>
              <a:t>(dil.</a:t>
            </a:r>
            <a:r>
              <a:rPr sz="1800" spc="10" dirty="0">
                <a:solidFill>
                  <a:srgbClr val="000099"/>
                </a:solidFill>
                <a:latin typeface="Arial"/>
                <a:cs typeface="Arial"/>
              </a:rPr>
              <a:t> </a:t>
            </a:r>
            <a:r>
              <a:rPr sz="1800" spc="-5" dirty="0">
                <a:solidFill>
                  <a:srgbClr val="000099"/>
                </a:solidFill>
                <a:latin typeface="Arial"/>
                <a:cs typeface="Arial"/>
              </a:rPr>
              <a:t>NaOH)	2 </a:t>
            </a:r>
            <a:r>
              <a:rPr sz="1800" dirty="0">
                <a:solidFill>
                  <a:srgbClr val="000099"/>
                </a:solidFill>
                <a:latin typeface="Arial"/>
                <a:cs typeface="Arial"/>
              </a:rPr>
              <a:t>ROH</a:t>
            </a:r>
            <a:r>
              <a:rPr sz="1800" baseline="25462" dirty="0">
                <a:solidFill>
                  <a:srgbClr val="000099"/>
                </a:solidFill>
                <a:latin typeface="Arial"/>
                <a:cs typeface="Arial"/>
              </a:rPr>
              <a:t>- </a:t>
            </a:r>
            <a:r>
              <a:rPr sz="1800" dirty="0">
                <a:solidFill>
                  <a:srgbClr val="000099"/>
                </a:solidFill>
                <a:latin typeface="Arial"/>
                <a:cs typeface="Arial"/>
              </a:rPr>
              <a:t>+ </a:t>
            </a:r>
            <a:r>
              <a:rPr sz="1800" spc="-5" dirty="0">
                <a:solidFill>
                  <a:srgbClr val="000099"/>
                </a:solidFill>
                <a:latin typeface="Arial"/>
                <a:cs typeface="Arial"/>
              </a:rPr>
              <a:t>SO</a:t>
            </a:r>
            <a:r>
              <a:rPr sz="1800" spc="-7" baseline="-20833" dirty="0">
                <a:solidFill>
                  <a:srgbClr val="000099"/>
                </a:solidFill>
                <a:latin typeface="Arial"/>
                <a:cs typeface="Arial"/>
              </a:rPr>
              <a:t>4</a:t>
            </a:r>
            <a:r>
              <a:rPr sz="1800" spc="-7" baseline="25462" dirty="0">
                <a:solidFill>
                  <a:srgbClr val="000099"/>
                </a:solidFill>
                <a:latin typeface="Arial"/>
                <a:cs typeface="Arial"/>
              </a:rPr>
              <a:t>2- </a:t>
            </a:r>
            <a:r>
              <a:rPr sz="1800" spc="-5" dirty="0">
                <a:solidFill>
                  <a:srgbClr val="000099"/>
                </a:solidFill>
                <a:latin typeface="Arial"/>
                <a:cs typeface="Arial"/>
              </a:rPr>
              <a:t>(Na</a:t>
            </a:r>
            <a:r>
              <a:rPr sz="1800" spc="-7" baseline="-20833" dirty="0">
                <a:solidFill>
                  <a:srgbClr val="000099"/>
                </a:solidFill>
                <a:latin typeface="Arial"/>
                <a:cs typeface="Arial"/>
              </a:rPr>
              <a:t>2</a:t>
            </a:r>
            <a:r>
              <a:rPr sz="1800" spc="-5" dirty="0">
                <a:solidFill>
                  <a:srgbClr val="000099"/>
                </a:solidFill>
                <a:latin typeface="Arial"/>
                <a:cs typeface="Arial"/>
              </a:rPr>
              <a:t>SO</a:t>
            </a:r>
            <a:r>
              <a:rPr sz="1800" spc="-7" baseline="-20833" dirty="0">
                <a:solidFill>
                  <a:srgbClr val="000099"/>
                </a:solidFill>
                <a:latin typeface="Arial"/>
                <a:cs typeface="Arial"/>
              </a:rPr>
              <a:t>4</a:t>
            </a:r>
            <a:r>
              <a:rPr sz="1800" spc="-5" dirty="0">
                <a:solidFill>
                  <a:srgbClr val="000099"/>
                </a:solidFill>
                <a:latin typeface="Arial"/>
                <a:cs typeface="Arial"/>
              </a:rPr>
              <a:t>,</a:t>
            </a:r>
            <a:r>
              <a:rPr sz="1800" spc="-355" dirty="0">
                <a:solidFill>
                  <a:srgbClr val="000099"/>
                </a:solidFill>
                <a:latin typeface="Arial"/>
                <a:cs typeface="Arial"/>
              </a:rPr>
              <a:t> </a:t>
            </a:r>
            <a:r>
              <a:rPr sz="1800" spc="-10" dirty="0">
                <a:solidFill>
                  <a:srgbClr val="000099"/>
                </a:solidFill>
                <a:latin typeface="Arial"/>
                <a:cs typeface="Arial"/>
              </a:rPr>
              <a:t>washings)</a:t>
            </a:r>
            <a:endParaRPr sz="1800">
              <a:latin typeface="Arial"/>
              <a:cs typeface="Arial"/>
            </a:endParaRPr>
          </a:p>
        </p:txBody>
      </p:sp>
      <p:sp>
        <p:nvSpPr>
          <p:cNvPr id="11" name="object 11"/>
          <p:cNvSpPr/>
          <p:nvPr/>
        </p:nvSpPr>
        <p:spPr>
          <a:xfrm>
            <a:off x="4114800" y="1693164"/>
            <a:ext cx="685800" cy="76200"/>
          </a:xfrm>
          <a:custGeom>
            <a:avLst/>
            <a:gdLst/>
            <a:ahLst/>
            <a:cxnLst/>
            <a:rect l="l" t="t" r="r" b="b"/>
            <a:pathLst>
              <a:path w="685800" h="76200">
                <a:moveTo>
                  <a:pt x="609600" y="0"/>
                </a:moveTo>
                <a:lnTo>
                  <a:pt x="609600" y="76200"/>
                </a:lnTo>
                <a:lnTo>
                  <a:pt x="673100" y="44450"/>
                </a:lnTo>
                <a:lnTo>
                  <a:pt x="622300" y="44450"/>
                </a:lnTo>
                <a:lnTo>
                  <a:pt x="622300" y="31750"/>
                </a:lnTo>
                <a:lnTo>
                  <a:pt x="673100" y="31750"/>
                </a:lnTo>
                <a:lnTo>
                  <a:pt x="609600" y="0"/>
                </a:lnTo>
                <a:close/>
              </a:path>
              <a:path w="685800" h="76200">
                <a:moveTo>
                  <a:pt x="609600" y="31750"/>
                </a:moveTo>
                <a:lnTo>
                  <a:pt x="0" y="31750"/>
                </a:lnTo>
                <a:lnTo>
                  <a:pt x="0" y="44450"/>
                </a:lnTo>
                <a:lnTo>
                  <a:pt x="609600" y="44450"/>
                </a:lnTo>
                <a:lnTo>
                  <a:pt x="609600" y="31750"/>
                </a:lnTo>
                <a:close/>
              </a:path>
              <a:path w="685800" h="76200">
                <a:moveTo>
                  <a:pt x="673100" y="31750"/>
                </a:moveTo>
                <a:lnTo>
                  <a:pt x="622300" y="31750"/>
                </a:lnTo>
                <a:lnTo>
                  <a:pt x="622300" y="44450"/>
                </a:lnTo>
                <a:lnTo>
                  <a:pt x="673100" y="44450"/>
                </a:lnTo>
                <a:lnTo>
                  <a:pt x="685800" y="38100"/>
                </a:lnTo>
                <a:lnTo>
                  <a:pt x="673100" y="31750"/>
                </a:lnTo>
                <a:close/>
              </a:path>
            </a:pathLst>
          </a:custGeom>
          <a:solidFill>
            <a:srgbClr val="000000"/>
          </a:solidFill>
        </p:spPr>
        <p:txBody>
          <a:bodyPr wrap="square" lIns="0" tIns="0" rIns="0" bIns="0" rtlCol="0"/>
          <a:lstStyle/>
          <a:p>
            <a:endParaRPr/>
          </a:p>
        </p:txBody>
      </p:sp>
      <p:sp>
        <p:nvSpPr>
          <p:cNvPr id="12" name="object 12"/>
          <p:cNvSpPr/>
          <p:nvPr/>
        </p:nvSpPr>
        <p:spPr>
          <a:xfrm>
            <a:off x="3810000" y="2811779"/>
            <a:ext cx="685800" cy="76200"/>
          </a:xfrm>
          <a:custGeom>
            <a:avLst/>
            <a:gdLst/>
            <a:ahLst/>
            <a:cxnLst/>
            <a:rect l="l" t="t" r="r" b="b"/>
            <a:pathLst>
              <a:path w="685800" h="76200">
                <a:moveTo>
                  <a:pt x="609600" y="0"/>
                </a:moveTo>
                <a:lnTo>
                  <a:pt x="609600" y="76200"/>
                </a:lnTo>
                <a:lnTo>
                  <a:pt x="673100" y="44450"/>
                </a:lnTo>
                <a:lnTo>
                  <a:pt x="622300" y="44450"/>
                </a:lnTo>
                <a:lnTo>
                  <a:pt x="622300" y="31750"/>
                </a:lnTo>
                <a:lnTo>
                  <a:pt x="673100" y="31750"/>
                </a:lnTo>
                <a:lnTo>
                  <a:pt x="609600" y="0"/>
                </a:lnTo>
                <a:close/>
              </a:path>
              <a:path w="685800" h="76200">
                <a:moveTo>
                  <a:pt x="609600" y="31750"/>
                </a:moveTo>
                <a:lnTo>
                  <a:pt x="0" y="31750"/>
                </a:lnTo>
                <a:lnTo>
                  <a:pt x="0" y="44450"/>
                </a:lnTo>
                <a:lnTo>
                  <a:pt x="609600" y="44450"/>
                </a:lnTo>
                <a:lnTo>
                  <a:pt x="609600" y="31750"/>
                </a:lnTo>
                <a:close/>
              </a:path>
              <a:path w="685800" h="76200">
                <a:moveTo>
                  <a:pt x="673100" y="31750"/>
                </a:moveTo>
                <a:lnTo>
                  <a:pt x="622300" y="31750"/>
                </a:lnTo>
                <a:lnTo>
                  <a:pt x="622300" y="44450"/>
                </a:lnTo>
                <a:lnTo>
                  <a:pt x="673100" y="44450"/>
                </a:lnTo>
                <a:lnTo>
                  <a:pt x="685800" y="38100"/>
                </a:lnTo>
                <a:lnTo>
                  <a:pt x="673100" y="31750"/>
                </a:lnTo>
                <a:close/>
              </a:path>
            </a:pathLst>
          </a:custGeom>
          <a:solidFill>
            <a:srgbClr val="000000"/>
          </a:solidFill>
        </p:spPr>
        <p:txBody>
          <a:bodyPr wrap="square" lIns="0" tIns="0" rIns="0" bIns="0" rtlCol="0"/>
          <a:lstStyle/>
          <a:p>
            <a:endParaRPr/>
          </a:p>
        </p:txBody>
      </p:sp>
      <p:sp>
        <p:nvSpPr>
          <p:cNvPr id="13" name="object 13"/>
          <p:cNvSpPr txBox="1"/>
          <p:nvPr/>
        </p:nvSpPr>
        <p:spPr>
          <a:xfrm>
            <a:off x="381000" y="3276600"/>
            <a:ext cx="8077200" cy="1477010"/>
          </a:xfrm>
          <a:prstGeom prst="rect">
            <a:avLst/>
          </a:prstGeom>
          <a:solidFill>
            <a:srgbClr val="FFFF66"/>
          </a:solidFill>
          <a:ln w="9144">
            <a:solidFill>
              <a:srgbClr val="85DFD0"/>
            </a:solidFill>
          </a:ln>
        </p:spPr>
        <p:txBody>
          <a:bodyPr vert="horz" wrap="square" lIns="0" tIns="40005" rIns="0" bIns="0" rtlCol="0">
            <a:spAutoFit/>
          </a:bodyPr>
          <a:lstStyle/>
          <a:p>
            <a:pPr marL="91440">
              <a:lnSpc>
                <a:spcPct val="100000"/>
              </a:lnSpc>
              <a:spcBef>
                <a:spcPts val="315"/>
              </a:spcBef>
            </a:pPr>
            <a:r>
              <a:rPr sz="1800" spc="-5" dirty="0">
                <a:solidFill>
                  <a:srgbClr val="000099"/>
                </a:solidFill>
                <a:latin typeface="Arial"/>
                <a:cs typeface="Arial"/>
              </a:rPr>
              <a:t>Advantages</a:t>
            </a:r>
            <a:endParaRPr sz="1800">
              <a:latin typeface="Arial"/>
              <a:cs typeface="Arial"/>
            </a:endParaRPr>
          </a:p>
          <a:p>
            <a:pPr marL="434340" indent="-343535">
              <a:lnSpc>
                <a:spcPct val="100000"/>
              </a:lnSpc>
              <a:spcBef>
                <a:spcPts val="1080"/>
              </a:spcBef>
              <a:buAutoNum type="arabicPeriod"/>
              <a:tabLst>
                <a:tab pos="434340" algn="l"/>
                <a:tab pos="434975" algn="l"/>
              </a:tabLst>
            </a:pPr>
            <a:r>
              <a:rPr sz="1800" dirty="0">
                <a:solidFill>
                  <a:srgbClr val="000099"/>
                </a:solidFill>
                <a:latin typeface="Arial"/>
                <a:cs typeface="Arial"/>
              </a:rPr>
              <a:t>The </a:t>
            </a:r>
            <a:r>
              <a:rPr sz="1800" spc="-5" dirty="0">
                <a:solidFill>
                  <a:srgbClr val="000099"/>
                </a:solidFill>
                <a:latin typeface="Arial"/>
                <a:cs typeface="Arial"/>
              </a:rPr>
              <a:t>process can be used </a:t>
            </a:r>
            <a:r>
              <a:rPr sz="1800" dirty="0">
                <a:solidFill>
                  <a:srgbClr val="000099"/>
                </a:solidFill>
                <a:latin typeface="Arial"/>
                <a:cs typeface="Arial"/>
              </a:rPr>
              <a:t>to soften </a:t>
            </a:r>
            <a:r>
              <a:rPr sz="1800" spc="-10" dirty="0">
                <a:solidFill>
                  <a:srgbClr val="000099"/>
                </a:solidFill>
                <a:latin typeface="Arial"/>
                <a:cs typeface="Arial"/>
              </a:rPr>
              <a:t>highly </a:t>
            </a:r>
            <a:r>
              <a:rPr sz="1800" spc="-5" dirty="0">
                <a:solidFill>
                  <a:srgbClr val="000099"/>
                </a:solidFill>
                <a:latin typeface="Arial"/>
                <a:cs typeface="Arial"/>
              </a:rPr>
              <a:t>acidic or alkaline</a:t>
            </a:r>
            <a:r>
              <a:rPr sz="1800" spc="55" dirty="0">
                <a:solidFill>
                  <a:srgbClr val="000099"/>
                </a:solidFill>
                <a:latin typeface="Arial"/>
                <a:cs typeface="Arial"/>
              </a:rPr>
              <a:t> </a:t>
            </a:r>
            <a:r>
              <a:rPr sz="1800" spc="-10" dirty="0">
                <a:solidFill>
                  <a:srgbClr val="000099"/>
                </a:solidFill>
                <a:latin typeface="Arial"/>
                <a:cs typeface="Arial"/>
              </a:rPr>
              <a:t>waters</a:t>
            </a:r>
            <a:endParaRPr sz="1800">
              <a:latin typeface="Arial"/>
              <a:cs typeface="Arial"/>
            </a:endParaRPr>
          </a:p>
          <a:p>
            <a:pPr marL="434340" marR="337820" indent="-343535">
              <a:lnSpc>
                <a:spcPct val="100000"/>
              </a:lnSpc>
              <a:spcBef>
                <a:spcPts val="1085"/>
              </a:spcBef>
              <a:buAutoNum type="arabicPeriod"/>
              <a:tabLst>
                <a:tab pos="434340" algn="l"/>
                <a:tab pos="434975" algn="l"/>
              </a:tabLst>
            </a:pPr>
            <a:r>
              <a:rPr sz="1800" dirty="0">
                <a:solidFill>
                  <a:srgbClr val="000099"/>
                </a:solidFill>
                <a:latin typeface="Arial"/>
                <a:cs typeface="Arial"/>
              </a:rPr>
              <a:t>It </a:t>
            </a:r>
            <a:r>
              <a:rPr sz="1800" spc="-5" dirty="0">
                <a:solidFill>
                  <a:srgbClr val="000099"/>
                </a:solidFill>
                <a:latin typeface="Arial"/>
                <a:cs typeface="Arial"/>
              </a:rPr>
              <a:t>produces </a:t>
            </a:r>
            <a:r>
              <a:rPr sz="1800" spc="-15" dirty="0">
                <a:solidFill>
                  <a:srgbClr val="000099"/>
                </a:solidFill>
                <a:latin typeface="Arial"/>
                <a:cs typeface="Arial"/>
              </a:rPr>
              <a:t>water </a:t>
            </a:r>
            <a:r>
              <a:rPr sz="1800" dirty="0">
                <a:solidFill>
                  <a:srgbClr val="000099"/>
                </a:solidFill>
                <a:latin typeface="Arial"/>
                <a:cs typeface="Arial"/>
              </a:rPr>
              <a:t>of very </a:t>
            </a:r>
            <a:r>
              <a:rPr sz="1800" spc="-5" dirty="0">
                <a:solidFill>
                  <a:srgbClr val="000099"/>
                </a:solidFill>
                <a:latin typeface="Arial"/>
                <a:cs typeface="Arial"/>
              </a:rPr>
              <a:t>low hardness </a:t>
            </a:r>
            <a:r>
              <a:rPr sz="1800" dirty="0">
                <a:solidFill>
                  <a:srgbClr val="000099"/>
                </a:solidFill>
                <a:latin typeface="Arial"/>
                <a:cs typeface="Arial"/>
              </a:rPr>
              <a:t>of </a:t>
            </a:r>
            <a:r>
              <a:rPr sz="1800" spc="-5" dirty="0">
                <a:solidFill>
                  <a:srgbClr val="000099"/>
                </a:solidFill>
                <a:latin typeface="Arial"/>
                <a:cs typeface="Arial"/>
              </a:rPr>
              <a:t>1-2ppm. So </a:t>
            </a:r>
            <a:r>
              <a:rPr sz="1800" dirty="0">
                <a:solidFill>
                  <a:srgbClr val="000099"/>
                </a:solidFill>
                <a:latin typeface="Arial"/>
                <a:cs typeface="Arial"/>
              </a:rPr>
              <a:t>the </a:t>
            </a:r>
            <a:r>
              <a:rPr sz="1800" spc="-5" dirty="0">
                <a:solidFill>
                  <a:srgbClr val="000099"/>
                </a:solidFill>
                <a:latin typeface="Arial"/>
                <a:cs typeface="Arial"/>
              </a:rPr>
              <a:t>treated </a:t>
            </a:r>
            <a:r>
              <a:rPr sz="1800" spc="-10" dirty="0">
                <a:solidFill>
                  <a:srgbClr val="000099"/>
                </a:solidFill>
                <a:latin typeface="Arial"/>
                <a:cs typeface="Arial"/>
              </a:rPr>
              <a:t>waters  </a:t>
            </a:r>
            <a:r>
              <a:rPr sz="1800" spc="-5" dirty="0">
                <a:solidFill>
                  <a:srgbClr val="000099"/>
                </a:solidFill>
                <a:latin typeface="Arial"/>
                <a:cs typeface="Arial"/>
              </a:rPr>
              <a:t>by </a:t>
            </a:r>
            <a:r>
              <a:rPr sz="1800" dirty="0">
                <a:solidFill>
                  <a:srgbClr val="000099"/>
                </a:solidFill>
                <a:latin typeface="Arial"/>
                <a:cs typeface="Arial"/>
              </a:rPr>
              <a:t>this </a:t>
            </a:r>
            <a:r>
              <a:rPr sz="1800" spc="-5" dirty="0">
                <a:solidFill>
                  <a:srgbClr val="000099"/>
                </a:solidFill>
                <a:latin typeface="Arial"/>
                <a:cs typeface="Arial"/>
              </a:rPr>
              <a:t>method can be used in high pressure</a:t>
            </a:r>
            <a:r>
              <a:rPr sz="1800" spc="20" dirty="0">
                <a:solidFill>
                  <a:srgbClr val="000099"/>
                </a:solidFill>
                <a:latin typeface="Arial"/>
                <a:cs typeface="Arial"/>
              </a:rPr>
              <a:t> </a:t>
            </a:r>
            <a:r>
              <a:rPr sz="1800" spc="-5" dirty="0">
                <a:solidFill>
                  <a:srgbClr val="000099"/>
                </a:solidFill>
                <a:latin typeface="Arial"/>
                <a:cs typeface="Arial"/>
              </a:rPr>
              <a:t>boilers</a:t>
            </a:r>
            <a:endParaRPr sz="1800">
              <a:latin typeface="Arial"/>
              <a:cs typeface="Arial"/>
            </a:endParaRPr>
          </a:p>
        </p:txBody>
      </p:sp>
      <p:grpSp>
        <p:nvGrpSpPr>
          <p:cNvPr id="14" name="object 14"/>
          <p:cNvGrpSpPr/>
          <p:nvPr/>
        </p:nvGrpSpPr>
        <p:grpSpPr>
          <a:xfrm>
            <a:off x="376427" y="5100828"/>
            <a:ext cx="8086725" cy="1485900"/>
            <a:chOff x="376427" y="5100828"/>
            <a:chExt cx="8086725" cy="1485900"/>
          </a:xfrm>
        </p:grpSpPr>
        <p:sp>
          <p:nvSpPr>
            <p:cNvPr id="15" name="object 15"/>
            <p:cNvSpPr/>
            <p:nvPr/>
          </p:nvSpPr>
          <p:spPr>
            <a:xfrm>
              <a:off x="380999" y="5105400"/>
              <a:ext cx="8077200" cy="1477010"/>
            </a:xfrm>
            <a:custGeom>
              <a:avLst/>
              <a:gdLst/>
              <a:ahLst/>
              <a:cxnLst/>
              <a:rect l="l" t="t" r="r" b="b"/>
              <a:pathLst>
                <a:path w="8077200" h="1477009">
                  <a:moveTo>
                    <a:pt x="8077200" y="0"/>
                  </a:moveTo>
                  <a:lnTo>
                    <a:pt x="0" y="0"/>
                  </a:lnTo>
                  <a:lnTo>
                    <a:pt x="0" y="1476756"/>
                  </a:lnTo>
                  <a:lnTo>
                    <a:pt x="8077200" y="1476756"/>
                  </a:lnTo>
                  <a:lnTo>
                    <a:pt x="8077200" y="0"/>
                  </a:lnTo>
                  <a:close/>
                </a:path>
              </a:pathLst>
            </a:custGeom>
            <a:solidFill>
              <a:srgbClr val="FFFF66"/>
            </a:solidFill>
          </p:spPr>
          <p:txBody>
            <a:bodyPr wrap="square" lIns="0" tIns="0" rIns="0" bIns="0" rtlCol="0"/>
            <a:lstStyle/>
            <a:p>
              <a:endParaRPr/>
            </a:p>
          </p:txBody>
        </p:sp>
        <p:sp>
          <p:nvSpPr>
            <p:cNvPr id="16" name="object 16"/>
            <p:cNvSpPr/>
            <p:nvPr/>
          </p:nvSpPr>
          <p:spPr>
            <a:xfrm>
              <a:off x="380999" y="5105400"/>
              <a:ext cx="8077200" cy="1477010"/>
            </a:xfrm>
            <a:custGeom>
              <a:avLst/>
              <a:gdLst/>
              <a:ahLst/>
              <a:cxnLst/>
              <a:rect l="l" t="t" r="r" b="b"/>
              <a:pathLst>
                <a:path w="8077200" h="1477009">
                  <a:moveTo>
                    <a:pt x="0" y="1476756"/>
                  </a:moveTo>
                  <a:lnTo>
                    <a:pt x="8077200" y="1476756"/>
                  </a:lnTo>
                  <a:lnTo>
                    <a:pt x="8077200" y="0"/>
                  </a:lnTo>
                  <a:lnTo>
                    <a:pt x="0" y="0"/>
                  </a:lnTo>
                  <a:lnTo>
                    <a:pt x="0" y="1476756"/>
                  </a:lnTo>
                  <a:close/>
                </a:path>
              </a:pathLst>
            </a:custGeom>
            <a:ln w="9144">
              <a:solidFill>
                <a:srgbClr val="85DFD0"/>
              </a:solidFill>
            </a:ln>
          </p:spPr>
          <p:txBody>
            <a:bodyPr wrap="square" lIns="0" tIns="0" rIns="0" bIns="0" rtlCol="0"/>
            <a:lstStyle/>
            <a:p>
              <a:endParaRPr/>
            </a:p>
          </p:txBody>
        </p:sp>
      </p:grpSp>
      <p:sp>
        <p:nvSpPr>
          <p:cNvPr id="17" name="object 17"/>
          <p:cNvSpPr txBox="1"/>
          <p:nvPr/>
        </p:nvSpPr>
        <p:spPr>
          <a:xfrm>
            <a:off x="459740" y="5133594"/>
            <a:ext cx="153352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3300"/>
                </a:solidFill>
                <a:latin typeface="Arial"/>
                <a:cs typeface="Arial"/>
              </a:rPr>
              <a:t>D</a:t>
            </a:r>
            <a:r>
              <a:rPr sz="1800" spc="-15" dirty="0">
                <a:solidFill>
                  <a:srgbClr val="FF3300"/>
                </a:solidFill>
                <a:latin typeface="Arial"/>
                <a:cs typeface="Arial"/>
              </a:rPr>
              <a:t>i</a:t>
            </a:r>
            <a:r>
              <a:rPr sz="1800" spc="-5" dirty="0">
                <a:solidFill>
                  <a:srgbClr val="FF3300"/>
                </a:solidFill>
                <a:latin typeface="Arial"/>
                <a:cs typeface="Arial"/>
              </a:rPr>
              <a:t>sa</a:t>
            </a:r>
            <a:r>
              <a:rPr sz="1800" spc="-15" dirty="0">
                <a:solidFill>
                  <a:srgbClr val="FF3300"/>
                </a:solidFill>
                <a:latin typeface="Arial"/>
                <a:cs typeface="Arial"/>
              </a:rPr>
              <a:t>d</a:t>
            </a:r>
            <a:r>
              <a:rPr sz="1800" spc="-5" dirty="0">
                <a:solidFill>
                  <a:srgbClr val="FF3300"/>
                </a:solidFill>
                <a:latin typeface="Arial"/>
                <a:cs typeface="Arial"/>
              </a:rPr>
              <a:t>va</a:t>
            </a:r>
            <a:r>
              <a:rPr sz="1800" spc="-15" dirty="0">
                <a:solidFill>
                  <a:srgbClr val="FF3300"/>
                </a:solidFill>
                <a:latin typeface="Arial"/>
                <a:cs typeface="Arial"/>
              </a:rPr>
              <a:t>n</a:t>
            </a:r>
            <a:r>
              <a:rPr sz="1800" spc="-5" dirty="0">
                <a:solidFill>
                  <a:srgbClr val="FF3300"/>
                </a:solidFill>
                <a:latin typeface="Arial"/>
                <a:cs typeface="Arial"/>
              </a:rPr>
              <a:t>ta</a:t>
            </a:r>
            <a:r>
              <a:rPr sz="1800" spc="-15" dirty="0">
                <a:solidFill>
                  <a:srgbClr val="FF3300"/>
                </a:solidFill>
                <a:latin typeface="Arial"/>
                <a:cs typeface="Arial"/>
              </a:rPr>
              <a:t>g</a:t>
            </a:r>
            <a:r>
              <a:rPr sz="1800" spc="-5" dirty="0">
                <a:solidFill>
                  <a:srgbClr val="FF3300"/>
                </a:solidFill>
                <a:latin typeface="Arial"/>
                <a:cs typeface="Arial"/>
              </a:rPr>
              <a:t>es</a:t>
            </a:r>
            <a:endParaRPr sz="1800">
              <a:latin typeface="Arial"/>
              <a:cs typeface="Arial"/>
            </a:endParaRPr>
          </a:p>
        </p:txBody>
      </p:sp>
      <p:sp>
        <p:nvSpPr>
          <p:cNvPr id="18" name="object 18"/>
          <p:cNvSpPr txBox="1"/>
          <p:nvPr/>
        </p:nvSpPr>
        <p:spPr>
          <a:xfrm>
            <a:off x="459740" y="5407863"/>
            <a:ext cx="7694930" cy="1123315"/>
          </a:xfrm>
          <a:prstGeom prst="rect">
            <a:avLst/>
          </a:prstGeom>
        </p:spPr>
        <p:txBody>
          <a:bodyPr vert="horz" wrap="square" lIns="0" tIns="149860" rIns="0" bIns="0" rtlCol="0">
            <a:spAutoFit/>
          </a:bodyPr>
          <a:lstStyle/>
          <a:p>
            <a:pPr marL="355600" indent="-343535">
              <a:lnSpc>
                <a:spcPct val="100000"/>
              </a:lnSpc>
              <a:spcBef>
                <a:spcPts val="1180"/>
              </a:spcBef>
              <a:buAutoNum type="arabicPeriod"/>
              <a:tabLst>
                <a:tab pos="355600" algn="l"/>
                <a:tab pos="356235" algn="l"/>
              </a:tabLst>
            </a:pPr>
            <a:r>
              <a:rPr sz="1800" dirty="0">
                <a:solidFill>
                  <a:srgbClr val="FF3300"/>
                </a:solidFill>
                <a:latin typeface="Arial"/>
                <a:cs typeface="Arial"/>
              </a:rPr>
              <a:t>The </a:t>
            </a:r>
            <a:r>
              <a:rPr sz="1800" spc="-5" dirty="0">
                <a:solidFill>
                  <a:srgbClr val="FF3300"/>
                </a:solidFill>
                <a:latin typeface="Arial"/>
                <a:cs typeface="Arial"/>
              </a:rPr>
              <a:t>setup is costly and </a:t>
            </a:r>
            <a:r>
              <a:rPr sz="1800" dirty="0">
                <a:solidFill>
                  <a:srgbClr val="FF3300"/>
                </a:solidFill>
                <a:latin typeface="Arial"/>
                <a:cs typeface="Arial"/>
              </a:rPr>
              <a:t>it </a:t>
            </a:r>
            <a:r>
              <a:rPr sz="1800" spc="-5" dirty="0">
                <a:solidFill>
                  <a:srgbClr val="FF3300"/>
                </a:solidFill>
                <a:latin typeface="Arial"/>
                <a:cs typeface="Arial"/>
              </a:rPr>
              <a:t>uses </a:t>
            </a:r>
            <a:r>
              <a:rPr sz="1800" dirty="0">
                <a:solidFill>
                  <a:srgbClr val="FF3300"/>
                </a:solidFill>
                <a:latin typeface="Arial"/>
                <a:cs typeface="Arial"/>
              </a:rPr>
              <a:t>costly</a:t>
            </a:r>
            <a:r>
              <a:rPr sz="1800" spc="5" dirty="0">
                <a:solidFill>
                  <a:srgbClr val="FF3300"/>
                </a:solidFill>
                <a:latin typeface="Arial"/>
                <a:cs typeface="Arial"/>
              </a:rPr>
              <a:t> </a:t>
            </a:r>
            <a:r>
              <a:rPr sz="1800" spc="-5" dirty="0">
                <a:solidFill>
                  <a:srgbClr val="FF3300"/>
                </a:solidFill>
                <a:latin typeface="Arial"/>
                <a:cs typeface="Arial"/>
              </a:rPr>
              <a:t>chemicals</a:t>
            </a:r>
            <a:endParaRPr sz="1800">
              <a:latin typeface="Arial"/>
              <a:cs typeface="Arial"/>
            </a:endParaRPr>
          </a:p>
          <a:p>
            <a:pPr marL="355600" indent="-343535">
              <a:lnSpc>
                <a:spcPct val="100000"/>
              </a:lnSpc>
              <a:spcBef>
                <a:spcPts val="1080"/>
              </a:spcBef>
              <a:buAutoNum type="arabicPeriod"/>
              <a:tabLst>
                <a:tab pos="355600" algn="l"/>
                <a:tab pos="356235" algn="l"/>
              </a:tabLst>
            </a:pPr>
            <a:r>
              <a:rPr sz="1800" dirty="0">
                <a:solidFill>
                  <a:srgbClr val="FF3300"/>
                </a:solidFill>
                <a:latin typeface="Arial"/>
                <a:cs typeface="Arial"/>
              </a:rPr>
              <a:t>The </a:t>
            </a:r>
            <a:r>
              <a:rPr sz="1800" spc="-15" dirty="0">
                <a:solidFill>
                  <a:srgbClr val="FF3300"/>
                </a:solidFill>
                <a:latin typeface="Arial"/>
                <a:cs typeface="Arial"/>
              </a:rPr>
              <a:t>water </a:t>
            </a:r>
            <a:r>
              <a:rPr sz="1800" spc="-5" dirty="0">
                <a:solidFill>
                  <a:srgbClr val="FF3300"/>
                </a:solidFill>
                <a:latin typeface="Arial"/>
                <a:cs typeface="Arial"/>
              </a:rPr>
              <a:t>should not be turbid and </a:t>
            </a:r>
            <a:r>
              <a:rPr sz="1800" dirty="0">
                <a:solidFill>
                  <a:srgbClr val="FF3300"/>
                </a:solidFill>
                <a:latin typeface="Arial"/>
                <a:cs typeface="Arial"/>
              </a:rPr>
              <a:t>the </a:t>
            </a:r>
            <a:r>
              <a:rPr sz="1800" spc="-5" dirty="0">
                <a:solidFill>
                  <a:srgbClr val="FF3300"/>
                </a:solidFill>
                <a:latin typeface="Arial"/>
                <a:cs typeface="Arial"/>
              </a:rPr>
              <a:t>turbidity level should not be</a:t>
            </a:r>
            <a:r>
              <a:rPr sz="1800" spc="180" dirty="0">
                <a:solidFill>
                  <a:srgbClr val="FF3300"/>
                </a:solidFill>
                <a:latin typeface="Arial"/>
                <a:cs typeface="Arial"/>
              </a:rPr>
              <a:t> </a:t>
            </a:r>
            <a:r>
              <a:rPr sz="1800" spc="-5" dirty="0">
                <a:solidFill>
                  <a:srgbClr val="FF3300"/>
                </a:solidFill>
                <a:latin typeface="Arial"/>
                <a:cs typeface="Arial"/>
              </a:rPr>
              <a:t>more</a:t>
            </a:r>
            <a:endParaRPr sz="1800">
              <a:latin typeface="Arial"/>
              <a:cs typeface="Arial"/>
            </a:endParaRPr>
          </a:p>
          <a:p>
            <a:pPr marL="355600">
              <a:lnSpc>
                <a:spcPct val="100000"/>
              </a:lnSpc>
            </a:pPr>
            <a:r>
              <a:rPr sz="1800" spc="-5" dirty="0">
                <a:solidFill>
                  <a:srgbClr val="FF3300"/>
                </a:solidFill>
                <a:latin typeface="Arial"/>
                <a:cs typeface="Arial"/>
              </a:rPr>
              <a:t>than</a:t>
            </a:r>
            <a:r>
              <a:rPr sz="1800" spc="-10" dirty="0">
                <a:solidFill>
                  <a:srgbClr val="FF3300"/>
                </a:solidFill>
                <a:latin typeface="Arial"/>
                <a:cs typeface="Arial"/>
              </a:rPr>
              <a:t> </a:t>
            </a:r>
            <a:r>
              <a:rPr sz="1800" spc="-5" dirty="0">
                <a:solidFill>
                  <a:srgbClr val="FF3300"/>
                </a:solidFill>
                <a:latin typeface="Arial"/>
                <a:cs typeface="Arial"/>
              </a:rPr>
              <a:t>10ppm</a:t>
            </a:r>
            <a:endParaRPr sz="1800">
              <a:latin typeface="Arial"/>
              <a:cs typeface="Arial"/>
            </a:endParaRPr>
          </a:p>
        </p:txBody>
      </p:sp>
      <p:sp>
        <p:nvSpPr>
          <p:cNvPr id="19" name="object 19"/>
          <p:cNvSpPr txBox="1"/>
          <p:nvPr/>
        </p:nvSpPr>
        <p:spPr>
          <a:xfrm>
            <a:off x="419100" y="914400"/>
            <a:ext cx="4657725" cy="376555"/>
          </a:xfrm>
          <a:prstGeom prst="rect">
            <a:avLst/>
          </a:prstGeom>
          <a:solidFill>
            <a:srgbClr val="FFFF66"/>
          </a:solidFill>
          <a:ln w="9144">
            <a:solidFill>
              <a:srgbClr val="85DFD0"/>
            </a:solidFill>
          </a:ln>
        </p:spPr>
        <p:txBody>
          <a:bodyPr vert="horz" wrap="square" lIns="0" tIns="40005" rIns="0" bIns="0" rtlCol="0">
            <a:spAutoFit/>
          </a:bodyPr>
          <a:lstStyle/>
          <a:p>
            <a:pPr marL="91440">
              <a:lnSpc>
                <a:spcPct val="100000"/>
              </a:lnSpc>
              <a:spcBef>
                <a:spcPts val="315"/>
              </a:spcBef>
            </a:pPr>
            <a:r>
              <a:rPr sz="1800" spc="-5" dirty="0">
                <a:solidFill>
                  <a:srgbClr val="663300"/>
                </a:solidFill>
                <a:latin typeface="Arial"/>
                <a:cs typeface="Arial"/>
              </a:rPr>
              <a:t>Regeneration </a:t>
            </a:r>
            <a:r>
              <a:rPr sz="1800" dirty="0">
                <a:solidFill>
                  <a:srgbClr val="663300"/>
                </a:solidFill>
                <a:latin typeface="Arial"/>
                <a:cs typeface="Arial"/>
              </a:rPr>
              <a:t>of </a:t>
            </a:r>
            <a:r>
              <a:rPr sz="1800" spc="-5" dirty="0">
                <a:solidFill>
                  <a:srgbClr val="663300"/>
                </a:solidFill>
                <a:latin typeface="Arial"/>
                <a:cs typeface="Arial"/>
              </a:rPr>
              <a:t>Cation </a:t>
            </a:r>
            <a:r>
              <a:rPr sz="1800" spc="-10" dirty="0">
                <a:solidFill>
                  <a:srgbClr val="663300"/>
                </a:solidFill>
                <a:latin typeface="Arial"/>
                <a:cs typeface="Arial"/>
              </a:rPr>
              <a:t>exchange</a:t>
            </a:r>
            <a:r>
              <a:rPr sz="1800" spc="60" dirty="0">
                <a:solidFill>
                  <a:srgbClr val="663300"/>
                </a:solidFill>
                <a:latin typeface="Arial"/>
                <a:cs typeface="Arial"/>
              </a:rPr>
              <a:t> </a:t>
            </a:r>
            <a:r>
              <a:rPr sz="1800" spc="-5" dirty="0">
                <a:solidFill>
                  <a:srgbClr val="663300"/>
                </a:solidFill>
                <a:latin typeface="Arial"/>
                <a:cs typeface="Arial"/>
              </a:rPr>
              <a:t>resin</a:t>
            </a:r>
            <a:endParaRPr sz="1800">
              <a:latin typeface="Arial"/>
              <a:cs typeface="Arial"/>
            </a:endParaRPr>
          </a:p>
        </p:txBody>
      </p:sp>
      <p:sp>
        <p:nvSpPr>
          <p:cNvPr id="20" name="object 20"/>
          <p:cNvSpPr txBox="1"/>
          <p:nvPr/>
        </p:nvSpPr>
        <p:spPr>
          <a:xfrm>
            <a:off x="381000" y="2133600"/>
            <a:ext cx="4695825" cy="376555"/>
          </a:xfrm>
          <a:prstGeom prst="rect">
            <a:avLst/>
          </a:prstGeom>
          <a:solidFill>
            <a:srgbClr val="FFFF66"/>
          </a:solidFill>
          <a:ln w="9144">
            <a:solidFill>
              <a:srgbClr val="85DFD0"/>
            </a:solidFill>
          </a:ln>
        </p:spPr>
        <p:txBody>
          <a:bodyPr vert="horz" wrap="square" lIns="0" tIns="40005" rIns="0" bIns="0" rtlCol="0">
            <a:spAutoFit/>
          </a:bodyPr>
          <a:lstStyle/>
          <a:p>
            <a:pPr marL="91440">
              <a:lnSpc>
                <a:spcPct val="100000"/>
              </a:lnSpc>
              <a:spcBef>
                <a:spcPts val="315"/>
              </a:spcBef>
            </a:pPr>
            <a:r>
              <a:rPr sz="1800" spc="-5" dirty="0">
                <a:solidFill>
                  <a:srgbClr val="663300"/>
                </a:solidFill>
                <a:latin typeface="Arial"/>
                <a:cs typeface="Arial"/>
              </a:rPr>
              <a:t>Regeneration </a:t>
            </a:r>
            <a:r>
              <a:rPr sz="1800" dirty="0">
                <a:solidFill>
                  <a:srgbClr val="663300"/>
                </a:solidFill>
                <a:latin typeface="Arial"/>
                <a:cs typeface="Arial"/>
              </a:rPr>
              <a:t>of </a:t>
            </a:r>
            <a:r>
              <a:rPr sz="1800" spc="-5" dirty="0">
                <a:solidFill>
                  <a:srgbClr val="663300"/>
                </a:solidFill>
                <a:latin typeface="Arial"/>
                <a:cs typeface="Arial"/>
              </a:rPr>
              <a:t>Anion </a:t>
            </a:r>
            <a:r>
              <a:rPr sz="1800" spc="-10" dirty="0">
                <a:solidFill>
                  <a:srgbClr val="663300"/>
                </a:solidFill>
                <a:latin typeface="Arial"/>
                <a:cs typeface="Arial"/>
              </a:rPr>
              <a:t>exchange</a:t>
            </a:r>
            <a:r>
              <a:rPr sz="1800" spc="-45" dirty="0">
                <a:solidFill>
                  <a:srgbClr val="663300"/>
                </a:solidFill>
                <a:latin typeface="Arial"/>
                <a:cs typeface="Arial"/>
              </a:rPr>
              <a:t> </a:t>
            </a:r>
            <a:r>
              <a:rPr sz="1800" spc="-5" dirty="0">
                <a:solidFill>
                  <a:srgbClr val="663300"/>
                </a:solidFill>
                <a:latin typeface="Arial"/>
                <a:cs typeface="Arial"/>
              </a:rPr>
              <a:t>resin</a:t>
            </a:r>
            <a:endParaRPr sz="1800">
              <a:latin typeface="Arial"/>
              <a:cs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888619"/>
            <a:ext cx="5526405" cy="482600"/>
          </a:xfrm>
          <a:prstGeom prst="rect">
            <a:avLst/>
          </a:prstGeom>
        </p:spPr>
        <p:txBody>
          <a:bodyPr vert="horz" wrap="square" lIns="0" tIns="12700" rIns="0" bIns="0" rtlCol="0">
            <a:spAutoFit/>
          </a:bodyPr>
          <a:lstStyle/>
          <a:p>
            <a:pPr marL="12700">
              <a:lnSpc>
                <a:spcPct val="100000"/>
              </a:lnSpc>
              <a:spcBef>
                <a:spcPts val="100"/>
              </a:spcBef>
            </a:pPr>
            <a:r>
              <a:rPr sz="3000" spc="-25" dirty="0"/>
              <a:t>D</a:t>
            </a:r>
            <a:r>
              <a:rPr spc="-25" dirty="0"/>
              <a:t>ESALINATION </a:t>
            </a:r>
            <a:r>
              <a:rPr spc="-5" dirty="0"/>
              <a:t>OF BRACKISH</a:t>
            </a:r>
            <a:r>
              <a:rPr spc="445" dirty="0"/>
              <a:t> </a:t>
            </a:r>
            <a:r>
              <a:rPr spc="-114" dirty="0"/>
              <a:t>WATER</a:t>
            </a:r>
            <a:endParaRPr sz="30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92</a:t>
            </a:fld>
            <a:endParaRPr dirty="0"/>
          </a:p>
        </p:txBody>
      </p:sp>
      <p:sp>
        <p:nvSpPr>
          <p:cNvPr id="3" name="object 3"/>
          <p:cNvSpPr txBox="1"/>
          <p:nvPr/>
        </p:nvSpPr>
        <p:spPr>
          <a:xfrm>
            <a:off x="535940" y="1545904"/>
            <a:ext cx="7002780" cy="2160905"/>
          </a:xfrm>
          <a:prstGeom prst="rect">
            <a:avLst/>
          </a:prstGeom>
        </p:spPr>
        <p:txBody>
          <a:bodyPr vert="horz" wrap="square" lIns="0" tIns="89535" rIns="0" bIns="0" rtlCol="0">
            <a:spAutoFit/>
          </a:bodyPr>
          <a:lstStyle/>
          <a:p>
            <a:pPr marL="287020" indent="-274955">
              <a:lnSpc>
                <a:spcPct val="100000"/>
              </a:lnSpc>
              <a:spcBef>
                <a:spcPts val="705"/>
              </a:spcBef>
              <a:buClr>
                <a:srgbClr val="0E6EC5"/>
              </a:buClr>
              <a:buSzPct val="68750"/>
              <a:buFont typeface="Wingdings"/>
              <a:buChar char=""/>
              <a:tabLst>
                <a:tab pos="287655" algn="l"/>
              </a:tabLst>
            </a:pPr>
            <a:r>
              <a:rPr sz="2400" dirty="0">
                <a:latin typeface="Times New Roman"/>
                <a:cs typeface="Times New Roman"/>
              </a:rPr>
              <a:t>Process of </a:t>
            </a:r>
            <a:r>
              <a:rPr sz="2400" spc="-5" dirty="0">
                <a:latin typeface="Times New Roman"/>
                <a:cs typeface="Times New Roman"/>
              </a:rPr>
              <a:t>removing </a:t>
            </a:r>
            <a:r>
              <a:rPr sz="2400" spc="-10" dirty="0">
                <a:latin typeface="Times New Roman"/>
                <a:cs typeface="Times New Roman"/>
              </a:rPr>
              <a:t>common </a:t>
            </a:r>
            <a:r>
              <a:rPr sz="2400" dirty="0">
                <a:latin typeface="Times New Roman"/>
                <a:cs typeface="Times New Roman"/>
              </a:rPr>
              <a:t>salt </a:t>
            </a:r>
            <a:r>
              <a:rPr sz="2400" spc="-5" dirty="0">
                <a:latin typeface="Times New Roman"/>
                <a:cs typeface="Times New Roman"/>
              </a:rPr>
              <a:t>from</a:t>
            </a:r>
            <a:r>
              <a:rPr sz="2400" spc="-10" dirty="0">
                <a:latin typeface="Times New Roman"/>
                <a:cs typeface="Times New Roman"/>
              </a:rPr>
              <a:t> </a:t>
            </a:r>
            <a:r>
              <a:rPr sz="2400" spc="-25" dirty="0">
                <a:latin typeface="Times New Roman"/>
                <a:cs typeface="Times New Roman"/>
              </a:rPr>
              <a:t>water.</a:t>
            </a:r>
            <a:endParaRPr sz="2400">
              <a:latin typeface="Times New Roman"/>
              <a:cs typeface="Times New Roman"/>
            </a:endParaRPr>
          </a:p>
          <a:p>
            <a:pPr marL="287020" marR="5080" indent="-274955">
              <a:lnSpc>
                <a:spcPct val="100000"/>
              </a:lnSpc>
              <a:spcBef>
                <a:spcPts val="600"/>
              </a:spcBef>
              <a:buClr>
                <a:srgbClr val="0E6EC5"/>
              </a:buClr>
              <a:buSzPct val="68750"/>
              <a:buFont typeface="Wingdings"/>
              <a:buChar char=""/>
              <a:tabLst>
                <a:tab pos="287655" algn="l"/>
              </a:tabLst>
            </a:pPr>
            <a:r>
              <a:rPr sz="2400" dirty="0">
                <a:latin typeface="Times New Roman"/>
                <a:cs typeface="Times New Roman"/>
              </a:rPr>
              <a:t>Brackish water: water containing dissolved salts with</a:t>
            </a:r>
            <a:r>
              <a:rPr sz="2400" spc="-215" dirty="0">
                <a:latin typeface="Times New Roman"/>
                <a:cs typeface="Times New Roman"/>
              </a:rPr>
              <a:t> </a:t>
            </a:r>
            <a:r>
              <a:rPr sz="2400" dirty="0">
                <a:latin typeface="Times New Roman"/>
                <a:cs typeface="Times New Roman"/>
              </a:rPr>
              <a:t>a  peculiar salty</a:t>
            </a:r>
            <a:r>
              <a:rPr sz="2400" spc="-55" dirty="0">
                <a:latin typeface="Times New Roman"/>
                <a:cs typeface="Times New Roman"/>
              </a:rPr>
              <a:t> </a:t>
            </a:r>
            <a:r>
              <a:rPr sz="2400" dirty="0">
                <a:latin typeface="Times New Roman"/>
                <a:cs typeface="Times New Roman"/>
              </a:rPr>
              <a:t>taste</a:t>
            </a:r>
            <a:endParaRPr sz="2400">
              <a:latin typeface="Times New Roman"/>
              <a:cs typeface="Times New Roman"/>
            </a:endParaRPr>
          </a:p>
          <a:p>
            <a:pPr marL="12700" marR="2374900">
              <a:lnSpc>
                <a:spcPts val="3479"/>
              </a:lnSpc>
              <a:spcBef>
                <a:spcPts val="219"/>
              </a:spcBef>
              <a:buClr>
                <a:srgbClr val="0E6EC5"/>
              </a:buClr>
              <a:buSzPct val="68750"/>
              <a:buFont typeface="Wingdings"/>
              <a:buChar char=""/>
              <a:tabLst>
                <a:tab pos="287655" algn="l"/>
                <a:tab pos="2276475" algn="l"/>
              </a:tabLst>
            </a:pPr>
            <a:r>
              <a:rPr sz="2400" spc="-5" dirty="0">
                <a:latin typeface="Times New Roman"/>
                <a:cs typeface="Times New Roman"/>
              </a:rPr>
              <a:t>Sea </a:t>
            </a:r>
            <a:r>
              <a:rPr sz="2400" dirty="0">
                <a:latin typeface="Times New Roman"/>
                <a:cs typeface="Times New Roman"/>
              </a:rPr>
              <a:t>water : 3.5% salts.  </a:t>
            </a:r>
            <a:r>
              <a:rPr sz="2400" spc="-5" dirty="0">
                <a:latin typeface="Times New Roman"/>
                <a:cs typeface="Times New Roman"/>
              </a:rPr>
              <a:t>1.Electrodialysis,	</a:t>
            </a:r>
            <a:r>
              <a:rPr sz="2400" dirty="0">
                <a:latin typeface="Times New Roman"/>
                <a:cs typeface="Times New Roman"/>
              </a:rPr>
              <a:t>2.Reverse</a:t>
            </a:r>
            <a:r>
              <a:rPr sz="2400" spc="-80" dirty="0">
                <a:latin typeface="Times New Roman"/>
                <a:cs typeface="Times New Roman"/>
              </a:rPr>
              <a:t> </a:t>
            </a:r>
            <a:r>
              <a:rPr sz="2400" spc="-5" dirty="0">
                <a:latin typeface="Times New Roman"/>
                <a:cs typeface="Times New Roman"/>
              </a:rPr>
              <a:t>osmosis.</a:t>
            </a:r>
            <a:endParaRPr sz="2400">
              <a:latin typeface="Times New Roman"/>
              <a:cs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31419"/>
            <a:ext cx="2895600" cy="482600"/>
          </a:xfrm>
          <a:prstGeom prst="rect">
            <a:avLst/>
          </a:prstGeom>
        </p:spPr>
        <p:txBody>
          <a:bodyPr vert="horz" wrap="square" lIns="0" tIns="12700" rIns="0" bIns="0" rtlCol="0">
            <a:spAutoFit/>
          </a:bodyPr>
          <a:lstStyle/>
          <a:p>
            <a:pPr marL="12700">
              <a:lnSpc>
                <a:spcPct val="100000"/>
              </a:lnSpc>
              <a:spcBef>
                <a:spcPts val="100"/>
              </a:spcBef>
            </a:pPr>
            <a:r>
              <a:rPr sz="3000" dirty="0"/>
              <a:t>E</a:t>
            </a:r>
            <a:r>
              <a:rPr dirty="0"/>
              <a:t>LECTRO</a:t>
            </a:r>
            <a:r>
              <a:rPr spc="70" dirty="0"/>
              <a:t> </a:t>
            </a:r>
            <a:r>
              <a:rPr spc="-35" dirty="0"/>
              <a:t>DIALYSIS</a:t>
            </a:r>
            <a:endParaRPr sz="30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93</a:t>
            </a:fld>
            <a:endParaRPr dirty="0"/>
          </a:p>
        </p:txBody>
      </p:sp>
      <p:sp>
        <p:nvSpPr>
          <p:cNvPr id="3" name="object 3"/>
          <p:cNvSpPr txBox="1"/>
          <p:nvPr/>
        </p:nvSpPr>
        <p:spPr>
          <a:xfrm>
            <a:off x="535940" y="1545904"/>
            <a:ext cx="7311390" cy="2374265"/>
          </a:xfrm>
          <a:prstGeom prst="rect">
            <a:avLst/>
          </a:prstGeom>
        </p:spPr>
        <p:txBody>
          <a:bodyPr vert="horz" wrap="square" lIns="0" tIns="89535" rIns="0" bIns="0" rtlCol="0">
            <a:spAutoFit/>
          </a:bodyPr>
          <a:lstStyle/>
          <a:p>
            <a:pPr marL="12700">
              <a:lnSpc>
                <a:spcPct val="100000"/>
              </a:lnSpc>
              <a:spcBef>
                <a:spcPts val="705"/>
              </a:spcBef>
            </a:pPr>
            <a:r>
              <a:rPr sz="2400" dirty="0">
                <a:latin typeface="Times New Roman"/>
                <a:cs typeface="Times New Roman"/>
              </a:rPr>
              <a:t>Principle:</a:t>
            </a:r>
            <a:endParaRPr sz="2400">
              <a:latin typeface="Times New Roman"/>
              <a:cs typeface="Times New Roman"/>
            </a:endParaRPr>
          </a:p>
          <a:p>
            <a:pPr marL="287020" marR="5080" indent="106680" algn="just">
              <a:lnSpc>
                <a:spcPct val="100000"/>
              </a:lnSpc>
              <a:spcBef>
                <a:spcPts val="600"/>
              </a:spcBef>
            </a:pPr>
            <a:r>
              <a:rPr sz="2400" spc="-5" dirty="0">
                <a:latin typeface="Times New Roman"/>
                <a:cs typeface="Times New Roman"/>
              </a:rPr>
              <a:t>Electrodialysis </a:t>
            </a:r>
            <a:r>
              <a:rPr sz="2400" dirty="0">
                <a:latin typeface="Times New Roman"/>
                <a:cs typeface="Times New Roman"/>
              </a:rPr>
              <a:t>is an </a:t>
            </a:r>
            <a:r>
              <a:rPr sz="2400" spc="-5" dirty="0">
                <a:latin typeface="Times New Roman"/>
                <a:cs typeface="Times New Roman"/>
              </a:rPr>
              <a:t>electrochemical process </a:t>
            </a:r>
            <a:r>
              <a:rPr sz="2400" dirty="0">
                <a:latin typeface="Times New Roman"/>
                <a:cs typeface="Times New Roman"/>
              </a:rPr>
              <a:t>whereby  </a:t>
            </a:r>
            <a:r>
              <a:rPr sz="2400" spc="-5" dirty="0">
                <a:latin typeface="Times New Roman"/>
                <a:cs typeface="Times New Roman"/>
              </a:rPr>
              <a:t>electrically </a:t>
            </a:r>
            <a:r>
              <a:rPr sz="2400" spc="-10" dirty="0">
                <a:latin typeface="Times New Roman"/>
                <a:cs typeface="Times New Roman"/>
              </a:rPr>
              <a:t>charged </a:t>
            </a:r>
            <a:r>
              <a:rPr sz="2400" spc="-5" dirty="0">
                <a:latin typeface="Times New Roman"/>
                <a:cs typeface="Times New Roman"/>
              </a:rPr>
              <a:t>particles, </a:t>
            </a:r>
            <a:r>
              <a:rPr sz="2400" dirty="0">
                <a:latin typeface="Times New Roman"/>
                <a:cs typeface="Times New Roman"/>
              </a:rPr>
              <a:t>ions, </a:t>
            </a:r>
            <a:r>
              <a:rPr sz="2400" spc="-5" dirty="0">
                <a:latin typeface="Times New Roman"/>
                <a:cs typeface="Times New Roman"/>
              </a:rPr>
              <a:t>are transported </a:t>
            </a:r>
            <a:r>
              <a:rPr sz="2400" dirty="0">
                <a:latin typeface="Times New Roman"/>
                <a:cs typeface="Times New Roman"/>
              </a:rPr>
              <a:t>from a  </a:t>
            </a:r>
            <a:r>
              <a:rPr sz="2400" spc="-5" dirty="0">
                <a:latin typeface="Times New Roman"/>
                <a:cs typeface="Times New Roman"/>
              </a:rPr>
              <a:t>raw </a:t>
            </a:r>
            <a:r>
              <a:rPr sz="2400" dirty="0">
                <a:latin typeface="Times New Roman"/>
                <a:cs typeface="Times New Roman"/>
              </a:rPr>
              <a:t>solution </a:t>
            </a:r>
            <a:r>
              <a:rPr sz="2400" spc="-5" dirty="0">
                <a:latin typeface="Times New Roman"/>
                <a:cs typeface="Times New Roman"/>
              </a:rPr>
              <a:t>(retentate, diluate) into </a:t>
            </a:r>
            <a:r>
              <a:rPr sz="2400" dirty="0">
                <a:latin typeface="Times New Roman"/>
                <a:cs typeface="Times New Roman"/>
              </a:rPr>
              <a:t>a </a:t>
            </a:r>
            <a:r>
              <a:rPr sz="2400" spc="-5" dirty="0">
                <a:latin typeface="Times New Roman"/>
                <a:cs typeface="Times New Roman"/>
              </a:rPr>
              <a:t>more concentrated  </a:t>
            </a:r>
            <a:r>
              <a:rPr sz="2400" dirty="0">
                <a:latin typeface="Times New Roman"/>
                <a:cs typeface="Times New Roman"/>
              </a:rPr>
              <a:t>solution </a:t>
            </a:r>
            <a:r>
              <a:rPr sz="2400" spc="-5" dirty="0">
                <a:latin typeface="Times New Roman"/>
                <a:cs typeface="Times New Roman"/>
              </a:rPr>
              <a:t>(permeate, concentrate) through ion-selective  membranes </a:t>
            </a:r>
            <a:r>
              <a:rPr sz="2400" dirty="0">
                <a:latin typeface="Times New Roman"/>
                <a:cs typeface="Times New Roman"/>
              </a:rPr>
              <a:t>by applying an electric</a:t>
            </a:r>
            <a:r>
              <a:rPr sz="2400" spc="-75" dirty="0">
                <a:latin typeface="Times New Roman"/>
                <a:cs typeface="Times New Roman"/>
              </a:rPr>
              <a:t> </a:t>
            </a:r>
            <a:r>
              <a:rPr sz="2400" dirty="0">
                <a:latin typeface="Times New Roman"/>
                <a:cs typeface="Times New Roman"/>
              </a:rPr>
              <a:t>field.</a:t>
            </a:r>
            <a:endParaRPr sz="2400">
              <a:latin typeface="Times New Roman"/>
              <a:cs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52600" y="1143000"/>
            <a:ext cx="5638800" cy="396240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60</a:t>
            </a:r>
            <a:endParaRPr sz="1400">
              <a:latin typeface="Times New Roman"/>
              <a:cs typeface="Times New Roman"/>
            </a:endParaRPr>
          </a:p>
        </p:txBody>
      </p:sp>
      <p:sp>
        <p:nvSpPr>
          <p:cNvPr id="4" name="object 4"/>
          <p:cNvSpPr txBox="1"/>
          <p:nvPr/>
        </p:nvSpPr>
        <p:spPr>
          <a:xfrm>
            <a:off x="4804028" y="5970219"/>
            <a:ext cx="2540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17</a:t>
            </a:r>
            <a:endParaRPr sz="1800">
              <a:latin typeface="Times New Roman"/>
              <a:cs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3792" y="260959"/>
            <a:ext cx="8804910" cy="5892165"/>
          </a:xfrm>
          <a:prstGeom prst="rect">
            <a:avLst/>
          </a:prstGeom>
        </p:spPr>
        <p:txBody>
          <a:bodyPr vert="horz" wrap="square" lIns="0" tIns="144780" rIns="0" bIns="0" rtlCol="0">
            <a:spAutoFit/>
          </a:bodyPr>
          <a:lstStyle/>
          <a:p>
            <a:pPr marL="1525270">
              <a:lnSpc>
                <a:spcPct val="100000"/>
              </a:lnSpc>
              <a:spcBef>
                <a:spcPts val="1140"/>
              </a:spcBef>
            </a:pPr>
            <a:r>
              <a:rPr sz="2000" spc="-20" dirty="0">
                <a:solidFill>
                  <a:srgbClr val="04607A"/>
                </a:solidFill>
                <a:latin typeface="Times New Roman"/>
                <a:cs typeface="Times New Roman"/>
              </a:rPr>
              <a:t>T</a:t>
            </a:r>
            <a:r>
              <a:rPr sz="1600" spc="-20" dirty="0">
                <a:solidFill>
                  <a:srgbClr val="04607A"/>
                </a:solidFill>
                <a:latin typeface="Times New Roman"/>
                <a:cs typeface="Times New Roman"/>
              </a:rPr>
              <a:t>HEORY </a:t>
            </a:r>
            <a:r>
              <a:rPr sz="1600" spc="-10" dirty="0">
                <a:solidFill>
                  <a:srgbClr val="04607A"/>
                </a:solidFill>
                <a:latin typeface="Times New Roman"/>
                <a:cs typeface="Times New Roman"/>
              </a:rPr>
              <a:t>OF</a:t>
            </a:r>
            <a:r>
              <a:rPr sz="1600" spc="135" dirty="0">
                <a:solidFill>
                  <a:srgbClr val="04607A"/>
                </a:solidFill>
                <a:latin typeface="Times New Roman"/>
                <a:cs typeface="Times New Roman"/>
              </a:rPr>
              <a:t> </a:t>
            </a:r>
            <a:r>
              <a:rPr sz="2000" spc="-15" dirty="0">
                <a:solidFill>
                  <a:srgbClr val="04607A"/>
                </a:solidFill>
                <a:latin typeface="Times New Roman"/>
                <a:cs typeface="Times New Roman"/>
              </a:rPr>
              <a:t>E</a:t>
            </a:r>
            <a:r>
              <a:rPr sz="1600" spc="-15" dirty="0">
                <a:solidFill>
                  <a:srgbClr val="04607A"/>
                </a:solidFill>
                <a:latin typeface="Times New Roman"/>
                <a:cs typeface="Times New Roman"/>
              </a:rPr>
              <a:t>LECTRODIALYSIS</a:t>
            </a:r>
            <a:endParaRPr sz="1600">
              <a:latin typeface="Times New Roman"/>
              <a:cs typeface="Times New Roman"/>
            </a:endParaRPr>
          </a:p>
          <a:p>
            <a:pPr marL="286385" marR="5080" indent="-274320">
              <a:lnSpc>
                <a:spcPts val="2160"/>
              </a:lnSpc>
              <a:spcBef>
                <a:spcPts val="1320"/>
              </a:spcBef>
              <a:buClr>
                <a:srgbClr val="0E6EC5"/>
              </a:buClr>
              <a:buSzPct val="70000"/>
              <a:buFont typeface="Wingdings"/>
              <a:buChar char=""/>
              <a:tabLst>
                <a:tab pos="287020" algn="l"/>
              </a:tabLst>
            </a:pPr>
            <a:r>
              <a:rPr sz="2000" spc="-5" dirty="0">
                <a:latin typeface="Times New Roman"/>
                <a:cs typeface="Times New Roman"/>
              </a:rPr>
              <a:t>Electro dialysis chamber comprises </a:t>
            </a:r>
            <a:r>
              <a:rPr sz="2000" dirty="0">
                <a:latin typeface="Times New Roman"/>
                <a:cs typeface="Times New Roman"/>
              </a:rPr>
              <a:t>of sheet </a:t>
            </a:r>
            <a:r>
              <a:rPr sz="2000" spc="-5" dirty="0">
                <a:latin typeface="Times New Roman"/>
                <a:cs typeface="Times New Roman"/>
              </a:rPr>
              <a:t>like </a:t>
            </a:r>
            <a:r>
              <a:rPr sz="2000" dirty="0">
                <a:latin typeface="Times New Roman"/>
                <a:cs typeface="Times New Roman"/>
              </a:rPr>
              <a:t>barriers </a:t>
            </a:r>
            <a:r>
              <a:rPr sz="2000" spc="-5" dirty="0">
                <a:latin typeface="Times New Roman"/>
                <a:cs typeface="Times New Roman"/>
              </a:rPr>
              <a:t>made </a:t>
            </a:r>
            <a:r>
              <a:rPr sz="2000" spc="5" dirty="0">
                <a:latin typeface="Times New Roman"/>
                <a:cs typeface="Times New Roman"/>
              </a:rPr>
              <a:t>out </a:t>
            </a:r>
            <a:r>
              <a:rPr sz="2000" dirty="0">
                <a:latin typeface="Times New Roman"/>
                <a:cs typeface="Times New Roman"/>
              </a:rPr>
              <a:t>of </a:t>
            </a:r>
            <a:r>
              <a:rPr sz="2000" spc="-10" dirty="0">
                <a:latin typeface="Times New Roman"/>
                <a:cs typeface="Times New Roman"/>
              </a:rPr>
              <a:t>high-capacity,  </a:t>
            </a:r>
            <a:r>
              <a:rPr sz="2000" dirty="0">
                <a:latin typeface="Times New Roman"/>
                <a:cs typeface="Times New Roman"/>
              </a:rPr>
              <a:t>highly </a:t>
            </a:r>
            <a:r>
              <a:rPr sz="2000" spc="-5" dirty="0">
                <a:latin typeface="Times New Roman"/>
                <a:cs typeface="Times New Roman"/>
              </a:rPr>
              <a:t>cross-linked </a:t>
            </a:r>
            <a:r>
              <a:rPr sz="2000" dirty="0">
                <a:latin typeface="Times New Roman"/>
                <a:cs typeface="Times New Roman"/>
              </a:rPr>
              <a:t>ion exchange resins that </a:t>
            </a:r>
            <a:r>
              <a:rPr sz="2000" spc="-5" dirty="0">
                <a:latin typeface="Times New Roman"/>
                <a:cs typeface="Times New Roman"/>
              </a:rPr>
              <a:t>allow </a:t>
            </a:r>
            <a:r>
              <a:rPr sz="2000" dirty="0">
                <a:latin typeface="Times New Roman"/>
                <a:cs typeface="Times New Roman"/>
              </a:rPr>
              <a:t>passage of ions </a:t>
            </a:r>
            <a:r>
              <a:rPr sz="2000" spc="5" dirty="0">
                <a:latin typeface="Times New Roman"/>
                <a:cs typeface="Times New Roman"/>
              </a:rPr>
              <a:t>but not </a:t>
            </a:r>
            <a:r>
              <a:rPr sz="2000" dirty="0">
                <a:latin typeface="Times New Roman"/>
                <a:cs typeface="Times New Roman"/>
              </a:rPr>
              <a:t>of</a:t>
            </a:r>
            <a:r>
              <a:rPr sz="2000" spc="-229" dirty="0">
                <a:latin typeface="Times New Roman"/>
                <a:cs typeface="Times New Roman"/>
              </a:rPr>
              <a:t> </a:t>
            </a:r>
            <a:r>
              <a:rPr sz="2000" spc="-20" dirty="0">
                <a:latin typeface="Times New Roman"/>
                <a:cs typeface="Times New Roman"/>
              </a:rPr>
              <a:t>water.</a:t>
            </a:r>
            <a:endParaRPr sz="2000">
              <a:latin typeface="Times New Roman"/>
              <a:cs typeface="Times New Roman"/>
            </a:endParaRPr>
          </a:p>
          <a:p>
            <a:pPr>
              <a:lnSpc>
                <a:spcPct val="100000"/>
              </a:lnSpc>
              <a:spcBef>
                <a:spcPts val="40"/>
              </a:spcBef>
              <a:buClr>
                <a:srgbClr val="0E6EC5"/>
              </a:buClr>
              <a:buFont typeface="Wingdings"/>
              <a:buChar char=""/>
            </a:pPr>
            <a:endParaRPr sz="2650">
              <a:latin typeface="Times New Roman"/>
              <a:cs typeface="Times New Roman"/>
            </a:endParaRPr>
          </a:p>
          <a:p>
            <a:pPr marL="287020" indent="-274320">
              <a:lnSpc>
                <a:spcPct val="100000"/>
              </a:lnSpc>
              <a:buClr>
                <a:srgbClr val="0E6EC5"/>
              </a:buClr>
              <a:buSzPct val="70000"/>
              <a:buFont typeface="Wingdings"/>
              <a:buChar char=""/>
              <a:tabLst>
                <a:tab pos="287020" algn="l"/>
              </a:tabLst>
            </a:pPr>
            <a:r>
              <a:rPr sz="2000" dirty="0">
                <a:latin typeface="Times New Roman"/>
                <a:cs typeface="Times New Roman"/>
              </a:rPr>
              <a:t>There are two </a:t>
            </a:r>
            <a:r>
              <a:rPr sz="2000" spc="-5" dirty="0">
                <a:latin typeface="Times New Roman"/>
                <a:cs typeface="Times New Roman"/>
              </a:rPr>
              <a:t>types </a:t>
            </a:r>
            <a:r>
              <a:rPr sz="2000" dirty="0">
                <a:latin typeface="Times New Roman"/>
                <a:cs typeface="Times New Roman"/>
              </a:rPr>
              <a:t>: (a) </a:t>
            </a:r>
            <a:r>
              <a:rPr sz="2000" spc="-5" dirty="0">
                <a:latin typeface="Times New Roman"/>
                <a:cs typeface="Times New Roman"/>
              </a:rPr>
              <a:t>Cation </a:t>
            </a:r>
            <a:r>
              <a:rPr sz="2000" dirty="0">
                <a:latin typeface="Times New Roman"/>
                <a:cs typeface="Times New Roman"/>
              </a:rPr>
              <a:t>exchange and (b) Anion exchange</a:t>
            </a:r>
            <a:r>
              <a:rPr sz="2000" spc="-275" dirty="0">
                <a:latin typeface="Times New Roman"/>
                <a:cs typeface="Times New Roman"/>
              </a:rPr>
              <a:t> </a:t>
            </a:r>
            <a:r>
              <a:rPr sz="2000" spc="-5" dirty="0">
                <a:latin typeface="Times New Roman"/>
                <a:cs typeface="Times New Roman"/>
              </a:rPr>
              <a:t>membranes</a:t>
            </a:r>
            <a:endParaRPr sz="2000">
              <a:latin typeface="Times New Roman"/>
              <a:cs typeface="Times New Roman"/>
            </a:endParaRPr>
          </a:p>
          <a:p>
            <a:pPr>
              <a:lnSpc>
                <a:spcPct val="100000"/>
              </a:lnSpc>
              <a:buClr>
                <a:srgbClr val="0E6EC5"/>
              </a:buClr>
              <a:buFont typeface="Wingdings"/>
              <a:buChar char=""/>
            </a:pPr>
            <a:endParaRPr sz="2950">
              <a:latin typeface="Times New Roman"/>
              <a:cs typeface="Times New Roman"/>
            </a:endParaRPr>
          </a:p>
          <a:p>
            <a:pPr marL="286385" marR="537210" indent="-274320">
              <a:lnSpc>
                <a:spcPts val="2160"/>
              </a:lnSpc>
              <a:buClr>
                <a:srgbClr val="0E6EC5"/>
              </a:buClr>
              <a:buSzPct val="70000"/>
              <a:buFont typeface="Wingdings"/>
              <a:buChar char=""/>
              <a:tabLst>
                <a:tab pos="287020" algn="l"/>
              </a:tabLst>
            </a:pPr>
            <a:r>
              <a:rPr sz="2000" spc="-5" dirty="0">
                <a:latin typeface="Times New Roman"/>
                <a:cs typeface="Times New Roman"/>
              </a:rPr>
              <a:t>Cation </a:t>
            </a:r>
            <a:r>
              <a:rPr sz="2000" dirty="0">
                <a:latin typeface="Times New Roman"/>
                <a:cs typeface="Times New Roman"/>
              </a:rPr>
              <a:t>exchange </a:t>
            </a:r>
            <a:r>
              <a:rPr sz="2000" spc="-5" dirty="0">
                <a:latin typeface="Times New Roman"/>
                <a:cs typeface="Times New Roman"/>
              </a:rPr>
              <a:t>membranes </a:t>
            </a:r>
            <a:r>
              <a:rPr sz="2000" dirty="0">
                <a:latin typeface="Times New Roman"/>
                <a:cs typeface="Times New Roman"/>
              </a:rPr>
              <a:t>consists of an insoluble </a:t>
            </a:r>
            <a:r>
              <a:rPr sz="2000" spc="-5" dirty="0">
                <a:latin typeface="Times New Roman"/>
                <a:cs typeface="Times New Roman"/>
              </a:rPr>
              <a:t>matrix </a:t>
            </a:r>
            <a:r>
              <a:rPr sz="2000" dirty="0">
                <a:latin typeface="Times New Roman"/>
                <a:cs typeface="Times New Roman"/>
              </a:rPr>
              <a:t>and </a:t>
            </a:r>
            <a:r>
              <a:rPr sz="2000" spc="-5" dirty="0">
                <a:latin typeface="Times New Roman"/>
                <a:cs typeface="Times New Roman"/>
              </a:rPr>
              <a:t>mobile</a:t>
            </a:r>
            <a:r>
              <a:rPr sz="2000" spc="-105" dirty="0">
                <a:latin typeface="Times New Roman"/>
                <a:cs typeface="Times New Roman"/>
              </a:rPr>
              <a:t> </a:t>
            </a:r>
            <a:r>
              <a:rPr sz="2000" dirty="0">
                <a:latin typeface="Times New Roman"/>
                <a:cs typeface="Times New Roman"/>
              </a:rPr>
              <a:t>cation  reside in the pore space that allows the pass through of only</a:t>
            </a:r>
            <a:r>
              <a:rPr sz="2000" spc="-225" dirty="0">
                <a:latin typeface="Times New Roman"/>
                <a:cs typeface="Times New Roman"/>
              </a:rPr>
              <a:t> </a:t>
            </a:r>
            <a:r>
              <a:rPr sz="2000" dirty="0">
                <a:latin typeface="Times New Roman"/>
                <a:cs typeface="Times New Roman"/>
              </a:rPr>
              <a:t>cations.</a:t>
            </a:r>
            <a:endParaRPr sz="2000">
              <a:latin typeface="Times New Roman"/>
              <a:cs typeface="Times New Roman"/>
            </a:endParaRPr>
          </a:p>
          <a:p>
            <a:pPr>
              <a:lnSpc>
                <a:spcPct val="100000"/>
              </a:lnSpc>
              <a:spcBef>
                <a:spcPts val="40"/>
              </a:spcBef>
              <a:buClr>
                <a:srgbClr val="0E6EC5"/>
              </a:buClr>
              <a:buFont typeface="Wingdings"/>
              <a:buChar char=""/>
            </a:pPr>
            <a:endParaRPr sz="2650">
              <a:latin typeface="Times New Roman"/>
              <a:cs typeface="Times New Roman"/>
            </a:endParaRPr>
          </a:p>
          <a:p>
            <a:pPr marL="287020" indent="-274320">
              <a:lnSpc>
                <a:spcPts val="2280"/>
              </a:lnSpc>
              <a:buClr>
                <a:srgbClr val="0E6EC5"/>
              </a:buClr>
              <a:buSzPct val="70000"/>
              <a:buFont typeface="Wingdings"/>
              <a:buChar char=""/>
              <a:tabLst>
                <a:tab pos="287020" algn="l"/>
              </a:tabLst>
            </a:pPr>
            <a:r>
              <a:rPr sz="2000" dirty="0">
                <a:latin typeface="Times New Roman"/>
                <a:cs typeface="Times New Roman"/>
              </a:rPr>
              <a:t>Anion exchange </a:t>
            </a:r>
            <a:r>
              <a:rPr sz="2000" spc="-5" dirty="0">
                <a:latin typeface="Times New Roman"/>
                <a:cs typeface="Times New Roman"/>
              </a:rPr>
              <a:t>membranes </a:t>
            </a:r>
            <a:r>
              <a:rPr sz="2000" dirty="0">
                <a:latin typeface="Times New Roman"/>
                <a:cs typeface="Times New Roman"/>
              </a:rPr>
              <a:t>consists of an insoluble </a:t>
            </a:r>
            <a:r>
              <a:rPr sz="2000" spc="-5" dirty="0">
                <a:latin typeface="Times New Roman"/>
                <a:cs typeface="Times New Roman"/>
              </a:rPr>
              <a:t>matrix </a:t>
            </a:r>
            <a:r>
              <a:rPr sz="2000" dirty="0">
                <a:latin typeface="Times New Roman"/>
                <a:cs typeface="Times New Roman"/>
              </a:rPr>
              <a:t>and </a:t>
            </a:r>
            <a:r>
              <a:rPr sz="2000" spc="-5" dirty="0">
                <a:latin typeface="Times New Roman"/>
                <a:cs typeface="Times New Roman"/>
              </a:rPr>
              <a:t>mobile</a:t>
            </a:r>
            <a:r>
              <a:rPr sz="2000" spc="-175" dirty="0">
                <a:latin typeface="Times New Roman"/>
                <a:cs typeface="Times New Roman"/>
              </a:rPr>
              <a:t> </a:t>
            </a:r>
            <a:r>
              <a:rPr sz="2000" dirty="0">
                <a:latin typeface="Times New Roman"/>
                <a:cs typeface="Times New Roman"/>
              </a:rPr>
              <a:t>anion</a:t>
            </a:r>
            <a:endParaRPr sz="2000">
              <a:latin typeface="Times New Roman"/>
              <a:cs typeface="Times New Roman"/>
            </a:endParaRPr>
          </a:p>
          <a:p>
            <a:pPr marL="286385">
              <a:lnSpc>
                <a:spcPts val="2280"/>
              </a:lnSpc>
            </a:pPr>
            <a:r>
              <a:rPr sz="2000" dirty="0">
                <a:latin typeface="Times New Roman"/>
                <a:cs typeface="Times New Roman"/>
              </a:rPr>
              <a:t>reside in the pore space that allows the pass through of only</a:t>
            </a:r>
            <a:r>
              <a:rPr sz="2000" spc="-220" dirty="0">
                <a:latin typeface="Times New Roman"/>
                <a:cs typeface="Times New Roman"/>
              </a:rPr>
              <a:t> </a:t>
            </a:r>
            <a:r>
              <a:rPr sz="2000" dirty="0">
                <a:latin typeface="Times New Roman"/>
                <a:cs typeface="Times New Roman"/>
              </a:rPr>
              <a:t>anions.</a:t>
            </a:r>
            <a:endParaRPr sz="2000">
              <a:latin typeface="Times New Roman"/>
              <a:cs typeface="Times New Roman"/>
            </a:endParaRPr>
          </a:p>
          <a:p>
            <a:pPr>
              <a:lnSpc>
                <a:spcPct val="100000"/>
              </a:lnSpc>
              <a:spcBef>
                <a:spcPts val="15"/>
              </a:spcBef>
            </a:pPr>
            <a:endParaRPr sz="2700">
              <a:latin typeface="Times New Roman"/>
              <a:cs typeface="Times New Roman"/>
            </a:endParaRPr>
          </a:p>
          <a:p>
            <a:pPr marL="287020" indent="-274320">
              <a:lnSpc>
                <a:spcPct val="100000"/>
              </a:lnSpc>
              <a:buClr>
                <a:srgbClr val="0E6EC5"/>
              </a:buClr>
              <a:buSzPct val="70000"/>
              <a:buFont typeface="Wingdings"/>
              <a:buChar char=""/>
              <a:tabLst>
                <a:tab pos="287020" algn="l"/>
              </a:tabLst>
            </a:pPr>
            <a:r>
              <a:rPr sz="2000" dirty="0">
                <a:latin typeface="Times New Roman"/>
                <a:cs typeface="Times New Roman"/>
              </a:rPr>
              <a:t>Cation- and </a:t>
            </a:r>
            <a:r>
              <a:rPr sz="2000" spc="5" dirty="0">
                <a:latin typeface="Times New Roman"/>
                <a:cs typeface="Times New Roman"/>
              </a:rPr>
              <a:t>Anion- </a:t>
            </a:r>
            <a:r>
              <a:rPr sz="2000" dirty="0">
                <a:latin typeface="Times New Roman"/>
                <a:cs typeface="Times New Roman"/>
              </a:rPr>
              <a:t>exchange </a:t>
            </a:r>
            <a:r>
              <a:rPr sz="2000" spc="-5" dirty="0">
                <a:latin typeface="Times New Roman"/>
                <a:cs typeface="Times New Roman"/>
              </a:rPr>
              <a:t>membranes </a:t>
            </a:r>
            <a:r>
              <a:rPr sz="2000" dirty="0">
                <a:latin typeface="Times New Roman"/>
                <a:cs typeface="Times New Roman"/>
              </a:rPr>
              <a:t>are </a:t>
            </a:r>
            <a:r>
              <a:rPr sz="2000" spc="-5" dirty="0">
                <a:latin typeface="Times New Roman"/>
                <a:cs typeface="Times New Roman"/>
              </a:rPr>
              <a:t>installed alternatively </a:t>
            </a:r>
            <a:r>
              <a:rPr sz="2000" dirty="0">
                <a:latin typeface="Times New Roman"/>
                <a:cs typeface="Times New Roman"/>
              </a:rPr>
              <a:t>in the</a:t>
            </a:r>
            <a:r>
              <a:rPr sz="2000" spc="-280" dirty="0">
                <a:latin typeface="Times New Roman"/>
                <a:cs typeface="Times New Roman"/>
              </a:rPr>
              <a:t> </a:t>
            </a:r>
            <a:r>
              <a:rPr sz="2000" dirty="0">
                <a:latin typeface="Times New Roman"/>
                <a:cs typeface="Times New Roman"/>
              </a:rPr>
              <a:t>tank.</a:t>
            </a:r>
            <a:endParaRPr sz="2000">
              <a:latin typeface="Times New Roman"/>
              <a:cs typeface="Times New Roman"/>
            </a:endParaRPr>
          </a:p>
          <a:p>
            <a:pPr>
              <a:lnSpc>
                <a:spcPct val="100000"/>
              </a:lnSpc>
              <a:spcBef>
                <a:spcPts val="5"/>
              </a:spcBef>
              <a:buClr>
                <a:srgbClr val="0E6EC5"/>
              </a:buClr>
              <a:buFont typeface="Wingdings"/>
              <a:buChar char=""/>
            </a:pPr>
            <a:endParaRPr sz="2950">
              <a:latin typeface="Times New Roman"/>
              <a:cs typeface="Times New Roman"/>
            </a:endParaRPr>
          </a:p>
          <a:p>
            <a:pPr marL="286385" marR="7620" indent="-274320">
              <a:lnSpc>
                <a:spcPts val="2160"/>
              </a:lnSpc>
              <a:buClr>
                <a:srgbClr val="0E6EC5"/>
              </a:buClr>
              <a:buSzPct val="70000"/>
              <a:buFont typeface="Wingdings"/>
              <a:buChar char=""/>
              <a:tabLst>
                <a:tab pos="287020" algn="l"/>
              </a:tabLst>
            </a:pPr>
            <a:r>
              <a:rPr sz="2000" dirty="0">
                <a:latin typeface="Times New Roman"/>
                <a:cs typeface="Times New Roman"/>
              </a:rPr>
              <a:t>By </a:t>
            </a:r>
            <a:r>
              <a:rPr sz="2000" spc="-5" dirty="0">
                <a:latin typeface="Times New Roman"/>
                <a:cs typeface="Times New Roman"/>
              </a:rPr>
              <a:t>impressing electricity </a:t>
            </a:r>
            <a:r>
              <a:rPr sz="2000" dirty="0">
                <a:latin typeface="Times New Roman"/>
                <a:cs typeface="Times New Roman"/>
              </a:rPr>
              <a:t>on the electrodes, the positive anode </a:t>
            </a:r>
            <a:r>
              <a:rPr sz="2000" spc="-5" dirty="0">
                <a:latin typeface="Times New Roman"/>
                <a:cs typeface="Times New Roman"/>
              </a:rPr>
              <a:t>attracts </a:t>
            </a:r>
            <a:r>
              <a:rPr sz="2000" dirty="0">
                <a:latin typeface="Times New Roman"/>
                <a:cs typeface="Times New Roman"/>
              </a:rPr>
              <a:t>negative</a:t>
            </a:r>
            <a:r>
              <a:rPr sz="2000" spc="-150" dirty="0">
                <a:latin typeface="Times New Roman"/>
                <a:cs typeface="Times New Roman"/>
              </a:rPr>
              <a:t> </a:t>
            </a:r>
            <a:r>
              <a:rPr sz="2000" dirty="0">
                <a:latin typeface="Times New Roman"/>
                <a:cs typeface="Times New Roman"/>
              </a:rPr>
              <a:t>ions  in solution, while the negative cathode </a:t>
            </a:r>
            <a:r>
              <a:rPr sz="2000" spc="-5" dirty="0">
                <a:latin typeface="Times New Roman"/>
                <a:cs typeface="Times New Roman"/>
              </a:rPr>
              <a:t>attracts </a:t>
            </a:r>
            <a:r>
              <a:rPr sz="2000" dirty="0">
                <a:latin typeface="Times New Roman"/>
                <a:cs typeface="Times New Roman"/>
              </a:rPr>
              <a:t>positive ions in the</a:t>
            </a:r>
            <a:r>
              <a:rPr sz="2000" spc="-240" dirty="0">
                <a:latin typeface="Times New Roman"/>
                <a:cs typeface="Times New Roman"/>
              </a:rPr>
              <a:t> </a:t>
            </a:r>
            <a:r>
              <a:rPr sz="2000" dirty="0">
                <a:latin typeface="Times New Roman"/>
                <a:cs typeface="Times New Roman"/>
              </a:rPr>
              <a:t>solution.</a:t>
            </a:r>
            <a:endParaRPr sz="2000">
              <a:latin typeface="Times New Roman"/>
              <a:cs typeface="Times New Roman"/>
            </a:endParaRPr>
          </a:p>
          <a:p>
            <a:pPr marL="8192134">
              <a:lnSpc>
                <a:spcPct val="100000"/>
              </a:lnSpc>
              <a:spcBef>
                <a:spcPts val="625"/>
              </a:spcBef>
            </a:pPr>
            <a:r>
              <a:rPr sz="2000" b="1" spc="5" dirty="0">
                <a:solidFill>
                  <a:srgbClr val="FFFFFF"/>
                </a:solidFill>
                <a:latin typeface="Times New Roman"/>
                <a:cs typeface="Times New Roman"/>
              </a:rPr>
              <a:t>61</a:t>
            </a:r>
            <a:endParaRPr sz="2000">
              <a:latin typeface="Times New Roman"/>
              <a:cs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165605"/>
            <a:ext cx="7908290" cy="4902835"/>
          </a:xfrm>
          <a:prstGeom prst="rect">
            <a:avLst/>
          </a:prstGeom>
        </p:spPr>
        <p:txBody>
          <a:bodyPr vert="horz" wrap="square" lIns="0" tIns="12065" rIns="0" bIns="0" rtlCol="0">
            <a:spAutoFit/>
          </a:bodyPr>
          <a:lstStyle/>
          <a:p>
            <a:pPr marL="287020" indent="-274320">
              <a:lnSpc>
                <a:spcPct val="100000"/>
              </a:lnSpc>
              <a:spcBef>
                <a:spcPts val="95"/>
              </a:spcBef>
              <a:buClr>
                <a:srgbClr val="0E6EC5"/>
              </a:buClr>
              <a:buSzPct val="70000"/>
              <a:buFont typeface="Wingdings"/>
              <a:buChar char=""/>
              <a:tabLst>
                <a:tab pos="287020" algn="l"/>
                <a:tab pos="995680" algn="l"/>
                <a:tab pos="1242060" algn="l"/>
              </a:tabLst>
            </a:pPr>
            <a:r>
              <a:rPr sz="2500" spc="-5" dirty="0">
                <a:latin typeface="Times New Roman"/>
                <a:cs typeface="Times New Roman"/>
              </a:rPr>
              <a:t>Na+	:	negative</a:t>
            </a:r>
            <a:r>
              <a:rPr sz="2500" spc="20" dirty="0">
                <a:latin typeface="Times New Roman"/>
                <a:cs typeface="Times New Roman"/>
              </a:rPr>
              <a:t> </a:t>
            </a:r>
            <a:r>
              <a:rPr sz="2500" spc="-5" dirty="0">
                <a:latin typeface="Times New Roman"/>
                <a:cs typeface="Times New Roman"/>
              </a:rPr>
              <a:t>pole,</a:t>
            </a:r>
            <a:endParaRPr sz="2500">
              <a:latin typeface="Times New Roman"/>
              <a:cs typeface="Times New Roman"/>
            </a:endParaRPr>
          </a:p>
          <a:p>
            <a:pPr marL="287020" indent="-274320">
              <a:lnSpc>
                <a:spcPct val="100000"/>
              </a:lnSpc>
              <a:buClr>
                <a:srgbClr val="0E6EC5"/>
              </a:buClr>
              <a:buSzPct val="70000"/>
              <a:buFont typeface="Wingdings"/>
              <a:buChar char=""/>
              <a:tabLst>
                <a:tab pos="287020" algn="l"/>
              </a:tabLst>
            </a:pPr>
            <a:r>
              <a:rPr sz="2500" spc="-5" dirty="0">
                <a:latin typeface="Times New Roman"/>
                <a:cs typeface="Times New Roman"/>
              </a:rPr>
              <a:t>Cl- : positive</a:t>
            </a:r>
            <a:r>
              <a:rPr sz="2500" spc="35" dirty="0">
                <a:latin typeface="Times New Roman"/>
                <a:cs typeface="Times New Roman"/>
              </a:rPr>
              <a:t> </a:t>
            </a:r>
            <a:r>
              <a:rPr sz="2500" spc="-5" dirty="0">
                <a:latin typeface="Times New Roman"/>
                <a:cs typeface="Times New Roman"/>
              </a:rPr>
              <a:t>pole.</a:t>
            </a:r>
            <a:endParaRPr sz="2500">
              <a:latin typeface="Times New Roman"/>
              <a:cs typeface="Times New Roman"/>
            </a:endParaRPr>
          </a:p>
          <a:p>
            <a:pPr marL="287020" indent="-274320">
              <a:lnSpc>
                <a:spcPct val="100000"/>
              </a:lnSpc>
              <a:buClr>
                <a:srgbClr val="0E6EC5"/>
              </a:buClr>
              <a:buSzPct val="70000"/>
              <a:buFont typeface="Wingdings"/>
              <a:buChar char=""/>
              <a:tabLst>
                <a:tab pos="287020" algn="l"/>
              </a:tabLst>
            </a:pPr>
            <a:r>
              <a:rPr sz="2500" spc="-5" dirty="0">
                <a:latin typeface="Times New Roman"/>
                <a:cs typeface="Times New Roman"/>
              </a:rPr>
              <a:t>Concentration of brine decreases : central</a:t>
            </a:r>
            <a:r>
              <a:rPr sz="2500" spc="190" dirty="0">
                <a:latin typeface="Times New Roman"/>
                <a:cs typeface="Times New Roman"/>
              </a:rPr>
              <a:t> </a:t>
            </a:r>
            <a:r>
              <a:rPr sz="2500" spc="-5" dirty="0">
                <a:latin typeface="Times New Roman"/>
                <a:cs typeface="Times New Roman"/>
              </a:rPr>
              <a:t>compartment.</a:t>
            </a:r>
            <a:endParaRPr sz="2500">
              <a:latin typeface="Times New Roman"/>
              <a:cs typeface="Times New Roman"/>
            </a:endParaRPr>
          </a:p>
          <a:p>
            <a:pPr marL="287020" indent="-274320">
              <a:lnSpc>
                <a:spcPct val="100000"/>
              </a:lnSpc>
              <a:buClr>
                <a:srgbClr val="0E6EC5"/>
              </a:buClr>
              <a:buSzPct val="70000"/>
              <a:buFont typeface="Wingdings"/>
              <a:buChar char=""/>
              <a:tabLst>
                <a:tab pos="287020" algn="l"/>
              </a:tabLst>
            </a:pPr>
            <a:r>
              <a:rPr sz="2500" spc="-5" dirty="0">
                <a:latin typeface="Times New Roman"/>
                <a:cs typeface="Times New Roman"/>
              </a:rPr>
              <a:t>It increases: two side</a:t>
            </a:r>
            <a:r>
              <a:rPr sz="2500" spc="80" dirty="0">
                <a:latin typeface="Times New Roman"/>
                <a:cs typeface="Times New Roman"/>
              </a:rPr>
              <a:t> </a:t>
            </a:r>
            <a:r>
              <a:rPr sz="2500" spc="-5" dirty="0">
                <a:latin typeface="Times New Roman"/>
                <a:cs typeface="Times New Roman"/>
              </a:rPr>
              <a:t>compartment.</a:t>
            </a:r>
            <a:endParaRPr sz="2500">
              <a:latin typeface="Times New Roman"/>
              <a:cs typeface="Times New Roman"/>
            </a:endParaRPr>
          </a:p>
          <a:p>
            <a:pPr marL="287020" indent="-274320">
              <a:lnSpc>
                <a:spcPct val="100000"/>
              </a:lnSpc>
              <a:buClr>
                <a:srgbClr val="0E6EC5"/>
              </a:buClr>
              <a:buSzPct val="70000"/>
              <a:buFont typeface="Wingdings"/>
              <a:buChar char=""/>
              <a:tabLst>
                <a:tab pos="287020" algn="l"/>
              </a:tabLst>
            </a:pPr>
            <a:r>
              <a:rPr sz="2500" spc="-5" dirty="0">
                <a:latin typeface="Times New Roman"/>
                <a:cs typeface="Times New Roman"/>
              </a:rPr>
              <a:t>Desalinated brine :</a:t>
            </a:r>
            <a:r>
              <a:rPr sz="2500" spc="65" dirty="0">
                <a:latin typeface="Times New Roman"/>
                <a:cs typeface="Times New Roman"/>
              </a:rPr>
              <a:t> </a:t>
            </a:r>
            <a:r>
              <a:rPr sz="2500" spc="-10" dirty="0">
                <a:latin typeface="Times New Roman"/>
                <a:cs typeface="Times New Roman"/>
              </a:rPr>
              <a:t>removed</a:t>
            </a:r>
            <a:endParaRPr sz="2500">
              <a:latin typeface="Times New Roman"/>
              <a:cs typeface="Times New Roman"/>
            </a:endParaRPr>
          </a:p>
          <a:p>
            <a:pPr marL="287020" indent="-274320">
              <a:lnSpc>
                <a:spcPct val="100000"/>
              </a:lnSpc>
              <a:buClr>
                <a:srgbClr val="0E6EC5"/>
              </a:buClr>
              <a:buSzPct val="70000"/>
              <a:buFont typeface="Wingdings"/>
              <a:buChar char=""/>
              <a:tabLst>
                <a:tab pos="287020" algn="l"/>
              </a:tabLst>
            </a:pPr>
            <a:r>
              <a:rPr sz="2500" spc="-5" dirty="0">
                <a:latin typeface="Times New Roman"/>
                <a:cs typeface="Times New Roman"/>
              </a:rPr>
              <a:t>Concentrated brine : replaced by fresh</a:t>
            </a:r>
            <a:r>
              <a:rPr sz="2500" spc="140" dirty="0">
                <a:latin typeface="Times New Roman"/>
                <a:cs typeface="Times New Roman"/>
              </a:rPr>
              <a:t> </a:t>
            </a:r>
            <a:r>
              <a:rPr sz="2500" spc="-25" dirty="0">
                <a:latin typeface="Times New Roman"/>
                <a:cs typeface="Times New Roman"/>
              </a:rPr>
              <a:t>water.</a:t>
            </a:r>
            <a:endParaRPr sz="2500">
              <a:latin typeface="Times New Roman"/>
              <a:cs typeface="Times New Roman"/>
            </a:endParaRPr>
          </a:p>
          <a:p>
            <a:pPr marL="286385" marR="242570" indent="-274320">
              <a:lnSpc>
                <a:spcPts val="2400"/>
              </a:lnSpc>
              <a:spcBef>
                <a:spcPts val="585"/>
              </a:spcBef>
              <a:buClr>
                <a:srgbClr val="0E6EC5"/>
              </a:buClr>
              <a:buSzPct val="70000"/>
              <a:buFont typeface="Wingdings"/>
              <a:buChar char=""/>
              <a:tabLst>
                <a:tab pos="287020" algn="l"/>
              </a:tabLst>
            </a:pPr>
            <a:r>
              <a:rPr sz="2500" spc="-5" dirty="0">
                <a:latin typeface="Times New Roman"/>
                <a:cs typeface="Times New Roman"/>
              </a:rPr>
              <a:t>Electrodialysis cell : consists of a </a:t>
            </a:r>
            <a:r>
              <a:rPr sz="2500" spc="-15" dirty="0">
                <a:latin typeface="Times New Roman"/>
                <a:cs typeface="Times New Roman"/>
              </a:rPr>
              <a:t>large </a:t>
            </a:r>
            <a:r>
              <a:rPr sz="2500" spc="-5" dirty="0">
                <a:latin typeface="Times New Roman"/>
                <a:cs typeface="Times New Roman"/>
              </a:rPr>
              <a:t>no. of rigid plastic  membrane.</a:t>
            </a:r>
            <a:endParaRPr sz="2500">
              <a:latin typeface="Times New Roman"/>
              <a:cs typeface="Times New Roman"/>
            </a:endParaRPr>
          </a:p>
          <a:p>
            <a:pPr marL="287020" indent="-274320">
              <a:lnSpc>
                <a:spcPct val="100000"/>
              </a:lnSpc>
              <a:spcBef>
                <a:spcPts val="20"/>
              </a:spcBef>
              <a:buClr>
                <a:srgbClr val="0E6EC5"/>
              </a:buClr>
              <a:buSzPct val="70000"/>
              <a:buFont typeface="Arial"/>
              <a:buChar char="•"/>
              <a:tabLst>
                <a:tab pos="286385" algn="l"/>
                <a:tab pos="287020" algn="l"/>
              </a:tabLst>
            </a:pPr>
            <a:r>
              <a:rPr sz="2500" spc="-5" dirty="0">
                <a:latin typeface="Times New Roman"/>
                <a:cs typeface="Times New Roman"/>
              </a:rPr>
              <a:t>Saline water is passed &amp; electric field is</a:t>
            </a:r>
            <a:r>
              <a:rPr sz="2500" spc="170" dirty="0">
                <a:latin typeface="Times New Roman"/>
                <a:cs typeface="Times New Roman"/>
              </a:rPr>
              <a:t> </a:t>
            </a:r>
            <a:r>
              <a:rPr sz="2500" spc="-5" dirty="0">
                <a:latin typeface="Times New Roman"/>
                <a:cs typeface="Times New Roman"/>
              </a:rPr>
              <a:t>applied.</a:t>
            </a:r>
            <a:endParaRPr sz="2500">
              <a:latin typeface="Times New Roman"/>
              <a:cs typeface="Times New Roman"/>
            </a:endParaRPr>
          </a:p>
          <a:p>
            <a:pPr marL="287020" indent="-274320">
              <a:lnSpc>
                <a:spcPct val="100000"/>
              </a:lnSpc>
              <a:buClr>
                <a:srgbClr val="0E6EC5"/>
              </a:buClr>
              <a:buSzPct val="70000"/>
              <a:buFont typeface="Arial"/>
              <a:buChar char="•"/>
              <a:tabLst>
                <a:tab pos="286385" algn="l"/>
                <a:tab pos="287020" algn="l"/>
              </a:tabLst>
            </a:pPr>
            <a:r>
              <a:rPr sz="2500" spc="-5" dirty="0">
                <a:latin typeface="Times New Roman"/>
                <a:cs typeface="Times New Roman"/>
              </a:rPr>
              <a:t>Positive </a:t>
            </a:r>
            <a:r>
              <a:rPr sz="2500" spc="-15" dirty="0">
                <a:latin typeface="Times New Roman"/>
                <a:cs typeface="Times New Roman"/>
              </a:rPr>
              <a:t>charges </a:t>
            </a:r>
            <a:r>
              <a:rPr sz="2500" spc="-5" dirty="0">
                <a:latin typeface="Times New Roman"/>
                <a:cs typeface="Times New Roman"/>
              </a:rPr>
              <a:t>: repel positive ions &amp; </a:t>
            </a:r>
            <a:r>
              <a:rPr sz="2500" spc="-10" dirty="0">
                <a:latin typeface="Times New Roman"/>
                <a:cs typeface="Times New Roman"/>
              </a:rPr>
              <a:t>permit </a:t>
            </a:r>
            <a:r>
              <a:rPr sz="2500" spc="-5" dirty="0">
                <a:latin typeface="Times New Roman"/>
                <a:cs typeface="Times New Roman"/>
              </a:rPr>
              <a:t>negative</a:t>
            </a:r>
            <a:r>
              <a:rPr sz="2500" spc="335" dirty="0">
                <a:latin typeface="Times New Roman"/>
                <a:cs typeface="Times New Roman"/>
              </a:rPr>
              <a:t> </a:t>
            </a:r>
            <a:r>
              <a:rPr sz="2500" spc="-5" dirty="0">
                <a:latin typeface="Times New Roman"/>
                <a:cs typeface="Times New Roman"/>
              </a:rPr>
              <a:t>ion.</a:t>
            </a:r>
            <a:endParaRPr sz="2500">
              <a:latin typeface="Times New Roman"/>
              <a:cs typeface="Times New Roman"/>
            </a:endParaRPr>
          </a:p>
          <a:p>
            <a:pPr marL="287020" indent="-274320">
              <a:lnSpc>
                <a:spcPct val="100000"/>
              </a:lnSpc>
              <a:spcBef>
                <a:spcPts val="5"/>
              </a:spcBef>
              <a:buClr>
                <a:srgbClr val="0E6EC5"/>
              </a:buClr>
              <a:buSzPct val="70000"/>
              <a:buFont typeface="Arial"/>
              <a:buChar char="•"/>
              <a:tabLst>
                <a:tab pos="286385" algn="l"/>
                <a:tab pos="287020" algn="l"/>
              </a:tabLst>
            </a:pPr>
            <a:r>
              <a:rPr sz="2500" spc="-5" dirty="0">
                <a:latin typeface="Times New Roman"/>
                <a:cs typeface="Times New Roman"/>
              </a:rPr>
              <a:t>Negative</a:t>
            </a:r>
            <a:r>
              <a:rPr sz="2500" spc="25" dirty="0">
                <a:latin typeface="Times New Roman"/>
                <a:cs typeface="Times New Roman"/>
              </a:rPr>
              <a:t> </a:t>
            </a:r>
            <a:r>
              <a:rPr sz="2500" spc="-10" dirty="0">
                <a:latin typeface="Times New Roman"/>
                <a:cs typeface="Times New Roman"/>
              </a:rPr>
              <a:t>charges.</a:t>
            </a:r>
            <a:endParaRPr sz="2500">
              <a:latin typeface="Times New Roman"/>
              <a:cs typeface="Times New Roman"/>
            </a:endParaRPr>
          </a:p>
          <a:p>
            <a:pPr marL="287020" indent="-274320">
              <a:lnSpc>
                <a:spcPct val="100000"/>
              </a:lnSpc>
              <a:buClr>
                <a:srgbClr val="0E6EC5"/>
              </a:buClr>
              <a:buSzPct val="70000"/>
              <a:buFont typeface="Arial"/>
              <a:buChar char="•"/>
              <a:tabLst>
                <a:tab pos="286385" algn="l"/>
                <a:tab pos="287020" algn="l"/>
              </a:tabLst>
            </a:pPr>
            <a:r>
              <a:rPr sz="2500" spc="-40" dirty="0">
                <a:latin typeface="Times New Roman"/>
                <a:cs typeface="Times New Roman"/>
              </a:rPr>
              <a:t>Water: </a:t>
            </a:r>
            <a:r>
              <a:rPr sz="2500" spc="-5" dirty="0">
                <a:latin typeface="Times New Roman"/>
                <a:cs typeface="Times New Roman"/>
              </a:rPr>
              <a:t>deprived of its</a:t>
            </a:r>
            <a:r>
              <a:rPr sz="2500" spc="145" dirty="0">
                <a:latin typeface="Times New Roman"/>
                <a:cs typeface="Times New Roman"/>
              </a:rPr>
              <a:t> </a:t>
            </a:r>
            <a:r>
              <a:rPr sz="2500" spc="-5" dirty="0">
                <a:latin typeface="Times New Roman"/>
                <a:cs typeface="Times New Roman"/>
              </a:rPr>
              <a:t>salts,</a:t>
            </a:r>
            <a:endParaRPr sz="2500">
              <a:latin typeface="Times New Roman"/>
              <a:cs typeface="Times New Roman"/>
            </a:endParaRPr>
          </a:p>
          <a:p>
            <a:pPr marL="287020" indent="-274320">
              <a:lnSpc>
                <a:spcPct val="100000"/>
              </a:lnSpc>
              <a:buClr>
                <a:srgbClr val="0E6EC5"/>
              </a:buClr>
              <a:buSzPct val="70000"/>
              <a:buFont typeface="Arial"/>
              <a:buChar char="•"/>
              <a:tabLst>
                <a:tab pos="286385" algn="l"/>
                <a:tab pos="287020" algn="l"/>
              </a:tabLst>
            </a:pPr>
            <a:r>
              <a:rPr sz="2500" spc="-5" dirty="0">
                <a:latin typeface="Times New Roman"/>
                <a:cs typeface="Times New Roman"/>
              </a:rPr>
              <a:t>Salt concentration : increases in adjacent</a:t>
            </a:r>
            <a:r>
              <a:rPr sz="2500" spc="175" dirty="0">
                <a:latin typeface="Times New Roman"/>
                <a:cs typeface="Times New Roman"/>
              </a:rPr>
              <a:t> </a:t>
            </a:r>
            <a:r>
              <a:rPr sz="2500" spc="-5" dirty="0">
                <a:latin typeface="Times New Roman"/>
                <a:cs typeface="Times New Roman"/>
              </a:rPr>
              <a:t>compartment.</a:t>
            </a:r>
            <a:endParaRPr sz="2500">
              <a:latin typeface="Times New Roman"/>
              <a:cs typeface="Times New Roman"/>
            </a:endParaRPr>
          </a:p>
        </p:txBody>
      </p:sp>
      <p:sp>
        <p:nvSpPr>
          <p:cNvPr id="3" name="object 3"/>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62</a:t>
            </a:r>
            <a:endParaRPr sz="1400">
              <a:latin typeface="Times New Roman"/>
              <a:cs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45904"/>
            <a:ext cx="6243955" cy="1794510"/>
          </a:xfrm>
          <a:prstGeom prst="rect">
            <a:avLst/>
          </a:prstGeom>
        </p:spPr>
        <p:txBody>
          <a:bodyPr vert="horz" wrap="square" lIns="0" tIns="89535" rIns="0" bIns="0" rtlCol="0">
            <a:spAutoFit/>
          </a:bodyPr>
          <a:lstStyle/>
          <a:p>
            <a:pPr marL="287020" indent="-274955">
              <a:lnSpc>
                <a:spcPct val="100000"/>
              </a:lnSpc>
              <a:spcBef>
                <a:spcPts val="705"/>
              </a:spcBef>
              <a:buClr>
                <a:srgbClr val="0E6EC5"/>
              </a:buClr>
              <a:buSzPct val="68750"/>
              <a:buFont typeface="Wingdings"/>
              <a:buChar char=""/>
              <a:tabLst>
                <a:tab pos="287655" algn="l"/>
              </a:tabLst>
            </a:pPr>
            <a:r>
              <a:rPr sz="2400" dirty="0">
                <a:latin typeface="Times New Roman"/>
                <a:cs typeface="Times New Roman"/>
              </a:rPr>
              <a:t>Advantage:</a:t>
            </a:r>
            <a:endParaRPr sz="2400">
              <a:latin typeface="Times New Roman"/>
              <a:cs typeface="Times New Roman"/>
            </a:endParaRPr>
          </a:p>
          <a:p>
            <a:pPr marL="527685" indent="-515620">
              <a:lnSpc>
                <a:spcPct val="100000"/>
              </a:lnSpc>
              <a:spcBef>
                <a:spcPts val="600"/>
              </a:spcBef>
              <a:buClr>
                <a:srgbClr val="0E6EC5"/>
              </a:buClr>
              <a:buSzPct val="68750"/>
              <a:buAutoNum type="arabicPeriod"/>
              <a:tabLst>
                <a:tab pos="527685" algn="l"/>
                <a:tab pos="528320" algn="l"/>
              </a:tabLst>
            </a:pPr>
            <a:r>
              <a:rPr sz="2400" spc="-5" dirty="0">
                <a:latin typeface="Times New Roman"/>
                <a:cs typeface="Times New Roman"/>
              </a:rPr>
              <a:t>Most compact</a:t>
            </a:r>
            <a:r>
              <a:rPr sz="2400" dirty="0">
                <a:latin typeface="Times New Roman"/>
                <a:cs typeface="Times New Roman"/>
              </a:rPr>
              <a:t> unit,</a:t>
            </a:r>
            <a:endParaRPr sz="2400">
              <a:latin typeface="Times New Roman"/>
              <a:cs typeface="Times New Roman"/>
            </a:endParaRPr>
          </a:p>
          <a:p>
            <a:pPr marL="527685" indent="-515620">
              <a:lnSpc>
                <a:spcPct val="100000"/>
              </a:lnSpc>
              <a:spcBef>
                <a:spcPts val="600"/>
              </a:spcBef>
              <a:buClr>
                <a:srgbClr val="0E6EC5"/>
              </a:buClr>
              <a:buSzPct val="68750"/>
              <a:buAutoNum type="arabicPeriod"/>
              <a:tabLst>
                <a:tab pos="527685" algn="l"/>
                <a:tab pos="528320" algn="l"/>
              </a:tabLst>
            </a:pPr>
            <a:r>
              <a:rPr sz="2400" spc="-5" dirty="0">
                <a:latin typeface="Times New Roman"/>
                <a:cs typeface="Times New Roman"/>
              </a:rPr>
              <a:t>Economical,</a:t>
            </a:r>
            <a:endParaRPr sz="2400">
              <a:latin typeface="Times New Roman"/>
              <a:cs typeface="Times New Roman"/>
            </a:endParaRPr>
          </a:p>
          <a:p>
            <a:pPr marL="527685" indent="-515620">
              <a:lnSpc>
                <a:spcPct val="100000"/>
              </a:lnSpc>
              <a:spcBef>
                <a:spcPts val="600"/>
              </a:spcBef>
              <a:buClr>
                <a:srgbClr val="0E6EC5"/>
              </a:buClr>
              <a:buSzPct val="68750"/>
              <a:buAutoNum type="arabicPeriod"/>
              <a:tabLst>
                <a:tab pos="527685" algn="l"/>
                <a:tab pos="528320" algn="l"/>
              </a:tabLst>
            </a:pPr>
            <a:r>
              <a:rPr sz="2400" dirty="0">
                <a:latin typeface="Times New Roman"/>
                <a:cs typeface="Times New Roman"/>
              </a:rPr>
              <a:t>If </a:t>
            </a:r>
            <a:r>
              <a:rPr sz="2400" spc="-5" dirty="0">
                <a:latin typeface="Times New Roman"/>
                <a:cs typeface="Times New Roman"/>
              </a:rPr>
              <a:t>electricity is </a:t>
            </a:r>
            <a:r>
              <a:rPr sz="2400" dirty="0">
                <a:latin typeface="Times New Roman"/>
                <a:cs typeface="Times New Roman"/>
              </a:rPr>
              <a:t>easily available, it </a:t>
            </a:r>
            <a:r>
              <a:rPr sz="2400" spc="-5" dirty="0">
                <a:latin typeface="Times New Roman"/>
                <a:cs typeface="Times New Roman"/>
              </a:rPr>
              <a:t>is </a:t>
            </a:r>
            <a:r>
              <a:rPr sz="2400" dirty="0">
                <a:latin typeface="Times New Roman"/>
                <a:cs typeface="Times New Roman"/>
              </a:rPr>
              <a:t>best</a:t>
            </a:r>
            <a:r>
              <a:rPr sz="2400" spc="-105" dirty="0">
                <a:latin typeface="Times New Roman"/>
                <a:cs typeface="Times New Roman"/>
              </a:rPr>
              <a:t> </a:t>
            </a:r>
            <a:r>
              <a:rPr sz="2400" spc="-5" dirty="0">
                <a:latin typeface="Times New Roman"/>
                <a:cs typeface="Times New Roman"/>
              </a:rPr>
              <a:t>suited</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97</a:t>
            </a:fld>
            <a:endParaRPr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888619"/>
            <a:ext cx="2951480" cy="482600"/>
          </a:xfrm>
          <a:prstGeom prst="rect">
            <a:avLst/>
          </a:prstGeom>
        </p:spPr>
        <p:txBody>
          <a:bodyPr vert="horz" wrap="square" lIns="0" tIns="12700" rIns="0" bIns="0" rtlCol="0">
            <a:spAutoFit/>
          </a:bodyPr>
          <a:lstStyle/>
          <a:p>
            <a:pPr marL="12700">
              <a:lnSpc>
                <a:spcPct val="100000"/>
              </a:lnSpc>
              <a:spcBef>
                <a:spcPts val="100"/>
              </a:spcBef>
            </a:pPr>
            <a:r>
              <a:rPr sz="3000" dirty="0"/>
              <a:t>R</a:t>
            </a:r>
            <a:r>
              <a:rPr dirty="0"/>
              <a:t>EVERSE</a:t>
            </a:r>
            <a:r>
              <a:rPr spc="70" dirty="0"/>
              <a:t> </a:t>
            </a:r>
            <a:r>
              <a:rPr spc="-5" dirty="0"/>
              <a:t>OSMOSIS</a:t>
            </a:r>
            <a:r>
              <a:rPr sz="3000" spc="-5" dirty="0"/>
              <a:t>:</a:t>
            </a:r>
            <a:endParaRPr sz="30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98</a:t>
            </a:fld>
            <a:endParaRPr dirty="0"/>
          </a:p>
        </p:txBody>
      </p:sp>
      <p:sp>
        <p:nvSpPr>
          <p:cNvPr id="3" name="object 3"/>
          <p:cNvSpPr txBox="1"/>
          <p:nvPr/>
        </p:nvSpPr>
        <p:spPr>
          <a:xfrm>
            <a:off x="535940" y="1593850"/>
            <a:ext cx="7312659" cy="2678430"/>
          </a:xfrm>
          <a:prstGeom prst="rect">
            <a:avLst/>
          </a:prstGeom>
        </p:spPr>
        <p:txBody>
          <a:bodyPr vert="horz" wrap="square" lIns="0" tIns="43180" rIns="0" bIns="0" rtlCol="0">
            <a:spAutoFit/>
          </a:bodyPr>
          <a:lstStyle/>
          <a:p>
            <a:pPr marL="287020" marR="5080" indent="-274955" algn="just">
              <a:lnSpc>
                <a:spcPct val="90000"/>
              </a:lnSpc>
              <a:spcBef>
                <a:spcPts val="340"/>
              </a:spcBef>
              <a:buClr>
                <a:srgbClr val="0E6EC5"/>
              </a:buClr>
              <a:buSzPct val="70000"/>
              <a:buFont typeface="Wingdings"/>
              <a:buChar char=""/>
              <a:tabLst>
                <a:tab pos="287655" algn="l"/>
              </a:tabLst>
            </a:pPr>
            <a:r>
              <a:rPr sz="2000" spc="-5" dirty="0">
                <a:latin typeface="Times New Roman"/>
                <a:cs typeface="Times New Roman"/>
              </a:rPr>
              <a:t>When </a:t>
            </a:r>
            <a:r>
              <a:rPr sz="2000" dirty="0">
                <a:latin typeface="Times New Roman"/>
                <a:cs typeface="Times New Roman"/>
              </a:rPr>
              <a:t>two </a:t>
            </a:r>
            <a:r>
              <a:rPr sz="2000" spc="-5" dirty="0">
                <a:latin typeface="Times New Roman"/>
                <a:cs typeface="Times New Roman"/>
              </a:rPr>
              <a:t>solutions of unequal concentration are separated </a:t>
            </a:r>
            <a:r>
              <a:rPr sz="2000" dirty="0">
                <a:latin typeface="Times New Roman"/>
                <a:cs typeface="Times New Roman"/>
              </a:rPr>
              <a:t>by a  </a:t>
            </a:r>
            <a:r>
              <a:rPr sz="2000" spc="-5" dirty="0">
                <a:latin typeface="Times New Roman"/>
                <a:cs typeface="Times New Roman"/>
              </a:rPr>
              <a:t>semi-permeable membrane, </a:t>
            </a:r>
            <a:r>
              <a:rPr sz="2000" dirty="0">
                <a:latin typeface="Times New Roman"/>
                <a:cs typeface="Times New Roman"/>
              </a:rPr>
              <a:t>flow </a:t>
            </a:r>
            <a:r>
              <a:rPr sz="2000" spc="-5" dirty="0">
                <a:latin typeface="Times New Roman"/>
                <a:cs typeface="Times New Roman"/>
              </a:rPr>
              <a:t>of solvent takes </a:t>
            </a:r>
            <a:r>
              <a:rPr sz="2000" dirty="0">
                <a:latin typeface="Times New Roman"/>
                <a:cs typeface="Times New Roman"/>
              </a:rPr>
              <a:t>place </a:t>
            </a:r>
            <a:r>
              <a:rPr sz="2000" spc="-5" dirty="0">
                <a:latin typeface="Times New Roman"/>
                <a:cs typeface="Times New Roman"/>
              </a:rPr>
              <a:t>from dilute  to concentration side, </a:t>
            </a:r>
            <a:r>
              <a:rPr sz="2000" dirty="0">
                <a:latin typeface="Times New Roman"/>
                <a:cs typeface="Times New Roman"/>
              </a:rPr>
              <a:t>due </a:t>
            </a:r>
            <a:r>
              <a:rPr sz="2000" spc="-5" dirty="0">
                <a:latin typeface="Times New Roman"/>
                <a:cs typeface="Times New Roman"/>
              </a:rPr>
              <a:t>to increase </a:t>
            </a:r>
            <a:r>
              <a:rPr sz="2000" spc="-10" dirty="0">
                <a:latin typeface="Times New Roman"/>
                <a:cs typeface="Times New Roman"/>
              </a:rPr>
              <a:t>in </a:t>
            </a:r>
            <a:r>
              <a:rPr sz="2000" spc="-5" dirty="0">
                <a:latin typeface="Times New Roman"/>
                <a:cs typeface="Times New Roman"/>
              </a:rPr>
              <a:t>osmostic pressure, which </a:t>
            </a:r>
            <a:r>
              <a:rPr sz="2000" spc="-15" dirty="0">
                <a:latin typeface="Times New Roman"/>
                <a:cs typeface="Times New Roman"/>
              </a:rPr>
              <a:t>is  </a:t>
            </a:r>
            <a:r>
              <a:rPr sz="2000" spc="-5" dirty="0">
                <a:latin typeface="Times New Roman"/>
                <a:cs typeface="Times New Roman"/>
              </a:rPr>
              <a:t>termed as</a:t>
            </a:r>
            <a:r>
              <a:rPr sz="2000" spc="-15" dirty="0">
                <a:latin typeface="Times New Roman"/>
                <a:cs typeface="Times New Roman"/>
              </a:rPr>
              <a:t> </a:t>
            </a:r>
            <a:r>
              <a:rPr sz="2000" spc="-5" dirty="0">
                <a:latin typeface="Times New Roman"/>
                <a:cs typeface="Times New Roman"/>
              </a:rPr>
              <a:t>osmosis.</a:t>
            </a:r>
            <a:endParaRPr sz="2000">
              <a:latin typeface="Times New Roman"/>
              <a:cs typeface="Times New Roman"/>
            </a:endParaRPr>
          </a:p>
          <a:p>
            <a:pPr>
              <a:lnSpc>
                <a:spcPct val="100000"/>
              </a:lnSpc>
              <a:spcBef>
                <a:spcPts val="25"/>
              </a:spcBef>
              <a:buClr>
                <a:srgbClr val="0E6EC5"/>
              </a:buClr>
              <a:buFont typeface="Wingdings"/>
              <a:buChar char=""/>
            </a:pPr>
            <a:endParaRPr sz="2900">
              <a:latin typeface="Times New Roman"/>
              <a:cs typeface="Times New Roman"/>
            </a:endParaRPr>
          </a:p>
          <a:p>
            <a:pPr marL="287020" marR="5080" indent="-274955" algn="just">
              <a:lnSpc>
                <a:spcPct val="90000"/>
              </a:lnSpc>
              <a:spcBef>
                <a:spcPts val="5"/>
              </a:spcBef>
              <a:buClr>
                <a:srgbClr val="0E6EC5"/>
              </a:buClr>
              <a:buSzPct val="70000"/>
              <a:buFont typeface="Wingdings"/>
              <a:buChar char=""/>
              <a:tabLst>
                <a:tab pos="287655" algn="l"/>
              </a:tabLst>
            </a:pPr>
            <a:r>
              <a:rPr sz="2000" spc="-15" dirty="0">
                <a:latin typeface="Times New Roman"/>
                <a:cs typeface="Times New Roman"/>
              </a:rPr>
              <a:t>However, </a:t>
            </a:r>
            <a:r>
              <a:rPr sz="2000" dirty="0">
                <a:latin typeface="Times New Roman"/>
                <a:cs typeface="Times New Roman"/>
              </a:rPr>
              <a:t>when a </a:t>
            </a:r>
            <a:r>
              <a:rPr sz="2000" spc="-5" dirty="0">
                <a:latin typeface="Times New Roman"/>
                <a:cs typeface="Times New Roman"/>
              </a:rPr>
              <a:t>hydrostatic pressure in excess of osmotic pressure  is applied </a:t>
            </a:r>
            <a:r>
              <a:rPr sz="2000" dirty="0">
                <a:latin typeface="Times New Roman"/>
                <a:cs typeface="Times New Roman"/>
              </a:rPr>
              <a:t>on </a:t>
            </a:r>
            <a:r>
              <a:rPr sz="2000" spc="-5" dirty="0">
                <a:latin typeface="Times New Roman"/>
                <a:cs typeface="Times New Roman"/>
              </a:rPr>
              <a:t>the concentrated side, the solvent flow is reversed </a:t>
            </a:r>
            <a:r>
              <a:rPr sz="2000" dirty="0">
                <a:latin typeface="Times New Roman"/>
                <a:cs typeface="Times New Roman"/>
              </a:rPr>
              <a:t>from  </a:t>
            </a:r>
            <a:r>
              <a:rPr sz="2000" spc="-5" dirty="0">
                <a:latin typeface="Times New Roman"/>
                <a:cs typeface="Times New Roman"/>
              </a:rPr>
              <a:t>concentrated side to dilute side, across </a:t>
            </a:r>
            <a:r>
              <a:rPr sz="2000" dirty="0">
                <a:latin typeface="Times New Roman"/>
                <a:cs typeface="Times New Roman"/>
              </a:rPr>
              <a:t>the </a:t>
            </a:r>
            <a:r>
              <a:rPr sz="2000" spc="-5" dirty="0">
                <a:latin typeface="Times New Roman"/>
                <a:cs typeface="Times New Roman"/>
              </a:rPr>
              <a:t>membrane. This principle  is termed as </a:t>
            </a:r>
            <a:r>
              <a:rPr sz="2000" dirty="0">
                <a:latin typeface="Times New Roman"/>
                <a:cs typeface="Times New Roman"/>
              </a:rPr>
              <a:t>reverse</a:t>
            </a:r>
            <a:r>
              <a:rPr sz="2000" spc="-40" dirty="0">
                <a:latin typeface="Times New Roman"/>
                <a:cs typeface="Times New Roman"/>
              </a:rPr>
              <a:t> </a:t>
            </a:r>
            <a:r>
              <a:rPr sz="2000" spc="-5" dirty="0">
                <a:latin typeface="Times New Roman"/>
                <a:cs typeface="Times New Roman"/>
              </a:rPr>
              <a:t>osmosis.</a:t>
            </a:r>
            <a:endParaRPr sz="2000">
              <a:latin typeface="Times New Roman"/>
              <a:cs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44534" y="5902664"/>
            <a:ext cx="180340" cy="197485"/>
          </a:xfrm>
          <a:prstGeom prst="rect">
            <a:avLst/>
          </a:prstGeom>
        </p:spPr>
        <p:txBody>
          <a:bodyPr vert="horz" wrap="square" lIns="0" tIns="0" rIns="0" bIns="0" rtlCol="0">
            <a:spAutoFit/>
          </a:bodyPr>
          <a:lstStyle/>
          <a:p>
            <a:pPr>
              <a:lnSpc>
                <a:spcPts val="1530"/>
              </a:lnSpc>
            </a:pPr>
            <a:r>
              <a:rPr sz="1400" b="1" spc="5" dirty="0">
                <a:solidFill>
                  <a:srgbClr val="FFFFFF"/>
                </a:solidFill>
                <a:latin typeface="Times New Roman"/>
                <a:cs typeface="Times New Roman"/>
              </a:rPr>
              <a:t>65</a:t>
            </a:r>
            <a:endParaRPr sz="1400">
              <a:latin typeface="Times New Roman"/>
              <a:cs typeface="Times New Roman"/>
            </a:endParaRPr>
          </a:p>
        </p:txBody>
      </p:sp>
      <p:sp>
        <p:nvSpPr>
          <p:cNvPr id="3" name="object 3"/>
          <p:cNvSpPr txBox="1">
            <a:spLocks noGrp="1"/>
          </p:cNvSpPr>
          <p:nvPr>
            <p:ph type="title"/>
          </p:nvPr>
        </p:nvSpPr>
        <p:spPr>
          <a:xfrm>
            <a:off x="3497071" y="157048"/>
            <a:ext cx="2479675"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0000"/>
                </a:solidFill>
              </a:rPr>
              <a:t>Reverse</a:t>
            </a:r>
            <a:r>
              <a:rPr sz="2800" spc="-75" dirty="0">
                <a:solidFill>
                  <a:srgbClr val="000000"/>
                </a:solidFill>
              </a:rPr>
              <a:t> </a:t>
            </a:r>
            <a:r>
              <a:rPr sz="2800" spc="-5" dirty="0">
                <a:solidFill>
                  <a:srgbClr val="000000"/>
                </a:solidFill>
              </a:rPr>
              <a:t>Osmosis</a:t>
            </a:r>
            <a:endParaRPr sz="2800"/>
          </a:p>
        </p:txBody>
      </p:sp>
      <p:grpSp>
        <p:nvGrpSpPr>
          <p:cNvPr id="4" name="object 4"/>
          <p:cNvGrpSpPr/>
          <p:nvPr/>
        </p:nvGrpSpPr>
        <p:grpSpPr>
          <a:xfrm>
            <a:off x="0" y="755902"/>
            <a:ext cx="9144000" cy="6102350"/>
            <a:chOff x="0" y="755902"/>
            <a:chExt cx="9144000" cy="6102350"/>
          </a:xfrm>
        </p:grpSpPr>
        <p:sp>
          <p:nvSpPr>
            <p:cNvPr id="5" name="object 5"/>
            <p:cNvSpPr/>
            <p:nvPr/>
          </p:nvSpPr>
          <p:spPr>
            <a:xfrm>
              <a:off x="0" y="765045"/>
              <a:ext cx="9144000" cy="6092951"/>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760474"/>
              <a:ext cx="9144000" cy="0"/>
            </a:xfrm>
            <a:custGeom>
              <a:avLst/>
              <a:gdLst/>
              <a:ahLst/>
              <a:cxnLst/>
              <a:rect l="l" t="t" r="r" b="b"/>
              <a:pathLst>
                <a:path w="9144000">
                  <a:moveTo>
                    <a:pt x="9144000" y="0"/>
                  </a:moveTo>
                  <a:lnTo>
                    <a:pt x="0" y="0"/>
                  </a:lnTo>
                </a:path>
              </a:pathLst>
            </a:custGeom>
            <a:ln w="9144">
              <a:solidFill>
                <a:srgbClr val="000000"/>
              </a:solidFill>
            </a:ln>
          </p:spPr>
          <p:txBody>
            <a:bodyPr wrap="square" lIns="0" tIns="0" rIns="0" bIns="0" rtlCol="0"/>
            <a:lstStyle/>
            <a:p>
              <a:endParaRPr/>
            </a:p>
          </p:txBody>
        </p:sp>
        <p:sp>
          <p:nvSpPr>
            <p:cNvPr id="7" name="object 7"/>
            <p:cNvSpPr/>
            <p:nvPr/>
          </p:nvSpPr>
          <p:spPr>
            <a:xfrm>
              <a:off x="179831" y="3284219"/>
              <a:ext cx="3268979" cy="3429000"/>
            </a:xfrm>
            <a:prstGeom prst="rect">
              <a:avLst/>
            </a:prstGeom>
            <a:blipFill>
              <a:blip r:embed="rId3" cstate="print"/>
              <a:stretch>
                <a:fillRect/>
              </a:stretch>
            </a:blipFill>
          </p:spPr>
          <p:txBody>
            <a:bodyPr wrap="square" lIns="0" tIns="0" rIns="0" bIns="0" rtlCol="0"/>
            <a:lstStyle/>
            <a:p>
              <a:endParaRPr/>
            </a:p>
          </p:txBody>
        </p:sp>
      </p:grpSp>
      <p:sp>
        <p:nvSpPr>
          <p:cNvPr id="8" name="object 8"/>
          <p:cNvSpPr txBox="1"/>
          <p:nvPr/>
        </p:nvSpPr>
        <p:spPr>
          <a:xfrm>
            <a:off x="4651628" y="6515506"/>
            <a:ext cx="2540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18</a:t>
            </a:r>
            <a:endParaRPr sz="1800">
              <a:latin typeface="Times New Roman"/>
              <a:cs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90497"/>
            <a:ext cx="7269480" cy="3382010"/>
          </a:xfrm>
          <a:prstGeom prst="rect">
            <a:avLst/>
          </a:prstGeom>
        </p:spPr>
        <p:txBody>
          <a:bodyPr vert="horz" wrap="square" lIns="0" tIns="45720" rIns="0" bIns="0" rtlCol="0">
            <a:spAutoFit/>
          </a:bodyPr>
          <a:lstStyle/>
          <a:p>
            <a:pPr marL="287020" marR="5080" indent="-274955">
              <a:lnSpc>
                <a:spcPct val="90000"/>
              </a:lnSpc>
              <a:spcBef>
                <a:spcPts val="360"/>
              </a:spcBef>
              <a:buFont typeface="Wingdings"/>
              <a:buChar char=""/>
              <a:tabLst>
                <a:tab pos="287655" algn="l"/>
              </a:tabLst>
            </a:pPr>
            <a:r>
              <a:rPr sz="2200" spc="-5" dirty="0">
                <a:latin typeface="Times New Roman"/>
                <a:cs typeface="Times New Roman"/>
              </a:rPr>
              <a:t>The semi-permeable </a:t>
            </a:r>
            <a:r>
              <a:rPr sz="2200" spc="-10" dirty="0">
                <a:latin typeface="Times New Roman"/>
                <a:cs typeface="Times New Roman"/>
              </a:rPr>
              <a:t>membrane </a:t>
            </a:r>
            <a:r>
              <a:rPr sz="2200" spc="-5" dirty="0">
                <a:latin typeface="Times New Roman"/>
                <a:cs typeface="Times New Roman"/>
              </a:rPr>
              <a:t>(in reverse osmosis) is  selective in </a:t>
            </a:r>
            <a:r>
              <a:rPr sz="2200" dirty="0">
                <a:latin typeface="Times New Roman"/>
                <a:cs typeface="Times New Roman"/>
              </a:rPr>
              <a:t>not </a:t>
            </a:r>
            <a:r>
              <a:rPr sz="2200" spc="-5" dirty="0">
                <a:latin typeface="Times New Roman"/>
                <a:cs typeface="Times New Roman"/>
              </a:rPr>
              <a:t>permitting the passage of dissolved solute  particles such as molecules, ions, etc.) It permits only the flow  of water molecules (solvent) from the concentrated to dilute  side.</a:t>
            </a:r>
            <a:endParaRPr sz="2200">
              <a:latin typeface="Times New Roman"/>
              <a:cs typeface="Times New Roman"/>
            </a:endParaRPr>
          </a:p>
          <a:p>
            <a:pPr>
              <a:lnSpc>
                <a:spcPct val="100000"/>
              </a:lnSpc>
              <a:spcBef>
                <a:spcPts val="35"/>
              </a:spcBef>
              <a:buFont typeface="Wingdings"/>
              <a:buChar char=""/>
            </a:pPr>
            <a:endParaRPr sz="2850">
              <a:latin typeface="Times New Roman"/>
              <a:cs typeface="Times New Roman"/>
            </a:endParaRPr>
          </a:p>
          <a:p>
            <a:pPr marL="287020" indent="-274955">
              <a:lnSpc>
                <a:spcPct val="100000"/>
              </a:lnSpc>
              <a:spcBef>
                <a:spcPts val="5"/>
              </a:spcBef>
              <a:buFont typeface="Wingdings"/>
              <a:buChar char=""/>
              <a:tabLst>
                <a:tab pos="287655" algn="l"/>
              </a:tabLst>
            </a:pPr>
            <a:r>
              <a:rPr sz="2200" spc="-5" dirty="0">
                <a:latin typeface="Times New Roman"/>
                <a:cs typeface="Times New Roman"/>
              </a:rPr>
              <a:t>Cellulose acetate, polyamide, etc., are used as</a:t>
            </a:r>
            <a:r>
              <a:rPr sz="2200" spc="40" dirty="0">
                <a:latin typeface="Times New Roman"/>
                <a:cs typeface="Times New Roman"/>
              </a:rPr>
              <a:t> </a:t>
            </a:r>
            <a:r>
              <a:rPr sz="2200" spc="-10" dirty="0">
                <a:latin typeface="Times New Roman"/>
                <a:cs typeface="Times New Roman"/>
              </a:rPr>
              <a:t>membrane</a:t>
            </a:r>
            <a:endParaRPr sz="2200">
              <a:latin typeface="Times New Roman"/>
              <a:cs typeface="Times New Roman"/>
            </a:endParaRPr>
          </a:p>
          <a:p>
            <a:pPr>
              <a:lnSpc>
                <a:spcPct val="100000"/>
              </a:lnSpc>
              <a:spcBef>
                <a:spcPts val="30"/>
              </a:spcBef>
              <a:buFont typeface="Wingdings"/>
              <a:buChar char=""/>
            </a:pPr>
            <a:endParaRPr sz="2850">
              <a:latin typeface="Times New Roman"/>
              <a:cs typeface="Times New Roman"/>
            </a:endParaRPr>
          </a:p>
          <a:p>
            <a:pPr marL="287020" indent="-274955">
              <a:lnSpc>
                <a:spcPts val="2510"/>
              </a:lnSpc>
              <a:buFont typeface="Wingdings"/>
              <a:buChar char=""/>
              <a:tabLst>
                <a:tab pos="287655" algn="l"/>
              </a:tabLst>
            </a:pPr>
            <a:r>
              <a:rPr sz="2200" spc="-5" dirty="0">
                <a:latin typeface="Times New Roman"/>
                <a:cs typeface="Times New Roman"/>
              </a:rPr>
              <a:t>Reverse osmosis process requires only mechanical force</a:t>
            </a:r>
            <a:r>
              <a:rPr sz="2200" spc="55" dirty="0">
                <a:latin typeface="Times New Roman"/>
                <a:cs typeface="Times New Roman"/>
              </a:rPr>
              <a:t> </a:t>
            </a:r>
            <a:r>
              <a:rPr sz="2200" spc="-5" dirty="0">
                <a:latin typeface="Times New Roman"/>
                <a:cs typeface="Times New Roman"/>
              </a:rPr>
              <a:t>to</a:t>
            </a:r>
            <a:endParaRPr sz="2200">
              <a:latin typeface="Times New Roman"/>
              <a:cs typeface="Times New Roman"/>
            </a:endParaRPr>
          </a:p>
          <a:p>
            <a:pPr marL="287020">
              <a:lnSpc>
                <a:spcPts val="2510"/>
              </a:lnSpc>
            </a:pPr>
            <a:r>
              <a:rPr sz="2200" spc="-5" dirty="0">
                <a:latin typeface="Times New Roman"/>
                <a:cs typeface="Times New Roman"/>
              </a:rPr>
              <a:t>generate the required </a:t>
            </a:r>
            <a:r>
              <a:rPr sz="2200" dirty="0">
                <a:latin typeface="Times New Roman"/>
                <a:cs typeface="Times New Roman"/>
              </a:rPr>
              <a:t>hydrostatic</a:t>
            </a:r>
            <a:r>
              <a:rPr sz="2200" spc="-10" dirty="0">
                <a:latin typeface="Times New Roman"/>
                <a:cs typeface="Times New Roman"/>
              </a:rPr>
              <a:t> </a:t>
            </a:r>
            <a:r>
              <a:rPr sz="2200" spc="-5" dirty="0">
                <a:latin typeface="Times New Roman"/>
                <a:cs typeface="Times New Roman"/>
              </a:rPr>
              <a:t>pressure.</a:t>
            </a:r>
            <a:endParaRPr sz="2200">
              <a:latin typeface="Times New Roman"/>
              <a:cs typeface="Times New Roman"/>
            </a:endParaRPr>
          </a:p>
        </p:txBody>
      </p:sp>
      <p:sp>
        <p:nvSpPr>
          <p:cNvPr id="3" name="object 3"/>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66</a:t>
            </a:r>
            <a:endParaRPr sz="1400">
              <a:latin typeface="Times New Roman"/>
              <a:cs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888619"/>
            <a:ext cx="2515870" cy="482600"/>
          </a:xfrm>
          <a:prstGeom prst="rect">
            <a:avLst/>
          </a:prstGeom>
        </p:spPr>
        <p:txBody>
          <a:bodyPr vert="horz" wrap="square" lIns="0" tIns="12700" rIns="0" bIns="0" rtlCol="0">
            <a:spAutoFit/>
          </a:bodyPr>
          <a:lstStyle/>
          <a:p>
            <a:pPr marL="12700">
              <a:lnSpc>
                <a:spcPct val="100000"/>
              </a:lnSpc>
              <a:spcBef>
                <a:spcPts val="100"/>
              </a:spcBef>
            </a:pPr>
            <a:r>
              <a:rPr sz="3000" spc="-30" dirty="0"/>
              <a:t>P</a:t>
            </a:r>
            <a:r>
              <a:rPr spc="-30" dirty="0"/>
              <a:t>OTABLE</a:t>
            </a:r>
            <a:r>
              <a:rPr spc="25" dirty="0"/>
              <a:t> </a:t>
            </a:r>
            <a:r>
              <a:rPr spc="-114" dirty="0"/>
              <a:t>WATER</a:t>
            </a:r>
            <a:endParaRPr sz="3000"/>
          </a:p>
        </p:txBody>
      </p:sp>
      <p:sp>
        <p:nvSpPr>
          <p:cNvPr id="3" name="object 3"/>
          <p:cNvSpPr txBox="1"/>
          <p:nvPr/>
        </p:nvSpPr>
        <p:spPr>
          <a:xfrm>
            <a:off x="535940" y="1545904"/>
            <a:ext cx="7168515" cy="1276350"/>
          </a:xfrm>
          <a:prstGeom prst="rect">
            <a:avLst/>
          </a:prstGeom>
        </p:spPr>
        <p:txBody>
          <a:bodyPr vert="horz" wrap="square" lIns="0" tIns="89535" rIns="0" bIns="0" rtlCol="0">
            <a:spAutoFit/>
          </a:bodyPr>
          <a:lstStyle/>
          <a:p>
            <a:pPr marL="287020" indent="-274955">
              <a:lnSpc>
                <a:spcPct val="100000"/>
              </a:lnSpc>
              <a:spcBef>
                <a:spcPts val="705"/>
              </a:spcBef>
              <a:buClr>
                <a:srgbClr val="0E6EC5"/>
              </a:buClr>
              <a:buSzPct val="68750"/>
              <a:buFont typeface="Wingdings"/>
              <a:buChar char=""/>
              <a:tabLst>
                <a:tab pos="287655" algn="l"/>
              </a:tabLst>
            </a:pPr>
            <a:r>
              <a:rPr sz="2400" spc="-45" dirty="0">
                <a:latin typeface="Times New Roman"/>
                <a:cs typeface="Times New Roman"/>
              </a:rPr>
              <a:t>Water </a:t>
            </a:r>
            <a:r>
              <a:rPr sz="2400" dirty="0">
                <a:latin typeface="Times New Roman"/>
                <a:cs typeface="Times New Roman"/>
              </a:rPr>
              <a:t>: safe to</a:t>
            </a:r>
            <a:r>
              <a:rPr sz="2400" spc="20" dirty="0">
                <a:latin typeface="Times New Roman"/>
                <a:cs typeface="Times New Roman"/>
              </a:rPr>
              <a:t> </a:t>
            </a:r>
            <a:r>
              <a:rPr sz="2400" dirty="0">
                <a:latin typeface="Times New Roman"/>
                <a:cs typeface="Times New Roman"/>
              </a:rPr>
              <a:t>drink,</a:t>
            </a:r>
            <a:endParaRPr sz="2400">
              <a:latin typeface="Times New Roman"/>
              <a:cs typeface="Times New Roman"/>
            </a:endParaRPr>
          </a:p>
          <a:p>
            <a:pPr marL="287020" marR="5080" indent="-274955">
              <a:lnSpc>
                <a:spcPct val="100000"/>
              </a:lnSpc>
              <a:spcBef>
                <a:spcPts val="600"/>
              </a:spcBef>
              <a:buClr>
                <a:srgbClr val="0E6EC5"/>
              </a:buClr>
              <a:buSzPct val="68750"/>
              <a:buFont typeface="Wingdings"/>
              <a:buChar char=""/>
              <a:tabLst>
                <a:tab pos="287655" algn="l"/>
              </a:tabLst>
            </a:pPr>
            <a:r>
              <a:rPr sz="2400" spc="-5" dirty="0">
                <a:latin typeface="Times New Roman"/>
                <a:cs typeface="Times New Roman"/>
              </a:rPr>
              <a:t>Fit </a:t>
            </a:r>
            <a:r>
              <a:rPr sz="2400" dirty="0">
                <a:latin typeface="Times New Roman"/>
                <a:cs typeface="Times New Roman"/>
              </a:rPr>
              <a:t>for </a:t>
            </a:r>
            <a:r>
              <a:rPr sz="2400" spc="-5" dirty="0">
                <a:latin typeface="Times New Roman"/>
                <a:cs typeface="Times New Roman"/>
              </a:rPr>
              <a:t>human consumption, </a:t>
            </a:r>
            <a:r>
              <a:rPr sz="2400" dirty="0">
                <a:latin typeface="Times New Roman"/>
                <a:cs typeface="Times New Roman"/>
              </a:rPr>
              <a:t>should satisfy the </a:t>
            </a:r>
            <a:r>
              <a:rPr sz="2400" spc="-5" dirty="0">
                <a:latin typeface="Times New Roman"/>
                <a:cs typeface="Times New Roman"/>
              </a:rPr>
              <a:t>following  requirements:</a:t>
            </a:r>
            <a:endParaRPr sz="2400">
              <a:latin typeface="Times New Roman"/>
              <a:cs typeface="Times New Roman"/>
            </a:endParaRPr>
          </a:p>
        </p:txBody>
      </p:sp>
      <p:sp>
        <p:nvSpPr>
          <p:cNvPr id="4" name="object 4"/>
          <p:cNvSpPr txBox="1">
            <a:spLocks noGrp="1"/>
          </p:cNvSpPr>
          <p:nvPr>
            <p:ph type="body" idx="1"/>
          </p:nvPr>
        </p:nvSpPr>
        <p:spPr>
          <a:prstGeom prst="rect">
            <a:avLst/>
          </a:prstGeom>
        </p:spPr>
        <p:txBody>
          <a:bodyPr vert="horz" wrap="square" lIns="0" tIns="88900" rIns="0" bIns="0" rtlCol="0">
            <a:spAutoFit/>
          </a:bodyPr>
          <a:lstStyle/>
          <a:p>
            <a:pPr marL="527685" indent="-515620">
              <a:lnSpc>
                <a:spcPct val="100000"/>
              </a:lnSpc>
              <a:spcBef>
                <a:spcPts val="700"/>
              </a:spcBef>
              <a:buClr>
                <a:srgbClr val="0E6EC5"/>
              </a:buClr>
              <a:buSzPct val="68750"/>
              <a:buAutoNum type="arabicPeriod"/>
              <a:tabLst>
                <a:tab pos="527685" algn="l"/>
                <a:tab pos="528320" algn="l"/>
              </a:tabLst>
            </a:pPr>
            <a:r>
              <a:rPr dirty="0"/>
              <a:t>Clear &amp;</a:t>
            </a:r>
            <a:r>
              <a:rPr spc="-30" dirty="0"/>
              <a:t> </a:t>
            </a:r>
            <a:r>
              <a:rPr dirty="0"/>
              <a:t>odourless,</a:t>
            </a:r>
          </a:p>
          <a:p>
            <a:pPr marL="527685" indent="-515620">
              <a:lnSpc>
                <a:spcPct val="100000"/>
              </a:lnSpc>
              <a:spcBef>
                <a:spcPts val="605"/>
              </a:spcBef>
              <a:buClr>
                <a:srgbClr val="0E6EC5"/>
              </a:buClr>
              <a:buSzPct val="68750"/>
              <a:buAutoNum type="arabicPeriod"/>
              <a:tabLst>
                <a:tab pos="527685" algn="l"/>
                <a:tab pos="528320" algn="l"/>
              </a:tabLst>
            </a:pPr>
            <a:r>
              <a:rPr dirty="0"/>
              <a:t>Pleasant in</a:t>
            </a:r>
            <a:r>
              <a:rPr spc="-35" dirty="0"/>
              <a:t> </a:t>
            </a:r>
            <a:r>
              <a:rPr dirty="0"/>
              <a:t>taste,</a:t>
            </a:r>
          </a:p>
          <a:p>
            <a:pPr marL="527685" indent="-515620">
              <a:lnSpc>
                <a:spcPct val="100000"/>
              </a:lnSpc>
              <a:spcBef>
                <a:spcPts val="600"/>
              </a:spcBef>
              <a:buClr>
                <a:srgbClr val="0E6EC5"/>
              </a:buClr>
              <a:buSzPct val="68750"/>
              <a:buAutoNum type="arabicPeriod"/>
              <a:tabLst>
                <a:tab pos="527685" algn="l"/>
                <a:tab pos="528320" algn="l"/>
              </a:tabLst>
            </a:pPr>
            <a:r>
              <a:rPr dirty="0"/>
              <a:t>Perfectly</a:t>
            </a:r>
            <a:r>
              <a:rPr spc="-25" dirty="0"/>
              <a:t> </a:t>
            </a:r>
            <a:r>
              <a:rPr dirty="0"/>
              <a:t>cool,</a:t>
            </a:r>
          </a:p>
          <a:p>
            <a:pPr marL="527685" indent="-515620">
              <a:lnSpc>
                <a:spcPct val="100000"/>
              </a:lnSpc>
              <a:spcBef>
                <a:spcPts val="600"/>
              </a:spcBef>
              <a:buClr>
                <a:srgbClr val="0E6EC5"/>
              </a:buClr>
              <a:buSzPct val="68750"/>
              <a:buAutoNum type="arabicPeriod"/>
              <a:tabLst>
                <a:tab pos="527685" algn="l"/>
                <a:tab pos="528320" algn="l"/>
              </a:tabLst>
            </a:pPr>
            <a:r>
              <a:rPr spc="-10" dirty="0"/>
              <a:t>Turbidity </a:t>
            </a:r>
            <a:r>
              <a:rPr dirty="0"/>
              <a:t>should not exceed</a:t>
            </a:r>
            <a:r>
              <a:rPr spc="-80" dirty="0"/>
              <a:t> </a:t>
            </a:r>
            <a:r>
              <a:rPr spc="-5" dirty="0"/>
              <a:t>10ppm,</a:t>
            </a:r>
          </a:p>
          <a:p>
            <a:pPr marL="527685" indent="-515620">
              <a:lnSpc>
                <a:spcPct val="100000"/>
              </a:lnSpc>
              <a:spcBef>
                <a:spcPts val="600"/>
              </a:spcBef>
              <a:buClr>
                <a:srgbClr val="0E6EC5"/>
              </a:buClr>
              <a:buSzPct val="68750"/>
              <a:buAutoNum type="arabicPeriod"/>
              <a:tabLst>
                <a:tab pos="527685" algn="l"/>
                <a:tab pos="528320" algn="l"/>
              </a:tabLst>
            </a:pPr>
            <a:r>
              <a:rPr dirty="0"/>
              <a:t>Free </a:t>
            </a:r>
            <a:r>
              <a:rPr spc="-5" dirty="0"/>
              <a:t>from objectionable </a:t>
            </a:r>
            <a:r>
              <a:rPr dirty="0"/>
              <a:t>dissolved</a:t>
            </a:r>
            <a:r>
              <a:rPr spc="-75" dirty="0"/>
              <a:t> </a:t>
            </a:r>
            <a:r>
              <a:rPr dirty="0"/>
              <a:t>gases</a:t>
            </a:r>
          </a:p>
          <a:p>
            <a:pPr marL="527685" indent="-515620">
              <a:lnSpc>
                <a:spcPct val="100000"/>
              </a:lnSpc>
              <a:spcBef>
                <a:spcPts val="600"/>
              </a:spcBef>
              <a:buClr>
                <a:srgbClr val="0E6EC5"/>
              </a:buClr>
              <a:buSzPct val="68750"/>
              <a:buAutoNum type="arabicPeriod"/>
              <a:tabLst>
                <a:tab pos="527685" algn="l"/>
                <a:tab pos="528320" algn="l"/>
              </a:tabLst>
            </a:pPr>
            <a:r>
              <a:rPr dirty="0"/>
              <a:t>Objectionable </a:t>
            </a:r>
            <a:r>
              <a:rPr spc="-5" dirty="0"/>
              <a:t>minerals: </a:t>
            </a:r>
            <a:r>
              <a:rPr dirty="0"/>
              <a:t>lead,arsenic, </a:t>
            </a:r>
            <a:r>
              <a:rPr spc="-5" dirty="0"/>
              <a:t>Mn,</a:t>
            </a:r>
            <a:r>
              <a:rPr spc="-105" dirty="0"/>
              <a:t> </a:t>
            </a:r>
            <a:r>
              <a:rPr dirty="0"/>
              <a:t>Cr</a:t>
            </a:r>
          </a:p>
          <a:p>
            <a:pPr marL="12700">
              <a:lnSpc>
                <a:spcPct val="100000"/>
              </a:lnSpc>
              <a:spcBef>
                <a:spcPts val="600"/>
              </a:spcBef>
              <a:tabLst>
                <a:tab pos="527685" algn="l"/>
              </a:tabLst>
            </a:pPr>
            <a:r>
              <a:rPr sz="1650" spc="10" dirty="0">
                <a:solidFill>
                  <a:srgbClr val="0E6EC5"/>
                </a:solidFill>
              </a:rPr>
              <a:t>7.	</a:t>
            </a:r>
            <a:r>
              <a:rPr dirty="0"/>
              <a:t>pH:8.0</a:t>
            </a:r>
            <a:endParaRPr sz="1650"/>
          </a:p>
          <a:p>
            <a:pPr marL="527685" indent="-515620">
              <a:lnSpc>
                <a:spcPct val="100000"/>
              </a:lnSpc>
              <a:spcBef>
                <a:spcPts val="600"/>
              </a:spcBef>
              <a:buClr>
                <a:srgbClr val="0E6EC5"/>
              </a:buClr>
              <a:buSzPct val="68750"/>
              <a:buAutoNum type="arabicPeriod" startAt="8"/>
              <a:tabLst>
                <a:tab pos="527685" algn="l"/>
                <a:tab pos="528320" algn="l"/>
              </a:tabLst>
            </a:pPr>
            <a:r>
              <a:rPr dirty="0"/>
              <a:t>Reasonably</a:t>
            </a:r>
            <a:r>
              <a:rPr spc="-35" dirty="0"/>
              <a:t> </a:t>
            </a:r>
            <a:r>
              <a:rPr spc="-5" dirty="0"/>
              <a:t>soft,</a:t>
            </a:r>
          </a:p>
          <a:p>
            <a:pPr marL="527685" indent="-515620">
              <a:lnSpc>
                <a:spcPct val="100000"/>
              </a:lnSpc>
              <a:spcBef>
                <a:spcPts val="605"/>
              </a:spcBef>
              <a:buClr>
                <a:srgbClr val="0E6EC5"/>
              </a:buClr>
              <a:buSzPct val="68750"/>
              <a:buAutoNum type="arabicPeriod" startAt="8"/>
              <a:tabLst>
                <a:tab pos="527685" algn="l"/>
                <a:tab pos="528320" algn="l"/>
              </a:tabLst>
            </a:pPr>
            <a:r>
              <a:rPr dirty="0"/>
              <a:t>Free </a:t>
            </a:r>
            <a:r>
              <a:rPr spc="-5" dirty="0"/>
              <a:t>from </a:t>
            </a:r>
            <a:r>
              <a:rPr dirty="0"/>
              <a:t>disease-producing</a:t>
            </a:r>
            <a:r>
              <a:rPr spc="-110" dirty="0"/>
              <a:t> </a:t>
            </a:r>
            <a:r>
              <a:rPr spc="-5" dirty="0"/>
              <a:t>microorganisms.</a:t>
            </a:r>
          </a:p>
        </p:txBody>
      </p:sp>
      <p:sp>
        <p:nvSpPr>
          <p:cNvPr id="5" name="object 5"/>
          <p:cNvSpPr txBox="1"/>
          <p:nvPr/>
        </p:nvSpPr>
        <p:spPr>
          <a:xfrm>
            <a:off x="8331834" y="5870549"/>
            <a:ext cx="20574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Times New Roman"/>
                <a:cs typeface="Times New Roman"/>
              </a:rPr>
              <a:t>67</a:t>
            </a:r>
            <a:endParaRPr sz="1400">
              <a:latin typeface="Times New Roman"/>
              <a:cs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888619"/>
            <a:ext cx="4491355" cy="482600"/>
          </a:xfrm>
          <a:prstGeom prst="rect">
            <a:avLst/>
          </a:prstGeom>
        </p:spPr>
        <p:txBody>
          <a:bodyPr vert="horz" wrap="square" lIns="0" tIns="12700" rIns="0" bIns="0" rtlCol="0">
            <a:spAutoFit/>
          </a:bodyPr>
          <a:lstStyle/>
          <a:p>
            <a:pPr marL="12700">
              <a:lnSpc>
                <a:spcPct val="100000"/>
              </a:lnSpc>
              <a:spcBef>
                <a:spcPts val="100"/>
              </a:spcBef>
            </a:pPr>
            <a:r>
              <a:rPr sz="3000" spc="-5" dirty="0"/>
              <a:t>B</a:t>
            </a:r>
            <a:r>
              <a:rPr spc="-5" dirty="0"/>
              <a:t>REAK</a:t>
            </a:r>
            <a:r>
              <a:rPr sz="3000" spc="-5" dirty="0"/>
              <a:t>-</a:t>
            </a:r>
            <a:r>
              <a:rPr spc="-5" dirty="0"/>
              <a:t>POINT</a:t>
            </a:r>
            <a:r>
              <a:rPr spc="80" dirty="0"/>
              <a:t> </a:t>
            </a:r>
            <a:r>
              <a:rPr spc="-25" dirty="0"/>
              <a:t>CHLORINATION</a:t>
            </a:r>
            <a:endParaRPr sz="30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102</a:t>
            </a:fld>
            <a:endParaRPr dirty="0"/>
          </a:p>
        </p:txBody>
      </p:sp>
      <p:sp>
        <p:nvSpPr>
          <p:cNvPr id="3" name="object 3"/>
          <p:cNvSpPr txBox="1"/>
          <p:nvPr/>
        </p:nvSpPr>
        <p:spPr>
          <a:xfrm>
            <a:off x="535940" y="1581352"/>
            <a:ext cx="7299959" cy="4446905"/>
          </a:xfrm>
          <a:prstGeom prst="rect">
            <a:avLst/>
          </a:prstGeom>
        </p:spPr>
        <p:txBody>
          <a:bodyPr vert="horz" wrap="square" lIns="0" tIns="57785" rIns="0" bIns="0" rtlCol="0">
            <a:spAutoFit/>
          </a:bodyPr>
          <a:lstStyle/>
          <a:p>
            <a:pPr marL="287020" marR="163195" indent="-274955">
              <a:lnSpc>
                <a:spcPts val="2810"/>
              </a:lnSpc>
              <a:spcBef>
                <a:spcPts val="455"/>
              </a:spcBef>
              <a:buClr>
                <a:srgbClr val="0E6EC5"/>
              </a:buClr>
              <a:buSzPct val="69230"/>
              <a:buFont typeface="Wingdings"/>
              <a:buChar char=""/>
              <a:tabLst>
                <a:tab pos="287655" algn="l"/>
              </a:tabLst>
            </a:pPr>
            <a:r>
              <a:rPr sz="2600" dirty="0">
                <a:latin typeface="Times New Roman"/>
                <a:cs typeface="Times New Roman"/>
              </a:rPr>
              <a:t>Involves in addition of </a:t>
            </a:r>
            <a:r>
              <a:rPr sz="2600" spc="-10" dirty="0">
                <a:latin typeface="Times New Roman"/>
                <a:cs typeface="Times New Roman"/>
              </a:rPr>
              <a:t>sufficient </a:t>
            </a:r>
            <a:r>
              <a:rPr sz="2600" spc="-5" dirty="0">
                <a:latin typeface="Times New Roman"/>
                <a:cs typeface="Times New Roman"/>
              </a:rPr>
              <a:t>amt. </a:t>
            </a:r>
            <a:r>
              <a:rPr sz="2600" dirty="0">
                <a:latin typeface="Times New Roman"/>
                <a:cs typeface="Times New Roman"/>
              </a:rPr>
              <a:t>of chlorine</a:t>
            </a:r>
            <a:r>
              <a:rPr sz="2600" spc="-85" dirty="0">
                <a:latin typeface="Times New Roman"/>
                <a:cs typeface="Times New Roman"/>
              </a:rPr>
              <a:t> </a:t>
            </a:r>
            <a:r>
              <a:rPr sz="2600" dirty="0">
                <a:latin typeface="Times New Roman"/>
                <a:cs typeface="Times New Roman"/>
              </a:rPr>
              <a:t>to  oxidise </a:t>
            </a:r>
            <a:r>
              <a:rPr sz="2600" spc="-5" dirty="0">
                <a:latin typeface="Times New Roman"/>
                <a:cs typeface="Times New Roman"/>
              </a:rPr>
              <a:t>:organic </a:t>
            </a:r>
            <a:r>
              <a:rPr sz="2600" spc="-20" dirty="0">
                <a:latin typeface="Times New Roman"/>
                <a:cs typeface="Times New Roman"/>
              </a:rPr>
              <a:t>matter, </a:t>
            </a:r>
            <a:r>
              <a:rPr sz="2600" dirty="0">
                <a:latin typeface="Times New Roman"/>
                <a:cs typeface="Times New Roman"/>
              </a:rPr>
              <a:t>reducing</a:t>
            </a:r>
            <a:r>
              <a:rPr sz="2600" spc="-60" dirty="0">
                <a:latin typeface="Times New Roman"/>
                <a:cs typeface="Times New Roman"/>
              </a:rPr>
              <a:t> </a:t>
            </a:r>
            <a:r>
              <a:rPr sz="2600" dirty="0">
                <a:latin typeface="Times New Roman"/>
                <a:cs typeface="Times New Roman"/>
              </a:rPr>
              <a:t>substances.</a:t>
            </a:r>
            <a:endParaRPr sz="2600">
              <a:latin typeface="Times New Roman"/>
              <a:cs typeface="Times New Roman"/>
            </a:endParaRPr>
          </a:p>
          <a:p>
            <a:pPr marL="287020" marR="283210" indent="-274955">
              <a:lnSpc>
                <a:spcPts val="2810"/>
              </a:lnSpc>
              <a:spcBef>
                <a:spcPts val="600"/>
              </a:spcBef>
              <a:buClr>
                <a:srgbClr val="0E6EC5"/>
              </a:buClr>
              <a:buSzPct val="69230"/>
              <a:buFont typeface="Wingdings"/>
              <a:buChar char=""/>
              <a:tabLst>
                <a:tab pos="287655" algn="l"/>
              </a:tabLst>
            </a:pPr>
            <a:r>
              <a:rPr sz="2600" dirty="0">
                <a:latin typeface="Times New Roman"/>
                <a:cs typeface="Times New Roman"/>
              </a:rPr>
              <a:t>Dosage of applied chlorine to </a:t>
            </a:r>
            <a:r>
              <a:rPr sz="2600" spc="-5" dirty="0">
                <a:latin typeface="Times New Roman"/>
                <a:cs typeface="Times New Roman"/>
              </a:rPr>
              <a:t>water rich </a:t>
            </a:r>
            <a:r>
              <a:rPr sz="2600" dirty="0">
                <a:latin typeface="Times New Roman"/>
                <a:cs typeface="Times New Roman"/>
              </a:rPr>
              <a:t>in</a:t>
            </a:r>
            <a:r>
              <a:rPr sz="2600" spc="-120" dirty="0">
                <a:latin typeface="Times New Roman"/>
                <a:cs typeface="Times New Roman"/>
              </a:rPr>
              <a:t> </a:t>
            </a:r>
            <a:r>
              <a:rPr sz="2600" spc="-5" dirty="0">
                <a:latin typeface="Times New Roman"/>
                <a:cs typeface="Times New Roman"/>
              </a:rPr>
              <a:t>organic  </a:t>
            </a:r>
            <a:r>
              <a:rPr sz="2600" dirty="0">
                <a:latin typeface="Times New Roman"/>
                <a:cs typeface="Times New Roman"/>
              </a:rPr>
              <a:t>compound or </a:t>
            </a:r>
            <a:r>
              <a:rPr sz="2600" spc="-5" dirty="0">
                <a:latin typeface="Times New Roman"/>
                <a:cs typeface="Times New Roman"/>
              </a:rPr>
              <a:t>ammonia </a:t>
            </a:r>
            <a:r>
              <a:rPr sz="2600" dirty="0">
                <a:latin typeface="Times New Roman"/>
                <a:cs typeface="Times New Roman"/>
              </a:rPr>
              <a:t>is gradually</a:t>
            </a:r>
            <a:r>
              <a:rPr sz="2600" spc="-90" dirty="0">
                <a:latin typeface="Times New Roman"/>
                <a:cs typeface="Times New Roman"/>
              </a:rPr>
              <a:t> </a:t>
            </a:r>
            <a:r>
              <a:rPr sz="2600" spc="-5" dirty="0">
                <a:latin typeface="Times New Roman"/>
                <a:cs typeface="Times New Roman"/>
              </a:rPr>
              <a:t>increased.</a:t>
            </a:r>
            <a:endParaRPr sz="2600">
              <a:latin typeface="Times New Roman"/>
              <a:cs typeface="Times New Roman"/>
            </a:endParaRPr>
          </a:p>
          <a:p>
            <a:pPr marL="287020" indent="-274955">
              <a:lnSpc>
                <a:spcPct val="100000"/>
              </a:lnSpc>
              <a:spcBef>
                <a:spcPts val="245"/>
              </a:spcBef>
              <a:buClr>
                <a:srgbClr val="0E6EC5"/>
              </a:buClr>
              <a:buSzPct val="69230"/>
              <a:buFont typeface="Wingdings"/>
              <a:buChar char=""/>
              <a:tabLst>
                <a:tab pos="287655" algn="l"/>
              </a:tabLst>
            </a:pPr>
            <a:r>
              <a:rPr sz="2600" spc="5" dirty="0">
                <a:latin typeface="Times New Roman"/>
                <a:cs typeface="Times New Roman"/>
              </a:rPr>
              <a:t>Four</a:t>
            </a:r>
            <a:r>
              <a:rPr sz="2600" spc="-25" dirty="0">
                <a:latin typeface="Times New Roman"/>
                <a:cs typeface="Times New Roman"/>
              </a:rPr>
              <a:t> </a:t>
            </a:r>
            <a:r>
              <a:rPr sz="2600" spc="-5" dirty="0">
                <a:latin typeface="Times New Roman"/>
                <a:cs typeface="Times New Roman"/>
              </a:rPr>
              <a:t>stages:</a:t>
            </a:r>
            <a:endParaRPr sz="2600">
              <a:latin typeface="Times New Roman"/>
              <a:cs typeface="Times New Roman"/>
            </a:endParaRPr>
          </a:p>
          <a:p>
            <a:pPr marL="287020" marR="1150620" indent="-287020">
              <a:lnSpc>
                <a:spcPct val="109200"/>
              </a:lnSpc>
              <a:spcBef>
                <a:spcPts val="5"/>
              </a:spcBef>
              <a:buClr>
                <a:srgbClr val="0E6EC5"/>
              </a:buClr>
              <a:buSzPct val="69230"/>
              <a:buFont typeface="Arial"/>
              <a:buChar char="•"/>
              <a:tabLst>
                <a:tab pos="287020" algn="l"/>
                <a:tab pos="287655" algn="l"/>
              </a:tabLst>
            </a:pPr>
            <a:r>
              <a:rPr sz="2600" dirty="0">
                <a:latin typeface="Times New Roman"/>
                <a:cs typeface="Times New Roman"/>
              </a:rPr>
              <a:t>The addition of chlorine at the dip or break</a:t>
            </a:r>
            <a:r>
              <a:rPr sz="2600" spc="-170" dirty="0">
                <a:latin typeface="Times New Roman"/>
                <a:cs typeface="Times New Roman"/>
              </a:rPr>
              <a:t> </a:t>
            </a:r>
            <a:r>
              <a:rPr sz="2600" dirty="0">
                <a:latin typeface="Times New Roman"/>
                <a:cs typeface="Times New Roman"/>
              </a:rPr>
              <a:t>:  ’ breakpoint’</a:t>
            </a:r>
            <a:r>
              <a:rPr sz="2600" spc="-420" dirty="0">
                <a:latin typeface="Times New Roman"/>
                <a:cs typeface="Times New Roman"/>
              </a:rPr>
              <a:t> </a:t>
            </a:r>
            <a:r>
              <a:rPr sz="2600" dirty="0">
                <a:latin typeface="Times New Roman"/>
                <a:cs typeface="Times New Roman"/>
              </a:rPr>
              <a:t>chlorination.</a:t>
            </a:r>
            <a:endParaRPr sz="2600">
              <a:latin typeface="Times New Roman"/>
              <a:cs typeface="Times New Roman"/>
            </a:endParaRPr>
          </a:p>
          <a:p>
            <a:pPr marL="287020" marR="982344" indent="-274955">
              <a:lnSpc>
                <a:spcPts val="2810"/>
              </a:lnSpc>
              <a:spcBef>
                <a:spcPts val="640"/>
              </a:spcBef>
              <a:buClr>
                <a:srgbClr val="0E6EC5"/>
              </a:buClr>
              <a:buSzPct val="69230"/>
              <a:buFont typeface="Arial"/>
              <a:buChar char="•"/>
              <a:tabLst>
                <a:tab pos="287020" algn="l"/>
                <a:tab pos="287655" algn="l"/>
              </a:tabLst>
            </a:pPr>
            <a:r>
              <a:rPr sz="2600" dirty="0">
                <a:latin typeface="Times New Roman"/>
                <a:cs typeface="Times New Roman"/>
              </a:rPr>
              <a:t>This </a:t>
            </a:r>
            <a:r>
              <a:rPr sz="2600" spc="-5" dirty="0">
                <a:latin typeface="Times New Roman"/>
                <a:cs typeface="Times New Roman"/>
              </a:rPr>
              <a:t>indicates the </a:t>
            </a:r>
            <a:r>
              <a:rPr sz="2600" dirty="0">
                <a:latin typeface="Times New Roman"/>
                <a:cs typeface="Times New Roman"/>
              </a:rPr>
              <a:t>point at which free </a:t>
            </a:r>
            <a:r>
              <a:rPr sz="2600" spc="-5" dirty="0">
                <a:latin typeface="Times New Roman"/>
                <a:cs typeface="Times New Roman"/>
              </a:rPr>
              <a:t>residual  </a:t>
            </a:r>
            <a:r>
              <a:rPr sz="2600" dirty="0">
                <a:latin typeface="Times New Roman"/>
                <a:cs typeface="Times New Roman"/>
              </a:rPr>
              <a:t>chlorine begins to</a:t>
            </a:r>
            <a:r>
              <a:rPr sz="2600" spc="-55" dirty="0">
                <a:latin typeface="Times New Roman"/>
                <a:cs typeface="Times New Roman"/>
              </a:rPr>
              <a:t> </a:t>
            </a:r>
            <a:r>
              <a:rPr sz="2600" spc="-20" dirty="0">
                <a:latin typeface="Times New Roman"/>
                <a:cs typeface="Times New Roman"/>
              </a:rPr>
              <a:t>appear.</a:t>
            </a:r>
            <a:endParaRPr sz="2600">
              <a:latin typeface="Times New Roman"/>
              <a:cs typeface="Times New Roman"/>
            </a:endParaRPr>
          </a:p>
          <a:p>
            <a:pPr marL="287020" marR="5080" indent="-274955">
              <a:lnSpc>
                <a:spcPts val="2810"/>
              </a:lnSpc>
              <a:spcBef>
                <a:spcPts val="595"/>
              </a:spcBef>
              <a:buClr>
                <a:srgbClr val="0E6EC5"/>
              </a:buClr>
              <a:buSzPct val="69230"/>
              <a:buFont typeface="Arial"/>
              <a:buChar char="•"/>
              <a:tabLst>
                <a:tab pos="287020" algn="l"/>
                <a:tab pos="287655" algn="l"/>
              </a:tabLst>
            </a:pPr>
            <a:r>
              <a:rPr sz="2600" dirty="0">
                <a:latin typeface="Times New Roman"/>
                <a:cs typeface="Times New Roman"/>
              </a:rPr>
              <a:t>All </a:t>
            </a:r>
            <a:r>
              <a:rPr sz="2600" spc="-5" dirty="0">
                <a:latin typeface="Times New Roman"/>
                <a:cs typeface="Times New Roman"/>
              </a:rPr>
              <a:t>tastes, </a:t>
            </a:r>
            <a:r>
              <a:rPr sz="2600" spc="5" dirty="0">
                <a:latin typeface="Times New Roman"/>
                <a:cs typeface="Times New Roman"/>
              </a:rPr>
              <a:t>odour </a:t>
            </a:r>
            <a:r>
              <a:rPr sz="2600" dirty="0">
                <a:latin typeface="Times New Roman"/>
                <a:cs typeface="Times New Roman"/>
              </a:rPr>
              <a:t>disappear at </a:t>
            </a:r>
            <a:r>
              <a:rPr sz="2600" spc="-5" dirty="0">
                <a:latin typeface="Times New Roman"/>
                <a:cs typeface="Times New Roman"/>
              </a:rPr>
              <a:t>break </a:t>
            </a:r>
            <a:r>
              <a:rPr sz="2600" dirty="0">
                <a:latin typeface="Times New Roman"/>
                <a:cs typeface="Times New Roman"/>
              </a:rPr>
              <a:t>point : water</a:t>
            </a:r>
            <a:r>
              <a:rPr sz="2600" spc="-125" dirty="0">
                <a:latin typeface="Times New Roman"/>
                <a:cs typeface="Times New Roman"/>
              </a:rPr>
              <a:t> </a:t>
            </a:r>
            <a:r>
              <a:rPr sz="2600" spc="-5" dirty="0">
                <a:latin typeface="Times New Roman"/>
                <a:cs typeface="Times New Roman"/>
              </a:rPr>
              <a:t>free  </a:t>
            </a:r>
            <a:r>
              <a:rPr sz="2600" dirty="0">
                <a:latin typeface="Times New Roman"/>
                <a:cs typeface="Times New Roman"/>
              </a:rPr>
              <a:t>from bad </a:t>
            </a:r>
            <a:r>
              <a:rPr sz="2600" spc="-5" dirty="0">
                <a:latin typeface="Times New Roman"/>
                <a:cs typeface="Times New Roman"/>
              </a:rPr>
              <a:t>tastes </a:t>
            </a:r>
            <a:r>
              <a:rPr sz="2600" dirty="0">
                <a:latin typeface="Times New Roman"/>
                <a:cs typeface="Times New Roman"/>
              </a:rPr>
              <a:t>and</a:t>
            </a:r>
            <a:r>
              <a:rPr sz="2600" spc="-25" dirty="0">
                <a:latin typeface="Times New Roman"/>
                <a:cs typeface="Times New Roman"/>
              </a:rPr>
              <a:t> </a:t>
            </a:r>
            <a:r>
              <a:rPr sz="2600" dirty="0">
                <a:latin typeface="Times New Roman"/>
                <a:cs typeface="Times New Roman"/>
              </a:rPr>
              <a:t>odours.</a:t>
            </a:r>
            <a:endParaRPr sz="2600">
              <a:latin typeface="Times New Roman"/>
              <a:cs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622501"/>
            <a:ext cx="7273925" cy="3700145"/>
          </a:xfrm>
          <a:prstGeom prst="rect">
            <a:avLst/>
          </a:prstGeom>
        </p:spPr>
        <p:txBody>
          <a:bodyPr vert="horz" wrap="square" lIns="0" tIns="12700" rIns="0" bIns="0" rtlCol="0">
            <a:spAutoFit/>
          </a:bodyPr>
          <a:lstStyle/>
          <a:p>
            <a:pPr marL="287020" marR="5080" indent="-274955">
              <a:lnSpc>
                <a:spcPct val="100000"/>
              </a:lnSpc>
              <a:spcBef>
                <a:spcPts val="100"/>
              </a:spcBef>
              <a:buClr>
                <a:srgbClr val="0E6EC5"/>
              </a:buClr>
              <a:buSzPct val="68750"/>
              <a:buFont typeface="Wingdings"/>
              <a:buChar char=""/>
              <a:tabLst>
                <a:tab pos="287655" algn="l"/>
              </a:tabLst>
            </a:pPr>
            <a:r>
              <a:rPr sz="2400" dirty="0">
                <a:latin typeface="Times New Roman"/>
                <a:cs typeface="Times New Roman"/>
              </a:rPr>
              <a:t>Persistent &amp; </a:t>
            </a:r>
            <a:r>
              <a:rPr sz="2400" spc="-5" dirty="0">
                <a:latin typeface="Times New Roman"/>
                <a:cs typeface="Times New Roman"/>
              </a:rPr>
              <a:t>powerful </a:t>
            </a:r>
            <a:r>
              <a:rPr sz="2400" dirty="0">
                <a:latin typeface="Times New Roman"/>
                <a:cs typeface="Times New Roman"/>
              </a:rPr>
              <a:t>disinfection possessed by  available free chlorine, any type of pathogenic</a:t>
            </a:r>
            <a:r>
              <a:rPr sz="2400" spc="-175" dirty="0">
                <a:latin typeface="Times New Roman"/>
                <a:cs typeface="Times New Roman"/>
              </a:rPr>
              <a:t> </a:t>
            </a:r>
            <a:r>
              <a:rPr sz="2400" spc="-10" dirty="0">
                <a:latin typeface="Times New Roman"/>
                <a:cs typeface="Times New Roman"/>
              </a:rPr>
              <a:t>organisms  </a:t>
            </a:r>
            <a:r>
              <a:rPr sz="2400" dirty="0">
                <a:latin typeface="Times New Roman"/>
                <a:cs typeface="Times New Roman"/>
              </a:rPr>
              <a:t>present :</a:t>
            </a:r>
            <a:r>
              <a:rPr sz="2400" spc="-35" dirty="0">
                <a:latin typeface="Times New Roman"/>
                <a:cs typeface="Times New Roman"/>
              </a:rPr>
              <a:t> </a:t>
            </a:r>
            <a:r>
              <a:rPr sz="2400" dirty="0">
                <a:latin typeface="Times New Roman"/>
                <a:cs typeface="Times New Roman"/>
              </a:rPr>
              <a:t>destroyed.</a:t>
            </a:r>
            <a:endParaRPr sz="2400">
              <a:latin typeface="Times New Roman"/>
              <a:cs typeface="Times New Roman"/>
            </a:endParaRPr>
          </a:p>
          <a:p>
            <a:pPr marL="12700">
              <a:lnSpc>
                <a:spcPct val="100000"/>
              </a:lnSpc>
              <a:spcBef>
                <a:spcPts val="605"/>
              </a:spcBef>
            </a:pPr>
            <a:r>
              <a:rPr sz="2400" spc="-5" dirty="0">
                <a:latin typeface="Times New Roman"/>
                <a:cs typeface="Times New Roman"/>
              </a:rPr>
              <a:t>Advantages:</a:t>
            </a:r>
            <a:endParaRPr sz="2400">
              <a:latin typeface="Times New Roman"/>
              <a:cs typeface="Times New Roman"/>
            </a:endParaRPr>
          </a:p>
          <a:p>
            <a:pPr marL="527685" indent="-515620">
              <a:lnSpc>
                <a:spcPct val="100000"/>
              </a:lnSpc>
              <a:spcBef>
                <a:spcPts val="600"/>
              </a:spcBef>
              <a:buClr>
                <a:srgbClr val="0E6EC5"/>
              </a:buClr>
              <a:buSzPct val="68750"/>
              <a:buAutoNum type="arabicPeriod"/>
              <a:tabLst>
                <a:tab pos="527685" algn="l"/>
                <a:tab pos="528320" algn="l"/>
              </a:tabLst>
            </a:pPr>
            <a:r>
              <a:rPr sz="2400" dirty="0">
                <a:latin typeface="Times New Roman"/>
                <a:cs typeface="Times New Roman"/>
              </a:rPr>
              <a:t>Oxidises </a:t>
            </a:r>
            <a:r>
              <a:rPr sz="2400" spc="-5" dirty="0">
                <a:latin typeface="Times New Roman"/>
                <a:cs typeface="Times New Roman"/>
              </a:rPr>
              <a:t>completely </a:t>
            </a:r>
            <a:r>
              <a:rPr sz="2400" spc="-10" dirty="0">
                <a:latin typeface="Times New Roman"/>
                <a:cs typeface="Times New Roman"/>
              </a:rPr>
              <a:t>organic </a:t>
            </a:r>
            <a:r>
              <a:rPr sz="2400" spc="-5" dirty="0">
                <a:latin typeface="Times New Roman"/>
                <a:cs typeface="Times New Roman"/>
              </a:rPr>
              <a:t>compound, ammonia</a:t>
            </a:r>
            <a:r>
              <a:rPr sz="2400" spc="-35" dirty="0">
                <a:latin typeface="Times New Roman"/>
                <a:cs typeface="Times New Roman"/>
              </a:rPr>
              <a:t> </a:t>
            </a:r>
            <a:r>
              <a:rPr sz="2400" dirty="0">
                <a:latin typeface="Times New Roman"/>
                <a:cs typeface="Times New Roman"/>
              </a:rPr>
              <a:t>&amp;</a:t>
            </a:r>
            <a:endParaRPr sz="2400">
              <a:latin typeface="Times New Roman"/>
              <a:cs typeface="Times New Roman"/>
            </a:endParaRPr>
          </a:p>
          <a:p>
            <a:pPr marL="527685">
              <a:lnSpc>
                <a:spcPct val="100000"/>
              </a:lnSpc>
            </a:pPr>
            <a:r>
              <a:rPr sz="2400" dirty="0">
                <a:latin typeface="Times New Roman"/>
                <a:cs typeface="Times New Roman"/>
              </a:rPr>
              <a:t>other reducing</a:t>
            </a:r>
            <a:r>
              <a:rPr sz="2400" spc="-40" dirty="0">
                <a:latin typeface="Times New Roman"/>
                <a:cs typeface="Times New Roman"/>
              </a:rPr>
              <a:t> </a:t>
            </a:r>
            <a:r>
              <a:rPr sz="2400" spc="-5" dirty="0">
                <a:latin typeface="Times New Roman"/>
                <a:cs typeface="Times New Roman"/>
              </a:rPr>
              <a:t>compound.</a:t>
            </a:r>
            <a:endParaRPr sz="2400">
              <a:latin typeface="Times New Roman"/>
              <a:cs typeface="Times New Roman"/>
            </a:endParaRPr>
          </a:p>
          <a:p>
            <a:pPr marL="527685" indent="-515620">
              <a:lnSpc>
                <a:spcPct val="100000"/>
              </a:lnSpc>
              <a:spcBef>
                <a:spcPts val="600"/>
              </a:spcBef>
              <a:buClr>
                <a:srgbClr val="0E6EC5"/>
              </a:buClr>
              <a:buSzPct val="68750"/>
              <a:buAutoNum type="arabicPeriod" startAt="2"/>
              <a:tabLst>
                <a:tab pos="527685" algn="l"/>
                <a:tab pos="528320" algn="l"/>
              </a:tabLst>
            </a:pPr>
            <a:r>
              <a:rPr sz="2400" spc="-5" dirty="0">
                <a:latin typeface="Times New Roman"/>
                <a:cs typeface="Times New Roman"/>
              </a:rPr>
              <a:t>Removes</a:t>
            </a:r>
            <a:r>
              <a:rPr sz="2400" spc="10" dirty="0">
                <a:latin typeface="Times New Roman"/>
                <a:cs typeface="Times New Roman"/>
              </a:rPr>
              <a:t> </a:t>
            </a:r>
            <a:r>
              <a:rPr sz="2400" dirty="0">
                <a:latin typeface="Times New Roman"/>
                <a:cs typeface="Times New Roman"/>
              </a:rPr>
              <a:t>colour</a:t>
            </a:r>
            <a:endParaRPr sz="2400">
              <a:latin typeface="Times New Roman"/>
              <a:cs typeface="Times New Roman"/>
            </a:endParaRPr>
          </a:p>
          <a:p>
            <a:pPr marL="527685" indent="-515620">
              <a:lnSpc>
                <a:spcPct val="100000"/>
              </a:lnSpc>
              <a:spcBef>
                <a:spcPts val="600"/>
              </a:spcBef>
              <a:buClr>
                <a:srgbClr val="0E6EC5"/>
              </a:buClr>
              <a:buSzPct val="68750"/>
              <a:buAutoNum type="arabicPeriod" startAt="2"/>
              <a:tabLst>
                <a:tab pos="527685" algn="l"/>
                <a:tab pos="528320" algn="l"/>
              </a:tabLst>
            </a:pPr>
            <a:r>
              <a:rPr sz="2400" spc="-5" dirty="0">
                <a:latin typeface="Times New Roman"/>
                <a:cs typeface="Times New Roman"/>
              </a:rPr>
              <a:t>Removes </a:t>
            </a:r>
            <a:r>
              <a:rPr sz="2400" dirty="0">
                <a:latin typeface="Times New Roman"/>
                <a:cs typeface="Times New Roman"/>
              </a:rPr>
              <a:t>disease producing</a:t>
            </a:r>
            <a:r>
              <a:rPr sz="2400" spc="-40" dirty="0">
                <a:latin typeface="Times New Roman"/>
                <a:cs typeface="Times New Roman"/>
              </a:rPr>
              <a:t> </a:t>
            </a:r>
            <a:r>
              <a:rPr sz="2400" dirty="0">
                <a:latin typeface="Times New Roman"/>
                <a:cs typeface="Times New Roman"/>
              </a:rPr>
              <a:t>bacteria</a:t>
            </a:r>
            <a:endParaRPr sz="2400">
              <a:latin typeface="Times New Roman"/>
              <a:cs typeface="Times New Roman"/>
            </a:endParaRPr>
          </a:p>
          <a:p>
            <a:pPr marL="527685" indent="-515620">
              <a:lnSpc>
                <a:spcPct val="100000"/>
              </a:lnSpc>
              <a:spcBef>
                <a:spcPts val="605"/>
              </a:spcBef>
              <a:buClr>
                <a:srgbClr val="0E6EC5"/>
              </a:buClr>
              <a:buSzPct val="68750"/>
              <a:buAutoNum type="arabicPeriod" startAt="2"/>
              <a:tabLst>
                <a:tab pos="527685" algn="l"/>
                <a:tab pos="528320" algn="l"/>
              </a:tabLst>
            </a:pPr>
            <a:r>
              <a:rPr sz="2400" spc="-5" dirty="0">
                <a:latin typeface="Times New Roman"/>
                <a:cs typeface="Times New Roman"/>
              </a:rPr>
              <a:t>Removes </a:t>
            </a:r>
            <a:r>
              <a:rPr sz="2400" dirty="0">
                <a:latin typeface="Times New Roman"/>
                <a:cs typeface="Times New Roman"/>
              </a:rPr>
              <a:t>odour &amp;</a:t>
            </a:r>
            <a:r>
              <a:rPr sz="2400" spc="10" dirty="0">
                <a:latin typeface="Times New Roman"/>
                <a:cs typeface="Times New Roman"/>
              </a:rPr>
              <a:t> </a:t>
            </a:r>
            <a:r>
              <a:rPr sz="2400" dirty="0">
                <a:latin typeface="Times New Roman"/>
                <a:cs typeface="Times New Roman"/>
              </a:rPr>
              <a:t>taste.</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103</a:t>
            </a:fld>
            <a:endParaRPr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888619"/>
            <a:ext cx="2879725" cy="482600"/>
          </a:xfrm>
          <a:prstGeom prst="rect">
            <a:avLst/>
          </a:prstGeom>
        </p:spPr>
        <p:txBody>
          <a:bodyPr vert="horz" wrap="square" lIns="0" tIns="12700" rIns="0" bIns="0" rtlCol="0">
            <a:spAutoFit/>
          </a:bodyPr>
          <a:lstStyle/>
          <a:p>
            <a:pPr marL="12700">
              <a:lnSpc>
                <a:spcPct val="100000"/>
              </a:lnSpc>
              <a:spcBef>
                <a:spcPts val="100"/>
              </a:spcBef>
            </a:pPr>
            <a:r>
              <a:rPr sz="3000" spc="-25" dirty="0"/>
              <a:t>D</a:t>
            </a:r>
            <a:r>
              <a:rPr spc="-25" dirty="0"/>
              <a:t>E</a:t>
            </a:r>
            <a:r>
              <a:rPr sz="3000" spc="-25" dirty="0"/>
              <a:t>-</a:t>
            </a:r>
            <a:r>
              <a:rPr spc="-25" dirty="0"/>
              <a:t>CHLORINATION</a:t>
            </a:r>
            <a:endParaRPr sz="3000"/>
          </a:p>
        </p:txBody>
      </p:sp>
      <p:sp>
        <p:nvSpPr>
          <p:cNvPr id="3" name="object 3"/>
          <p:cNvSpPr txBox="1"/>
          <p:nvPr/>
        </p:nvSpPr>
        <p:spPr>
          <a:xfrm>
            <a:off x="523240" y="1624025"/>
            <a:ext cx="7296784" cy="3151505"/>
          </a:xfrm>
          <a:prstGeom prst="rect">
            <a:avLst/>
          </a:prstGeom>
        </p:spPr>
        <p:txBody>
          <a:bodyPr vert="horz" wrap="square" lIns="0" tIns="13335" rIns="0" bIns="0" rtlCol="0">
            <a:spAutoFit/>
          </a:bodyPr>
          <a:lstStyle/>
          <a:p>
            <a:pPr marL="299720" indent="-274955">
              <a:lnSpc>
                <a:spcPct val="100000"/>
              </a:lnSpc>
              <a:spcBef>
                <a:spcPts val="105"/>
              </a:spcBef>
              <a:buClr>
                <a:srgbClr val="0E6EC5"/>
              </a:buClr>
              <a:buSzPct val="70000"/>
              <a:buFont typeface="Wingdings"/>
              <a:buChar char=""/>
              <a:tabLst>
                <a:tab pos="300355" algn="l"/>
              </a:tabLst>
            </a:pPr>
            <a:r>
              <a:rPr sz="2000" spc="-5" dirty="0">
                <a:latin typeface="Times New Roman"/>
                <a:cs typeface="Times New Roman"/>
              </a:rPr>
              <a:t>Over-chlorination </a:t>
            </a:r>
            <a:r>
              <a:rPr sz="2000" dirty="0">
                <a:latin typeface="Times New Roman"/>
                <a:cs typeface="Times New Roman"/>
              </a:rPr>
              <a:t>after the break point : produces unpleasant </a:t>
            </a:r>
            <a:r>
              <a:rPr sz="2000" spc="-5" dirty="0">
                <a:latin typeface="Times New Roman"/>
                <a:cs typeface="Times New Roman"/>
              </a:rPr>
              <a:t>taste</a:t>
            </a:r>
            <a:r>
              <a:rPr sz="2000" spc="-210" dirty="0">
                <a:latin typeface="Times New Roman"/>
                <a:cs typeface="Times New Roman"/>
              </a:rPr>
              <a:t> </a:t>
            </a:r>
            <a:r>
              <a:rPr sz="2000" spc="5" dirty="0">
                <a:latin typeface="Times New Roman"/>
                <a:cs typeface="Times New Roman"/>
              </a:rPr>
              <a:t>&amp;</a:t>
            </a:r>
            <a:endParaRPr sz="2000">
              <a:latin typeface="Times New Roman"/>
              <a:cs typeface="Times New Roman"/>
            </a:endParaRPr>
          </a:p>
          <a:p>
            <a:pPr marL="299720">
              <a:lnSpc>
                <a:spcPct val="100000"/>
              </a:lnSpc>
              <a:spcBef>
                <a:spcPts val="5"/>
              </a:spcBef>
            </a:pPr>
            <a:r>
              <a:rPr sz="2000" spc="5" dirty="0">
                <a:latin typeface="Times New Roman"/>
                <a:cs typeface="Times New Roman"/>
              </a:rPr>
              <a:t>odour</a:t>
            </a:r>
            <a:endParaRPr sz="2000">
              <a:latin typeface="Times New Roman"/>
              <a:cs typeface="Times New Roman"/>
            </a:endParaRPr>
          </a:p>
          <a:p>
            <a:pPr marL="299720" marR="353060" indent="-274955">
              <a:lnSpc>
                <a:spcPct val="100000"/>
              </a:lnSpc>
              <a:spcBef>
                <a:spcPts val="600"/>
              </a:spcBef>
              <a:buClr>
                <a:srgbClr val="0E6EC5"/>
              </a:buClr>
              <a:buSzPct val="70000"/>
              <a:buFont typeface="Wingdings"/>
              <a:buChar char=""/>
              <a:tabLst>
                <a:tab pos="300355" algn="l"/>
              </a:tabLst>
            </a:pPr>
            <a:r>
              <a:rPr sz="2000" spc="-5" dirty="0">
                <a:latin typeface="Times New Roman"/>
                <a:cs typeface="Times New Roman"/>
              </a:rPr>
              <a:t>Removed </a:t>
            </a:r>
            <a:r>
              <a:rPr sz="2000" dirty="0">
                <a:latin typeface="Times New Roman"/>
                <a:cs typeface="Times New Roman"/>
              </a:rPr>
              <a:t>by </a:t>
            </a:r>
            <a:r>
              <a:rPr sz="2000" spc="-5" dirty="0">
                <a:latin typeface="Times New Roman"/>
                <a:cs typeface="Times New Roman"/>
              </a:rPr>
              <a:t>filtering </a:t>
            </a:r>
            <a:r>
              <a:rPr sz="2000" dirty="0">
                <a:latin typeface="Times New Roman"/>
                <a:cs typeface="Times New Roman"/>
              </a:rPr>
              <a:t>the </a:t>
            </a:r>
            <a:r>
              <a:rPr sz="2000" spc="-5" dirty="0">
                <a:latin typeface="Times New Roman"/>
                <a:cs typeface="Times New Roman"/>
              </a:rPr>
              <a:t>over-chlorinated </a:t>
            </a:r>
            <a:r>
              <a:rPr sz="2000" dirty="0">
                <a:latin typeface="Times New Roman"/>
                <a:cs typeface="Times New Roman"/>
              </a:rPr>
              <a:t>water through a bed</a:t>
            </a:r>
            <a:r>
              <a:rPr sz="2000" spc="-105" dirty="0">
                <a:latin typeface="Times New Roman"/>
                <a:cs typeface="Times New Roman"/>
              </a:rPr>
              <a:t> </a:t>
            </a:r>
            <a:r>
              <a:rPr sz="2000" dirty="0">
                <a:latin typeface="Times New Roman"/>
                <a:cs typeface="Times New Roman"/>
              </a:rPr>
              <a:t>of  </a:t>
            </a:r>
            <a:r>
              <a:rPr sz="2000" spc="-5" dirty="0">
                <a:latin typeface="Times New Roman"/>
                <a:cs typeface="Times New Roman"/>
              </a:rPr>
              <a:t>molecular</a:t>
            </a:r>
            <a:r>
              <a:rPr sz="2000" spc="-25" dirty="0">
                <a:latin typeface="Times New Roman"/>
                <a:cs typeface="Times New Roman"/>
              </a:rPr>
              <a:t> </a:t>
            </a:r>
            <a:r>
              <a:rPr sz="2000" dirty="0">
                <a:latin typeface="Times New Roman"/>
                <a:cs typeface="Times New Roman"/>
              </a:rPr>
              <a:t>carbon.</a:t>
            </a:r>
            <a:endParaRPr sz="2000">
              <a:latin typeface="Times New Roman"/>
              <a:cs typeface="Times New Roman"/>
            </a:endParaRPr>
          </a:p>
          <a:p>
            <a:pPr marL="299720" indent="-274955">
              <a:lnSpc>
                <a:spcPct val="100000"/>
              </a:lnSpc>
              <a:spcBef>
                <a:spcPts val="600"/>
              </a:spcBef>
              <a:buClr>
                <a:srgbClr val="0E6EC5"/>
              </a:buClr>
              <a:buSzPct val="70000"/>
              <a:buFont typeface="Wingdings"/>
              <a:buChar char=""/>
              <a:tabLst>
                <a:tab pos="300355" algn="l"/>
              </a:tabLst>
            </a:pPr>
            <a:r>
              <a:rPr sz="2000" dirty="0">
                <a:latin typeface="Times New Roman"/>
                <a:cs typeface="Times New Roman"/>
              </a:rPr>
              <a:t>Activated C : added directly &amp; after a short reaction period</a:t>
            </a:r>
            <a:r>
              <a:rPr sz="2000" spc="-235" dirty="0">
                <a:latin typeface="Times New Roman"/>
                <a:cs typeface="Times New Roman"/>
              </a:rPr>
              <a:t> </a:t>
            </a:r>
            <a:r>
              <a:rPr sz="2000" dirty="0">
                <a:latin typeface="Times New Roman"/>
                <a:cs typeface="Times New Roman"/>
              </a:rPr>
              <a:t>:</a:t>
            </a:r>
            <a:endParaRPr sz="2000">
              <a:latin typeface="Times New Roman"/>
              <a:cs typeface="Times New Roman"/>
            </a:endParaRPr>
          </a:p>
          <a:p>
            <a:pPr marL="299720">
              <a:lnSpc>
                <a:spcPct val="100000"/>
              </a:lnSpc>
            </a:pPr>
            <a:r>
              <a:rPr sz="2000" dirty="0">
                <a:latin typeface="Times New Roman"/>
                <a:cs typeface="Times New Roman"/>
              </a:rPr>
              <a:t>removed by</a:t>
            </a:r>
            <a:r>
              <a:rPr sz="2000" spc="-35" dirty="0">
                <a:latin typeface="Times New Roman"/>
                <a:cs typeface="Times New Roman"/>
              </a:rPr>
              <a:t> </a:t>
            </a:r>
            <a:r>
              <a:rPr sz="2000" spc="-5" dirty="0">
                <a:latin typeface="Times New Roman"/>
                <a:cs typeface="Times New Roman"/>
              </a:rPr>
              <a:t>filteration.</a:t>
            </a:r>
            <a:endParaRPr sz="2000">
              <a:latin typeface="Times New Roman"/>
              <a:cs typeface="Times New Roman"/>
            </a:endParaRPr>
          </a:p>
          <a:p>
            <a:pPr marL="299720" indent="-274955">
              <a:lnSpc>
                <a:spcPct val="100000"/>
              </a:lnSpc>
              <a:spcBef>
                <a:spcPts val="600"/>
              </a:spcBef>
              <a:buClr>
                <a:srgbClr val="0E6EC5"/>
              </a:buClr>
              <a:buSzPct val="70000"/>
              <a:buFont typeface="Wingdings"/>
              <a:buChar char=""/>
              <a:tabLst>
                <a:tab pos="300355" algn="l"/>
              </a:tabLst>
            </a:pPr>
            <a:r>
              <a:rPr sz="2000" spc="5" dirty="0">
                <a:latin typeface="Times New Roman"/>
                <a:cs typeface="Times New Roman"/>
              </a:rPr>
              <a:t>SO</a:t>
            </a:r>
            <a:r>
              <a:rPr sz="1950" spc="7" baseline="-21367" dirty="0">
                <a:latin typeface="Times New Roman"/>
                <a:cs typeface="Times New Roman"/>
              </a:rPr>
              <a:t>2 </a:t>
            </a:r>
            <a:r>
              <a:rPr sz="2000" dirty="0">
                <a:latin typeface="Times New Roman"/>
                <a:cs typeface="Times New Roman"/>
              </a:rPr>
              <a:t>/ sodium sulphite / sodium</a:t>
            </a:r>
            <a:r>
              <a:rPr sz="2000" spc="-290" dirty="0">
                <a:latin typeface="Times New Roman"/>
                <a:cs typeface="Times New Roman"/>
              </a:rPr>
              <a:t> </a:t>
            </a:r>
            <a:r>
              <a:rPr sz="2000" spc="-5" dirty="0">
                <a:latin typeface="Times New Roman"/>
                <a:cs typeface="Times New Roman"/>
              </a:rPr>
              <a:t>thiosulphate.</a:t>
            </a:r>
            <a:endParaRPr sz="2000">
              <a:latin typeface="Times New Roman"/>
              <a:cs typeface="Times New Roman"/>
            </a:endParaRPr>
          </a:p>
          <a:p>
            <a:pPr marL="490220" indent="-465455">
              <a:lnSpc>
                <a:spcPct val="100000"/>
              </a:lnSpc>
              <a:spcBef>
                <a:spcPts val="600"/>
              </a:spcBef>
              <a:buClr>
                <a:srgbClr val="0E6EC5"/>
              </a:buClr>
              <a:buSzPct val="70000"/>
              <a:buFont typeface="Wingdings"/>
              <a:buChar char=""/>
              <a:tabLst>
                <a:tab pos="490220" algn="l"/>
                <a:tab pos="490855" algn="l"/>
                <a:tab pos="3041650" algn="l"/>
              </a:tabLst>
            </a:pPr>
            <a:r>
              <a:rPr sz="2000" spc="5" dirty="0">
                <a:latin typeface="Times New Roman"/>
                <a:cs typeface="Times New Roman"/>
              </a:rPr>
              <a:t>SO</a:t>
            </a:r>
            <a:r>
              <a:rPr sz="1950" spc="7" baseline="-21367" dirty="0">
                <a:latin typeface="Times New Roman"/>
                <a:cs typeface="Times New Roman"/>
              </a:rPr>
              <a:t>2  </a:t>
            </a:r>
            <a:r>
              <a:rPr sz="2000" dirty="0">
                <a:latin typeface="Times New Roman"/>
                <a:cs typeface="Times New Roman"/>
              </a:rPr>
              <a:t>+ Cl</a:t>
            </a:r>
            <a:r>
              <a:rPr sz="1950" baseline="-21367" dirty="0">
                <a:latin typeface="Times New Roman"/>
                <a:cs typeface="Times New Roman"/>
              </a:rPr>
              <a:t>2</a:t>
            </a:r>
            <a:r>
              <a:rPr sz="1950" spc="37" baseline="-21367" dirty="0">
                <a:latin typeface="Times New Roman"/>
                <a:cs typeface="Times New Roman"/>
              </a:rPr>
              <a:t> </a:t>
            </a:r>
            <a:r>
              <a:rPr sz="2000" dirty="0">
                <a:latin typeface="Times New Roman"/>
                <a:cs typeface="Times New Roman"/>
              </a:rPr>
              <a:t>+</a:t>
            </a:r>
            <a:r>
              <a:rPr sz="2000" spc="-10" dirty="0">
                <a:latin typeface="Times New Roman"/>
                <a:cs typeface="Times New Roman"/>
              </a:rPr>
              <a:t> </a:t>
            </a:r>
            <a:r>
              <a:rPr sz="2000" spc="5" dirty="0">
                <a:latin typeface="Times New Roman"/>
                <a:cs typeface="Times New Roman"/>
              </a:rPr>
              <a:t>2H</a:t>
            </a:r>
            <a:r>
              <a:rPr sz="1950" spc="7" baseline="-21367" dirty="0">
                <a:latin typeface="Times New Roman"/>
                <a:cs typeface="Times New Roman"/>
              </a:rPr>
              <a:t>2</a:t>
            </a:r>
            <a:r>
              <a:rPr sz="2000" spc="5" dirty="0">
                <a:latin typeface="Times New Roman"/>
                <a:cs typeface="Times New Roman"/>
              </a:rPr>
              <a:t>O	</a:t>
            </a:r>
            <a:r>
              <a:rPr sz="2000" spc="10" dirty="0">
                <a:latin typeface="Times New Roman"/>
                <a:cs typeface="Times New Roman"/>
              </a:rPr>
              <a:t>H</a:t>
            </a:r>
            <a:r>
              <a:rPr sz="1950" spc="15" baseline="-21367" dirty="0">
                <a:latin typeface="Times New Roman"/>
                <a:cs typeface="Times New Roman"/>
              </a:rPr>
              <a:t>2</a:t>
            </a:r>
            <a:r>
              <a:rPr sz="2000" spc="10" dirty="0">
                <a:latin typeface="Times New Roman"/>
                <a:cs typeface="Times New Roman"/>
              </a:rPr>
              <a:t>SO</a:t>
            </a:r>
            <a:r>
              <a:rPr sz="1950" spc="15" baseline="-21367" dirty="0">
                <a:latin typeface="Times New Roman"/>
                <a:cs typeface="Times New Roman"/>
              </a:rPr>
              <a:t>4 </a:t>
            </a:r>
            <a:r>
              <a:rPr sz="2000" dirty="0">
                <a:latin typeface="Times New Roman"/>
                <a:cs typeface="Times New Roman"/>
              </a:rPr>
              <a:t>+</a:t>
            </a:r>
            <a:r>
              <a:rPr sz="2000" spc="-195" dirty="0">
                <a:latin typeface="Times New Roman"/>
                <a:cs typeface="Times New Roman"/>
              </a:rPr>
              <a:t> </a:t>
            </a:r>
            <a:r>
              <a:rPr sz="2000" dirty="0">
                <a:latin typeface="Times New Roman"/>
                <a:cs typeface="Times New Roman"/>
              </a:rPr>
              <a:t>2HCl</a:t>
            </a:r>
            <a:endParaRPr sz="2000">
              <a:latin typeface="Times New Roman"/>
              <a:cs typeface="Times New Roman"/>
            </a:endParaRPr>
          </a:p>
          <a:p>
            <a:pPr marL="490220" indent="-465455">
              <a:lnSpc>
                <a:spcPct val="100000"/>
              </a:lnSpc>
              <a:spcBef>
                <a:spcPts val="600"/>
              </a:spcBef>
              <a:buClr>
                <a:srgbClr val="0E6EC5"/>
              </a:buClr>
              <a:buSzPct val="70000"/>
              <a:buFont typeface="Wingdings"/>
              <a:buChar char=""/>
              <a:tabLst>
                <a:tab pos="490220" algn="l"/>
                <a:tab pos="490855" algn="l"/>
                <a:tab pos="3232785" algn="l"/>
              </a:tabLst>
            </a:pPr>
            <a:r>
              <a:rPr sz="2000" spc="5" dirty="0">
                <a:latin typeface="Times New Roman"/>
                <a:cs typeface="Times New Roman"/>
              </a:rPr>
              <a:t>Na</a:t>
            </a:r>
            <a:r>
              <a:rPr sz="1950" spc="7" baseline="-21367" dirty="0">
                <a:latin typeface="Times New Roman"/>
                <a:cs typeface="Times New Roman"/>
              </a:rPr>
              <a:t>2</a:t>
            </a:r>
            <a:r>
              <a:rPr sz="2000" spc="5" dirty="0">
                <a:latin typeface="Times New Roman"/>
                <a:cs typeface="Times New Roman"/>
              </a:rPr>
              <a:t>SO</a:t>
            </a:r>
            <a:r>
              <a:rPr sz="1950" spc="7" baseline="-21367" dirty="0">
                <a:latin typeface="Times New Roman"/>
                <a:cs typeface="Times New Roman"/>
              </a:rPr>
              <a:t>3  </a:t>
            </a:r>
            <a:r>
              <a:rPr sz="2000" dirty="0">
                <a:latin typeface="Times New Roman"/>
                <a:cs typeface="Times New Roman"/>
              </a:rPr>
              <a:t>+ Cl</a:t>
            </a:r>
            <a:r>
              <a:rPr sz="1950" baseline="-21367" dirty="0">
                <a:latin typeface="Times New Roman"/>
                <a:cs typeface="Times New Roman"/>
              </a:rPr>
              <a:t>2</a:t>
            </a:r>
            <a:r>
              <a:rPr sz="1950" spc="22" baseline="-21367" dirty="0">
                <a:latin typeface="Times New Roman"/>
                <a:cs typeface="Times New Roman"/>
              </a:rPr>
              <a:t> </a:t>
            </a:r>
            <a:r>
              <a:rPr sz="2000" dirty="0">
                <a:latin typeface="Times New Roman"/>
                <a:cs typeface="Times New Roman"/>
              </a:rPr>
              <a:t>+</a:t>
            </a:r>
            <a:r>
              <a:rPr sz="2000" spc="10" dirty="0">
                <a:latin typeface="Times New Roman"/>
                <a:cs typeface="Times New Roman"/>
              </a:rPr>
              <a:t> </a:t>
            </a:r>
            <a:r>
              <a:rPr sz="2000" spc="5" dirty="0">
                <a:latin typeface="Times New Roman"/>
                <a:cs typeface="Times New Roman"/>
              </a:rPr>
              <a:t>H</a:t>
            </a:r>
            <a:r>
              <a:rPr sz="1950" spc="7" baseline="-21367" dirty="0">
                <a:latin typeface="Times New Roman"/>
                <a:cs typeface="Times New Roman"/>
              </a:rPr>
              <a:t>2</a:t>
            </a:r>
            <a:r>
              <a:rPr sz="2000" spc="5" dirty="0">
                <a:latin typeface="Times New Roman"/>
                <a:cs typeface="Times New Roman"/>
              </a:rPr>
              <a:t>O	Na</a:t>
            </a:r>
            <a:r>
              <a:rPr sz="1950" spc="7" baseline="-21367" dirty="0">
                <a:latin typeface="Times New Roman"/>
                <a:cs typeface="Times New Roman"/>
              </a:rPr>
              <a:t>2</a:t>
            </a:r>
            <a:r>
              <a:rPr sz="2000" spc="5" dirty="0">
                <a:latin typeface="Times New Roman"/>
                <a:cs typeface="Times New Roman"/>
              </a:rPr>
              <a:t>SO</a:t>
            </a:r>
            <a:r>
              <a:rPr sz="1950" spc="7" baseline="-21367" dirty="0">
                <a:latin typeface="Times New Roman"/>
                <a:cs typeface="Times New Roman"/>
              </a:rPr>
              <a:t>4 </a:t>
            </a:r>
            <a:r>
              <a:rPr sz="2000" dirty="0">
                <a:latin typeface="Times New Roman"/>
                <a:cs typeface="Times New Roman"/>
              </a:rPr>
              <a:t>+</a:t>
            </a:r>
            <a:r>
              <a:rPr sz="2000" spc="-35" dirty="0">
                <a:latin typeface="Times New Roman"/>
                <a:cs typeface="Times New Roman"/>
              </a:rPr>
              <a:t> </a:t>
            </a:r>
            <a:r>
              <a:rPr sz="2000" dirty="0">
                <a:latin typeface="Times New Roman"/>
                <a:cs typeface="Times New Roman"/>
              </a:rPr>
              <a:t>2HCl</a:t>
            </a:r>
            <a:endParaRPr sz="2000">
              <a:latin typeface="Times New Roman"/>
              <a:cs typeface="Times New Roman"/>
            </a:endParaRPr>
          </a:p>
        </p:txBody>
      </p:sp>
      <p:grpSp>
        <p:nvGrpSpPr>
          <p:cNvPr id="4" name="object 4"/>
          <p:cNvGrpSpPr/>
          <p:nvPr/>
        </p:nvGrpSpPr>
        <p:grpSpPr>
          <a:xfrm>
            <a:off x="3035807" y="4102608"/>
            <a:ext cx="407034" cy="71755"/>
            <a:chOff x="3035807" y="4102608"/>
            <a:chExt cx="407034" cy="71755"/>
          </a:xfrm>
        </p:grpSpPr>
        <p:sp>
          <p:nvSpPr>
            <p:cNvPr id="5" name="object 5"/>
            <p:cNvSpPr/>
            <p:nvPr/>
          </p:nvSpPr>
          <p:spPr>
            <a:xfrm>
              <a:off x="3048761" y="4115562"/>
              <a:ext cx="381000" cy="45720"/>
            </a:xfrm>
            <a:custGeom>
              <a:avLst/>
              <a:gdLst/>
              <a:ahLst/>
              <a:cxnLst/>
              <a:rect l="l" t="t" r="r" b="b"/>
              <a:pathLst>
                <a:path w="381000" h="45720">
                  <a:moveTo>
                    <a:pt x="358139" y="0"/>
                  </a:moveTo>
                  <a:lnTo>
                    <a:pt x="358139" y="11430"/>
                  </a:lnTo>
                  <a:lnTo>
                    <a:pt x="0" y="11430"/>
                  </a:lnTo>
                  <a:lnTo>
                    <a:pt x="0" y="34289"/>
                  </a:lnTo>
                  <a:lnTo>
                    <a:pt x="358139" y="34289"/>
                  </a:lnTo>
                  <a:lnTo>
                    <a:pt x="358139" y="45719"/>
                  </a:lnTo>
                  <a:lnTo>
                    <a:pt x="381000" y="22860"/>
                  </a:lnTo>
                  <a:lnTo>
                    <a:pt x="358139" y="0"/>
                  </a:lnTo>
                  <a:close/>
                </a:path>
              </a:pathLst>
            </a:custGeom>
            <a:solidFill>
              <a:srgbClr val="0E6EC5"/>
            </a:solidFill>
          </p:spPr>
          <p:txBody>
            <a:bodyPr wrap="square" lIns="0" tIns="0" rIns="0" bIns="0" rtlCol="0"/>
            <a:lstStyle/>
            <a:p>
              <a:endParaRPr/>
            </a:p>
          </p:txBody>
        </p:sp>
        <p:sp>
          <p:nvSpPr>
            <p:cNvPr id="6" name="object 6"/>
            <p:cNvSpPr/>
            <p:nvPr/>
          </p:nvSpPr>
          <p:spPr>
            <a:xfrm>
              <a:off x="3048761" y="4115562"/>
              <a:ext cx="381000" cy="45720"/>
            </a:xfrm>
            <a:custGeom>
              <a:avLst/>
              <a:gdLst/>
              <a:ahLst/>
              <a:cxnLst/>
              <a:rect l="l" t="t" r="r" b="b"/>
              <a:pathLst>
                <a:path w="381000" h="45720">
                  <a:moveTo>
                    <a:pt x="0" y="11430"/>
                  </a:moveTo>
                  <a:lnTo>
                    <a:pt x="358139" y="11430"/>
                  </a:lnTo>
                  <a:lnTo>
                    <a:pt x="358139" y="0"/>
                  </a:lnTo>
                  <a:lnTo>
                    <a:pt x="381000" y="22860"/>
                  </a:lnTo>
                  <a:lnTo>
                    <a:pt x="358139" y="45719"/>
                  </a:lnTo>
                  <a:lnTo>
                    <a:pt x="358139" y="34289"/>
                  </a:lnTo>
                  <a:lnTo>
                    <a:pt x="0" y="34289"/>
                  </a:lnTo>
                  <a:lnTo>
                    <a:pt x="0" y="11430"/>
                  </a:lnTo>
                  <a:close/>
                </a:path>
              </a:pathLst>
            </a:custGeom>
            <a:ln w="25908">
              <a:solidFill>
                <a:srgbClr val="085091"/>
              </a:solidFill>
            </a:ln>
          </p:spPr>
          <p:txBody>
            <a:bodyPr wrap="square" lIns="0" tIns="0" rIns="0" bIns="0" rtlCol="0"/>
            <a:lstStyle/>
            <a:p>
              <a:endParaRPr/>
            </a:p>
          </p:txBody>
        </p:sp>
      </p:grpSp>
      <p:grpSp>
        <p:nvGrpSpPr>
          <p:cNvPr id="7" name="object 7"/>
          <p:cNvGrpSpPr/>
          <p:nvPr/>
        </p:nvGrpSpPr>
        <p:grpSpPr>
          <a:xfrm>
            <a:off x="3264408" y="4483608"/>
            <a:ext cx="407034" cy="71755"/>
            <a:chOff x="3264408" y="4483608"/>
            <a:chExt cx="407034" cy="71755"/>
          </a:xfrm>
        </p:grpSpPr>
        <p:sp>
          <p:nvSpPr>
            <p:cNvPr id="8" name="object 8"/>
            <p:cNvSpPr/>
            <p:nvPr/>
          </p:nvSpPr>
          <p:spPr>
            <a:xfrm>
              <a:off x="3277362" y="4496562"/>
              <a:ext cx="381000" cy="45720"/>
            </a:xfrm>
            <a:custGeom>
              <a:avLst/>
              <a:gdLst/>
              <a:ahLst/>
              <a:cxnLst/>
              <a:rect l="l" t="t" r="r" b="b"/>
              <a:pathLst>
                <a:path w="381000" h="45720">
                  <a:moveTo>
                    <a:pt x="358139" y="0"/>
                  </a:moveTo>
                  <a:lnTo>
                    <a:pt x="358139" y="11430"/>
                  </a:lnTo>
                  <a:lnTo>
                    <a:pt x="0" y="11430"/>
                  </a:lnTo>
                  <a:lnTo>
                    <a:pt x="0" y="34289"/>
                  </a:lnTo>
                  <a:lnTo>
                    <a:pt x="358139" y="34289"/>
                  </a:lnTo>
                  <a:lnTo>
                    <a:pt x="358139" y="45719"/>
                  </a:lnTo>
                  <a:lnTo>
                    <a:pt x="381000" y="22860"/>
                  </a:lnTo>
                  <a:lnTo>
                    <a:pt x="358139" y="0"/>
                  </a:lnTo>
                  <a:close/>
                </a:path>
              </a:pathLst>
            </a:custGeom>
            <a:solidFill>
              <a:srgbClr val="0E6EC5"/>
            </a:solidFill>
          </p:spPr>
          <p:txBody>
            <a:bodyPr wrap="square" lIns="0" tIns="0" rIns="0" bIns="0" rtlCol="0"/>
            <a:lstStyle/>
            <a:p>
              <a:endParaRPr/>
            </a:p>
          </p:txBody>
        </p:sp>
        <p:sp>
          <p:nvSpPr>
            <p:cNvPr id="9" name="object 9"/>
            <p:cNvSpPr/>
            <p:nvPr/>
          </p:nvSpPr>
          <p:spPr>
            <a:xfrm>
              <a:off x="3277362" y="4496562"/>
              <a:ext cx="381000" cy="45720"/>
            </a:xfrm>
            <a:custGeom>
              <a:avLst/>
              <a:gdLst/>
              <a:ahLst/>
              <a:cxnLst/>
              <a:rect l="l" t="t" r="r" b="b"/>
              <a:pathLst>
                <a:path w="381000" h="45720">
                  <a:moveTo>
                    <a:pt x="0" y="11430"/>
                  </a:moveTo>
                  <a:lnTo>
                    <a:pt x="358139" y="11430"/>
                  </a:lnTo>
                  <a:lnTo>
                    <a:pt x="358139" y="0"/>
                  </a:lnTo>
                  <a:lnTo>
                    <a:pt x="381000" y="22860"/>
                  </a:lnTo>
                  <a:lnTo>
                    <a:pt x="358139" y="45719"/>
                  </a:lnTo>
                  <a:lnTo>
                    <a:pt x="358139" y="34289"/>
                  </a:lnTo>
                  <a:lnTo>
                    <a:pt x="0" y="34289"/>
                  </a:lnTo>
                  <a:lnTo>
                    <a:pt x="0" y="11430"/>
                  </a:lnTo>
                  <a:close/>
                </a:path>
              </a:pathLst>
            </a:custGeom>
            <a:ln w="25908">
              <a:solidFill>
                <a:srgbClr val="085091"/>
              </a:solidFill>
            </a:ln>
          </p:spPr>
          <p:txBody>
            <a:bodyPr wrap="square" lIns="0" tIns="0" rIns="0" bIns="0" rtlCol="0"/>
            <a:lstStyle/>
            <a:p>
              <a:endParaRPr/>
            </a:p>
          </p:txBody>
        </p:sp>
      </p:gr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104</a:t>
            </a:fld>
            <a:endParaRPr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888619"/>
            <a:ext cx="1924050" cy="482600"/>
          </a:xfrm>
          <a:prstGeom prst="rect">
            <a:avLst/>
          </a:prstGeom>
        </p:spPr>
        <p:txBody>
          <a:bodyPr vert="horz" wrap="square" lIns="0" tIns="12700" rIns="0" bIns="0" rtlCol="0">
            <a:spAutoFit/>
          </a:bodyPr>
          <a:lstStyle/>
          <a:p>
            <a:pPr marL="12700">
              <a:lnSpc>
                <a:spcPct val="100000"/>
              </a:lnSpc>
              <a:spcBef>
                <a:spcPts val="100"/>
              </a:spcBef>
            </a:pPr>
            <a:r>
              <a:rPr sz="3000" dirty="0"/>
              <a:t>R</a:t>
            </a:r>
            <a:r>
              <a:rPr dirty="0"/>
              <a:t>EFERENC</a:t>
            </a:r>
            <a:r>
              <a:rPr spc="-25" dirty="0"/>
              <a:t>E</a:t>
            </a:r>
            <a:r>
              <a:rPr sz="3000" dirty="0"/>
              <a:t>:</a:t>
            </a:r>
            <a:endParaRPr sz="30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105</a:t>
            </a:fld>
            <a:endParaRPr dirty="0"/>
          </a:p>
        </p:txBody>
      </p:sp>
      <p:sp>
        <p:nvSpPr>
          <p:cNvPr id="3" name="object 3"/>
          <p:cNvSpPr txBox="1"/>
          <p:nvPr/>
        </p:nvSpPr>
        <p:spPr>
          <a:xfrm>
            <a:off x="535940" y="1545904"/>
            <a:ext cx="5914390" cy="4446905"/>
          </a:xfrm>
          <a:prstGeom prst="rect">
            <a:avLst/>
          </a:prstGeom>
        </p:spPr>
        <p:txBody>
          <a:bodyPr vert="horz" wrap="square" lIns="0" tIns="89535" rIns="0" bIns="0" rtlCol="0">
            <a:spAutoFit/>
          </a:bodyPr>
          <a:lstStyle/>
          <a:p>
            <a:pPr marL="12700">
              <a:lnSpc>
                <a:spcPct val="100000"/>
              </a:lnSpc>
              <a:spcBef>
                <a:spcPts val="705"/>
              </a:spcBef>
            </a:pPr>
            <a:r>
              <a:rPr sz="2400" spc="-5" dirty="0">
                <a:latin typeface="Times New Roman"/>
                <a:cs typeface="Times New Roman"/>
              </a:rPr>
              <a:t>Image </a:t>
            </a:r>
            <a:r>
              <a:rPr sz="2400" dirty="0">
                <a:latin typeface="Times New Roman"/>
                <a:cs typeface="Times New Roman"/>
              </a:rPr>
              <a:t>1:</a:t>
            </a:r>
            <a:r>
              <a:rPr sz="2400" spc="-5" dirty="0">
                <a:latin typeface="Times New Roman"/>
                <a:cs typeface="Times New Roman"/>
              </a:rPr>
              <a:t> </a:t>
            </a:r>
            <a:r>
              <a:rPr sz="2400" u="heavy" spc="-5" dirty="0">
                <a:solidFill>
                  <a:srgbClr val="E1D600"/>
                </a:solidFill>
                <a:uFill>
                  <a:solidFill>
                    <a:srgbClr val="E1D600"/>
                  </a:solidFill>
                </a:uFill>
                <a:latin typeface="Times New Roman"/>
                <a:cs typeface="Times New Roman"/>
                <a:hlinkClick r:id="rId2"/>
              </a:rPr>
              <a:t>http://postimg.org/image/9dskyjsvj/</a:t>
            </a:r>
            <a:endParaRPr sz="2400">
              <a:latin typeface="Times New Roman"/>
              <a:cs typeface="Times New Roman"/>
            </a:endParaRPr>
          </a:p>
          <a:p>
            <a:pPr marL="12700">
              <a:lnSpc>
                <a:spcPct val="100000"/>
              </a:lnSpc>
              <a:spcBef>
                <a:spcPts val="600"/>
              </a:spcBef>
            </a:pPr>
            <a:r>
              <a:rPr sz="2400" spc="-5" dirty="0">
                <a:latin typeface="Times New Roman"/>
                <a:cs typeface="Times New Roman"/>
              </a:rPr>
              <a:t>Image </a:t>
            </a:r>
            <a:r>
              <a:rPr sz="2400" dirty="0">
                <a:latin typeface="Times New Roman"/>
                <a:cs typeface="Times New Roman"/>
              </a:rPr>
              <a:t>2:</a:t>
            </a:r>
            <a:r>
              <a:rPr sz="2400" spc="-5" dirty="0">
                <a:latin typeface="Times New Roman"/>
                <a:cs typeface="Times New Roman"/>
              </a:rPr>
              <a:t> </a:t>
            </a:r>
            <a:r>
              <a:rPr sz="2400" u="heavy" spc="-5" dirty="0">
                <a:solidFill>
                  <a:srgbClr val="E1D600"/>
                </a:solidFill>
                <a:uFill>
                  <a:solidFill>
                    <a:srgbClr val="E1D600"/>
                  </a:solidFill>
                </a:uFill>
                <a:latin typeface="Times New Roman"/>
                <a:cs typeface="Times New Roman"/>
                <a:hlinkClick r:id="rId3"/>
              </a:rPr>
              <a:t>http://postimg.org/image/3kawku281/</a:t>
            </a:r>
            <a:endParaRPr sz="2400">
              <a:latin typeface="Times New Roman"/>
              <a:cs typeface="Times New Roman"/>
            </a:endParaRPr>
          </a:p>
          <a:p>
            <a:pPr marL="12700">
              <a:lnSpc>
                <a:spcPct val="100000"/>
              </a:lnSpc>
              <a:spcBef>
                <a:spcPts val="600"/>
              </a:spcBef>
            </a:pPr>
            <a:r>
              <a:rPr sz="2400" spc="-5" dirty="0">
                <a:latin typeface="Times New Roman"/>
                <a:cs typeface="Times New Roman"/>
              </a:rPr>
              <a:t>Image </a:t>
            </a:r>
            <a:r>
              <a:rPr sz="2400" dirty="0">
                <a:latin typeface="Times New Roman"/>
                <a:cs typeface="Times New Roman"/>
              </a:rPr>
              <a:t>3:</a:t>
            </a:r>
            <a:r>
              <a:rPr sz="2400" spc="-5" dirty="0">
                <a:latin typeface="Times New Roman"/>
                <a:cs typeface="Times New Roman"/>
              </a:rPr>
              <a:t> </a:t>
            </a:r>
            <a:r>
              <a:rPr sz="2400" u="heavy" spc="-5" dirty="0">
                <a:solidFill>
                  <a:srgbClr val="E1D600"/>
                </a:solidFill>
                <a:uFill>
                  <a:solidFill>
                    <a:srgbClr val="E1D600"/>
                  </a:solidFill>
                </a:uFill>
                <a:latin typeface="Times New Roman"/>
                <a:cs typeface="Times New Roman"/>
                <a:hlinkClick r:id="rId4"/>
              </a:rPr>
              <a:t>http://postimg.org/image/ritblpo01/</a:t>
            </a:r>
            <a:endParaRPr sz="2400">
              <a:latin typeface="Times New Roman"/>
              <a:cs typeface="Times New Roman"/>
            </a:endParaRPr>
          </a:p>
          <a:p>
            <a:pPr marL="12700" marR="1631950">
              <a:lnSpc>
                <a:spcPts val="3479"/>
              </a:lnSpc>
              <a:spcBef>
                <a:spcPts val="219"/>
              </a:spcBef>
            </a:pPr>
            <a:r>
              <a:rPr sz="2400" spc="-5" dirty="0">
                <a:latin typeface="Times New Roman"/>
                <a:cs typeface="Times New Roman"/>
              </a:rPr>
              <a:t>Image </a:t>
            </a:r>
            <a:r>
              <a:rPr sz="2400" dirty="0">
                <a:latin typeface="Times New Roman"/>
                <a:cs typeface="Times New Roman"/>
              </a:rPr>
              <a:t>4: </a:t>
            </a:r>
            <a:r>
              <a:rPr sz="2400" spc="-10" dirty="0">
                <a:latin typeface="Times New Roman"/>
                <a:cs typeface="Times New Roman"/>
                <a:hlinkClick r:id="rId5"/>
              </a:rPr>
              <a:t>http://www.slideshare.net </a:t>
            </a:r>
            <a:r>
              <a:rPr sz="2400" spc="-10" dirty="0">
                <a:latin typeface="Times New Roman"/>
                <a:cs typeface="Times New Roman"/>
              </a:rPr>
              <a:t> </a:t>
            </a:r>
            <a:r>
              <a:rPr sz="2400" spc="-5" dirty="0">
                <a:latin typeface="Times New Roman"/>
                <a:cs typeface="Times New Roman"/>
              </a:rPr>
              <a:t>Image</a:t>
            </a:r>
            <a:r>
              <a:rPr sz="2400" spc="5" dirty="0">
                <a:latin typeface="Times New Roman"/>
                <a:cs typeface="Times New Roman"/>
              </a:rPr>
              <a:t> </a:t>
            </a:r>
            <a:r>
              <a:rPr sz="2400" spc="-10" dirty="0">
                <a:latin typeface="Times New Roman"/>
                <a:cs typeface="Times New Roman"/>
              </a:rPr>
              <a:t>5:</a:t>
            </a:r>
            <a:r>
              <a:rPr sz="2400" spc="-10" dirty="0">
                <a:latin typeface="Times New Roman"/>
                <a:cs typeface="Times New Roman"/>
                <a:hlinkClick r:id="rId5"/>
              </a:rPr>
              <a:t>http://www.slideshare.net</a:t>
            </a:r>
            <a:endParaRPr sz="2400">
              <a:latin typeface="Times New Roman"/>
              <a:cs typeface="Times New Roman"/>
            </a:endParaRPr>
          </a:p>
          <a:p>
            <a:pPr marL="12700">
              <a:lnSpc>
                <a:spcPct val="100000"/>
              </a:lnSpc>
              <a:spcBef>
                <a:spcPts val="385"/>
              </a:spcBef>
            </a:pPr>
            <a:r>
              <a:rPr sz="2400" spc="-5" dirty="0">
                <a:latin typeface="Times New Roman"/>
                <a:cs typeface="Times New Roman"/>
              </a:rPr>
              <a:t>Image </a:t>
            </a:r>
            <a:r>
              <a:rPr sz="2400" dirty="0">
                <a:latin typeface="Times New Roman"/>
                <a:cs typeface="Times New Roman"/>
              </a:rPr>
              <a:t>6:</a:t>
            </a:r>
            <a:r>
              <a:rPr sz="2400" spc="-10" dirty="0">
                <a:latin typeface="Times New Roman"/>
                <a:cs typeface="Times New Roman"/>
              </a:rPr>
              <a:t> </a:t>
            </a:r>
            <a:r>
              <a:rPr sz="2400" u="heavy" spc="-5" dirty="0">
                <a:solidFill>
                  <a:srgbClr val="E1D600"/>
                </a:solidFill>
                <a:uFill>
                  <a:solidFill>
                    <a:srgbClr val="E1D600"/>
                  </a:solidFill>
                </a:uFill>
                <a:latin typeface="Times New Roman"/>
                <a:cs typeface="Times New Roman"/>
                <a:hlinkClick r:id="rId6"/>
              </a:rPr>
              <a:t>http://postimg.org/image/rhjdsam69/</a:t>
            </a:r>
            <a:endParaRPr sz="2400">
              <a:latin typeface="Times New Roman"/>
              <a:cs typeface="Times New Roman"/>
            </a:endParaRPr>
          </a:p>
          <a:p>
            <a:pPr marL="12700">
              <a:lnSpc>
                <a:spcPct val="100000"/>
              </a:lnSpc>
              <a:spcBef>
                <a:spcPts val="600"/>
              </a:spcBef>
            </a:pPr>
            <a:r>
              <a:rPr sz="2400" spc="-5" dirty="0">
                <a:latin typeface="Times New Roman"/>
                <a:cs typeface="Times New Roman"/>
              </a:rPr>
              <a:t>Image </a:t>
            </a:r>
            <a:r>
              <a:rPr sz="2400" dirty="0">
                <a:latin typeface="Times New Roman"/>
                <a:cs typeface="Times New Roman"/>
              </a:rPr>
              <a:t>7:</a:t>
            </a:r>
            <a:r>
              <a:rPr sz="2400" spc="-10" dirty="0">
                <a:latin typeface="Times New Roman"/>
                <a:cs typeface="Times New Roman"/>
              </a:rPr>
              <a:t> </a:t>
            </a:r>
            <a:r>
              <a:rPr sz="2400" spc="-5" dirty="0">
                <a:latin typeface="Times New Roman"/>
                <a:cs typeface="Times New Roman"/>
                <a:hlinkClick r:id="rId7"/>
              </a:rPr>
              <a:t>http://postimg.org/image/d0w4dpwox/</a:t>
            </a:r>
            <a:endParaRPr sz="2400">
              <a:latin typeface="Times New Roman"/>
              <a:cs typeface="Times New Roman"/>
            </a:endParaRPr>
          </a:p>
          <a:p>
            <a:pPr marL="12700">
              <a:lnSpc>
                <a:spcPct val="100000"/>
              </a:lnSpc>
              <a:spcBef>
                <a:spcPts val="600"/>
              </a:spcBef>
            </a:pPr>
            <a:r>
              <a:rPr sz="2400" spc="-5" dirty="0">
                <a:latin typeface="Times New Roman"/>
                <a:cs typeface="Times New Roman"/>
              </a:rPr>
              <a:t>Image </a:t>
            </a:r>
            <a:r>
              <a:rPr sz="2400" dirty="0">
                <a:latin typeface="Times New Roman"/>
                <a:cs typeface="Times New Roman"/>
              </a:rPr>
              <a:t>8:</a:t>
            </a:r>
            <a:r>
              <a:rPr sz="2400" spc="-5" dirty="0">
                <a:latin typeface="Times New Roman"/>
                <a:cs typeface="Times New Roman"/>
              </a:rPr>
              <a:t> </a:t>
            </a:r>
            <a:r>
              <a:rPr sz="2400" u="heavy" spc="-5" dirty="0">
                <a:solidFill>
                  <a:srgbClr val="E1D600"/>
                </a:solidFill>
                <a:uFill>
                  <a:solidFill>
                    <a:srgbClr val="E1D600"/>
                  </a:solidFill>
                </a:uFill>
                <a:latin typeface="Times New Roman"/>
                <a:cs typeface="Times New Roman"/>
                <a:hlinkClick r:id="rId8"/>
              </a:rPr>
              <a:t>http://postimg.org/image/ficgyq5z5/</a:t>
            </a:r>
            <a:endParaRPr sz="2400">
              <a:latin typeface="Times New Roman"/>
              <a:cs typeface="Times New Roman"/>
            </a:endParaRPr>
          </a:p>
          <a:p>
            <a:pPr marL="12700">
              <a:lnSpc>
                <a:spcPct val="100000"/>
              </a:lnSpc>
              <a:spcBef>
                <a:spcPts val="600"/>
              </a:spcBef>
            </a:pPr>
            <a:r>
              <a:rPr sz="2400" spc="-5" dirty="0">
                <a:latin typeface="Times New Roman"/>
                <a:cs typeface="Times New Roman"/>
              </a:rPr>
              <a:t>Image </a:t>
            </a:r>
            <a:r>
              <a:rPr sz="2400" dirty="0">
                <a:latin typeface="Times New Roman"/>
                <a:cs typeface="Times New Roman"/>
              </a:rPr>
              <a:t>9: </a:t>
            </a:r>
            <a:r>
              <a:rPr sz="2400" u="heavy" spc="-5" dirty="0">
                <a:solidFill>
                  <a:srgbClr val="E1D600"/>
                </a:solidFill>
                <a:uFill>
                  <a:solidFill>
                    <a:srgbClr val="E1D600"/>
                  </a:solidFill>
                </a:uFill>
                <a:latin typeface="Times New Roman"/>
                <a:cs typeface="Times New Roman"/>
                <a:hlinkClick r:id="rId9"/>
              </a:rPr>
              <a:t>http://postimg.org/image/c7o3yug1t/</a:t>
            </a:r>
            <a:endParaRPr sz="2400">
              <a:latin typeface="Times New Roman"/>
              <a:cs typeface="Times New Roman"/>
            </a:endParaRPr>
          </a:p>
          <a:p>
            <a:pPr marL="12700">
              <a:lnSpc>
                <a:spcPct val="100000"/>
              </a:lnSpc>
              <a:spcBef>
                <a:spcPts val="600"/>
              </a:spcBef>
            </a:pPr>
            <a:r>
              <a:rPr sz="2400" spc="-5" dirty="0">
                <a:latin typeface="Times New Roman"/>
                <a:cs typeface="Times New Roman"/>
              </a:rPr>
              <a:t>Image </a:t>
            </a:r>
            <a:r>
              <a:rPr sz="2400" dirty="0">
                <a:latin typeface="Times New Roman"/>
                <a:cs typeface="Times New Roman"/>
              </a:rPr>
              <a:t>10:</a:t>
            </a:r>
            <a:r>
              <a:rPr sz="2400" spc="-5" dirty="0">
                <a:latin typeface="Times New Roman"/>
                <a:cs typeface="Times New Roman"/>
              </a:rPr>
              <a:t> </a:t>
            </a:r>
            <a:r>
              <a:rPr sz="2400" u="heavy" spc="-5" dirty="0">
                <a:solidFill>
                  <a:srgbClr val="E1D600"/>
                </a:solidFill>
                <a:uFill>
                  <a:solidFill>
                    <a:srgbClr val="E1D600"/>
                  </a:solidFill>
                </a:uFill>
                <a:latin typeface="Times New Roman"/>
                <a:cs typeface="Times New Roman"/>
                <a:hlinkClick r:id="rId10"/>
              </a:rPr>
              <a:t>http://postimg.org/image/a82wtowch/</a:t>
            </a:r>
            <a:endParaRPr sz="2400">
              <a:latin typeface="Times New Roman"/>
              <a:cs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45904"/>
            <a:ext cx="5982335" cy="3562985"/>
          </a:xfrm>
          <a:prstGeom prst="rect">
            <a:avLst/>
          </a:prstGeom>
        </p:spPr>
        <p:txBody>
          <a:bodyPr vert="horz" wrap="square" lIns="0" tIns="89535" rIns="0" bIns="0" rtlCol="0">
            <a:spAutoFit/>
          </a:bodyPr>
          <a:lstStyle/>
          <a:p>
            <a:pPr marL="12700">
              <a:lnSpc>
                <a:spcPct val="100000"/>
              </a:lnSpc>
              <a:spcBef>
                <a:spcPts val="705"/>
              </a:spcBef>
            </a:pPr>
            <a:r>
              <a:rPr sz="2400" spc="-5" dirty="0">
                <a:latin typeface="Times New Roman"/>
                <a:cs typeface="Times New Roman"/>
              </a:rPr>
              <a:t>Image </a:t>
            </a:r>
            <a:r>
              <a:rPr sz="2400" spc="-30" dirty="0">
                <a:latin typeface="Times New Roman"/>
                <a:cs typeface="Times New Roman"/>
              </a:rPr>
              <a:t>11:</a:t>
            </a:r>
            <a:r>
              <a:rPr sz="2400" spc="-5" dirty="0">
                <a:latin typeface="Times New Roman"/>
                <a:cs typeface="Times New Roman"/>
              </a:rPr>
              <a:t> </a:t>
            </a:r>
            <a:r>
              <a:rPr sz="2400" u="heavy" spc="-5" dirty="0">
                <a:solidFill>
                  <a:srgbClr val="E1D600"/>
                </a:solidFill>
                <a:uFill>
                  <a:solidFill>
                    <a:srgbClr val="E1D600"/>
                  </a:solidFill>
                </a:uFill>
                <a:latin typeface="Times New Roman"/>
                <a:cs typeface="Times New Roman"/>
                <a:hlinkClick r:id="rId2"/>
              </a:rPr>
              <a:t>http://postimg.org/image/sc5xebu0x/</a:t>
            </a:r>
            <a:endParaRPr sz="2400">
              <a:latin typeface="Times New Roman"/>
              <a:cs typeface="Times New Roman"/>
            </a:endParaRPr>
          </a:p>
          <a:p>
            <a:pPr marL="12700">
              <a:lnSpc>
                <a:spcPct val="100000"/>
              </a:lnSpc>
              <a:spcBef>
                <a:spcPts val="600"/>
              </a:spcBef>
            </a:pPr>
            <a:r>
              <a:rPr sz="2400" spc="-5" dirty="0">
                <a:latin typeface="Times New Roman"/>
                <a:cs typeface="Times New Roman"/>
              </a:rPr>
              <a:t>Image </a:t>
            </a:r>
            <a:r>
              <a:rPr sz="2400" dirty="0">
                <a:latin typeface="Times New Roman"/>
                <a:cs typeface="Times New Roman"/>
              </a:rPr>
              <a:t>12:</a:t>
            </a:r>
            <a:r>
              <a:rPr sz="2400" spc="-10" dirty="0">
                <a:latin typeface="Times New Roman"/>
                <a:cs typeface="Times New Roman"/>
              </a:rPr>
              <a:t> </a:t>
            </a:r>
            <a:r>
              <a:rPr sz="2400" u="heavy" spc="-5" dirty="0">
                <a:solidFill>
                  <a:srgbClr val="E1D600"/>
                </a:solidFill>
                <a:uFill>
                  <a:solidFill>
                    <a:srgbClr val="E1D600"/>
                  </a:solidFill>
                </a:uFill>
                <a:latin typeface="Times New Roman"/>
                <a:cs typeface="Times New Roman"/>
                <a:hlinkClick r:id="rId3"/>
              </a:rPr>
              <a:t>http://postimg.org/image/51wcwe6yp/</a:t>
            </a:r>
            <a:endParaRPr sz="2400">
              <a:latin typeface="Times New Roman"/>
              <a:cs typeface="Times New Roman"/>
            </a:endParaRPr>
          </a:p>
          <a:p>
            <a:pPr marL="12700">
              <a:lnSpc>
                <a:spcPct val="100000"/>
              </a:lnSpc>
              <a:spcBef>
                <a:spcPts val="600"/>
              </a:spcBef>
            </a:pPr>
            <a:r>
              <a:rPr sz="2400" spc="-5" dirty="0">
                <a:latin typeface="Times New Roman"/>
                <a:cs typeface="Times New Roman"/>
              </a:rPr>
              <a:t>Image </a:t>
            </a:r>
            <a:r>
              <a:rPr sz="2400" dirty="0">
                <a:latin typeface="Times New Roman"/>
                <a:cs typeface="Times New Roman"/>
              </a:rPr>
              <a:t>13:</a:t>
            </a:r>
            <a:r>
              <a:rPr sz="2400" spc="-15" dirty="0">
                <a:latin typeface="Times New Roman"/>
                <a:cs typeface="Times New Roman"/>
              </a:rPr>
              <a:t> </a:t>
            </a:r>
            <a:r>
              <a:rPr sz="2400" u="heavy" spc="-5" dirty="0">
                <a:solidFill>
                  <a:srgbClr val="E1D600"/>
                </a:solidFill>
                <a:uFill>
                  <a:solidFill>
                    <a:srgbClr val="E1D600"/>
                  </a:solidFill>
                </a:uFill>
                <a:latin typeface="Times New Roman"/>
                <a:cs typeface="Times New Roman"/>
                <a:hlinkClick r:id="rId4"/>
              </a:rPr>
              <a:t>http://postimg.org/image/dnzmgziyp/</a:t>
            </a:r>
            <a:endParaRPr sz="2400">
              <a:latin typeface="Times New Roman"/>
              <a:cs typeface="Times New Roman"/>
            </a:endParaRPr>
          </a:p>
          <a:p>
            <a:pPr marL="12700">
              <a:lnSpc>
                <a:spcPct val="100000"/>
              </a:lnSpc>
              <a:spcBef>
                <a:spcPts val="600"/>
              </a:spcBef>
            </a:pPr>
            <a:r>
              <a:rPr sz="2400" spc="-5" dirty="0">
                <a:latin typeface="Times New Roman"/>
                <a:cs typeface="Times New Roman"/>
              </a:rPr>
              <a:t>Image </a:t>
            </a:r>
            <a:r>
              <a:rPr sz="2400" dirty="0">
                <a:latin typeface="Times New Roman"/>
                <a:cs typeface="Times New Roman"/>
              </a:rPr>
              <a:t>14:</a:t>
            </a:r>
            <a:r>
              <a:rPr sz="2400" spc="-5" dirty="0">
                <a:latin typeface="Times New Roman"/>
                <a:cs typeface="Times New Roman"/>
              </a:rPr>
              <a:t> </a:t>
            </a:r>
            <a:r>
              <a:rPr sz="2400" spc="-10" dirty="0">
                <a:latin typeface="Times New Roman"/>
                <a:cs typeface="Times New Roman"/>
                <a:hlinkClick r:id="rId5"/>
              </a:rPr>
              <a:t>http://www.slideshare.net</a:t>
            </a:r>
            <a:endParaRPr sz="2400">
              <a:latin typeface="Times New Roman"/>
              <a:cs typeface="Times New Roman"/>
            </a:endParaRPr>
          </a:p>
          <a:p>
            <a:pPr marL="12700" marR="1617345">
              <a:lnSpc>
                <a:spcPct val="120800"/>
              </a:lnSpc>
              <a:spcBef>
                <a:spcPts val="5"/>
              </a:spcBef>
            </a:pPr>
            <a:r>
              <a:rPr sz="2400" spc="-5" dirty="0">
                <a:latin typeface="Times New Roman"/>
                <a:cs typeface="Times New Roman"/>
              </a:rPr>
              <a:t>Image</a:t>
            </a:r>
            <a:r>
              <a:rPr sz="2400" spc="-80" dirty="0">
                <a:latin typeface="Times New Roman"/>
                <a:cs typeface="Times New Roman"/>
              </a:rPr>
              <a:t> </a:t>
            </a:r>
            <a:r>
              <a:rPr sz="2400" spc="-5" dirty="0">
                <a:latin typeface="Times New Roman"/>
                <a:cs typeface="Times New Roman"/>
              </a:rPr>
              <a:t>15:</a:t>
            </a:r>
            <a:r>
              <a:rPr sz="2400" spc="-5" dirty="0">
                <a:latin typeface="Times New Roman"/>
                <a:cs typeface="Times New Roman"/>
                <a:hlinkClick r:id="rId5"/>
              </a:rPr>
              <a:t>http://www.slideshare.net </a:t>
            </a:r>
            <a:r>
              <a:rPr sz="2400" spc="-5" dirty="0">
                <a:latin typeface="Times New Roman"/>
                <a:cs typeface="Times New Roman"/>
              </a:rPr>
              <a:t> Image</a:t>
            </a:r>
            <a:r>
              <a:rPr sz="2400" spc="-80" dirty="0">
                <a:latin typeface="Times New Roman"/>
                <a:cs typeface="Times New Roman"/>
              </a:rPr>
              <a:t> </a:t>
            </a:r>
            <a:r>
              <a:rPr sz="2400" spc="-5" dirty="0">
                <a:latin typeface="Times New Roman"/>
                <a:cs typeface="Times New Roman"/>
              </a:rPr>
              <a:t>16:</a:t>
            </a:r>
            <a:r>
              <a:rPr sz="2400" spc="-5" dirty="0">
                <a:latin typeface="Times New Roman"/>
                <a:cs typeface="Times New Roman"/>
                <a:hlinkClick r:id="rId5"/>
              </a:rPr>
              <a:t>http://www.slideshare.net</a:t>
            </a:r>
            <a:endParaRPr sz="2400">
              <a:latin typeface="Times New Roman"/>
              <a:cs typeface="Times New Roman"/>
            </a:endParaRPr>
          </a:p>
          <a:p>
            <a:pPr marL="12700" marR="198755">
              <a:lnSpc>
                <a:spcPct val="120800"/>
              </a:lnSpc>
            </a:pPr>
            <a:r>
              <a:rPr sz="2400" spc="-5" dirty="0">
                <a:latin typeface="Times New Roman"/>
                <a:cs typeface="Times New Roman"/>
              </a:rPr>
              <a:t>Image 17:</a:t>
            </a:r>
            <a:r>
              <a:rPr sz="2400" spc="-5" dirty="0">
                <a:latin typeface="Times New Roman"/>
                <a:cs typeface="Times New Roman"/>
                <a:hlinkClick r:id="rId6"/>
              </a:rPr>
              <a:t>http://postimg.org/image/p1m5s6thd/ </a:t>
            </a:r>
            <a:r>
              <a:rPr sz="2400" spc="-5" dirty="0">
                <a:latin typeface="Times New Roman"/>
                <a:cs typeface="Times New Roman"/>
              </a:rPr>
              <a:t> Image </a:t>
            </a:r>
            <a:r>
              <a:rPr sz="2400" spc="-5" dirty="0">
                <a:latin typeface="Times New Roman"/>
                <a:cs typeface="Times New Roman"/>
                <a:hlinkClick r:id="rId7"/>
              </a:rPr>
              <a:t>18:http://post</a:t>
            </a:r>
            <a:r>
              <a:rPr sz="2400" spc="-5" dirty="0">
                <a:latin typeface="Times New Roman"/>
                <a:cs typeface="Times New Roman"/>
              </a:rPr>
              <a:t>im</a:t>
            </a:r>
            <a:r>
              <a:rPr sz="2400" spc="-5" dirty="0">
                <a:latin typeface="Times New Roman"/>
                <a:cs typeface="Times New Roman"/>
                <a:hlinkClick r:id="rId7"/>
              </a:rPr>
              <a:t>g.or</a:t>
            </a:r>
            <a:r>
              <a:rPr sz="2400" spc="-5" dirty="0">
                <a:latin typeface="Times New Roman"/>
                <a:cs typeface="Times New Roman"/>
              </a:rPr>
              <a:t>g</a:t>
            </a:r>
            <a:r>
              <a:rPr sz="2400" spc="-5" dirty="0">
                <a:latin typeface="Times New Roman"/>
                <a:cs typeface="Times New Roman"/>
                <a:hlinkClick r:id="rId7"/>
              </a:rPr>
              <a:t>/image/mqetl9cbr/</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106</a:t>
            </a:fld>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4E36952C89F14DABCC7C3B0A26BFA1" ma:contentTypeVersion="4" ma:contentTypeDescription="Create a new document." ma:contentTypeScope="" ma:versionID="533ffa7aafc908271a4d0785aa310c7b">
  <xsd:schema xmlns:xsd="http://www.w3.org/2001/XMLSchema" xmlns:xs="http://www.w3.org/2001/XMLSchema" xmlns:p="http://schemas.microsoft.com/office/2006/metadata/properties" xmlns:ns2="97644cf0-2d2c-415d-98e4-2649efeaccca" targetNamespace="http://schemas.microsoft.com/office/2006/metadata/properties" ma:root="true" ma:fieldsID="8b40478d80edcb265679e6a01a0da177" ns2:_="">
    <xsd:import namespace="97644cf0-2d2c-415d-98e4-2649efeaccc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644cf0-2d2c-415d-98e4-2649efeacc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3291671-BCFE-4A49-A13A-2716247E9B32}"/>
</file>

<file path=customXml/itemProps2.xml><?xml version="1.0" encoding="utf-8"?>
<ds:datastoreItem xmlns:ds="http://schemas.openxmlformats.org/officeDocument/2006/customXml" ds:itemID="{B6D38AF8-D348-4AD3-88C4-0DE43030E762}"/>
</file>

<file path=customXml/itemProps3.xml><?xml version="1.0" encoding="utf-8"?>
<ds:datastoreItem xmlns:ds="http://schemas.openxmlformats.org/officeDocument/2006/customXml" ds:itemID="{D1A70E2F-FFF8-440A-9929-892B8FA9E99E}"/>
</file>

<file path=docProps/app.xml><?xml version="1.0" encoding="utf-8"?>
<Properties xmlns="http://schemas.openxmlformats.org/officeDocument/2006/extended-properties" xmlns:vt="http://schemas.openxmlformats.org/officeDocument/2006/docPropsVTypes">
  <Template/>
  <TotalTime>143</TotalTime>
  <Words>5203</Words>
  <Application>Microsoft Office PowerPoint</Application>
  <PresentationFormat>On-screen Show (4:3)</PresentationFormat>
  <Paragraphs>848</Paragraphs>
  <Slides>106</Slides>
  <Notes>0</Notes>
  <HiddenSlides>0</HiddenSlides>
  <MMClips>0</MMClips>
  <ScaleCrop>false</ScaleCrop>
  <HeadingPairs>
    <vt:vector size="4" baseType="variant">
      <vt:variant>
        <vt:lpstr>Theme</vt:lpstr>
      </vt:variant>
      <vt:variant>
        <vt:i4>1</vt:i4>
      </vt:variant>
      <vt:variant>
        <vt:lpstr>Slide Titles</vt:lpstr>
      </vt:variant>
      <vt:variant>
        <vt:i4>106</vt:i4>
      </vt:variant>
    </vt:vector>
  </HeadingPairs>
  <TitlesOfParts>
    <vt:vector size="107" baseType="lpstr">
      <vt:lpstr>Office Theme</vt:lpstr>
      <vt:lpstr>Slide 1</vt:lpstr>
      <vt:lpstr>Slide 2</vt:lpstr>
      <vt:lpstr>Slide 3</vt:lpstr>
      <vt:lpstr>Slide 4</vt:lpstr>
      <vt:lpstr>Slide 5</vt:lpstr>
      <vt:lpstr>Slide 6</vt:lpstr>
      <vt:lpstr>Slide 7</vt:lpstr>
      <vt:lpstr>Slide 8</vt:lpstr>
      <vt:lpstr>WATER TECHNOLOGY</vt:lpstr>
      <vt:lpstr>Slide 10</vt:lpstr>
      <vt:lpstr>Slide 11</vt:lpstr>
      <vt:lpstr>Slide 12</vt:lpstr>
      <vt:lpstr>WATER TECHNOLOGY</vt:lpstr>
      <vt:lpstr>Slide 14</vt:lpstr>
      <vt:lpstr>Slide 15</vt:lpstr>
      <vt:lpstr>Slide 16</vt:lpstr>
      <vt:lpstr>Slide 17</vt:lpstr>
      <vt:lpstr>Slide 18</vt:lpstr>
      <vt:lpstr>Slide 19</vt:lpstr>
      <vt:lpstr>Slide 20</vt:lpstr>
      <vt:lpstr>Slide 21</vt:lpstr>
      <vt:lpstr>Sources of Water</vt:lpstr>
      <vt:lpstr>MAJOR IMPURITIES OF WATER</vt:lpstr>
      <vt:lpstr>Slide 24</vt:lpstr>
      <vt:lpstr>TYPES OF WATER</vt:lpstr>
      <vt:lpstr>Molecular weights of some hardness producing salts. </vt:lpstr>
      <vt:lpstr>Expression of hardness in terms of equivalents of CaCO3 </vt:lpstr>
      <vt:lpstr>Units of Hardness </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2. HARDNESS OF WATER</vt:lpstr>
      <vt:lpstr>Slide 50</vt:lpstr>
      <vt:lpstr>Temporary Hardness</vt:lpstr>
      <vt:lpstr>PERMANENT HARDNESS</vt:lpstr>
      <vt:lpstr>Slide 53</vt:lpstr>
      <vt:lpstr>ALKALINITY</vt:lpstr>
      <vt:lpstr>Draw backs (or) Disadvantages of Hard Water</vt:lpstr>
      <vt:lpstr>Boiler troubles due to Hard Water</vt:lpstr>
      <vt:lpstr>DISADVANTAGE OF SLUDGE FORMATION:</vt:lpstr>
      <vt:lpstr>Slide 58</vt:lpstr>
      <vt:lpstr>Slide 59</vt:lpstr>
      <vt:lpstr>Slide 60</vt:lpstr>
      <vt:lpstr>Slide 61</vt:lpstr>
      <vt:lpstr>1. Phosphate conditioning</vt:lpstr>
      <vt:lpstr>Slide 63</vt:lpstr>
      <vt:lpstr>Slide 64</vt:lpstr>
      <vt:lpstr>4.Colloidal conditioning:</vt:lpstr>
      <vt:lpstr>6.Electrical conditioning: Sealed glass bulbs-mercury: battery</vt:lpstr>
      <vt:lpstr>Slide 67</vt:lpstr>
      <vt:lpstr>CAUSTIC EMBRITTLEMENT:</vt:lpstr>
      <vt:lpstr>Slide 69</vt:lpstr>
      <vt:lpstr>IV. Boiler corrosion</vt:lpstr>
      <vt:lpstr>Slide 71</vt:lpstr>
      <vt:lpstr>Slide 72</vt:lpstr>
      <vt:lpstr>Slide 73</vt:lpstr>
      <vt:lpstr>Slide 74</vt:lpstr>
      <vt:lpstr>Slide 75</vt:lpstr>
      <vt:lpstr>Slide 76</vt:lpstr>
      <vt:lpstr>Slide 77</vt:lpstr>
      <vt:lpstr>Slide 78</vt:lpstr>
      <vt:lpstr>2. ZEOLITE OR PERMUTIT PROCESS:</vt:lpstr>
      <vt:lpstr>Slide 80</vt:lpstr>
      <vt:lpstr>Process:</vt:lpstr>
      <vt:lpstr>Slide 82</vt:lpstr>
      <vt:lpstr>REGENERATION OF ZEOLITE:</vt:lpstr>
      <vt:lpstr>LIMITATIONS OF ZEOLITE PROCESS:</vt:lpstr>
      <vt:lpstr>ADVANTAGES:</vt:lpstr>
      <vt:lpstr>Slide 86</vt:lpstr>
      <vt:lpstr>Slide 87</vt:lpstr>
      <vt:lpstr>2.  Anion Exchange resin (ROH-) – Strongly basic (R4N+OH-) and weakly basic (RNH2+OH-) anion exchange resins</vt:lpstr>
      <vt:lpstr>Slide 89</vt:lpstr>
      <vt:lpstr>Process or Ion-exchange mechanism involved in water softening</vt:lpstr>
      <vt:lpstr>Regeneration of ion exchange resins</vt:lpstr>
      <vt:lpstr>DESALINATION OF BRACKISH WATER</vt:lpstr>
      <vt:lpstr>ELECTRO DIALYSIS</vt:lpstr>
      <vt:lpstr>Slide 94</vt:lpstr>
      <vt:lpstr>Slide 95</vt:lpstr>
      <vt:lpstr>Slide 96</vt:lpstr>
      <vt:lpstr>Slide 97</vt:lpstr>
      <vt:lpstr>REVERSE OSMOSIS:</vt:lpstr>
      <vt:lpstr>Reverse Osmosis</vt:lpstr>
      <vt:lpstr>Slide 100</vt:lpstr>
      <vt:lpstr>POTABLE WATER</vt:lpstr>
      <vt:lpstr>BREAK-POINT CHLORINATION</vt:lpstr>
      <vt:lpstr>Slide 103</vt:lpstr>
      <vt:lpstr>DE-CHLORINATION</vt:lpstr>
      <vt:lpstr>REFERENCE:</vt:lpstr>
      <vt:lpstr>Slide 106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TECHNOLOGY</dc:title>
  <cp:lastModifiedBy>Siva</cp:lastModifiedBy>
  <cp:revision>38</cp:revision>
  <dcterms:created xsi:type="dcterms:W3CDTF">2020-10-06T07:56:49Z</dcterms:created>
  <dcterms:modified xsi:type="dcterms:W3CDTF">2020-11-23T05:42:22Z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2015-03-18T00:00:00Z</vt:filetime>
  </property>
  <property fmtid="{D5CDD505-2E9C-101B-9397-08002B2CF9AE}" pid="3" name="Creator">
    <vt:lpwstr>Microsoft® PowerPoint® 2013</vt:lpwstr>
  </property>
  <property fmtid="{D5CDD505-2E9C-101B-9397-08002B2CF9AE}" pid="4" name="LastSaved">
    <vt:filetime>2020-10-06T00:00:00Z</vt:filetime>
  </property>
  <property fmtid="{D5CDD505-2E9C-101B-9397-08002B2CF9AE}" pid="5" name="ContentTypeId">
    <vt:lpwstr>0x010100BE4E36952C89F14DABCC7C3B0A26BFA1</vt:lpwstr>
  </property>
</Properties>
</file>