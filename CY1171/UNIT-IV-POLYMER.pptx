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4"/>
  </p:sldMasterIdLst>
  <p:notesMasterIdLst>
    <p:notesMasterId r:id="rId109"/>
  </p:notesMasterIdLst>
  <p:handoutMasterIdLst>
    <p:handoutMasterId r:id="rId110"/>
  </p:handoutMasterIdLst>
  <p:sldIdLst>
    <p:sldId id="362" r:id="rId5"/>
    <p:sldId id="36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91" r:id="rId39"/>
    <p:sldId id="292" r:id="rId40"/>
    <p:sldId id="306" r:id="rId41"/>
    <p:sldId id="293" r:id="rId42"/>
    <p:sldId id="294" r:id="rId43"/>
    <p:sldId id="307" r:id="rId44"/>
    <p:sldId id="308" r:id="rId45"/>
    <p:sldId id="295" r:id="rId46"/>
    <p:sldId id="309" r:id="rId47"/>
    <p:sldId id="310" r:id="rId48"/>
    <p:sldId id="296" r:id="rId49"/>
    <p:sldId id="297" r:id="rId50"/>
    <p:sldId id="311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6" r:id="rId73"/>
    <p:sldId id="325" r:id="rId74"/>
    <p:sldId id="327" r:id="rId75"/>
    <p:sldId id="328" r:id="rId76"/>
    <p:sldId id="329" r:id="rId77"/>
    <p:sldId id="330" r:id="rId78"/>
    <p:sldId id="331" r:id="rId79"/>
    <p:sldId id="333" r:id="rId80"/>
    <p:sldId id="332" r:id="rId81"/>
    <p:sldId id="334" r:id="rId82"/>
    <p:sldId id="335" r:id="rId83"/>
    <p:sldId id="336" r:id="rId84"/>
    <p:sldId id="337" r:id="rId85"/>
    <p:sldId id="338" r:id="rId86"/>
    <p:sldId id="345" r:id="rId87"/>
    <p:sldId id="346" r:id="rId88"/>
    <p:sldId id="347" r:id="rId89"/>
    <p:sldId id="349" r:id="rId90"/>
    <p:sldId id="341" r:id="rId91"/>
    <p:sldId id="340" r:id="rId92"/>
    <p:sldId id="342" r:id="rId93"/>
    <p:sldId id="343" r:id="rId94"/>
    <p:sldId id="344" r:id="rId95"/>
    <p:sldId id="350" r:id="rId96"/>
    <p:sldId id="351" r:id="rId97"/>
    <p:sldId id="352" r:id="rId98"/>
    <p:sldId id="353" r:id="rId99"/>
    <p:sldId id="356" r:id="rId100"/>
    <p:sldId id="339" r:id="rId101"/>
    <p:sldId id="355" r:id="rId102"/>
    <p:sldId id="357" r:id="rId103"/>
    <p:sldId id="358" r:id="rId104"/>
    <p:sldId id="359" r:id="rId105"/>
    <p:sldId id="360" r:id="rId106"/>
    <p:sldId id="361" r:id="rId107"/>
    <p:sldId id="354" r:id="rId10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FF264-7835-717A-7B00-15AC5D37CD83}" v="40" dt="2021-02-02T03:22:22.123"/>
    <p1510:client id="{9EF11ED1-4343-AA31-20CA-57F067A6AC04}" v="20" dt="2021-02-01T04:48:17.6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3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viewProps" Target="viewProps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theme" Target="theme/theme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handoutMaster" Target="handoutMasters/handoutMaster1.xml"/><Relationship Id="rId115" Type="http://schemas.microsoft.com/office/2016/11/relationships/changesInfo" Target="changesInfos/changesInfo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.S(CS)" userId="S::20ucs085@kamarajengg.edu.in::39a13ef5-b00a-4302-87bc-bc30be36f075" providerId="AD" clId="Web-{9EF11ED1-4343-AA31-20CA-57F067A6AC04}"/>
    <pc:docChg chg="modSld">
      <pc:chgData name="VENKATESH.S(CS)" userId="S::20ucs085@kamarajengg.edu.in::39a13ef5-b00a-4302-87bc-bc30be36f075" providerId="AD" clId="Web-{9EF11ED1-4343-AA31-20CA-57F067A6AC04}" dt="2021-02-01T04:48:17.685" v="22" actId="1076"/>
      <pc:docMkLst>
        <pc:docMk/>
      </pc:docMkLst>
      <pc:sldChg chg="modSp">
        <pc:chgData name="VENKATESH.S(CS)" userId="S::20ucs085@kamarajengg.edu.in::39a13ef5-b00a-4302-87bc-bc30be36f075" providerId="AD" clId="Web-{9EF11ED1-4343-AA31-20CA-57F067A6AC04}" dt="2021-02-01T03:51:01.221" v="4" actId="1076"/>
        <pc:sldMkLst>
          <pc:docMk/>
          <pc:sldMk cId="3402883420" sldId="259"/>
        </pc:sldMkLst>
        <pc:spChg chg="mod">
          <ac:chgData name="VENKATESH.S(CS)" userId="S::20ucs085@kamarajengg.edu.in::39a13ef5-b00a-4302-87bc-bc30be36f075" providerId="AD" clId="Web-{9EF11ED1-4343-AA31-20CA-57F067A6AC04}" dt="2021-02-01T03:50:56.190" v="3" actId="1076"/>
          <ac:spMkLst>
            <pc:docMk/>
            <pc:sldMk cId="3402883420" sldId="259"/>
            <ac:spMk id="3" creationId="{00000000-0000-0000-0000-000000000000}"/>
          </ac:spMkLst>
        </pc:spChg>
        <pc:graphicFrameChg chg="mod">
          <ac:chgData name="VENKATESH.S(CS)" userId="S::20ucs085@kamarajengg.edu.in::39a13ef5-b00a-4302-87bc-bc30be36f075" providerId="AD" clId="Web-{9EF11ED1-4343-AA31-20CA-57F067A6AC04}" dt="2021-02-01T03:51:01.221" v="4" actId="1076"/>
          <ac:graphicFrameMkLst>
            <pc:docMk/>
            <pc:sldMk cId="3402883420" sldId="259"/>
            <ac:graphicFrameMk id="6" creationId="{00000000-0000-0000-0000-000000000000}"/>
          </ac:graphicFrameMkLst>
        </pc:graphicFrameChg>
      </pc:sldChg>
      <pc:sldChg chg="delSp modSp">
        <pc:chgData name="VENKATESH.S(CS)" userId="S::20ucs085@kamarajengg.edu.in::39a13ef5-b00a-4302-87bc-bc30be36f075" providerId="AD" clId="Web-{9EF11ED1-4343-AA31-20CA-57F067A6AC04}" dt="2021-02-01T03:59:47.969" v="13"/>
        <pc:sldMkLst>
          <pc:docMk/>
          <pc:sldMk cId="3811044025" sldId="262"/>
        </pc:sldMkLst>
        <pc:spChg chg="mod">
          <ac:chgData name="VENKATESH.S(CS)" userId="S::20ucs085@kamarajengg.edu.in::39a13ef5-b00a-4302-87bc-bc30be36f075" providerId="AD" clId="Web-{9EF11ED1-4343-AA31-20CA-57F067A6AC04}" dt="2021-02-01T03:58:52.092" v="5" actId="1076"/>
          <ac:spMkLst>
            <pc:docMk/>
            <pc:sldMk cId="3811044025" sldId="262"/>
            <ac:spMk id="2" creationId="{00000000-0000-0000-0000-000000000000}"/>
          </ac:spMkLst>
        </pc:spChg>
        <pc:spChg chg="del mod">
          <ac:chgData name="VENKATESH.S(CS)" userId="S::20ucs085@kamarajengg.edu.in::39a13ef5-b00a-4302-87bc-bc30be36f075" providerId="AD" clId="Web-{9EF11ED1-4343-AA31-20CA-57F067A6AC04}" dt="2021-02-01T03:59:47.969" v="13"/>
          <ac:spMkLst>
            <pc:docMk/>
            <pc:sldMk cId="3811044025" sldId="262"/>
            <ac:spMk id="11" creationId="{00000000-0000-0000-0000-000000000000}"/>
          </ac:spMkLst>
        </pc:spChg>
        <pc:spChg chg="del">
          <ac:chgData name="VENKATESH.S(CS)" userId="S::20ucs085@kamarajengg.edu.in::39a13ef5-b00a-4302-87bc-bc30be36f075" providerId="AD" clId="Web-{9EF11ED1-4343-AA31-20CA-57F067A6AC04}" dt="2021-02-01T03:59:46.375" v="12"/>
          <ac:spMkLst>
            <pc:docMk/>
            <pc:sldMk cId="3811044025" sldId="262"/>
            <ac:spMk id="12" creationId="{00000000-0000-0000-0000-000000000000}"/>
          </ac:spMkLst>
        </pc:spChg>
        <pc:graphicFrameChg chg="mod">
          <ac:chgData name="VENKATESH.S(CS)" userId="S::20ucs085@kamarajengg.edu.in::39a13ef5-b00a-4302-87bc-bc30be36f075" providerId="AD" clId="Web-{9EF11ED1-4343-AA31-20CA-57F067A6AC04}" dt="2021-02-01T03:59:17.843" v="9" actId="1076"/>
          <ac:graphicFrameMkLst>
            <pc:docMk/>
            <pc:sldMk cId="3811044025" sldId="262"/>
            <ac:graphicFrameMk id="4" creationId="{00000000-0000-0000-0000-000000000000}"/>
          </ac:graphicFrameMkLst>
        </pc:graphicFrameChg>
        <pc:graphicFrameChg chg="mod">
          <ac:chgData name="VENKATESH.S(CS)" userId="S::20ucs085@kamarajengg.edu.in::39a13ef5-b00a-4302-87bc-bc30be36f075" providerId="AD" clId="Web-{9EF11ED1-4343-AA31-20CA-57F067A6AC04}" dt="2021-02-01T03:59:13.233" v="8" actId="1076"/>
          <ac:graphicFrameMkLst>
            <pc:docMk/>
            <pc:sldMk cId="3811044025" sldId="262"/>
            <ac:graphicFrameMk id="5" creationId="{00000000-0000-0000-0000-000000000000}"/>
          </ac:graphicFrameMkLst>
        </pc:graphicFrameChg>
      </pc:sldChg>
      <pc:sldChg chg="modSp">
        <pc:chgData name="VENKATESH.S(CS)" userId="S::20ucs085@kamarajengg.edu.in::39a13ef5-b00a-4302-87bc-bc30be36f075" providerId="AD" clId="Web-{9EF11ED1-4343-AA31-20CA-57F067A6AC04}" dt="2021-02-01T04:09:36.858" v="16" actId="1076"/>
        <pc:sldMkLst>
          <pc:docMk/>
          <pc:sldMk cId="4058441777" sldId="266"/>
        </pc:sldMkLst>
        <pc:spChg chg="mod">
          <ac:chgData name="VENKATESH.S(CS)" userId="S::20ucs085@kamarajengg.edu.in::39a13ef5-b00a-4302-87bc-bc30be36f075" providerId="AD" clId="Web-{9EF11ED1-4343-AA31-20CA-57F067A6AC04}" dt="2021-02-01T04:09:36.858" v="16" actId="1076"/>
          <ac:spMkLst>
            <pc:docMk/>
            <pc:sldMk cId="4058441777" sldId="266"/>
            <ac:spMk id="15" creationId="{00000000-0000-0000-0000-000000000000}"/>
          </ac:spMkLst>
        </pc:spChg>
      </pc:sldChg>
      <pc:sldChg chg="modSp">
        <pc:chgData name="VENKATESH.S(CS)" userId="S::20ucs085@kamarajengg.edu.in::39a13ef5-b00a-4302-87bc-bc30be36f075" providerId="AD" clId="Web-{9EF11ED1-4343-AA31-20CA-57F067A6AC04}" dt="2021-02-01T04:17:25.745" v="20" actId="20577"/>
        <pc:sldMkLst>
          <pc:docMk/>
          <pc:sldMk cId="0" sldId="269"/>
        </pc:sldMkLst>
        <pc:spChg chg="mod">
          <ac:chgData name="VENKATESH.S(CS)" userId="S::20ucs085@kamarajengg.edu.in::39a13ef5-b00a-4302-87bc-bc30be36f075" providerId="AD" clId="Web-{9EF11ED1-4343-AA31-20CA-57F067A6AC04}" dt="2021-02-01T04:17:25.745" v="20" actId="20577"/>
          <ac:spMkLst>
            <pc:docMk/>
            <pc:sldMk cId="0" sldId="269"/>
            <ac:spMk id="2" creationId="{00000000-0000-0000-0000-000000000000}"/>
          </ac:spMkLst>
        </pc:spChg>
      </pc:sldChg>
      <pc:sldChg chg="modSp">
        <pc:chgData name="VENKATESH.S(CS)" userId="S::20ucs085@kamarajengg.edu.in::39a13ef5-b00a-4302-87bc-bc30be36f075" providerId="AD" clId="Web-{9EF11ED1-4343-AA31-20CA-57F067A6AC04}" dt="2021-02-01T04:48:17.685" v="22" actId="1076"/>
        <pc:sldMkLst>
          <pc:docMk/>
          <pc:sldMk cId="0" sldId="271"/>
        </pc:sldMkLst>
        <pc:spChg chg="mod">
          <ac:chgData name="VENKATESH.S(CS)" userId="S::20ucs085@kamarajengg.edu.in::39a13ef5-b00a-4302-87bc-bc30be36f075" providerId="AD" clId="Web-{9EF11ED1-4343-AA31-20CA-57F067A6AC04}" dt="2021-02-01T04:48:17.685" v="22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VENKATESH.S(CS)" userId="S::20ucs085@kamarajengg.edu.in::39a13ef5-b00a-4302-87bc-bc30be36f075" providerId="AD" clId="Web-{9EF11ED1-4343-AA31-20CA-57F067A6AC04}" dt="2021-02-01T04:48:10.513" v="21" actId="1076"/>
          <ac:spMkLst>
            <pc:docMk/>
            <pc:sldMk cId="0" sldId="271"/>
            <ac:spMk id="13" creationId="{00000000-0000-0000-0000-000000000000}"/>
          </ac:spMkLst>
        </pc:spChg>
      </pc:sldChg>
    </pc:docChg>
  </pc:docChgLst>
  <pc:docChgLst>
    <pc:chgData name="VENKATESH.S(CS)" userId="S::20ucs085@kamarajengg.edu.in::39a13ef5-b00a-4302-87bc-bc30be36f075" providerId="AD" clId="Web-{0EEFF264-7835-717A-7B00-15AC5D37CD83}"/>
    <pc:docChg chg="modSld">
      <pc:chgData name="VENKATESH.S(CS)" userId="S::20ucs085@kamarajengg.edu.in::39a13ef5-b00a-4302-87bc-bc30be36f075" providerId="AD" clId="Web-{0EEFF264-7835-717A-7B00-15AC5D37CD83}" dt="2021-02-02T03:16:59.820" v="12"/>
      <pc:docMkLst>
        <pc:docMk/>
      </pc:docMkLst>
      <pc:sldChg chg="delSp modSp">
        <pc:chgData name="VENKATESH.S(CS)" userId="S::20ucs085@kamarajengg.edu.in::39a13ef5-b00a-4302-87bc-bc30be36f075" providerId="AD" clId="Web-{0EEFF264-7835-717A-7B00-15AC5D37CD83}" dt="2021-02-01T08:46:06.432" v="4"/>
        <pc:sldMkLst>
          <pc:docMk/>
          <pc:sldMk cId="2561601643" sldId="273"/>
        </pc:sldMkLst>
        <pc:spChg chg="del">
          <ac:chgData name="VENKATESH.S(CS)" userId="S::20ucs085@kamarajengg.edu.in::39a13ef5-b00a-4302-87bc-bc30be36f075" providerId="AD" clId="Web-{0EEFF264-7835-717A-7B00-15AC5D37CD83}" dt="2021-02-01T08:45:52.010" v="0"/>
          <ac:spMkLst>
            <pc:docMk/>
            <pc:sldMk cId="2561601643" sldId="273"/>
            <ac:spMk id="15" creationId="{00000000-0000-0000-0000-000000000000}"/>
          </ac:spMkLst>
        </pc:spChg>
        <pc:spChg chg="del">
          <ac:chgData name="VENKATESH.S(CS)" userId="S::20ucs085@kamarajengg.edu.in::39a13ef5-b00a-4302-87bc-bc30be36f075" providerId="AD" clId="Web-{0EEFF264-7835-717A-7B00-15AC5D37CD83}" dt="2021-02-01T08:46:06.432" v="4"/>
          <ac:spMkLst>
            <pc:docMk/>
            <pc:sldMk cId="2561601643" sldId="273"/>
            <ac:spMk id="17" creationId="{00000000-0000-0000-0000-000000000000}"/>
          </ac:spMkLst>
        </pc:spChg>
        <pc:spChg chg="del mod">
          <ac:chgData name="VENKATESH.S(CS)" userId="S::20ucs085@kamarajengg.edu.in::39a13ef5-b00a-4302-87bc-bc30be36f075" providerId="AD" clId="Web-{0EEFF264-7835-717A-7B00-15AC5D37CD83}" dt="2021-02-01T08:46:02.198" v="3"/>
          <ac:spMkLst>
            <pc:docMk/>
            <pc:sldMk cId="2561601643" sldId="273"/>
            <ac:spMk id="19" creationId="{00000000-0000-0000-0000-000000000000}"/>
          </ac:spMkLst>
        </pc:spChg>
      </pc:sldChg>
      <pc:sldChg chg="modSp">
        <pc:chgData name="VENKATESH.S(CS)" userId="S::20ucs085@kamarajengg.edu.in::39a13ef5-b00a-4302-87bc-bc30be36f075" providerId="AD" clId="Web-{0EEFF264-7835-717A-7B00-15AC5D37CD83}" dt="2021-02-01T09:04:22.461" v="5"/>
        <pc:sldMkLst>
          <pc:docMk/>
          <pc:sldMk cId="167633054" sldId="277"/>
        </pc:sldMkLst>
        <pc:graphicFrameChg chg="modGraphic">
          <ac:chgData name="VENKATESH.S(CS)" userId="S::20ucs085@kamarajengg.edu.in::39a13ef5-b00a-4302-87bc-bc30be36f075" providerId="AD" clId="Web-{0EEFF264-7835-717A-7B00-15AC5D37CD83}" dt="2021-02-01T09:04:22.461" v="5"/>
          <ac:graphicFrameMkLst>
            <pc:docMk/>
            <pc:sldMk cId="167633054" sldId="277"/>
            <ac:graphicFrameMk id="3" creationId="{00000000-0000-0000-0000-000000000000}"/>
          </ac:graphicFrameMkLst>
        </pc:graphicFrameChg>
      </pc:sldChg>
      <pc:sldChg chg="delSp">
        <pc:chgData name="VENKATESH.S(CS)" userId="S::20ucs085@kamarajengg.edu.in::39a13ef5-b00a-4302-87bc-bc30be36f075" providerId="AD" clId="Web-{0EEFF264-7835-717A-7B00-15AC5D37CD83}" dt="2021-02-01T09:18:54.218" v="6"/>
        <pc:sldMkLst>
          <pc:docMk/>
          <pc:sldMk cId="2374427207" sldId="279"/>
        </pc:sldMkLst>
        <pc:spChg chg="del">
          <ac:chgData name="VENKATESH.S(CS)" userId="S::20ucs085@kamarajengg.edu.in::39a13ef5-b00a-4302-87bc-bc30be36f075" providerId="AD" clId="Web-{0EEFF264-7835-717A-7B00-15AC5D37CD83}" dt="2021-02-01T09:18:54.218" v="6"/>
          <ac:spMkLst>
            <pc:docMk/>
            <pc:sldMk cId="2374427207" sldId="279"/>
            <ac:spMk id="4" creationId="{00000000-0000-0000-0000-000000000000}"/>
          </ac:spMkLst>
        </pc:spChg>
      </pc:sldChg>
      <pc:sldChg chg="modSp">
        <pc:chgData name="VENKATESH.S(CS)" userId="S::20ucs085@kamarajengg.edu.in::39a13ef5-b00a-4302-87bc-bc30be36f075" providerId="AD" clId="Web-{0EEFF264-7835-717A-7B00-15AC5D37CD83}" dt="2021-02-01T09:20:07.439" v="7" actId="1076"/>
        <pc:sldMkLst>
          <pc:docMk/>
          <pc:sldMk cId="1591244813" sldId="280"/>
        </pc:sldMkLst>
        <pc:spChg chg="mod">
          <ac:chgData name="VENKATESH.S(CS)" userId="S::20ucs085@kamarajengg.edu.in::39a13ef5-b00a-4302-87bc-bc30be36f075" providerId="AD" clId="Web-{0EEFF264-7835-717A-7B00-15AC5D37CD83}" dt="2021-02-01T09:20:07.439" v="7" actId="1076"/>
          <ac:spMkLst>
            <pc:docMk/>
            <pc:sldMk cId="1591244813" sldId="280"/>
            <ac:spMk id="4" creationId="{00000000-0000-0000-0000-000000000000}"/>
          </ac:spMkLst>
        </pc:spChg>
      </pc:sldChg>
      <pc:sldChg chg="modSp">
        <pc:chgData name="VENKATESH.S(CS)" userId="S::20ucs085@kamarajengg.edu.in::39a13ef5-b00a-4302-87bc-bc30be36f075" providerId="AD" clId="Web-{0EEFF264-7835-717A-7B00-15AC5D37CD83}" dt="2021-02-02T03:16:59.820" v="12"/>
        <pc:sldMkLst>
          <pc:docMk/>
          <pc:sldMk cId="1545376315" sldId="298"/>
        </pc:sldMkLst>
        <pc:graphicFrameChg chg="modGraphic">
          <ac:chgData name="VENKATESH.S(CS)" userId="S::20ucs085@kamarajengg.edu.in::39a13ef5-b00a-4302-87bc-bc30be36f075" providerId="AD" clId="Web-{0EEFF264-7835-717A-7B00-15AC5D37CD83}" dt="2021-02-02T03:16:59.820" v="12"/>
          <ac:graphicFrameMkLst>
            <pc:docMk/>
            <pc:sldMk cId="1545376315" sldId="298"/>
            <ac:graphicFrameMk id="2" creationId="{00000000-0000-0000-0000-000000000000}"/>
          </ac:graphicFrameMkLst>
        </pc:graphicFrameChg>
      </pc:sldChg>
      <pc:sldChg chg="delSp modSp">
        <pc:chgData name="VENKATESH.S(CS)" userId="S::20ucs085@kamarajengg.edu.in::39a13ef5-b00a-4302-87bc-bc30be36f075" providerId="AD" clId="Web-{0EEFF264-7835-717A-7B00-15AC5D37CD83}" dt="2021-02-01T16:35:00.697" v="10"/>
        <pc:sldMkLst>
          <pc:docMk/>
          <pc:sldMk cId="2986769868" sldId="311"/>
        </pc:sldMkLst>
        <pc:spChg chg="del mod">
          <ac:chgData name="VENKATESH.S(CS)" userId="S::20ucs085@kamarajengg.edu.in::39a13ef5-b00a-4302-87bc-bc30be36f075" providerId="AD" clId="Web-{0EEFF264-7835-717A-7B00-15AC5D37CD83}" dt="2021-02-01T16:35:00.697" v="10"/>
          <ac:spMkLst>
            <pc:docMk/>
            <pc:sldMk cId="2986769868" sldId="311"/>
            <ac:spMk id="6" creationId="{00000000-0000-0000-0000-000000000000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350CE-CEDF-49CB-97F4-16A928421E0D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DE5271-FCC1-477A-83CF-B72A9749E7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020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384CC-083D-4188-AE3A-EA85D6F5F449}" type="datetimeFigureOut">
              <a:rPr lang="en-US" smtClean="0"/>
              <a:pPr/>
              <a:t>2/1/2021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77F24-3D1F-4FA5-813E-B48E979142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947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377F24-3D1F-4FA5-813E-B48E979142E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4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02B0E-FF40-4B71-8650-65CE47CCEDC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24F5A-D38F-493B-B346-0251EA1937A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59DF7-A6D5-4EF1-8435-B3037D8C159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FD10B-4022-46B6-9C35-EC29E45CA4A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162-A93E-478D-8B2C-96BA3B6DF42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3F42-A002-4380-8BCF-E79C91DE025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63CCB-1247-4C3A-B4F6-6E0E43DCAB8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4724-98EB-432E-AE2B-0A9FD77B295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5DD3-EAE4-4520-BEA2-5799ECF6487C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FA965-00E1-4E42-AD8B-7A8117D2BEEA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320AF6A2-F788-4AD0-A4D5-C4B13602C37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r>
              <a:rPr lang="en-US"/>
              <a:t>Dr.S.Shamim Rishwana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9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23" Type="http://schemas.openxmlformats.org/officeDocument/2006/relationships/image" Target="../media/image16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0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6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gi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4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gif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tiff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7" descr="D:\B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300663"/>
            <a:ext cx="9144000" cy="155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3" name="Content Placeholder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eaLnBrk="1" hangingPunct="1"/>
            <a:endParaRPr lang="en-US"/>
          </a:p>
          <a:p>
            <a:pPr algn="ctr" eaLnBrk="1" hangingPunct="1">
              <a:buFont typeface="Wingdings 3" pitchFamily="18" charset="2"/>
              <a:buNone/>
            </a:pPr>
            <a:endParaRPr lang="en-US">
              <a:solidFill>
                <a:srgbClr val="0070C0"/>
              </a:solidFill>
            </a:endParaRPr>
          </a:p>
          <a:p>
            <a:pPr algn="ctr" eaLnBrk="1" hangingPunct="1">
              <a:buFont typeface="Wingdings 3" pitchFamily="18" charset="2"/>
              <a:buNone/>
            </a:pPr>
            <a:endParaRPr lang="en-US" sz="32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buFont typeface="Wingdings 3" pitchFamily="18" charset="2"/>
              <a:buNone/>
            </a:pPr>
            <a:r>
              <a:rPr lang="en-US" sz="3200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DEPARTMENT OF CHEMISTRY </a:t>
            </a:r>
          </a:p>
          <a:p>
            <a:pPr algn="ctr" eaLnBrk="1" hangingPunct="1">
              <a:buFont typeface="Wingdings 3" pitchFamily="18" charset="2"/>
              <a:buNone/>
            </a:pPr>
            <a:endParaRPr lang="en-US" sz="3200" b="1">
              <a:solidFill>
                <a:srgbClr val="C00000"/>
              </a:solidFill>
              <a:latin typeface="Forte" pitchFamily="66" charset="0"/>
              <a:cs typeface="Andalus" pitchFamily="18" charset="-78"/>
            </a:endParaRPr>
          </a:p>
          <a:p>
            <a:pPr algn="ctr" eaLnBrk="1" hangingPunct="1">
              <a:buFont typeface="Wingdings 3" pitchFamily="18" charset="2"/>
              <a:buNone/>
            </a:pPr>
            <a:endParaRPr lang="en-US" sz="3200" b="1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ctr" eaLnBrk="1" hangingPunct="1">
              <a:buFont typeface="Wingdings 3" pitchFamily="18" charset="2"/>
              <a:buNone/>
            </a:pPr>
            <a:endParaRPr lang="en-US" sz="16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lnSpc>
                <a:spcPct val="150000"/>
              </a:lnSpc>
              <a:buFont typeface="Wingdings 3" pitchFamily="18" charset="2"/>
              <a:buNone/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Presented by</a:t>
            </a:r>
            <a:endParaRPr lang="en-US" sz="1600" b="1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ctr" eaLnBrk="1" hangingPunct="1">
              <a:lnSpc>
                <a:spcPct val="150000"/>
              </a:lnSpc>
              <a:buFont typeface="Verdana" pitchFamily="34" charset="0"/>
              <a:buNone/>
            </a:pPr>
            <a:r>
              <a:rPr lang="en-US" sz="1600" b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Mr. A.R..SIVAKUMAR,  AP/CHEMISTRY</a:t>
            </a:r>
          </a:p>
          <a:p>
            <a:pPr lvl="1" algn="ctr" eaLnBrk="1" hangingPunct="1">
              <a:buFont typeface="Verdana" pitchFamily="34" charset="0"/>
              <a:buNone/>
            </a:pPr>
            <a:r>
              <a:rPr lang="en-US" sz="1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KAMARAJ COLLEGE OF ENGINEERING AND TECHNOLOGY (AUTONOMOUS) </a:t>
            </a:r>
          </a:p>
          <a:p>
            <a:pPr lvl="1" algn="ctr" eaLnBrk="1" hangingPunct="1">
              <a:buFont typeface="Verdana" pitchFamily="34" charset="0"/>
              <a:buNone/>
            </a:pPr>
            <a:r>
              <a:rPr lang="en-US" sz="16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VIRUDHUNAGAR</a:t>
            </a:r>
          </a:p>
        </p:txBody>
      </p:sp>
      <p:sp>
        <p:nvSpPr>
          <p:cNvPr id="122884" name="Footer Placeholder 2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B5A788"/>
              </a:solidFill>
            </a:endParaRPr>
          </a:p>
        </p:txBody>
      </p:sp>
      <p:sp>
        <p:nvSpPr>
          <p:cNvPr id="122885" name="Slide Number Placeholder 1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5615DF-2705-4BAD-BD1E-4C11C5DDE68E}" type="slidenum">
              <a:rPr lang="en-US" smtClean="0">
                <a:solidFill>
                  <a:srgbClr val="B5A788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solidFill>
                <a:srgbClr val="B5A788"/>
              </a:solidFill>
            </a:endParaRPr>
          </a:p>
        </p:txBody>
      </p:sp>
      <p:pic>
        <p:nvPicPr>
          <p:cNvPr id="122886" name="Picture 6" descr="D:\b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67675" y="71438"/>
            <a:ext cx="1042988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88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79588" y="96838"/>
            <a:ext cx="55848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246188" y="2209800"/>
            <a:ext cx="6696075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SUB.CODE:CY1171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SUB .NAME:ENGINEERING CHEMISTRY</a:t>
            </a:r>
            <a:endParaRPr 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UNIT-IV-POLYMERS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b="1"/>
              <a:t>POLYMERS					9</a:t>
            </a:r>
            <a:endParaRPr lang="en-US"/>
          </a:p>
          <a:p>
            <a:endParaRPr lang="en-US">
              <a:solidFill>
                <a:srgbClr val="C00000"/>
              </a:solidFill>
              <a:latin typeface="Arial Narrow" pitchFamily="34" charset="0"/>
            </a:endParaRPr>
          </a:p>
          <a:p>
            <a:r>
              <a:rPr lang="en-US">
                <a:solidFill>
                  <a:srgbClr val="C00000"/>
                </a:solidFill>
                <a:latin typeface="Arial Narrow" pitchFamily="34" charset="0"/>
              </a:rPr>
              <a:t>Introduction: Functionality - degree of polymerization- Classification of polymers- natural and synthetic, thermoplastic and thermosetting. Types and mechanism of polymerization: addition (free radical, cationic, anionic and coordination); condensation and copolymerization. Properties of polymers: </a:t>
            </a:r>
            <a:r>
              <a:rPr lang="en-US" err="1">
                <a:solidFill>
                  <a:srgbClr val="C00000"/>
                </a:solidFill>
                <a:latin typeface="Arial Narrow" pitchFamily="34" charset="0"/>
              </a:rPr>
              <a:t>Tg</a:t>
            </a:r>
            <a:r>
              <a:rPr lang="en-US">
                <a:solidFill>
                  <a:srgbClr val="C00000"/>
                </a:solidFill>
                <a:latin typeface="Arial Narrow" pitchFamily="34" charset="0"/>
              </a:rPr>
              <a:t>, </a:t>
            </a:r>
            <a:r>
              <a:rPr lang="en-US" err="1">
                <a:solidFill>
                  <a:srgbClr val="C00000"/>
                </a:solidFill>
                <a:latin typeface="Arial Narrow" pitchFamily="34" charset="0"/>
              </a:rPr>
              <a:t>tacticity</a:t>
            </a:r>
            <a:r>
              <a:rPr lang="en-US">
                <a:solidFill>
                  <a:srgbClr val="C00000"/>
                </a:solidFill>
                <a:latin typeface="Arial Narrow" pitchFamily="34" charset="0"/>
              </a:rPr>
              <a:t>, molecular weight-weight average, number average and </a:t>
            </a:r>
            <a:r>
              <a:rPr lang="en-US" err="1">
                <a:solidFill>
                  <a:srgbClr val="C00000"/>
                </a:solidFill>
                <a:latin typeface="Arial Narrow" pitchFamily="34" charset="0"/>
              </a:rPr>
              <a:t>polydispersity</a:t>
            </a:r>
            <a:r>
              <a:rPr lang="en-US">
                <a:solidFill>
                  <a:srgbClr val="C00000"/>
                </a:solidFill>
                <a:latin typeface="Arial Narrow" pitchFamily="34" charset="0"/>
              </a:rPr>
              <a:t> index. Techniques of polymerization: Bulk, emulsion, solution and suspension. Synthesis, Properties and uses of: PE, PVC, Nylon 66, Bakelite, Epoxy resins.</a:t>
            </a: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24F5A-D38F-493B-B346-0251EA1937A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3609" y="152400"/>
            <a:ext cx="7199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>
                <a:latin typeface="Times New Roman" pitchFamily="18" charset="0"/>
                <a:cs typeface="Times New Roman" pitchFamily="18" charset="0"/>
              </a:rPr>
              <a:t>POLYMER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1066800"/>
            <a:ext cx="609173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lvl="1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Introduction of Polymer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Classification of Polymer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Types of Polymer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2800" b="1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657350" lvl="3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Addition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1657350" lvl="3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Condensation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1657350" lvl="3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Co-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EACA-79F5-4F16-B7C6-9C7E510F031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0" y="1676400"/>
            <a:ext cx="6400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itchFamily="2" charset="2"/>
              <a:buChar char="Ø"/>
            </a:pPr>
            <a:r>
              <a:rPr lang="en-US" sz="280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Mechanism of </a:t>
            </a:r>
            <a:r>
              <a:rPr lang="en-US" sz="2800" b="1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8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657350" lvl="3" indent="-285750">
              <a:buFont typeface="Wingdings" pitchFamily="2" charset="2"/>
              <a:buChar char="Ø"/>
            </a:pP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Free radical mechanism</a:t>
            </a:r>
          </a:p>
          <a:p>
            <a:pPr marL="1657350" lvl="3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Cationic mechanism</a:t>
            </a:r>
          </a:p>
          <a:p>
            <a:pPr marL="1657350" lvl="3" indent="-285750"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Anionic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maechanism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2800" b="1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Properties of Polymer</a:t>
            </a:r>
          </a:p>
          <a:p>
            <a:pPr lvl="1"/>
            <a:endParaRPr 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8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Methods of preparation of polymer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609" y="152400"/>
            <a:ext cx="7199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>
                <a:latin typeface="Times New Roman" pitchFamily="18" charset="0"/>
                <a:cs typeface="Times New Roman" pitchFamily="18" charset="0"/>
              </a:rPr>
              <a:t>POLYMER CHEMISTRY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D52A-B268-4957-8E62-365BBAB617D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Dr.S.Shamim</a:t>
            </a:r>
            <a:r>
              <a:rPr lang="en-US"/>
              <a:t> </a:t>
            </a:r>
            <a:r>
              <a:rPr lang="en-US" err="1"/>
              <a:t>Rishwana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6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2341" y="76200"/>
            <a:ext cx="5522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INTRODUCTION OF POLYMER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61546" y="471577"/>
            <a:ext cx="598225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Greek word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Poly  -  many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Mer</a:t>
            </a:r>
            <a:r>
              <a:rPr lang="en-US" sz="280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-  units or part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Macromolecules  or  giant molecules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Its formed by combination of small </a:t>
            </a:r>
          </a:p>
          <a:p>
            <a:r>
              <a:rPr lang="en-US" sz="28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            (</a:t>
            </a:r>
            <a:r>
              <a:rPr lang="en-US" sz="280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</a:t>
            </a:r>
            <a:r>
              <a:rPr lang="en-US" sz="28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) molecules to form a large    </a:t>
            </a:r>
          </a:p>
          <a:p>
            <a:r>
              <a:rPr lang="en-US" sz="28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            (</a:t>
            </a:r>
            <a:r>
              <a:rPr lang="en-US" sz="28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macro</a:t>
            </a:r>
            <a:r>
              <a:rPr lang="en-US" sz="28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) molecules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- small (</a:t>
            </a:r>
            <a:r>
              <a:rPr lang="en-US" sz="280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molecular weight)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Macro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-large (</a:t>
            </a:r>
            <a:r>
              <a:rPr lang="en-US" sz="28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molecular weight)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256" y="2209800"/>
            <a:ext cx="1985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POLYMER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5105400"/>
            <a:ext cx="1598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883363"/>
              </p:ext>
            </p:extLst>
          </p:nvPr>
        </p:nvGraphicFramePr>
        <p:xfrm>
          <a:off x="2438400" y="3163597"/>
          <a:ext cx="4876800" cy="2576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ISIS/Draw Sketch" r:id="rId3" imgW="3028554" imgH="1601785" progId="">
                  <p:embed/>
                </p:oleObj>
              </mc:Choice>
              <mc:Fallback>
                <p:oleObj name="ISIS/Draw Sketch" r:id="rId3" imgW="3028554" imgH="1601785" progId="">
                  <p:embed/>
                  <p:pic>
                    <p:nvPicPr>
                      <p:cNvPr id="0" name="Picture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63597"/>
                        <a:ext cx="4876800" cy="25764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868" y="1219200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B47A3-5E94-4561-A19D-2CA7CF4631A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8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741944"/>
            <a:ext cx="85954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Monomer</a:t>
            </a:r>
          </a:p>
          <a:p>
            <a:pPr marL="2286000" lvl="4" indent="-457200">
              <a:buBlip>
                <a:blip r:embed="rId2"/>
              </a:buBlip>
            </a:pPr>
            <a:r>
              <a:rPr lang="en-US" sz="3600">
                <a:latin typeface="Times New Roman" pitchFamily="18" charset="0"/>
                <a:cs typeface="Times New Roman" pitchFamily="18" charset="0"/>
              </a:rPr>
              <a:t>Having low molecular weight</a:t>
            </a:r>
          </a:p>
          <a:p>
            <a:pPr marL="2286000" lvl="4" indent="-457200">
              <a:buBlip>
                <a:blip r:embed="rId2"/>
              </a:buBlip>
            </a:pPr>
            <a:r>
              <a:rPr lang="en-US" sz="3600">
                <a:latin typeface="Times New Roman" pitchFamily="18" charset="0"/>
                <a:cs typeface="Times New Roman" pitchFamily="18" charset="0"/>
              </a:rPr>
              <a:t>Smaller molecule</a:t>
            </a:r>
          </a:p>
          <a:p>
            <a:pPr marL="2286000" lvl="4" indent="-457200">
              <a:buBlip>
                <a:blip r:embed="rId2"/>
              </a:buBlip>
            </a:pPr>
            <a:r>
              <a:rPr lang="en-US" sz="3600" err="1">
                <a:latin typeface="Times New Roman" pitchFamily="18" charset="0"/>
                <a:cs typeface="Times New Roman" pitchFamily="18" charset="0"/>
              </a:rPr>
              <a:t>Micromolecules</a:t>
            </a:r>
            <a:endParaRPr lang="en-US" sz="3600">
              <a:latin typeface="Times New Roman" pitchFamily="18" charset="0"/>
              <a:cs typeface="Times New Roman" pitchFamily="18" charset="0"/>
            </a:endParaRPr>
          </a:p>
          <a:p>
            <a:pPr marL="2286000" lvl="4" indent="-457200">
              <a:buBlip>
                <a:blip r:embed="rId2"/>
              </a:buBlip>
            </a:pPr>
            <a:r>
              <a:rPr lang="en-US" sz="3600">
                <a:latin typeface="Times New Roman" pitchFamily="18" charset="0"/>
                <a:cs typeface="Times New Roman" pitchFamily="18" charset="0"/>
              </a:rPr>
              <a:t>Two or more monomers combine to form Polymer				        		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3FAFA-2A7C-4617-A382-89C9D32F576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30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252571"/>
              </p:ext>
            </p:extLst>
          </p:nvPr>
        </p:nvGraphicFramePr>
        <p:xfrm>
          <a:off x="1524000" y="76200"/>
          <a:ext cx="60960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Monomer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Polymer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Ethylene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Polyethylene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Styrene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Polystyrene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err="1">
                          <a:latin typeface="Times New Roman" pitchFamily="18" charset="0"/>
                          <a:cs typeface="Times New Roman" pitchFamily="18" charset="0"/>
                        </a:rPr>
                        <a:t>Vinylchloride</a:t>
                      </a:r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Polyvinyl chloride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Acrylonitrile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err="1">
                          <a:latin typeface="Times New Roman" pitchFamily="18" charset="0"/>
                          <a:cs typeface="Times New Roman" pitchFamily="18" charset="0"/>
                        </a:rPr>
                        <a:t>Polyacrylonitrile</a:t>
                      </a:r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err="1">
                          <a:latin typeface="Times New Roman" pitchFamily="18" charset="0"/>
                          <a:cs typeface="Times New Roman" pitchFamily="18" charset="0"/>
                        </a:rPr>
                        <a:t>Tetrafluroethylene</a:t>
                      </a:r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b="1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800" b="1" err="1">
                          <a:latin typeface="Times New Roman" pitchFamily="18" charset="0"/>
                          <a:cs typeface="Times New Roman" pitchFamily="18" charset="0"/>
                        </a:rPr>
                        <a:t>Polytetrafluroethylene</a:t>
                      </a:r>
                      <a:r>
                        <a:rPr lang="en-US" sz="1800" b="1">
                          <a:latin typeface="Times New Roman" pitchFamily="18" charset="0"/>
                          <a:cs typeface="Times New Roman" pitchFamily="18" charset="0"/>
                        </a:rPr>
                        <a:t> (Teflon)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6587" y="5212140"/>
            <a:ext cx="82702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Other example </a:t>
            </a:r>
          </a:p>
          <a:p>
            <a:pPr marL="1200150" lvl="2" indent="-285750">
              <a:buFont typeface="Wingdings" pitchFamily="2" charset="2"/>
              <a:buChar char="v"/>
            </a:pP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Nylon 6, 6  	     </a:t>
            </a:r>
            <a:r>
              <a:rPr lang="en-US" sz="24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Hexamethylene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diamine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adipic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acid</a:t>
            </a:r>
          </a:p>
          <a:p>
            <a:pPr marL="1200150" lvl="2" indent="-285750">
              <a:buFont typeface="Wingdings" pitchFamily="2" charset="2"/>
              <a:buChar char="v"/>
            </a:pP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SBR (Styrene Butadiene Rubber) or Buna – S rubber </a:t>
            </a:r>
          </a:p>
          <a:p>
            <a:pPr lvl="2"/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Styrene and Butadiene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048000" y="58674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590800" y="6553200"/>
            <a:ext cx="4572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837530"/>
              </p:ext>
            </p:extLst>
          </p:nvPr>
        </p:nvGraphicFramePr>
        <p:xfrm>
          <a:off x="5181600" y="533400"/>
          <a:ext cx="13906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3" name="ISIS/Draw Sketch" r:id="rId4" imgW="1388110" imgH="488950" progId="">
                  <p:embed/>
                </p:oleObj>
              </mc:Choice>
              <mc:Fallback>
                <p:oleObj name="ISIS/Draw Sketch" r:id="rId4" imgW="1388110" imgH="488950" progId="">
                  <p:embed/>
                  <p:pic>
                    <p:nvPicPr>
                      <p:cNvPr id="0" name="Picture 8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33400"/>
                        <a:ext cx="13906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887723"/>
              </p:ext>
            </p:extLst>
          </p:nvPr>
        </p:nvGraphicFramePr>
        <p:xfrm>
          <a:off x="5257800" y="1371600"/>
          <a:ext cx="13811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ISIS/Draw Sketch" r:id="rId6" imgW="1384265" imgH="673768" progId="">
                  <p:embed/>
                </p:oleObj>
              </mc:Choice>
              <mc:Fallback>
                <p:oleObj name="ISIS/Draw Sketch" r:id="rId6" imgW="1384265" imgH="673768" progId="">
                  <p:embed/>
                  <p:pic>
                    <p:nvPicPr>
                      <p:cNvPr id="0" name="Picture 8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371600"/>
                        <a:ext cx="1381125" cy="676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030366"/>
              </p:ext>
            </p:extLst>
          </p:nvPr>
        </p:nvGraphicFramePr>
        <p:xfrm>
          <a:off x="5314950" y="2286000"/>
          <a:ext cx="13906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5" name="ISIS/Draw Sketch" r:id="rId8" imgW="1386185" imgH="584658" progId="">
                  <p:embed/>
                </p:oleObj>
              </mc:Choice>
              <mc:Fallback>
                <p:oleObj name="ISIS/Draw Sketch" r:id="rId8" imgW="1386185" imgH="584658" progId="">
                  <p:embed/>
                  <p:pic>
                    <p:nvPicPr>
                      <p:cNvPr id="0" name="Picture 8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2286000"/>
                        <a:ext cx="139065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822491"/>
              </p:ext>
            </p:extLst>
          </p:nvPr>
        </p:nvGraphicFramePr>
        <p:xfrm>
          <a:off x="5248275" y="3152775"/>
          <a:ext cx="13811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ISIS/Draw Sketch" r:id="rId10" imgW="1380441" imgH="582235" progId="">
                  <p:embed/>
                </p:oleObj>
              </mc:Choice>
              <mc:Fallback>
                <p:oleObj name="ISIS/Draw Sketch" r:id="rId10" imgW="1380441" imgH="582235" progId="">
                  <p:embed/>
                  <p:pic>
                    <p:nvPicPr>
                      <p:cNvPr id="0" name="Picture 8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3152775"/>
                        <a:ext cx="1381125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646258"/>
              </p:ext>
            </p:extLst>
          </p:nvPr>
        </p:nvGraphicFramePr>
        <p:xfrm>
          <a:off x="5400675" y="4114800"/>
          <a:ext cx="138112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ISIS/Draw Sketch" r:id="rId12" imgW="1380441" imgH="486249" progId="">
                  <p:embed/>
                </p:oleObj>
              </mc:Choice>
              <mc:Fallback>
                <p:oleObj name="ISIS/Draw Sketch" r:id="rId12" imgW="1380441" imgH="486249" progId="">
                  <p:embed/>
                  <p:pic>
                    <p:nvPicPr>
                      <p:cNvPr id="0" name="Picture 8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0675" y="4114800"/>
                        <a:ext cx="1381125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011718"/>
              </p:ext>
            </p:extLst>
          </p:nvPr>
        </p:nvGraphicFramePr>
        <p:xfrm>
          <a:off x="2590800" y="685800"/>
          <a:ext cx="82867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8" name="ISIS/Draw Sketch" r:id="rId14" imgW="823465" imgH="280382" progId="">
                  <p:embed/>
                </p:oleObj>
              </mc:Choice>
              <mc:Fallback>
                <p:oleObj name="ISIS/Draw Sketch" r:id="rId14" imgW="823465" imgH="280382" progId="">
                  <p:embed/>
                  <p:pic>
                    <p:nvPicPr>
                      <p:cNvPr id="0" name="Picture 8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685800"/>
                        <a:ext cx="828675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945292"/>
              </p:ext>
            </p:extLst>
          </p:nvPr>
        </p:nvGraphicFramePr>
        <p:xfrm>
          <a:off x="2590800" y="3276600"/>
          <a:ext cx="7715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9" name="ISIS/Draw Sketch" r:id="rId16" imgW="777430" imgH="488272" progId="">
                  <p:embed/>
                </p:oleObj>
              </mc:Choice>
              <mc:Fallback>
                <p:oleObj name="ISIS/Draw Sketch" r:id="rId16" imgW="777430" imgH="488272" progId="">
                  <p:embed/>
                  <p:pic>
                    <p:nvPicPr>
                      <p:cNvPr id="0" name="Picture 8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76600"/>
                        <a:ext cx="771525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720531"/>
              </p:ext>
            </p:extLst>
          </p:nvPr>
        </p:nvGraphicFramePr>
        <p:xfrm>
          <a:off x="2610465" y="1447800"/>
          <a:ext cx="9334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0" name="ISIS/Draw Sketch" r:id="rId18" imgW="937197" imgH="539521" progId="">
                  <p:embed/>
                </p:oleObj>
              </mc:Choice>
              <mc:Fallback>
                <p:oleObj name="ISIS/Draw Sketch" r:id="rId18" imgW="937197" imgH="539521" progId="">
                  <p:embed/>
                  <p:pic>
                    <p:nvPicPr>
                      <p:cNvPr id="0" name="Picture 8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0465" y="1447800"/>
                        <a:ext cx="93345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236652"/>
              </p:ext>
            </p:extLst>
          </p:nvPr>
        </p:nvGraphicFramePr>
        <p:xfrm>
          <a:off x="2590800" y="2362200"/>
          <a:ext cx="8572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1" name="ISIS/Draw Sketch" r:id="rId20" imgW="855203" imgH="497504" progId="">
                  <p:embed/>
                </p:oleObj>
              </mc:Choice>
              <mc:Fallback>
                <p:oleObj name="ISIS/Draw Sketch" r:id="rId20" imgW="855203" imgH="497504" progId="">
                  <p:embed/>
                  <p:pic>
                    <p:nvPicPr>
                      <p:cNvPr id="0" name="Picture 8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362200"/>
                        <a:ext cx="8572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676394"/>
              </p:ext>
            </p:extLst>
          </p:nvPr>
        </p:nvGraphicFramePr>
        <p:xfrm>
          <a:off x="2590800" y="4267200"/>
          <a:ext cx="838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2" name="ISIS/Draw Sketch" r:id="rId22" imgW="835160" imgH="269163" progId="">
                  <p:embed/>
                </p:oleObj>
              </mc:Choice>
              <mc:Fallback>
                <p:oleObj name="ISIS/Draw Sketch" r:id="rId22" imgW="835160" imgH="269163" progId="">
                  <p:embed/>
                  <p:pic>
                    <p:nvPicPr>
                      <p:cNvPr id="0" name="Picture 8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267200"/>
                        <a:ext cx="8382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67012-332A-4323-8615-3A3DDE8183AA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3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6019" y="-345057"/>
            <a:ext cx="838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	The process of conversion of </a:t>
            </a:r>
            <a:r>
              <a:rPr lang="en-US" sz="32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monomer into polymer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in the presence of </a:t>
            </a:r>
            <a:r>
              <a:rPr lang="en-US" sz="32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heat, pressure and catalyst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is known as </a:t>
            </a:r>
            <a:r>
              <a:rPr lang="en-US" sz="32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3429000"/>
            <a:ext cx="127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343723"/>
              </p:ext>
            </p:extLst>
          </p:nvPr>
        </p:nvGraphicFramePr>
        <p:xfrm>
          <a:off x="2116138" y="2743200"/>
          <a:ext cx="5218112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name="ISIS/Draw Sketch" r:id="rId3" imgW="3216910" imgH="695960" progId="">
                  <p:embed/>
                </p:oleObj>
              </mc:Choice>
              <mc:Fallback>
                <p:oleObj name="ISIS/Draw Sketch" r:id="rId3" imgW="3216910" imgH="695960" progId="">
                  <p:embed/>
                  <p:pic>
                    <p:nvPicPr>
                      <p:cNvPr id="0" name="Picture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8" y="2743200"/>
                        <a:ext cx="5218112" cy="1125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297114"/>
              </p:ext>
            </p:extLst>
          </p:nvPr>
        </p:nvGraphicFramePr>
        <p:xfrm>
          <a:off x="2128838" y="3979862"/>
          <a:ext cx="5191125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name="ISIS/Draw Sketch" r:id="rId5" imgW="3282721" imgH="909334" progId="">
                  <p:embed/>
                </p:oleObj>
              </mc:Choice>
              <mc:Fallback>
                <p:oleObj name="ISIS/Draw Sketch" r:id="rId5" imgW="3282721" imgH="909334" progId="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3979862"/>
                        <a:ext cx="5191125" cy="1430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312969"/>
              </p:ext>
            </p:extLst>
          </p:nvPr>
        </p:nvGraphicFramePr>
        <p:xfrm>
          <a:off x="2057400" y="5334000"/>
          <a:ext cx="5257800" cy="14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ISIS/Draw Sketch" r:id="rId7" imgW="3387090" imgH="920750" progId="">
                  <p:embed/>
                </p:oleObj>
              </mc:Choice>
              <mc:Fallback>
                <p:oleObj name="ISIS/Draw Sketch" r:id="rId7" imgW="3387090" imgH="920750" progId="">
                  <p:embed/>
                  <p:pic>
                    <p:nvPicPr>
                      <p:cNvPr id="0" name="Picture 2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334000"/>
                        <a:ext cx="5257800" cy="14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9459" y="798193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35A68-F9C7-4E5C-9823-14BAF2F68E4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905000" y="298346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B050"/>
                </a:solidFill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419100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574268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3">
                    <a:lumMod val="75000"/>
                  </a:schemeClr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811044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9838"/>
            <a:ext cx="91440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Degree of </a:t>
            </a:r>
            <a:r>
              <a:rPr lang="en-US" sz="3600" b="1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6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3200" u="sng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repeating units 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sz="3200" u="sng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chain like polymer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is known as Degree of </a:t>
            </a:r>
            <a:r>
              <a:rPr lang="en-US" sz="32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(DP)</a:t>
            </a:r>
          </a:p>
          <a:p>
            <a:endParaRPr lang="en-US" sz="3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600">
                <a:latin typeface="Times New Roman" pitchFamily="18" charset="0"/>
                <a:cs typeface="Times New Roman" pitchFamily="18" charset="0"/>
              </a:rPr>
              <a:t>It is denoted by </a:t>
            </a:r>
            <a:r>
              <a:rPr lang="en-US" sz="3600" u="sng">
                <a:latin typeface="Times New Roman" pitchFamily="18" charset="0"/>
                <a:cs typeface="Times New Roman" pitchFamily="18" charset="0"/>
              </a:rPr>
              <a:t>“n”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3600">
                <a:latin typeface="Times New Roman" pitchFamily="18" charset="0"/>
                <a:cs typeface="Times New Roman" pitchFamily="18" charset="0"/>
              </a:rPr>
              <a:t>It is represented by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14400" y="4038600"/>
                <a:ext cx="7315200" cy="8594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𝐃𝐏</m:t>
                      </m:r>
                      <m:r>
                        <a:rPr lang="en-US" sz="2400" b="1" i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>
                              <a:latin typeface="Cambria Math"/>
                            </a:rPr>
                            <m:t>𝐌𝐨𝐥𝐞𝐜𝐮𝐥𝐚𝐫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𝐰𝐞𝐢𝐠𝐡𝐭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𝐨𝐟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𝐭𝐡𝐞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𝐩𝐨𝐥𝐲𝐦𝐞𝐫</m:t>
                          </m:r>
                        </m:num>
                        <m:den>
                          <m:r>
                            <a:rPr lang="en-US" sz="2400" b="1" i="0">
                              <a:latin typeface="Cambria Math"/>
                            </a:rPr>
                            <m:t>𝐌𝐨𝐥𝐞𝐜𝐮𝐥𝐚𝐫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𝐰𝐞𝐢𝐠𝐡𝐭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𝐨𝐟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𝐭𝐡𝐞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𝐫𝐞𝐩𝐞𝐚𝐭𝐢𝐧𝐠</m:t>
                          </m:r>
                          <m:r>
                            <a:rPr lang="en-US" sz="2400" b="1" i="0">
                              <a:latin typeface="Cambria Math"/>
                            </a:rPr>
                            <m:t> </m:t>
                          </m:r>
                          <m:r>
                            <a:rPr lang="en-US" sz="2400" b="1" i="0">
                              <a:latin typeface="Cambria Math"/>
                            </a:rPr>
                            <m:t>𝐮𝐧𝐢𝐭</m:t>
                          </m:r>
                        </m:den>
                      </m:f>
                    </m:oMath>
                  </m:oMathPara>
                </a14:m>
                <a:endParaRPr lang="en-US" b="1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038600"/>
                <a:ext cx="7315200" cy="8594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962400" y="6096000"/>
            <a:ext cx="1208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DP = 5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1779703"/>
              </p:ext>
            </p:extLst>
          </p:nvPr>
        </p:nvGraphicFramePr>
        <p:xfrm>
          <a:off x="1340239" y="4844825"/>
          <a:ext cx="6452729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ISIS/Draw Sketch" r:id="rId4" imgW="3007360" imgH="695960" progId="">
                  <p:embed/>
                </p:oleObj>
              </mc:Choice>
              <mc:Fallback>
                <p:oleObj name="ISIS/Draw Sketch" r:id="rId4" imgW="3007360" imgH="695960" progId="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0239" y="4844825"/>
                        <a:ext cx="6452729" cy="1490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094310"/>
              </p:ext>
            </p:extLst>
          </p:nvPr>
        </p:nvGraphicFramePr>
        <p:xfrm>
          <a:off x="7391401" y="5413376"/>
          <a:ext cx="838199" cy="454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ISIS/Draw Sketch" r:id="rId6" imgW="123944" imgH="246622" progId="">
                  <p:embed/>
                </p:oleObj>
              </mc:Choice>
              <mc:Fallback>
                <p:oleObj name="ISIS/Draw Sketch" r:id="rId6" imgW="123944" imgH="246622" progId="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5413376"/>
                        <a:ext cx="838199" cy="454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9745" y="144753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EC50C-B63A-4434-B1FA-25E39BA9E2E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9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33400"/>
            <a:ext cx="757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TYPES OF DEGREE OF POLYMERISATION	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743200" y="2033825"/>
            <a:ext cx="1804452" cy="1686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547652" y="2033825"/>
            <a:ext cx="1853148" cy="1686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3796605"/>
            <a:ext cx="41296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latin typeface="Times New Roman" pitchFamily="18" charset="0"/>
                <a:cs typeface="Times New Roman" pitchFamily="18" charset="0"/>
              </a:rPr>
              <a:t>Oligo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polymer (or) LDP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Low degree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27755" y="3720405"/>
            <a:ext cx="41889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High polymer (or) HDP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High degree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49039" y="1510605"/>
            <a:ext cx="6423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Based on the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molecular weight </a:t>
            </a:r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DP is classified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C23EE-F164-4608-9636-3B439B65647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5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44" y="452497"/>
            <a:ext cx="89867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Oligo</a:t>
            </a:r>
            <a:r>
              <a:rPr lang="en-US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Polymer (or) LDP</a:t>
            </a:r>
          </a:p>
          <a:p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polymer having </a:t>
            </a:r>
            <a:r>
              <a:rPr lang="en-US" sz="3200" u="sng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molecular weight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The molecular weight ranges from </a:t>
            </a:r>
            <a:r>
              <a:rPr lang="en-US" sz="3200" u="sng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500 - 5000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3581400"/>
            <a:ext cx="8839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 Polymer (or) HDP</a:t>
            </a:r>
          </a:p>
          <a:p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polymer having </a:t>
            </a:r>
            <a:r>
              <a:rPr lang="en-US" sz="3200" u="sng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molecular weight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The molecular weight ranges from </a:t>
            </a:r>
            <a:r>
              <a:rPr lang="en-US" sz="3200" u="sng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10,000 -  2,00,000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12956-6F60-4393-A14E-0D0CA4A89AD8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4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0" y="76200"/>
            <a:ext cx="2803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914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The number of </a:t>
            </a:r>
            <a:r>
              <a:rPr lang="en-US" sz="2400" b="1" u="sng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bonding sites (or) reactive sites (or) functional group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 present in the monomer is known as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5064" y="1600200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955343"/>
              </p:ext>
            </p:extLst>
          </p:nvPr>
        </p:nvGraphicFramePr>
        <p:xfrm>
          <a:off x="1295400" y="2118360"/>
          <a:ext cx="609600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Functional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Ethylene glycol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Bifunctional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monomer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Hexamethylenediamine</a:t>
                      </a:r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Bifunctional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monomer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Acetylene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Tetrafunctional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monomer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Ethylene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Bifunctional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monomer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Glycerol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2000" b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Trifunctional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monomer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9029955"/>
              </p:ext>
            </p:extLst>
          </p:nvPr>
        </p:nvGraphicFramePr>
        <p:xfrm>
          <a:off x="1905000" y="3716712"/>
          <a:ext cx="1880064" cy="62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5" name="ISIS/Draw Sketch" r:id="rId3" imgW="1571348" imgH="525051" progId="">
                  <p:embed/>
                </p:oleObj>
              </mc:Choice>
              <mc:Fallback>
                <p:oleObj name="ISIS/Draw Sketch" r:id="rId3" imgW="1571348" imgH="525051" progId="">
                  <p:embed/>
                  <p:pic>
                    <p:nvPicPr>
                      <p:cNvPr id="0" name="Picture 3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716712"/>
                        <a:ext cx="1880064" cy="626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551258"/>
              </p:ext>
            </p:extLst>
          </p:nvPr>
        </p:nvGraphicFramePr>
        <p:xfrm>
          <a:off x="2209800" y="4629150"/>
          <a:ext cx="12192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6" name="ISIS/Draw Sketch" r:id="rId5" imgW="813650" imgH="243585" progId="">
                  <p:embed/>
                </p:oleObj>
              </mc:Choice>
              <mc:Fallback>
                <p:oleObj name="ISIS/Draw Sketch" r:id="rId5" imgW="813650" imgH="243585" progId="">
                  <p:embed/>
                  <p:pic>
                    <p:nvPicPr>
                      <p:cNvPr id="0" name="Picture 4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629150"/>
                        <a:ext cx="12192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611588"/>
              </p:ext>
            </p:extLst>
          </p:nvPr>
        </p:nvGraphicFramePr>
        <p:xfrm>
          <a:off x="2371725" y="5387975"/>
          <a:ext cx="9810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7" name="ISIS/Draw Sketch" r:id="rId7" imgW="823465" imgH="280382" progId="">
                  <p:embed/>
                </p:oleObj>
              </mc:Choice>
              <mc:Fallback>
                <p:oleObj name="ISIS/Draw Sketch" r:id="rId7" imgW="823465" imgH="280382" progId="">
                  <p:embed/>
                  <p:pic>
                    <p:nvPicPr>
                      <p:cNvPr id="0" name="Picture 4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5387975"/>
                        <a:ext cx="981075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26381"/>
              </p:ext>
            </p:extLst>
          </p:nvPr>
        </p:nvGraphicFramePr>
        <p:xfrm>
          <a:off x="2057400" y="6017519"/>
          <a:ext cx="1727664" cy="611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8" name="ISIS/Draw Sketch" r:id="rId9" imgW="1369692" imgH="487087" progId="">
                  <p:embed/>
                </p:oleObj>
              </mc:Choice>
              <mc:Fallback>
                <p:oleObj name="ISIS/Draw Sketch" r:id="rId9" imgW="1369692" imgH="487087" progId="">
                  <p:embed/>
                  <p:pic>
                    <p:nvPicPr>
                      <p:cNvPr id="0" name="Picture 4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017519"/>
                        <a:ext cx="1727664" cy="6118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 rot="21394240">
            <a:off x="1796313" y="257145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03AA-3644-43A7-A374-DBDC30C3A73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7643837" y="4803535"/>
            <a:ext cx="2286000" cy="365125"/>
          </a:xfrm>
        </p:spPr>
        <p:txBody>
          <a:bodyPr vert="horz" lIns="91440" tIns="45720" rIns="91440" bIns="45720" anchor="b"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747473" y="2678668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HO-CH</a:t>
            </a:r>
            <a:r>
              <a:rPr lang="en-US" baseline="-25000"/>
              <a:t>2</a:t>
            </a:r>
            <a:r>
              <a:rPr lang="en-US"/>
              <a:t>-CH</a:t>
            </a:r>
            <a:r>
              <a:rPr lang="en-US" baseline="-25000"/>
              <a:t>2</a:t>
            </a:r>
            <a:r>
              <a:rPr lang="en-US"/>
              <a:t>-OH</a:t>
            </a:r>
          </a:p>
        </p:txBody>
      </p:sp>
    </p:spTree>
    <p:extLst>
      <p:ext uri="{BB962C8B-B14F-4D97-AF65-F5344CB8AC3E}">
        <p14:creationId xmlns:p14="http://schemas.microsoft.com/office/powerpoint/2010/main" val="405844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2200" y="152400"/>
            <a:ext cx="4368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Significance of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1" y="1066800"/>
            <a:ext cx="7848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Bifuncitonal</a:t>
            </a:r>
            <a:r>
              <a:rPr lang="en-US" sz="240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monomers</a:t>
            </a: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	They are soft, flexible and soluble in organic solvent. (why?)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Reason  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Because in the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bifunctionl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monomer, the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straight chain carbons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are connected with another carbon by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strong covalent bond</a:t>
            </a: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But the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adjacent layer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held together by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weak </a:t>
            </a:r>
            <a:r>
              <a:rPr lang="en-US" sz="2400" u="sng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vanderwalls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force of attraction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2590800"/>
            <a:ext cx="5791200" cy="185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F8283-A217-411B-8CDA-B80484C9E7F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30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00" y="761999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Trifuncitonal</a:t>
            </a:r>
            <a:r>
              <a:rPr lang="en-US" sz="24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Polyfunctional</a:t>
            </a:r>
            <a:r>
              <a:rPr lang="en-US" sz="24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monomers</a:t>
            </a: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	They are hard, brittle and insoluble in organic solvents. (why?)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Reason  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Because in the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trifunctionl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monomer, the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straight chain carbons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are connected with another carbon by </a:t>
            </a:r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strong covalent bond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5181600" cy="2243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30E3-970E-4B8E-B955-7436A0B6886B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45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1578114"/>
            <a:ext cx="4394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Types of </a:t>
            </a:r>
            <a:r>
              <a:rPr lang="en-US" sz="3200" b="1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 b="1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6200000" flipH="1">
            <a:off x="4210326" y="2511839"/>
            <a:ext cx="710625" cy="12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0800000">
            <a:off x="1905000" y="2873514"/>
            <a:ext cx="2667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572000" y="2873514"/>
            <a:ext cx="2667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>
            <a:off x="1333500" y="3445014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6705600" y="3406914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5400000">
            <a:off x="4000500" y="3445014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0" y="4016514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Addition </a:t>
            </a:r>
            <a:r>
              <a:rPr lang="en-US" sz="200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Chain growth </a:t>
            </a:r>
            <a:r>
              <a:rPr lang="en-US" sz="200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76600" y="4016514"/>
            <a:ext cx="32063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Condensation </a:t>
            </a:r>
            <a:r>
              <a:rPr lang="en-US" sz="20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Stepwise </a:t>
            </a:r>
            <a:r>
              <a:rPr lang="en-US" sz="200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77000" y="4016514"/>
            <a:ext cx="2294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Co-</a:t>
            </a:r>
            <a:r>
              <a:rPr lang="en-US" sz="200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Joint </a:t>
            </a:r>
            <a:r>
              <a:rPr lang="en-US" sz="200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3868" y="1219200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8 M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9E963-FA9C-4D28-9514-02D067325C0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Addition </a:t>
            </a:r>
            <a:r>
              <a:rPr lang="en-US" sz="3200" b="1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In this type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 monomer is converted into polymer    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at particular condition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Here the monomer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containining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one or more multiple bond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No elimination takes place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No by products are formed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Mainly involved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homochain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polymer</a:t>
            </a: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Soft on heating and hard on cooling </a:t>
            </a: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Thermoplastics</a:t>
            </a: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5562600"/>
            <a:ext cx="8077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Polyethylene (PE)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</a:t>
            </a:r>
            <a:r>
              <a:rPr lang="en-US" sz="2000" err="1">
                <a:latin typeface="Times New Roman" pitchFamily="18" charset="0"/>
                <a:cs typeface="Times New Roman" pitchFamily="18" charset="0"/>
              </a:rPr>
              <a:t>Polyvinlychloride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(PVC)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</a:t>
            </a:r>
            <a:r>
              <a:rPr lang="en-US" sz="2000" err="1">
                <a:latin typeface="Times New Roman" pitchFamily="18" charset="0"/>
                <a:cs typeface="Times New Roman" pitchFamily="18" charset="0"/>
              </a:rPr>
              <a:t>Polyacrylonitrile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(PAN)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3EAEF-A770-45DF-8196-21244D0F1FD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" y="73120"/>
            <a:ext cx="2579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Formation of 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5400" y="2590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Formation of PVC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4343400"/>
            <a:ext cx="2846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 of PAN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536562"/>
              </p:ext>
            </p:extLst>
          </p:nvPr>
        </p:nvGraphicFramePr>
        <p:xfrm>
          <a:off x="12700" y="762000"/>
          <a:ext cx="9131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1" name="ISIS/Draw Sketch" r:id="rId3" imgW="5993835" imgH="661318" progId="">
                  <p:embed/>
                </p:oleObj>
              </mc:Choice>
              <mc:Fallback>
                <p:oleObj name="ISIS/Draw Sketch" r:id="rId3" imgW="5993835" imgH="661318" progId="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" y="762000"/>
                        <a:ext cx="9131300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631001"/>
              </p:ext>
            </p:extLst>
          </p:nvPr>
        </p:nvGraphicFramePr>
        <p:xfrm>
          <a:off x="141009" y="2881312"/>
          <a:ext cx="8774391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" name="ISIS/Draw Sketch" r:id="rId5" imgW="5949950" imgH="1093470" progId="">
                  <p:embed/>
                </p:oleObj>
              </mc:Choice>
              <mc:Fallback>
                <p:oleObj name="ISIS/Draw Sketch" r:id="rId5" imgW="5949950" imgH="1093470" progId="">
                  <p:embed/>
                  <p:pic>
                    <p:nvPicPr>
                      <p:cNvPr id="0" name="Picture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09" y="2881312"/>
                        <a:ext cx="8774391" cy="161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797543"/>
              </p:ext>
            </p:extLst>
          </p:nvPr>
        </p:nvGraphicFramePr>
        <p:xfrm>
          <a:off x="0" y="4943475"/>
          <a:ext cx="916622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3" name="ISIS/Draw Sketch" r:id="rId7" imgW="5949950" imgH="1093470" progId="">
                  <p:embed/>
                </p:oleObj>
              </mc:Choice>
              <mc:Fallback>
                <p:oleObj name="ISIS/Draw Sketch" r:id="rId7" imgW="5949950" imgH="1093470" progId="">
                  <p:embed/>
                  <p:pic>
                    <p:nvPicPr>
                      <p:cNvPr id="0" name="Picture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943475"/>
                        <a:ext cx="9166225" cy="168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9BF5-A162-4F80-9627-FD363C4402E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9455385" y="4990441"/>
            <a:ext cx="2286000" cy="365125"/>
          </a:xfrm>
        </p:spPr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9642290" y="5982479"/>
            <a:ext cx="457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Condenstion</a:t>
            </a:r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In this type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 two different types of monomer 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condens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together to form polymer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Elimination takes place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By products are formed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Mainly involved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heterochain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polymer</a:t>
            </a: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Once harden, it cannot be soften </a:t>
            </a: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Thermosetplastics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5562600"/>
            <a:ext cx="807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Nylon 6,6 &amp;Nylon 6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</a:t>
            </a:r>
            <a:r>
              <a:rPr lang="en-US" sz="2000" err="1">
                <a:latin typeface="Times New Roman" pitchFamily="18" charset="0"/>
                <a:cs typeface="Times New Roman" pitchFamily="18" charset="0"/>
              </a:rPr>
              <a:t>Terylene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(or) polyester (or) Dacron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3D927-A641-4751-9A94-6030BE4970FA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54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95400" y="2590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8" y="685800"/>
            <a:ext cx="9002914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14788" y="152400"/>
            <a:ext cx="2733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 of Nylon 6,6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7389" y="1981200"/>
            <a:ext cx="2715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latin typeface="Times New Roman" pitchFamily="18" charset="0"/>
                <a:cs typeface="Times New Roman" pitchFamily="18" charset="0"/>
              </a:rPr>
              <a:t>Hexamethylene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err="1">
                <a:latin typeface="Times New Roman" pitchFamily="18" charset="0"/>
                <a:cs typeface="Times New Roman" pitchFamily="18" charset="0"/>
              </a:rPr>
              <a:t>diamine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59548" y="1962090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latin typeface="Times New Roman" pitchFamily="18" charset="0"/>
                <a:cs typeface="Times New Roman" pitchFamily="18" charset="0"/>
              </a:rPr>
              <a:t>Adipicacid</a:t>
            </a:r>
            <a:endParaRPr lang="en-US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7910" y="2057400"/>
            <a:ext cx="2539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Times New Roman" pitchFamily="18" charset="0"/>
                <a:cs typeface="Times New Roman" pitchFamily="18" charset="0"/>
              </a:rPr>
              <a:t>Nylon 6,6 (Polyamide)</a:t>
            </a:r>
          </a:p>
        </p:txBody>
      </p:sp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743200"/>
            <a:ext cx="5410200" cy="198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0297" y="2632258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 </a:t>
            </a:r>
            <a:r>
              <a:rPr lang="en-US" sz="2000" b="1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of Nylon 6</a:t>
            </a:r>
          </a:p>
        </p:txBody>
      </p:sp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05400"/>
            <a:ext cx="9121178" cy="1090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3803" y="6460230"/>
            <a:ext cx="1928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Ethylene glycol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3600" y="6096000"/>
            <a:ext cx="2022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Terephthalicacid</a:t>
            </a:r>
            <a:endParaRPr lang="en-US" sz="20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24401" y="6150114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Polyethylene </a:t>
            </a:r>
            <a:r>
              <a:rPr lang="en-US" sz="200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terephalate</a:t>
            </a:r>
            <a:r>
              <a:rPr lang="en-US" sz="20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(or) </a:t>
            </a:r>
            <a:r>
              <a:rPr lang="en-US" sz="200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Terylene</a:t>
            </a:r>
            <a:r>
              <a:rPr lang="en-US" sz="20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Dacron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04" y="4905345"/>
            <a:ext cx="27029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</a:t>
            </a:r>
            <a:r>
              <a:rPr lang="en-US" sz="20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of Polyester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9499" y="4609823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0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caprolactam</a:t>
            </a:r>
            <a:endParaRPr lang="en-US" sz="20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10306" y="4114800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Nylon 6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8D64-B0F7-4D26-AD84-D56EBB891CB7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01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46770"/>
            <a:ext cx="9144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 – </a:t>
            </a:r>
            <a:r>
              <a:rPr lang="en-US" sz="3200" b="1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 b="1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In this type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 two different types of monomer 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 combines together to form polymer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No elimination takes place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Mainly produce high </a:t>
            </a:r>
            <a:r>
              <a:rPr lang="en-US" sz="24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molecular weight compound</a:t>
            </a:r>
          </a:p>
          <a:p>
            <a:pPr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4648200"/>
            <a:ext cx="807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SBR rubber (or) BUNA – S rubber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Formation of </a:t>
            </a:r>
            <a:r>
              <a:rPr lang="en-US" sz="2000" err="1">
                <a:latin typeface="Times New Roman" pitchFamily="18" charset="0"/>
                <a:cs typeface="Times New Roman" pitchFamily="18" charset="0"/>
              </a:rPr>
              <a:t>Polyvinylchloridecovinylacetate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 (PVCCVA)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7A11F-9862-427E-AACA-DA00E0FE93A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88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95400" y="2590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" y="3653135"/>
            <a:ext cx="78018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 of </a:t>
            </a:r>
            <a:r>
              <a:rPr lang="en-US" sz="2400" b="1" err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Polyvinylchloridecovinylacetate</a:t>
            </a:r>
            <a:r>
              <a:rPr lang="en-US" sz="2400" b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(PVCCVA)</a:t>
            </a:r>
            <a:endParaRPr lang="en-US" sz="2400" b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1247" y="177206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400" b="1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 of SBR rubber (or) BUNA – S rubber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60" y="838200"/>
            <a:ext cx="8438240" cy="1632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90600" y="2270611"/>
            <a:ext cx="1250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Butadiene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3430" y="2362200"/>
            <a:ext cx="9827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Styrene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0" y="1454378"/>
            <a:ext cx="1741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00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38800" y="2270611"/>
            <a:ext cx="2759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Styrene butadiene rubber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EF200-AD17-428A-86B2-C4126E8F233C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925028" y="3244334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Formation </a:t>
            </a:r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694912"/>
              </p:ext>
            </p:extLst>
          </p:nvPr>
        </p:nvGraphicFramePr>
        <p:xfrm>
          <a:off x="152400" y="4724400"/>
          <a:ext cx="8790214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9" name="ISIS/Draw Sketch" r:id="rId4" imgW="6333840" imgH="933120" progId="">
                  <p:embed/>
                </p:oleObj>
              </mc:Choice>
              <mc:Fallback>
                <p:oleObj name="ISIS/Draw Sketch" r:id="rId4" imgW="6333840" imgH="933120" progId="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724400"/>
                        <a:ext cx="8790214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7061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76200" y="152400"/>
            <a:ext cx="946727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Differentiate between Addition and Condensation </a:t>
            </a:r>
            <a:r>
              <a:rPr lang="en-US" sz="2600" b="1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600" b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165409"/>
              </p:ext>
            </p:extLst>
          </p:nvPr>
        </p:nvGraphicFramePr>
        <p:xfrm>
          <a:off x="152400" y="1158240"/>
          <a:ext cx="875093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err="1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Addition 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Condensation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Monomers must have at least one multiple bond</a:t>
                      </a: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Monomers must have at least two functional groups</a:t>
                      </a: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Monomers add to give polymer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Monomers condense to give polymer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No by products are formed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By products are formed</a:t>
                      </a: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No elimination takes place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Elimination take place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Mainly involved homochain polymer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Mainly</a:t>
                      </a:r>
                      <a:r>
                        <a:rPr lang="en-US" sz="2400" baseline="0" dirty="0">
                          <a:latin typeface="Times New Roman"/>
                          <a:cs typeface="Times New Roman"/>
                        </a:rPr>
                        <a:t> involved hetero chain polymer</a:t>
                      </a:r>
                      <a:endParaRPr lang="en-US" sz="2400" dirty="0"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671305"/>
              </p:ext>
            </p:extLst>
          </p:nvPr>
        </p:nvGraphicFramePr>
        <p:xfrm>
          <a:off x="1828800" y="2411506"/>
          <a:ext cx="1143000" cy="712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1" name="ISIS/Draw Sketch" r:id="rId3" imgW="806898" imgH="507157" progId="">
                  <p:embed/>
                </p:oleObj>
              </mc:Choice>
              <mc:Fallback>
                <p:oleObj name="ISIS/Draw Sketch" r:id="rId3" imgW="806898" imgH="507157" progId="">
                  <p:embed/>
                  <p:pic>
                    <p:nvPicPr>
                      <p:cNvPr id="0" name="Picture 2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411506"/>
                        <a:ext cx="1143000" cy="7126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105170"/>
              </p:ext>
            </p:extLst>
          </p:nvPr>
        </p:nvGraphicFramePr>
        <p:xfrm>
          <a:off x="5638800" y="2424038"/>
          <a:ext cx="2057400" cy="7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2" name="ISIS/Draw Sketch" r:id="rId5" imgW="1813602" imgH="623109" progId="">
                  <p:embed/>
                </p:oleObj>
              </mc:Choice>
              <mc:Fallback>
                <p:oleObj name="ISIS/Draw Sketch" r:id="rId5" imgW="1813602" imgH="623109" progId="">
                  <p:embed/>
                  <p:pic>
                    <p:nvPicPr>
                      <p:cNvPr id="0" name="Picture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424038"/>
                        <a:ext cx="2057400" cy="700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491620"/>
              </p:ext>
            </p:extLst>
          </p:nvPr>
        </p:nvGraphicFramePr>
        <p:xfrm>
          <a:off x="6096000" y="4452991"/>
          <a:ext cx="1066800" cy="347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3" name="ISIS/Draw Sketch" r:id="rId7" imgW="844936" imgH="279119" progId="">
                  <p:embed/>
                </p:oleObj>
              </mc:Choice>
              <mc:Fallback>
                <p:oleObj name="ISIS/Draw Sketch" r:id="rId7" imgW="844936" imgH="279119" progId="">
                  <p:embed/>
                  <p:pic>
                    <p:nvPicPr>
                      <p:cNvPr id="0" name="Picture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452991"/>
                        <a:ext cx="1066800" cy="3476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398" y="798191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8 M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291A8-960B-4DE0-AEFE-38601A06584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3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679023"/>
              </p:ext>
            </p:extLst>
          </p:nvPr>
        </p:nvGraphicFramePr>
        <p:xfrm>
          <a:off x="76200" y="381000"/>
          <a:ext cx="89916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err="1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Addition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Condensation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Mainly produce thermoplastic</a:t>
                      </a:r>
                    </a:p>
                    <a:p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Eg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      1. Polyethylene</a:t>
                      </a: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       2. Polystyrene</a:t>
                      </a:r>
                    </a:p>
                    <a:p>
                      <a:r>
                        <a:rPr lang="en-US" sz="2400" baseline="0">
                          <a:latin typeface="Times New Roman" pitchFamily="18" charset="0"/>
                          <a:cs typeface="Times New Roman" pitchFamily="18" charset="0"/>
                        </a:rPr>
                        <a:t>        3. Polyvinylchloride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Mainly produce thermoset plastic</a:t>
                      </a:r>
                    </a:p>
                    <a:p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Eg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     1. Bakelite</a:t>
                      </a: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     2. </a:t>
                      </a:r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Ureaformaldehyde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Monomers decreases steadily </a:t>
                      </a:r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throught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out the reaction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Monomer disappear early stage of the reaction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Molecular weight of the polymer is an integral multiple of molecular weight of the monomer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Molecular weight of the polymer need</a:t>
                      </a:r>
                      <a:r>
                        <a:rPr lang="en-US" sz="2400" baseline="0">
                          <a:latin typeface="Times New Roman" pitchFamily="18" charset="0"/>
                          <a:cs typeface="Times New Roman" pitchFamily="18" charset="0"/>
                        </a:rPr>
                        <a:t> not be an integral multiple of molecular weight of the monomer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Mainly involved for free radical,</a:t>
                      </a:r>
                      <a:r>
                        <a:rPr lang="en-US" sz="2400" baseline="0">
                          <a:latin typeface="Times New Roman" pitchFamily="18" charset="0"/>
                          <a:cs typeface="Times New Roman" pitchFamily="18" charset="0"/>
                        </a:rPr>
                        <a:t> anionic and cationic mechanism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Does not involved for free radical, anionic and cationic mechanism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CAD56-6A87-4457-BD22-AA9C13195AC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36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21159"/>
            <a:ext cx="62327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Classification of Polymer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2EF5-2F68-4FF2-A8DE-5CD5ECADE01A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028700"/>
            <a:ext cx="8915400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4427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12643"/>
            <a:ext cx="8382000" cy="203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657600" y="3810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05000" y="304800"/>
            <a:ext cx="525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Nomenclature of Polymer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6894" y="1776890"/>
            <a:ext cx="1293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Polymer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868" y="1219200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2547-9998-4B7D-88F6-4E3DF982BCA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44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Homopolymer</a:t>
            </a:r>
            <a:endParaRPr lang="en-US" sz="2800" u="sng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In this type of polymer the main chain is made up of </a:t>
            </a:r>
            <a:r>
              <a:rPr lang="en-US" sz="28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same species of atom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Example :     C-C-C-C-C-C-C-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                       Polyethylene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u="sng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Heteropolymer</a:t>
            </a:r>
            <a:endParaRPr lang="en-US" sz="2800" u="sng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In this type of polymer the main chain is made up of </a:t>
            </a:r>
            <a:r>
              <a:rPr lang="en-US" sz="28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different species of atom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Example:     -C-C-O-O-C-C-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                       Nylon – 6,6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200" y="1600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8DD4-A8D1-46C3-8F0A-3EBE69AACA3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861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99157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Heteropolymer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342900" indent="-342900">
              <a:buAutoNum type="arabicPeriod"/>
            </a:pPr>
            <a:r>
              <a:rPr lang="en-US" sz="2400" u="sng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Random copolymer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        In this type of polymer </a:t>
            </a:r>
            <a:r>
              <a:rPr lang="en-US" sz="24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 definite sequence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in the main chain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Example:   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 startAt="2"/>
            </a:pPr>
            <a:r>
              <a:rPr lang="en-US" sz="2400" u="sng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Branched copolymer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In this type of polymer the linear straight chain monomer is 	connected with the another monomer in a  </a:t>
            </a:r>
            <a:r>
              <a:rPr lang="en-US" sz="24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branched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manner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       Example : 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>
              <a:solidFill>
                <a:srgbClr val="FF66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                                           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 startAt="3"/>
            </a:pPr>
            <a:r>
              <a:rPr lang="en-US" sz="2400" u="sng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Graft copolymer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In tis type of polymer the linear straight chain monomer is 	connected with the another monomer in a </a:t>
            </a:r>
            <a:r>
              <a:rPr lang="en-US" sz="24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straight chain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manner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             Example : 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FF66CC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en-US" sz="24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baseline="-250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3733800" y="4191000"/>
            <a:ext cx="0" cy="304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67AF-9304-4458-8C21-36C8AF5719F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11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511314"/>
            <a:ext cx="6713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Mechanism of </a:t>
            </a:r>
            <a:r>
              <a:rPr lang="en-US" sz="4000" b="1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4000" b="1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0" y="1752600"/>
            <a:ext cx="797365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Addition </a:t>
            </a:r>
            <a:r>
              <a:rPr lang="en-US" sz="3200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320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It mainly involves three types of mechanism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Free radical mechanism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Cationic mechanism (or)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Carbonium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ion mechanism</a:t>
            </a:r>
          </a:p>
          <a:p>
            <a:pPr marL="1314450" lvl="2" indent="-400050">
              <a:buFont typeface="+mj-lt"/>
              <a:buAutoNum type="romanLcPeriod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Anionic mechanism (or)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Carbanion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323" y="547730"/>
            <a:ext cx="93968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16 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0422-0EF9-484B-AF19-6D5D9425600B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33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4041" y="152400"/>
            <a:ext cx="6750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FREE RADICAL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34014"/>
            <a:ext cx="591219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Free radical mechanism occurs in a three steps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Initiation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Propagation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320" y="2908280"/>
            <a:ext cx="7741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 Initiation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It involves two steps</a:t>
            </a:r>
          </a:p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Step 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		Formation of free radical</a:t>
            </a:r>
          </a:p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Step II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		Free radical combines with monomer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Free radical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highly charged species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Having unpaired electrons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denoted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614" y="373353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8 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C64F2-799E-4723-8828-D01FC8C60D1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5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201" y="0"/>
            <a:ext cx="85827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 </a:t>
            </a:r>
          </a:p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Formation of free radical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Free radicals are formed by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homolytic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dissociation of Initiator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1600200"/>
            <a:ext cx="3124200" cy="546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2438400"/>
            <a:ext cx="5837476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0" y="2057400"/>
            <a:ext cx="1814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Example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DF433-8B9D-4620-ABE5-840373F54BF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39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201" y="457200"/>
            <a:ext cx="8963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II </a:t>
            </a:r>
          </a:p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Free radical combines with monomer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step the free radical combines with monomer to form initiating species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Example 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2765524"/>
            <a:ext cx="533400" cy="3586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200400"/>
            <a:ext cx="66675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1E321-FC35-4430-A061-2AFA34498BE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91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201" y="457200"/>
            <a:ext cx="8963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II Propagation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step the initiating species combines with the new monomer.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free radical transferred in to end of the carbon atom, to form living polymer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Example 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263" y="3190875"/>
            <a:ext cx="799147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BEFC-31CD-466D-9A4C-39173F6404E7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698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0"/>
            <a:ext cx="7741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III Termination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It involves two steps</a:t>
            </a:r>
          </a:p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Step 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		Coupling (or) Combination</a:t>
            </a:r>
          </a:p>
          <a:p>
            <a:r>
              <a:rPr lang="en-US" sz="2400" u="sng">
                <a:latin typeface="Times New Roman" pitchFamily="18" charset="0"/>
                <a:cs typeface="Times New Roman" pitchFamily="18" charset="0"/>
              </a:rPr>
              <a:t>Step II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	Disproportionation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200" y="1752600"/>
            <a:ext cx="89637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Combination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step the two initiating species (or) two living polymer combines together to form a dead polymer.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Example 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359" y="3810000"/>
            <a:ext cx="880024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0BD6A-A6EA-477B-9CF8-49C25A762B67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05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200" y="0"/>
            <a:ext cx="89637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Disproportionation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step the hydrogen from one initiating species transferred in to another species.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forms two type of polymer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	1. Unsaturated Polymer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	2. Saturated Polymer</a:t>
            </a:r>
          </a:p>
          <a:p>
            <a:pPr lvl="1"/>
            <a:r>
              <a:rPr lang="en-US" sz="2400">
                <a:latin typeface="Times New Roman" pitchFamily="18" charset="0"/>
                <a:cs typeface="Times New Roman" pitchFamily="18" charset="0"/>
              </a:rPr>
              <a:t>Example 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581400"/>
            <a:ext cx="8534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ECAA-362F-468C-B470-D9D3E3D71AF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4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76200"/>
            <a:ext cx="62027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CATIONIC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914400"/>
            <a:ext cx="8153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It is faster than free radical mechanism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mechanism monomer contains electron donating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097" y="2503725"/>
            <a:ext cx="1859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Example: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849" y="4303455"/>
            <a:ext cx="394210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It involves three step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3200" err="1">
                <a:latin typeface="Times New Roman" pitchFamily="18" charset="0"/>
                <a:cs typeface="Times New Roman" pitchFamily="18" charset="0"/>
              </a:rPr>
              <a:t>Intiation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Propagation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Termination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514600" y="3276600"/>
            <a:ext cx="49085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Styrene, Isobutylene, Isoprene.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F1221-00C2-4044-87EC-10C2D714EF28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40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3161" y="171033"/>
            <a:ext cx="604203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Initiation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It involves two steps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I: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   Formation of Carbocation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II: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   Carbocation combines with monomer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807" y="3646944"/>
            <a:ext cx="86125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: Formation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Carbocation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formed from the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initiatar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(or) catalyst</a:t>
            </a:r>
          </a:p>
          <a:p>
            <a:pPr marL="1200150" lvl="2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Here the acids like AlCl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BF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CCl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are act as a Initiator</a:t>
            </a:r>
          </a:p>
          <a:p>
            <a:pPr marL="1200150" lvl="2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These acids do not have proton and react with Co catalyst     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C6F85-3C26-4585-B09D-FCC3635FD97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Dr.S.Shamim</a:t>
            </a:r>
            <a:r>
              <a:rPr lang="en-US"/>
              <a:t> </a:t>
            </a:r>
            <a:r>
              <a:rPr lang="en-US" err="1"/>
              <a:t>Rishwana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0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CC4B-87A9-4745-BBE3-D5A734D3871C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62125"/>
            <a:ext cx="7315200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8175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6297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Propagation </a:t>
            </a:r>
            <a:r>
              <a:rPr lang="en-US" sz="32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endParaRPr lang="en-US" sz="32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step the initiating species combines with new monomer to form living polymer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6050" y="3040062"/>
            <a:ext cx="6280150" cy="297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8EB59-36E8-4ACE-B8DE-42F3C1E53122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90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6297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Termination</a:t>
            </a:r>
            <a:r>
              <a:rPr lang="en-US" sz="32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endParaRPr lang="en-US" sz="32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step the proton (H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removed from the initiating species to form dead polymer and </a:t>
            </a:r>
            <a:r>
              <a:rPr lang="en-US" sz="3200" err="1">
                <a:latin typeface="Times New Roman" pitchFamily="18" charset="0"/>
                <a:cs typeface="Times New Roman" pitchFamily="18" charset="0"/>
              </a:rPr>
              <a:t>carbonium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ion can be separated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t="24412"/>
          <a:stretch>
            <a:fillRect/>
          </a:stretch>
        </p:blipFill>
        <p:spPr bwMode="auto">
          <a:xfrm>
            <a:off x="1600200" y="3363432"/>
            <a:ext cx="5945815" cy="273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161C3-D910-424F-999F-6E4A109BA5E7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5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76200"/>
            <a:ext cx="58993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ANIONIC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914400"/>
            <a:ext cx="8153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mechanism the monomer contains electron withdrawing groups like </a:t>
            </a:r>
            <a:r>
              <a:rPr lang="en-US" sz="3200" err="1">
                <a:latin typeface="Times New Roman" pitchFamily="18" charset="0"/>
                <a:cs typeface="Times New Roman" pitchFamily="18" charset="0"/>
              </a:rPr>
              <a:t>Cl</a:t>
            </a:r>
            <a:r>
              <a:rPr lang="en-US" sz="3200" baseline="2400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&amp; CN</a:t>
            </a:r>
            <a:r>
              <a:rPr lang="en-US" sz="3200" baseline="3000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097" y="2133600"/>
            <a:ext cx="1859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Example: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849" y="3581400"/>
            <a:ext cx="394210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It involves three step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3200" err="1">
                <a:latin typeface="Times New Roman" pitchFamily="18" charset="0"/>
                <a:cs typeface="Times New Roman" pitchFamily="18" charset="0"/>
              </a:rPr>
              <a:t>Intiation</a:t>
            </a:r>
            <a:endParaRPr lang="en-US" sz="3200">
              <a:latin typeface="Times New Roman" pitchFamily="18" charset="0"/>
              <a:cs typeface="Times New Roman" pitchFamily="18" charset="0"/>
            </a:endParaRPr>
          </a:p>
          <a:p>
            <a:pPr marL="1314450" lvl="2" indent="-400050">
              <a:buFont typeface="+mj-lt"/>
              <a:buAutoNum type="romanLcPeriod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Propagation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Termination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286000" y="2819400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latin typeface="Times New Roman" pitchFamily="18" charset="0"/>
                <a:cs typeface="Times New Roman" pitchFamily="18" charset="0"/>
              </a:rPr>
              <a:t>Vinyl chloride, Styrene, </a:t>
            </a:r>
            <a:r>
              <a:rPr lang="en-US" sz="2800" b="1" err="1">
                <a:latin typeface="Times New Roman" pitchFamily="18" charset="0"/>
                <a:cs typeface="Times New Roman" pitchFamily="18" charset="0"/>
              </a:rPr>
              <a:t>Acrylonitrile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474B1-FE14-4D07-B84B-846BD07BD3D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329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3768" y="171033"/>
            <a:ext cx="5820824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Initiation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v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It involves two steps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I: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   Formation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Carbanion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II: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Carbanion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combines with monomer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807" y="3124200"/>
            <a:ext cx="86125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Step 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: Formation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Carbanion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formed from the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initiatar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(or) catalyst</a:t>
            </a:r>
          </a:p>
          <a:p>
            <a:pPr marL="1200150" lvl="2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Here the Lewis base like KNH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&amp; NaNH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are act as a Initiator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5D772-2EB7-4C6C-8B94-0202C0F4CEE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109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7300" y="1600200"/>
            <a:ext cx="6591300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CBC07-5054-45ED-A0D5-E3EDCE58F76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635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6297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Propagation </a:t>
            </a:r>
            <a:r>
              <a:rPr lang="en-US" sz="32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endParaRPr lang="en-US" sz="32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step the initiating species combines with new monomer to form living polymer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429000"/>
            <a:ext cx="733425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ED6CE-830A-4E91-9A79-0FC1BB82225C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02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76297"/>
            <a:ext cx="9144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Termination</a:t>
            </a:r>
            <a:r>
              <a:rPr lang="en-US" sz="32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endParaRPr lang="en-US" sz="32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In this step the living polymer combines with base (NH</a:t>
            </a:r>
            <a:r>
              <a:rPr lang="en-US" sz="320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) to form dead polymer</a:t>
            </a:r>
            <a:endParaRPr lang="en-US" sz="3200" baseline="-25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667000"/>
            <a:ext cx="734377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58AEE-A424-47EB-BDFD-D31D542BD1B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886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2800" y="344269"/>
            <a:ext cx="2441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PLASTICS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1" y="1325940"/>
            <a:ext cx="906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Are high molecular weight organic material</a:t>
            </a:r>
          </a:p>
          <a:p>
            <a:pPr marL="285750" indent="-285750">
              <a:buBlip>
                <a:blip r:embed="rId2"/>
              </a:buBlip>
            </a:pPr>
            <a:r>
              <a:rPr lang="en-US" sz="3200">
                <a:latin typeface="Times New Roman" pitchFamily="18" charset="0"/>
                <a:cs typeface="Times New Roman" pitchFamily="18" charset="0"/>
              </a:rPr>
              <a:t>It is easily involved for fabrication (or) </a:t>
            </a:r>
            <a:r>
              <a:rPr lang="en-US" sz="3200" err="1">
                <a:latin typeface="Times New Roman" pitchFamily="18" charset="0"/>
                <a:cs typeface="Times New Roman" pitchFamily="18" charset="0"/>
              </a:rPr>
              <a:t>moulding</a:t>
            </a:r>
            <a:r>
              <a:rPr lang="en-US" sz="3200">
                <a:latin typeface="Times New Roman" pitchFamily="18" charset="0"/>
                <a:cs typeface="Times New Roman" pitchFamily="18" charset="0"/>
              </a:rPr>
              <a:t>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99808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Fabrication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742950" lvl="2" indent="-285750">
              <a:buFont typeface="Arial" pitchFamily="34" charset="0"/>
              <a:buChar char="•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The plastic material converted into desired articles by the application of </a:t>
            </a:r>
            <a:r>
              <a:rPr lang="en-US" sz="28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heat, pressure (or) catalyst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is known as fabrication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3868" y="3844950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627F-A036-4826-8E20-48489FB517D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41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0200" y="457200"/>
            <a:ext cx="5943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Advantage</a:t>
            </a:r>
          </a:p>
          <a:p>
            <a:endParaRPr lang="en-US" sz="24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Light weight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Low melting point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Highly corrosion resistance</a:t>
            </a:r>
          </a:p>
          <a:p>
            <a:pPr lvl="2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Disadvantage</a:t>
            </a:r>
          </a:p>
          <a:p>
            <a:endParaRPr lang="en-US" sz="24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57300" lvl="2" indent="-342900">
              <a:buFont typeface="+mj-lt"/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Non biodegradable</a:t>
            </a:r>
          </a:p>
          <a:p>
            <a:pPr marL="1257300" lvl="2" indent="-342900">
              <a:buFont typeface="+mj-lt"/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Deformation under load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Classifications</a:t>
            </a:r>
          </a:p>
          <a:p>
            <a:endParaRPr lang="en-US" sz="240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Based on their structure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Based on their types of resin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68FE9-B0D5-45C8-B975-A984E365FF3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64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021" y="0"/>
            <a:ext cx="881157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Differentiate between Thermoplastics and </a:t>
            </a:r>
            <a:r>
              <a:rPr lang="en-US" sz="2600" b="1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Thermosetplastics</a:t>
            </a:r>
            <a:endParaRPr lang="en-US" sz="2600" b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900758"/>
              </p:ext>
            </p:extLst>
          </p:nvPr>
        </p:nvGraphicFramePr>
        <p:xfrm>
          <a:off x="0" y="533400"/>
          <a:ext cx="9220200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err="1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Thermoplastics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Thermosetplastic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It</a:t>
                      </a:r>
                      <a:r>
                        <a:rPr lang="en-US" sz="2400" baseline="0">
                          <a:latin typeface="Times New Roman" pitchFamily="18" charset="0"/>
                          <a:cs typeface="Times New Roman" pitchFamily="18" charset="0"/>
                        </a:rPr>
                        <a:t> is formed by </a:t>
                      </a:r>
                      <a:r>
                        <a:rPr lang="en-US" sz="2400" u="sng" baseline="0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addition </a:t>
                      </a:r>
                      <a:r>
                        <a:rPr lang="en-US" sz="2400" baseline="0" err="1">
                          <a:latin typeface="Times New Roman" pitchFamily="18" charset="0"/>
                          <a:cs typeface="Times New Roman" pitchFamily="18" charset="0"/>
                        </a:rPr>
                        <a:t>polymerisation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It is formed by </a:t>
                      </a:r>
                      <a:r>
                        <a:rPr lang="en-US" sz="2400" u="sng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condensation </a:t>
                      </a:r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polymerisation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It is softened on heating and harden on cooling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It is harden on heating</a:t>
                      </a: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Once harden it cannot be softened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It consists of </a:t>
                      </a:r>
                      <a:r>
                        <a:rPr lang="en-US" sz="2400" u="sng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linear (or) slightly 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branched</a:t>
                      </a:r>
                    </a:p>
                    <a:p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Eg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: Polyethylene, Polyvinylchloride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They are </a:t>
                      </a:r>
                      <a:r>
                        <a:rPr lang="en-US" sz="2400" u="sng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three dimensional 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network</a:t>
                      </a:r>
                    </a:p>
                    <a:p>
                      <a:r>
                        <a:rPr lang="en-US" sz="2400" err="1">
                          <a:latin typeface="Times New Roman" pitchFamily="18" charset="0"/>
                          <a:cs typeface="Times New Roman" pitchFamily="18" charset="0"/>
                        </a:rPr>
                        <a:t>Eg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: Bakelite </a:t>
                      </a: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      Epoxy resin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 adjacent layer is held together </a:t>
                      </a:r>
                      <a:r>
                        <a:rPr lang="en-US" sz="2400" u="sng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 weak </a:t>
                      </a:r>
                      <a:r>
                        <a:rPr lang="en-US" sz="2400" u="sng" err="1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Vanderwaal’s</a:t>
                      </a:r>
                      <a:r>
                        <a:rPr lang="en-US" sz="2400" u="sng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force</a:t>
                      </a:r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 of attraction.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 adjacent layer is held together by </a:t>
                      </a:r>
                      <a:r>
                        <a:rPr lang="en-US" sz="2400" u="sng">
                          <a:solidFill>
                            <a:srgbClr val="003399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strong covalent bond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205135"/>
              </p:ext>
            </p:extLst>
          </p:nvPr>
        </p:nvGraphicFramePr>
        <p:xfrm>
          <a:off x="881199" y="4419600"/>
          <a:ext cx="3919401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7" name="ISIS/Draw Sketch" r:id="rId3" imgW="3609340" imgH="1330960" progId="">
                  <p:embed/>
                </p:oleObj>
              </mc:Choice>
              <mc:Fallback>
                <p:oleObj name="ISIS/Draw Sketch" r:id="rId3" imgW="3609340" imgH="1330960" progId="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199" y="4419600"/>
                        <a:ext cx="3919401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593659"/>
              </p:ext>
            </p:extLst>
          </p:nvPr>
        </p:nvGraphicFramePr>
        <p:xfrm>
          <a:off x="5011783" y="4495800"/>
          <a:ext cx="359881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8" name="ISIS/Draw Sketch" r:id="rId5" imgW="3314700" imgH="1330960" progId="">
                  <p:embed/>
                </p:oleObj>
              </mc:Choice>
              <mc:Fallback>
                <p:oleObj name="ISIS/Draw Sketch" r:id="rId5" imgW="3314700" imgH="1330960" progId="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783" y="4495800"/>
                        <a:ext cx="3598817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D5561-670D-481B-B30C-48FAF728186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69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81247"/>
              </p:ext>
            </p:extLst>
          </p:nvPr>
        </p:nvGraphicFramePr>
        <p:xfrm>
          <a:off x="152400" y="1158240"/>
          <a:ext cx="875093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4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err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S.No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Thermoplastics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>
                          <a:solidFill>
                            <a:srgbClr val="C00000"/>
                          </a:solidFill>
                          <a:latin typeface="Times New Roman"/>
                          <a:cs typeface="Times New Roman"/>
                        </a:rPr>
                        <a:t>Thermosetplastic</a:t>
                      </a:r>
                      <a:endParaRPr lang="en-US" sz="24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/>
                          <a:cs typeface="Times New Roman"/>
                        </a:rPr>
                        <a:t>It can be </a:t>
                      </a:r>
                      <a:r>
                        <a:rPr lang="en-US" sz="2400" err="1">
                          <a:latin typeface="Times New Roman"/>
                          <a:cs typeface="Times New Roman"/>
                        </a:rPr>
                        <a:t>remoulded</a:t>
                      </a:r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 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/>
                          <a:cs typeface="Times New Roman"/>
                        </a:rPr>
                        <a:t>It cannot be </a:t>
                      </a:r>
                      <a:r>
                        <a:rPr lang="en-US" sz="2400" err="1">
                          <a:latin typeface="Times New Roman"/>
                          <a:cs typeface="Times New Roman"/>
                        </a:rPr>
                        <a:t>remoulded</a:t>
                      </a:r>
                      <a:r>
                        <a:rPr lang="en-US" sz="2400" dirty="0">
                          <a:latin typeface="Times New Roman"/>
                          <a:cs typeface="Times New Roman"/>
                        </a:rPr>
                        <a:t> </a:t>
                      </a:r>
                      <a:endParaRPr lang="en-US" sz="2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Thermoplastics are low molecular weight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Thermoplastics are high molecular 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They are weak, soft and flexible in nature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They are hard, strong and brittle in nature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They are soluble in organic solvent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They are in soluble in organic solvent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err="1">
                          <a:latin typeface="Times New Roman"/>
                          <a:cs typeface="Times New Roman"/>
                        </a:rPr>
                        <a:t>Eg</a:t>
                      </a:r>
                      <a:r>
                        <a:rPr lang="en-US" sz="2400">
                          <a:latin typeface="Times New Roman"/>
                          <a:cs typeface="Times New Roman"/>
                        </a:rPr>
                        <a:t>: PE, PS, PP, PVC and PAN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err="1">
                          <a:latin typeface="Times New Roman"/>
                          <a:cs typeface="Times New Roman"/>
                        </a:rPr>
                        <a:t>Eg</a:t>
                      </a:r>
                      <a:r>
                        <a:rPr lang="en-US" sz="2400">
                          <a:latin typeface="Times New Roman"/>
                          <a:cs typeface="Times New Roman"/>
                        </a:rPr>
                        <a:t>: Nylon 66, Epoxy resin, Bakelite, Urea formaldehyde.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B741-5CF3-4837-92EE-162A6D446ED7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763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5862" y="452044"/>
            <a:ext cx="73722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IMPORTANT SYNTHETIC POLYMER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4956629"/>
            <a:ext cx="2935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Epoxy resin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35440" y="3105834"/>
            <a:ext cx="21226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Nylon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81200"/>
            <a:ext cx="2468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Nylon 6,6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8E754-70C9-486A-91D0-30CDA09AD61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87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152400"/>
            <a:ext cx="24689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Nylon 6,6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762000"/>
            <a:ext cx="685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Preparation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one of the synthetic aliphatic polyamide</a:t>
            </a:r>
          </a:p>
          <a:p>
            <a:pPr marL="742950" lvl="1" indent="-285750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contains the common amide linkage</a:t>
            </a:r>
          </a:p>
          <a:p>
            <a:pPr marL="742950" lvl="1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prepared by mixing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Hexamethylenediamine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adipicacid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t="38835"/>
          <a:stretch>
            <a:fillRect/>
          </a:stretch>
        </p:blipFill>
        <p:spPr bwMode="auto">
          <a:xfrm>
            <a:off x="1295400" y="3886200"/>
            <a:ext cx="6781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A0C79-2CC5-4E82-A73E-8C7F2C29E00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490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600200"/>
            <a:ext cx="685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Properties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They are not 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soluble in organic solvents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but soluble in phenol and formic acid</a:t>
            </a:r>
          </a:p>
          <a:p>
            <a:pPr marL="742950" lvl="1" indent="-285750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less stiff soft material compared to Nylon 6</a:t>
            </a:r>
          </a:p>
          <a:p>
            <a:pPr marL="742950" lvl="1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It’s melting point is  264</a:t>
            </a:r>
            <a:r>
              <a:rPr lang="en-US" sz="2400" baseline="3000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B45EC-977E-42DE-AC6F-7794AE20560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846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0"/>
            <a:ext cx="21226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Nylon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8686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Preparation</a:t>
            </a:r>
          </a:p>
          <a:p>
            <a:pPr marL="742950" lvl="1" indent="-285750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prepared by ring opening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l-GR" sz="240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caprolactam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 t="44231"/>
          <a:stretch>
            <a:fillRect/>
          </a:stretch>
        </p:blipFill>
        <p:spPr bwMode="auto">
          <a:xfrm>
            <a:off x="1600200" y="1676400"/>
            <a:ext cx="6096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/>
          <p:cNvPicPr/>
          <p:nvPr/>
        </p:nvPicPr>
        <p:blipFill>
          <a:blip r:embed="rId2" cstate="print"/>
          <a:srcRect l="20231" t="-2891" r="66484" b="89079"/>
          <a:stretch>
            <a:fillRect/>
          </a:stretch>
        </p:blipFill>
        <p:spPr bwMode="auto">
          <a:xfrm>
            <a:off x="6019800" y="3200400"/>
            <a:ext cx="79045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35052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Properties</a:t>
            </a:r>
          </a:p>
          <a:p>
            <a:endParaRPr 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It is tough and highly heat resistant</a:t>
            </a:r>
          </a:p>
          <a:p>
            <a:pPr marL="742950" lvl="1" indent="-285750"/>
            <a:endParaRPr 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It is in soluble in organic solvent</a:t>
            </a:r>
          </a:p>
          <a:p>
            <a:pPr marL="742950" lvl="1" indent="-285750">
              <a:buFont typeface="Wingdings" pitchFamily="2" charset="2"/>
              <a:buChar char="ü"/>
            </a:pPr>
            <a:endParaRPr 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It is light weight, soft, less stiff</a:t>
            </a:r>
          </a:p>
          <a:p>
            <a:pPr marL="742950" lvl="1" indent="-285750">
              <a:buFont typeface="Wingdings" pitchFamily="2" charset="2"/>
              <a:buChar char="ü"/>
            </a:pPr>
            <a:endParaRPr 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It’s melting point is  225</a:t>
            </a:r>
            <a:r>
              <a:rPr lang="en-US" sz="2400" baseline="300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4CFEA-976A-42EC-986E-7250CD0CF79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95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066800"/>
            <a:ext cx="9144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Uses of Polyamides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It is used for making socks, ladies shoe material and carpets.</a:t>
            </a:r>
          </a:p>
          <a:p>
            <a:pPr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It is used for making Nylon rope, and bristles for toothbrush.</a:t>
            </a:r>
          </a:p>
          <a:p>
            <a:pPr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It is used for making electrical apparatus.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1569-0B5B-4D16-900A-7165BC51346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173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52800" y="152400"/>
            <a:ext cx="30716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36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Epoxy Resin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1000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Preparation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prepared by heating a mixture of </a:t>
            </a:r>
            <a:r>
              <a:rPr lang="en-US" sz="2400" u="sng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Bis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-phenol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u="sng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epichlorohydrin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under 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alkaline catalyst (</a:t>
            </a:r>
            <a:r>
              <a:rPr lang="en-US" sz="2400" u="sng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NaOH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at 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60 </a:t>
            </a:r>
            <a:r>
              <a:rPr lang="en-US" sz="2400" u="sng" baseline="3000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400" u="sng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endParaRPr lang="en-US" sz="2400" u="sng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one of the important 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cross linked synthetic polymer.</a:t>
            </a:r>
          </a:p>
          <a:p>
            <a:pPr marL="742950" lvl="1" indent="-285750">
              <a:buFont typeface="Wingdings" pitchFamily="2" charset="2"/>
              <a:buChar char="ü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contains </a:t>
            </a:r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ether linkage R – O – R 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400630"/>
            <a:ext cx="4419600" cy="3457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902745" y="377184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4 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93A7B-729F-4EC1-B980-A83255D69D6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6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8600"/>
            <a:ext cx="9144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Properties</a:t>
            </a:r>
          </a:p>
          <a:p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During the ether linkage it is highly resistance to acids and </a:t>
            </a:r>
            <a:r>
              <a:rPr lang="en-US" sz="2000" err="1">
                <a:latin typeface="Times New Roman" pitchFamily="18" charset="0"/>
                <a:cs typeface="Times New Roman" pitchFamily="18" charset="0"/>
              </a:rPr>
              <a:t>alkalies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It is highly heat resistance</a:t>
            </a:r>
          </a:p>
          <a:p>
            <a:pPr>
              <a:buFont typeface="Wingdings" pitchFamily="2" charset="2"/>
              <a:buChar char="Ø"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Because of the polar group / polar nature it is highly adhesive in property</a:t>
            </a:r>
          </a:p>
          <a:p>
            <a:pPr>
              <a:buFont typeface="Wingdings" pitchFamily="2" charset="2"/>
              <a:buChar char="Ø"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It is not soluble in organic solvents.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35276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Uses</a:t>
            </a:r>
          </a:p>
          <a:p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It is used for making surface coating material like </a:t>
            </a:r>
            <a:r>
              <a:rPr lang="en-US" sz="20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araldite.</a:t>
            </a:r>
          </a:p>
          <a:p>
            <a:pPr>
              <a:buFont typeface="Wingdings" pitchFamily="2" charset="2"/>
              <a:buChar char="Ø"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It is used for protective shield in air craft components.</a:t>
            </a:r>
          </a:p>
          <a:p>
            <a:pPr>
              <a:buFont typeface="Wingdings" pitchFamily="2" charset="2"/>
              <a:buChar char="Ø"/>
            </a:pPr>
            <a:endParaRPr lang="en-US" sz="200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>
                <a:latin typeface="Times New Roman" pitchFamily="18" charset="0"/>
                <a:cs typeface="Times New Roman" pitchFamily="18" charset="0"/>
              </a:rPr>
              <a:t>It is used for </a:t>
            </a:r>
            <a:r>
              <a:rPr lang="en-US" sz="20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blending agent </a:t>
            </a:r>
            <a:r>
              <a:rPr lang="en-US" sz="2000">
                <a:latin typeface="Times New Roman" pitchFamily="18" charset="0"/>
                <a:cs typeface="Times New Roman" pitchFamily="18" charset="0"/>
              </a:rPr>
              <a:t>( to avoid shrinkage and crease resistance) in wool.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9765-4CF6-4D34-89B7-AF7A35AFBB95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043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28600"/>
            <a:ext cx="56123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PROPERTIES OF POLYMER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9800" y="1524000"/>
            <a:ext cx="587269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0050" indent="-400050">
              <a:buFont typeface="+mj-lt"/>
              <a:buAutoNum type="romanLcPeriod"/>
            </a:pP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Tacticity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(or) Stereospecific polymer</a:t>
            </a:r>
          </a:p>
          <a:p>
            <a:pPr marL="400050" indent="-400050">
              <a:buFont typeface="+mj-lt"/>
              <a:buAutoNum type="romanLcPeriod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(Glass transition temperature)</a:t>
            </a:r>
          </a:p>
          <a:p>
            <a:pPr marL="400050" indent="-400050">
              <a:buFont typeface="+mj-lt"/>
              <a:buAutoNum type="romanLcPeriod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Molecular mass</a:t>
            </a:r>
          </a:p>
          <a:p>
            <a:pPr marL="400050" indent="-400050">
              <a:buFont typeface="+mj-lt"/>
              <a:buAutoNum type="romanLcPeriod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Chain length and strength</a:t>
            </a:r>
          </a:p>
          <a:p>
            <a:pPr marL="400050" indent="-400050">
              <a:buFont typeface="+mj-lt"/>
              <a:buAutoNum type="romanLcPeriod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00050" indent="-400050">
              <a:buFont typeface="+mj-lt"/>
              <a:buAutoNum type="romanLcPeriod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Physical state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C08C-C114-40FF-BC38-C2D418F7C26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81400" y="228600"/>
            <a:ext cx="1974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TACTICITY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4" y="1447800"/>
            <a:ext cx="91422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The functional group arranged in the polymer takes place in an </a:t>
            </a:r>
            <a:r>
              <a:rPr lang="en-US" sz="2800" u="sng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orderly or disorderly arrangement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to the main chain is known as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Tacticity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Examples : 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9694" t="22330" r="71172"/>
          <a:stretch>
            <a:fillRect/>
          </a:stretch>
        </p:blipFill>
        <p:spPr bwMode="auto">
          <a:xfrm>
            <a:off x="3810000" y="4724400"/>
            <a:ext cx="1137684" cy="170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572000" y="5257800"/>
            <a:ext cx="381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83868" y="691269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4F6B-6DB4-4273-94D3-EB173C697E4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1892" y="1578114"/>
            <a:ext cx="255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Classification</a:t>
            </a:r>
          </a:p>
        </p:txBody>
      </p:sp>
      <p:cxnSp>
        <p:nvCxnSpPr>
          <p:cNvPr id="3" name="Straight Connector 2"/>
          <p:cNvCxnSpPr/>
          <p:nvPr/>
        </p:nvCxnSpPr>
        <p:spPr>
          <a:xfrm rot="16200000" flipH="1">
            <a:off x="4210326" y="2511839"/>
            <a:ext cx="710625" cy="127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rot="10800000">
            <a:off x="1905000" y="2873514"/>
            <a:ext cx="2667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572000" y="2873514"/>
            <a:ext cx="26670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>
            <a:off x="1333500" y="3445014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6705600" y="3406914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4000500" y="3445014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81000" y="4038600"/>
            <a:ext cx="2634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2400" err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Isotactic</a:t>
            </a:r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Polymer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971800" y="4038600"/>
            <a:ext cx="3147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2400" err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Syndiotactic</a:t>
            </a:r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Polymer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096000" y="4034135"/>
            <a:ext cx="2463175" cy="461665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en-US" sz="2400" err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Atactic</a:t>
            </a:r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Polymer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4038600"/>
            <a:ext cx="2590800" cy="4616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015054" y="4038600"/>
            <a:ext cx="3080946" cy="4616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18815" y="4038600"/>
            <a:ext cx="2440360" cy="4572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B03F-AD5B-4D4C-9B71-EE078DD0764B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28600" y="533400"/>
            <a:ext cx="26340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2400" err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Isotactic</a:t>
            </a:r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Polymer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62000" y="12192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 	The arrangement of functional group in the 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same side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of the polymer is known as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sng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Isoatactic</a:t>
            </a:r>
            <a:endParaRPr lang="en-US" sz="2400" b="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8774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Examples :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 t="24272"/>
          <a:stretch>
            <a:fillRect/>
          </a:stretch>
        </p:blipFill>
        <p:spPr bwMode="auto">
          <a:xfrm>
            <a:off x="1524000" y="3352800"/>
            <a:ext cx="6400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FB275-59C4-4364-B695-E3CFF88970DB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62000" y="12192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 	The arrangement of functional group in the 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opposite side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of the polymer is known as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sng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Syndiotactic</a:t>
            </a:r>
            <a:endParaRPr lang="en-US" sz="2400" b="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8774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Examples : 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0" y="533400"/>
            <a:ext cx="31470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b. </a:t>
            </a:r>
            <a:r>
              <a:rPr lang="en-US" sz="2400" err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Syndiotactic</a:t>
            </a:r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Polymer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3429000"/>
            <a:ext cx="714375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689DE-7CD9-4580-AB8F-C908C8C6500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62000" y="1219200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 	The arrangement of functional group in the 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random side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of the polymer is known as</a:t>
            </a:r>
            <a:r>
              <a:rPr lang="en-US" sz="2400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u="sng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Atactic</a:t>
            </a:r>
            <a:endParaRPr lang="en-US" sz="2400" b="0" u="sng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514600"/>
            <a:ext cx="18774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Examples : 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52400" y="685800"/>
            <a:ext cx="2463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en-US" sz="2400" err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Atactic</a:t>
            </a:r>
            <a:r>
              <a:rPr lang="en-US" sz="24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Polymer</a:t>
            </a:r>
          </a:p>
        </p:txBody>
      </p:sp>
      <p:pic>
        <p:nvPicPr>
          <p:cNvPr id="9" name="Picture 8"/>
          <p:cNvPicPr/>
          <p:nvPr/>
        </p:nvPicPr>
        <p:blipFill>
          <a:blip r:embed="rId2" cstate="print"/>
          <a:srcRect b="5000"/>
          <a:stretch>
            <a:fillRect/>
          </a:stretch>
        </p:blipFill>
        <p:spPr bwMode="auto">
          <a:xfrm>
            <a:off x="1752600" y="3505200"/>
            <a:ext cx="5945815" cy="1818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D69F4-A85B-4274-A445-B800D9B88392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152400"/>
            <a:ext cx="5698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err="1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8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(Glass Transition Temperature)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4" y="1447800"/>
            <a:ext cx="91422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It is defined as the temperature at which the </a:t>
            </a:r>
            <a:r>
              <a:rPr lang="en-US" sz="28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amorphous solid transformed into liquid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is known as </a:t>
            </a:r>
            <a:r>
              <a:rPr lang="en-US" sz="28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glass transition temperature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Examples : 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of Polystyrene  =  100 </a:t>
            </a:r>
            <a:r>
              <a:rPr lang="en-US" sz="2800" baseline="30000" err="1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C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                              Polycarbonate = 150 </a:t>
            </a:r>
            <a:r>
              <a:rPr lang="en-US" sz="2800" baseline="30000" err="1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C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398" y="475564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4 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AD39-9726-4479-A44B-E6E9BE79543C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084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6400" y="457200"/>
            <a:ext cx="557235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Based on their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Tg</a:t>
            </a: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Blip>
                <a:blip r:embed="rId2"/>
              </a:buBlip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Polymer is classified in to two state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743200" y="2033825"/>
            <a:ext cx="1804452" cy="1686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4547652" y="2033825"/>
            <a:ext cx="1853148" cy="1686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20222" y="4038600"/>
            <a:ext cx="2165978" cy="13849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Rubbery state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  (Soft)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(Above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4084" y="3962400"/>
            <a:ext cx="2324675" cy="138499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err="1">
                <a:latin typeface="Times New Roman" pitchFamily="18" charset="0"/>
                <a:cs typeface="Times New Roman" pitchFamily="18" charset="0"/>
              </a:rPr>
              <a:t>Glassious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state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    (Hard)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(Below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996B7-C679-44DD-BDCB-8A14C75293A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098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54900"/>
            <a:ext cx="6116161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Factors influencing </a:t>
            </a:r>
            <a:r>
              <a:rPr lang="en-US" sz="2600" u="sng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Tg</a:t>
            </a:r>
            <a:endParaRPr lang="en-US" sz="2600" u="sng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Increase in chain length –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 increases</a:t>
            </a:r>
          </a:p>
          <a:p>
            <a:pPr marL="742950" lvl="1" indent="-285750">
              <a:buFont typeface="Wingdings" pitchFamily="2" charset="2"/>
              <a:buChar char="v"/>
            </a:pPr>
            <a:endParaRPr lang="en-US" sz="2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High strength –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 increases </a:t>
            </a:r>
          </a:p>
          <a:p>
            <a:pPr marL="742950" lvl="1" indent="-285750">
              <a:buFont typeface="Wingdings" pitchFamily="2" charset="2"/>
              <a:buChar char="v"/>
            </a:pPr>
            <a:endParaRPr lang="en-US" sz="2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Rate of heating (or) cooling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1" y="3279100"/>
            <a:ext cx="899159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Significance (or) Uses</a:t>
            </a:r>
          </a:p>
          <a:p>
            <a:endParaRPr lang="en-US" sz="2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It is one of the important  property of polymer</a:t>
            </a:r>
          </a:p>
          <a:p>
            <a:pPr marL="742950" lvl="1" indent="-285750">
              <a:buFont typeface="Wingdings" pitchFamily="2" charset="2"/>
              <a:buChar char="v"/>
            </a:pPr>
            <a:endParaRPr lang="en-US" sz="2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It is used to decide whether the polymer is soft (or) hard</a:t>
            </a:r>
          </a:p>
          <a:p>
            <a:pPr marL="742950" lvl="1" indent="-285750">
              <a:buFont typeface="Wingdings" pitchFamily="2" charset="2"/>
              <a:buChar char="v"/>
            </a:pPr>
            <a:endParaRPr lang="en-US" sz="260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Wingdings" pitchFamily="2" charset="2"/>
              <a:buChar char="v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It is used to identify the processing temperature of polymer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DA30-DAAE-412B-806F-E61DE4B5F497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24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40435" y="152400"/>
            <a:ext cx="2726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Molecular Mass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4" y="1447800"/>
            <a:ext cx="91422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Molecular mass depends on the </a:t>
            </a:r>
            <a:r>
              <a:rPr lang="en-US" sz="28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number of monomer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present in the polymer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Examples :</a:t>
            </a:r>
          </a:p>
          <a:p>
            <a:endParaRPr lang="en-US" sz="2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 t="38835"/>
          <a:stretch>
            <a:fillRect/>
          </a:stretch>
        </p:blipFill>
        <p:spPr bwMode="auto">
          <a:xfrm>
            <a:off x="2438400" y="3098800"/>
            <a:ext cx="6553200" cy="269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188248" y="4081046"/>
            <a:ext cx="484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8957" y="4081046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1157" y="5757446"/>
            <a:ext cx="492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262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88AAE-294D-41B6-97BE-6350F604288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822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020" y="1371600"/>
            <a:ext cx="87863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Blip>
                <a:blip r:embed="rId2"/>
              </a:buBlip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Based on their molecular mass, it is classified into 2 types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2743200" y="2033825"/>
            <a:ext cx="1804452" cy="1686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>
            <a:off x="4547652" y="2033825"/>
            <a:ext cx="1853148" cy="16865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5" t="30612" r="4774" b="45408"/>
          <a:stretch/>
        </p:blipFill>
        <p:spPr bwMode="auto">
          <a:xfrm>
            <a:off x="-18467" y="3962402"/>
            <a:ext cx="4629706" cy="506092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5" t="53061" r="8789" b="20918"/>
          <a:stretch/>
        </p:blipFill>
        <p:spPr bwMode="auto">
          <a:xfrm>
            <a:off x="4724400" y="3962404"/>
            <a:ext cx="4349782" cy="549167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53014" y="3257490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6 M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0CE21-078F-464E-80EA-53CE2C3FC82B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625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5" t="30612" r="4774" b="45408"/>
          <a:stretch/>
        </p:blipFill>
        <p:spPr bwMode="auto">
          <a:xfrm>
            <a:off x="1330355" y="76200"/>
            <a:ext cx="6365845" cy="695877"/>
          </a:xfrm>
          <a:prstGeom prst="rect">
            <a:avLst/>
          </a:prstGeom>
          <a:ln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/>
          <p:cNvSpPr txBox="1"/>
          <p:nvPr/>
        </p:nvSpPr>
        <p:spPr>
          <a:xfrm>
            <a:off x="457200" y="990600"/>
            <a:ext cx="81421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is mass obtained by dividing </a:t>
            </a:r>
            <a:r>
              <a:rPr lang="en-US" sz="28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total molecular mass of polymer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with number of </a:t>
            </a:r>
            <a:r>
              <a:rPr lang="en-US" sz="28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monomer present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in it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t="60437" r="24680"/>
          <a:stretch/>
        </p:blipFill>
        <p:spPr bwMode="auto">
          <a:xfrm>
            <a:off x="2666999" y="3581400"/>
            <a:ext cx="4259469" cy="932368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73" t="30612" r="4773" b="41837"/>
          <a:stretch/>
        </p:blipFill>
        <p:spPr bwMode="auto">
          <a:xfrm>
            <a:off x="7832165" y="2209800"/>
            <a:ext cx="767192" cy="726822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E69AB-AEF9-4900-BAC3-94C511F68E5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95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"/>
            <a:ext cx="8229600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14" y="4038600"/>
            <a:ext cx="6257925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2D86-7658-42D8-9B53-2A5F4DE78C8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348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391525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2F7A0-D061-452A-88EF-91AA9BF1739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667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990600"/>
            <a:ext cx="81421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It is not only depends on number of monomer but also depends on mass of the monomer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280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Hence it is averaging process the molecular weight of each individual species is divided by mass not by number.</a:t>
            </a:r>
          </a:p>
        </p:txBody>
      </p:sp>
      <p:pic>
        <p:nvPicPr>
          <p:cNvPr id="7" name="Picture 6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5" t="53061" r="8789" b="20918"/>
          <a:stretch/>
        </p:blipFill>
        <p:spPr bwMode="auto">
          <a:xfrm>
            <a:off x="1524000" y="76200"/>
            <a:ext cx="5980950" cy="755105"/>
          </a:xfrm>
          <a:prstGeom prst="rect">
            <a:avLst/>
          </a:prstGeom>
          <a:ln>
            <a:solidFill>
              <a:srgbClr val="C00000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19" t="58674" r="8789" b="20918"/>
          <a:stretch/>
        </p:blipFill>
        <p:spPr bwMode="auto">
          <a:xfrm>
            <a:off x="7504950" y="3206815"/>
            <a:ext cx="678254" cy="484544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419600"/>
            <a:ext cx="4410075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7BE26-00F7-4529-8C34-4D0E1937C05B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7517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76350"/>
            <a:ext cx="8372475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8F39A-ACAD-401D-A8F7-97442CFEA0E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509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6934200" cy="170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17526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3C1DC-3A45-452A-A027-C585FC83B5C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991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662113"/>
            <a:ext cx="8656637" cy="354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32AB-818C-4C24-BD39-0262B02FF7D6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685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33650"/>
            <a:ext cx="8008938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73" t="30612" r="4773" b="41837"/>
          <a:stretch/>
        </p:blipFill>
        <p:spPr bwMode="auto">
          <a:xfrm>
            <a:off x="5933238" y="1143000"/>
            <a:ext cx="690473" cy="65414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6" y="-83343"/>
            <a:ext cx="4157663" cy="665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-76200" y="400029"/>
            <a:ext cx="914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	The </a:t>
            </a:r>
            <a:r>
              <a:rPr lang="en-US" sz="28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ratio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of weight average molecular mass             to that of number average molecular mass            is known as </a:t>
            </a:r>
            <a:r>
              <a:rPr lang="en-US" sz="2800" err="1">
                <a:latin typeface="Times New Roman" pitchFamily="18" charset="0"/>
                <a:cs typeface="Times New Roman" pitchFamily="18" charset="0"/>
              </a:rPr>
              <a:t>Polydispersity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index (PDI)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19" t="58674" r="8789" b="20918"/>
          <a:stretch/>
        </p:blipFill>
        <p:spPr bwMode="auto">
          <a:xfrm>
            <a:off x="7315200" y="823426"/>
            <a:ext cx="678254" cy="484544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14" t="61009" r="40829" b="3211"/>
          <a:stretch/>
        </p:blipFill>
        <p:spPr bwMode="auto">
          <a:xfrm>
            <a:off x="4443521" y="1844432"/>
            <a:ext cx="1238344" cy="902610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701678" y="1981200"/>
            <a:ext cx="615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latin typeface="Times New Roman" pitchFamily="18" charset="0"/>
                <a:cs typeface="Times New Roman" pitchFamily="18" charset="0"/>
              </a:rPr>
              <a:t>≥1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2039" y="217323"/>
            <a:ext cx="81144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2 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B5513-49E3-4C61-9590-D4D38C1CBB1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626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37370"/>
            <a:ext cx="8915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US" sz="2800"/>
              <a:t>If the above graph plotted between molecular weight vs. weight fraction</a:t>
            </a:r>
          </a:p>
          <a:p>
            <a:pPr marL="342900" indent="-342900" algn="just">
              <a:buFont typeface="Wingdings" pitchFamily="2" charset="2"/>
              <a:buChar char="ü"/>
            </a:pPr>
            <a:endParaRPr lang="en-US" sz="2800"/>
          </a:p>
          <a:p>
            <a:pPr marL="342900" indent="-342900" algn="just">
              <a:buFont typeface="Wingdings" pitchFamily="2" charset="2"/>
              <a:buChar char="ü"/>
            </a:pPr>
            <a:endParaRPr lang="en-US" sz="2800"/>
          </a:p>
          <a:p>
            <a:pPr marL="342900" indent="-342900" algn="just">
              <a:buFont typeface="Wingdings" pitchFamily="2" charset="2"/>
              <a:buChar char="ü"/>
            </a:pPr>
            <a:endParaRPr lang="en-US" sz="2800"/>
          </a:p>
          <a:p>
            <a:pPr marL="342900" indent="-342900" algn="just">
              <a:buFont typeface="Wingdings" pitchFamily="2" charset="2"/>
              <a:buChar char="ü"/>
            </a:pPr>
            <a:r>
              <a:rPr lang="en-US" sz="2800"/>
              <a:t>The graph shows that the weight average molecular mass is always greater than that of number average molecular mass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DA38-1AEB-4E6C-9CEF-429A9C24A90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497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65225"/>
            <a:ext cx="8991600" cy="453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D3CFB-F7CE-41D4-A91C-6B5588027AF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876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7171"/>
            <a:ext cx="8763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Chain length: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physical properties of the polymer depends on chain length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Increase in chain length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Tg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increases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Strength increase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Boiling point &amp; melting point increases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2667000"/>
            <a:ext cx="777328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Strength: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Strength depends on molecular forces between the polymer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Examples: 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2400" err="1">
                <a:latin typeface="Times New Roman" pitchFamily="18" charset="0"/>
                <a:cs typeface="Times New Roman" pitchFamily="18" charset="0"/>
              </a:rPr>
              <a:t>Bifunctional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molecules</a:t>
            </a:r>
          </a:p>
          <a:p>
            <a:pPr marL="1657350" lvl="3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Low strength</a:t>
            </a:r>
          </a:p>
          <a:p>
            <a:pPr marL="1657350" lvl="3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Low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Tg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buFont typeface="Wingdings" pitchFamily="2" charset="2"/>
              <a:buChar char="§"/>
            </a:pP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Polyfunctional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molecules</a:t>
            </a:r>
          </a:p>
          <a:p>
            <a:pPr marL="1657350" lvl="3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High strength</a:t>
            </a:r>
          </a:p>
          <a:p>
            <a:pPr marL="1657350" lvl="3" indent="-285750">
              <a:buFont typeface="Wingdings" pitchFamily="2" charset="2"/>
              <a:buChar char="ü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Tg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FF20A-0384-4702-87D8-DA138B741FC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601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131887" y="136525"/>
            <a:ext cx="67278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TECHNIQUES OF POLYMERIZATON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62174" y="533400"/>
            <a:ext cx="82747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(or)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86517" y="990600"/>
            <a:ext cx="6688049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Methods of preparation of Polymer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62200"/>
            <a:ext cx="7704344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9882" y="675264"/>
            <a:ext cx="939681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* 16 M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8669B-D9CF-40BA-B835-545485AF27E3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293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51019" y="76200"/>
            <a:ext cx="5840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BULK POLYMERISATION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876"/>
            <a:ext cx="899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Aim: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To prepare PVC, PVA, PS by bulk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method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Apparatus required: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Thermoflask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Thermostat, condenser and required reagent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33800"/>
            <a:ext cx="6666571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3290278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Reaction: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C0A48-3056-4140-899D-9CC3A1C4CBED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2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81000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Diagram: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771" y="4309408"/>
            <a:ext cx="8995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also called as mass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 monomer is taken in the flask as a liquid form and initiator, chain transfer agent dissolve in it 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6679"/>
            <a:ext cx="4876800" cy="5078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12141-0915-4B1C-BE72-13A3496E4BE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706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9952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flask is placed in a thermostat under constant agitation and heat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reaction is slow but becomes fast as the temperature increases.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After a known period of time, the polymers are formed and separated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16740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Advandage</a:t>
            </a:r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Using simple equipment.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Highly pure polymers are formed.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1550-FCC4-477F-AD97-C41D44E4510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389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8995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Disadvandage</a:t>
            </a:r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reaction is highly exothermic and sometime it is not possible to control the explosion.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not possible to produce large amount of polymer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038600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Application: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Mainly produces low molecular weight polymer used as adhesive and additives in lubricants.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76CAD-CB09-4FE0-82B5-6C52949B0E8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96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76200"/>
            <a:ext cx="6968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SOLUTION POLYMERISATION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815876"/>
            <a:ext cx="899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Aim: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To prepare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polyisobutylene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PAN by solution method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Apparatus required: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Thermoflask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Thermostat, condenser and required reagent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0278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Reaction: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270" y="3751943"/>
            <a:ext cx="7074615" cy="270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2B520-D974-440B-B62F-9DDFB2CAB71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873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81000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Diagram: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771" y="4309408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method the monomer, initiator and chain transfer agent taken into the flask and dissolved in inert solvent (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: Alcohol) 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9541"/>
            <a:ext cx="5029200" cy="499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F641-6191-4F2D-B883-A4643EE427D9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9195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22324"/>
            <a:ext cx="89952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above mixture is kept under constant agitation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After some time, the above content is transfer into the suitable solvent.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polymers are separated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771" y="3900109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Advandage</a:t>
            </a:r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Heat control is easy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mixture can be agitated easily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3636D-965D-476B-90B0-C8547C205683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787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657600"/>
            <a:ext cx="8995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Application: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also used as adhesives.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1970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Disadvandage</a:t>
            </a:r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removal of solvent is difficult.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difficult to get high molecular weight polymer.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162-2A93-4616-981D-043DBD89894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684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20695" y="24825"/>
            <a:ext cx="673049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SUSPENSION POLYMERISATION </a:t>
            </a:r>
          </a:p>
          <a:p>
            <a:pPr algn="ctr"/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(or)</a:t>
            </a:r>
          </a:p>
          <a:p>
            <a:pPr algn="ctr"/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Beads </a:t>
            </a:r>
            <a:r>
              <a:rPr lang="en-US" sz="3200" b="1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 b="1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(or)</a:t>
            </a:r>
          </a:p>
          <a:p>
            <a:pPr algn="ctr"/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Pearls </a:t>
            </a:r>
            <a:r>
              <a:rPr lang="en-US" sz="3200" b="1" u="sng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Polymerisation</a:t>
            </a:r>
            <a:endParaRPr lang="en-US" sz="3200" b="1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178076"/>
            <a:ext cx="8991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Aim:</a:t>
            </a: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To prepare PS and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polystyrenedivinylbenzene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by suspension 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method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Apparatus required: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500 mL beaker, stirrer, heating bath and required reagent.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0DF2A-94D4-40A9-BEE1-0182F9F132D2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096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029" y="304800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Reaction: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7933559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65298-1152-4393-A58C-74BD91646C7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5984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81000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Diagram: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771" y="4309408"/>
            <a:ext cx="8995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This method is used only for water insoluble monomer.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reaction is carried out in heterogeneous system. 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1547"/>
            <a:ext cx="4114800" cy="5130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9BFF2-8220-4627-9D94-2F056EF34A7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903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571" y="604421"/>
            <a:ext cx="899522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At the end of the step, the polymer is separated out as beads or pearls so it is called s beads or pearls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water insoluble monomer is suspended in water, and the initiator is dissolve by agitation.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By adding suspending agent Al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(SO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and methyl cellulose, PVA (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polyvinylacetate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whole content taken in a flask and heated. 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At the end the beads polymers are formed.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69CFE-E0C5-4DA5-83A5-9535EF94FD04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784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" y="0"/>
            <a:ext cx="8995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Advantage: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Products obtained is highly pure.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Efficient heat control.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More economical (because water is used as solvent)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629" y="4362271"/>
            <a:ext cx="8995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Application: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mainly used for water purification (Ion exchange method).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392740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Disadvantage: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Applicable only for water insoluble monomer.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Control of particle size is difficult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6E17C-3BCA-4710-8999-DE664DF35DAF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171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6706" y="101025"/>
            <a:ext cx="6515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EMULSION POLYMERISATION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286" y="685800"/>
            <a:ext cx="899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Aim:</a:t>
            </a: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To prepare PVC and PVA.</a:t>
            </a:r>
          </a:p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Apparatus required:</a:t>
            </a:r>
          </a:p>
          <a:p>
            <a:pPr algn="just"/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	500 mL beaker, thermometer, stirrer, heating bath and required reagent.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886200"/>
            <a:ext cx="6361113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315" y="3198167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Reaction: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E0310-8ED3-46F9-A6F7-0046AF416F61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6735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381000"/>
            <a:ext cx="1345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Diagram: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771" y="4309408"/>
            <a:ext cx="89952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carried out by using heterogeneous system.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method, the water insoluble monomer and water soluble initiator potassium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persulphate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(KHSO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) is taken into the flask.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DB0F-9A73-4B27-83EC-308F6F4CAF4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"/>
            <a:ext cx="5219700" cy="453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72661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19748"/>
            <a:ext cx="89952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Procedure: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In this above content, mixed with emulsified like soap is added.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above content is heated with thermostat at 4 – 5 hours. 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Now all the mixtures are completely dissolved.</a:t>
            </a:r>
          </a:p>
          <a:p>
            <a:pPr marL="800100" lvl="1" indent="-342900" algn="just">
              <a:buFont typeface="Wingdings" pitchFamily="2" charset="2"/>
              <a:buChar char="Ø"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After completion the reaction by adding demulsifying agent (Al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(SO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The polymer is separated out.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E1A30-406C-49C1-B24F-5BEA1E5C8A8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876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" y="0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Advantage: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High molecular weight polymers are produced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rate of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is high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629" y="4362271"/>
            <a:ext cx="8995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Application: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is used in paint industry and plastic industry.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" y="2392740"/>
            <a:ext cx="8995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u="sng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Disadvantage:</a:t>
            </a:r>
          </a:p>
          <a:p>
            <a:pPr algn="just"/>
            <a:endParaRPr lang="en-US" sz="2400" u="sng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The polymers need purification</a:t>
            </a:r>
          </a:p>
          <a:p>
            <a:pPr marL="800100" lvl="1" indent="-342900" algn="just">
              <a:buFont typeface="Wingdings" pitchFamily="2" charset="2"/>
              <a:buChar char="Ø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It requires rapid agitation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6D23-261A-4186-8553-700621351B8E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8033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149130" y="2895600"/>
            <a:ext cx="26420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u="sng">
                <a:latin typeface="Times New Roman" pitchFamily="18" charset="0"/>
                <a:cs typeface="Times New Roman" pitchFamily="18" charset="0"/>
              </a:rPr>
              <a:t>2 marks</a:t>
            </a:r>
          </a:p>
        </p:txBody>
      </p:sp>
    </p:spTree>
    <p:extLst>
      <p:ext uri="{BB962C8B-B14F-4D97-AF65-F5344CB8AC3E}">
        <p14:creationId xmlns:p14="http://schemas.microsoft.com/office/powerpoint/2010/main" val="305806961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AFEEF-EDFE-49EE-94F3-25C6C92953CF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2/1/2021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Dr.S.Shamim Rishwana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97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are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Oligopolymers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and high polymers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How are polymers classified on the basis of their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tacticity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Name some natural and synthetic polymers.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Tacticity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are thermoplastics.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are thermosets plastics?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ionic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are the types of ionic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the condition for a monomer for cationic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to be carried out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the catalyst used in cationic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the c0ondition for a monomer for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nionic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to be carried out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Tg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glassy state and viscoelastic state?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What is the structural arrangement in crystalline and amorphous polymers.</a:t>
            </a:r>
          </a:p>
          <a:p>
            <a:pPr marL="342900" indent="-342900">
              <a:buAutoNum type="arabicPeriod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What are the factors affecting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Tg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5005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76200" y="76200"/>
            <a:ext cx="91440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16. What is poly disperse? 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17. What is number – average molecular mass?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18. What is poly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dispersity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index?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19. Name the various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techniques.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20. What are the advantages of solution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21. What are the disadvantages of suspension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22. Name some important applications of emulsion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23. What are the properties of epoxy resins?</a:t>
            </a:r>
          </a:p>
          <a:p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331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6200" y="-36195"/>
            <a:ext cx="89916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Differentiate between thermoplastics and thermosetting polymers.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Define degree of polymerization.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How are polymers classified? (Any one method)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Write the preparation of nylon 6,6 with the relevant reaction.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What is the functionality of (a) propylene (b) phenol towards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Define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polydispersity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 index.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What are copolymers?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What are thermoplastics?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What is meant by degree of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Mention any two uses of epoxy resin.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Mention any two uses of nylon 6,6.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Write the preparation of epoxy resin with the relevant reaction.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What is copolymerization? Give an example.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Explain functionality of a monomer with a suitable example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Explain condensation polymerization with a suitable example.</a:t>
            </a:r>
          </a:p>
        </p:txBody>
      </p:sp>
    </p:spTree>
    <p:extLst>
      <p:ext uri="{BB962C8B-B14F-4D97-AF65-F5344CB8AC3E}">
        <p14:creationId xmlns:p14="http://schemas.microsoft.com/office/powerpoint/2010/main" val="10136727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200" y="97572"/>
            <a:ext cx="8763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16. Explain addition polymerization with a suitable example.</a:t>
            </a:r>
          </a:p>
          <a:p>
            <a:pPr marL="514350" lvl="0" indent="-514350">
              <a:buAutoNum type="arabicPeriod" startAt="17"/>
            </a:pPr>
            <a:r>
              <a:rPr lang="en-US" sz="2600">
                <a:latin typeface="Times New Roman" pitchFamily="18" charset="0"/>
                <a:cs typeface="Times New Roman" pitchFamily="18" charset="0"/>
              </a:rPr>
              <a:t>How is polymerization classified? Give one example for 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      each class.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18. What are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homochain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heterochain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 polymers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19. Why thermosetting plastics can not be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remoulded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20. Define the term monomer and polymer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21. How are number average and weight average molecular   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      weight of polymer determined?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22. How are polymers classified based on their </a:t>
            </a:r>
            <a:r>
              <a:rPr lang="en-US" sz="2600" err="1">
                <a:latin typeface="Times New Roman" pitchFamily="18" charset="0"/>
                <a:cs typeface="Times New Roman" pitchFamily="18" charset="0"/>
              </a:rPr>
              <a:t>tacticity</a:t>
            </a:r>
            <a:r>
              <a:rPr lang="en-US" sz="2600">
                <a:latin typeface="Times New Roman" pitchFamily="18" charset="0"/>
                <a:cs typeface="Times New Roman" pitchFamily="18" charset="0"/>
              </a:rPr>
              <a:t>? Give </a:t>
            </a:r>
          </a:p>
          <a:p>
            <a:pPr lvl="0"/>
            <a:r>
              <a:rPr lang="en-US" sz="2600">
                <a:latin typeface="Times New Roman" pitchFamily="18" charset="0"/>
                <a:cs typeface="Times New Roman" pitchFamily="18" charset="0"/>
              </a:rPr>
              <a:t>      examples.</a:t>
            </a:r>
          </a:p>
        </p:txBody>
      </p:sp>
    </p:spTree>
    <p:extLst>
      <p:ext uri="{BB962C8B-B14F-4D97-AF65-F5344CB8AC3E}">
        <p14:creationId xmlns:p14="http://schemas.microsoft.com/office/powerpoint/2010/main" val="56620223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07944"/>
            <a:ext cx="478632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290691"/>
            <a:ext cx="9144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1.	(a) 	(i) 	Write the preparation and properties of	(8)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		(1) 	Nylon 6,6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		(2)	Epoxy resins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	(ii) 	Distinguish between addition and condensation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polymerization		(8)</a:t>
            </a:r>
          </a:p>
          <a:p>
            <a:pPr algn="ctr"/>
            <a:r>
              <a:rPr lang="en-US" sz="220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(b) 	(i) 	Discuss the mechanism of addition polymerization.(8)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	(ii) 	Explain the number average and weight average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molecular weight.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2.	(a) 	(i) 	Bring out the differences between thermoplastic and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thermosetting resins.	(8)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	(ii) 	Describe the mechanism of free radical             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polymerization.          (8)</a:t>
            </a:r>
          </a:p>
          <a:p>
            <a:pPr algn="ctr"/>
            <a:r>
              <a:rPr lang="en-US" sz="220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(b)	(i)	What	is co-polymerization	? Describe the      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different types of copolymerization.	(8)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		(ii)	Explain the term glass transition temperature. What are  </a:t>
            </a: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the factors  influencing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200" baseline="-2500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?		(8)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3429000"/>
            <a:ext cx="9144000" cy="0"/>
          </a:xfrm>
          <a:prstGeom prst="line">
            <a:avLst/>
          </a:prstGeom>
          <a:ln>
            <a:solidFill>
              <a:srgbClr val="FF66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8849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8200" y="6407944"/>
            <a:ext cx="554832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7620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AutoNum type="arabicPeriod" startAt="3"/>
            </a:pPr>
            <a:r>
              <a:rPr lang="en-US" sz="2200">
                <a:latin typeface="Times New Roman" pitchFamily="18" charset="0"/>
                <a:cs typeface="Times New Roman" pitchFamily="18" charset="0"/>
              </a:rPr>
              <a:t>(a) 	(i) 	Explain the mechanism of polymerization through free 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radicals. (8)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(ii) 	What are the different types of molecular mass of          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 polymers? Explain each type with significance.	(8)</a:t>
            </a:r>
          </a:p>
          <a:p>
            <a:pPr algn="ctr"/>
            <a:r>
              <a:rPr lang="en-US" sz="220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(b) 	(i) 	What are the differences between thermoplastic 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 polymers and thermosetting polymers?	(8)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(ii) 	Explain the following :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	(1) 	Emulsion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.  (4)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	(2)	Solution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.    (4)</a:t>
            </a:r>
          </a:p>
          <a:p>
            <a:pPr algn="just"/>
            <a:endParaRPr lang="en-US" sz="2200"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just">
              <a:buAutoNum type="arabicPeriod" startAt="4"/>
            </a:pPr>
            <a:r>
              <a:rPr lang="en-US" sz="2200">
                <a:latin typeface="Times New Roman" pitchFamily="18" charset="0"/>
                <a:cs typeface="Times New Roman" pitchFamily="18" charset="0"/>
              </a:rPr>
              <a:t>(a) 	(i) 	Discuss the mechanism of condensation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in detail. (8)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(ii) 	Explain any four important properties of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polymers.		(8)</a:t>
            </a:r>
          </a:p>
          <a:p>
            <a:pPr algn="ctr"/>
            <a:r>
              <a:rPr lang="en-US" sz="220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(b) 	(i)	Describe the emulsion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polymerisation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technique. Give 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 two examples.			(8)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(ii)	Write down the preparation, properties and uses of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 Nylon 6:6.	(8)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505200"/>
            <a:ext cx="9144000" cy="0"/>
          </a:xfrm>
          <a:prstGeom prst="line">
            <a:avLst/>
          </a:prstGeom>
          <a:ln>
            <a:solidFill>
              <a:srgbClr val="FF66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77795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07944"/>
            <a:ext cx="478632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76200" y="214491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 algn="just">
              <a:buAutoNum type="arabicPeriod" startAt="5"/>
            </a:pPr>
            <a:r>
              <a:rPr lang="en-US" sz="2200">
                <a:latin typeface="Times New Roman" pitchFamily="18" charset="0"/>
                <a:cs typeface="Times New Roman" pitchFamily="18" charset="0"/>
              </a:rPr>
              <a:t>(a) 	(i)	Discuss cationic polymerization mechanism in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detail (8)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(ii)	Distinguish thermoplastics and thermosetting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plastics (8)</a:t>
            </a:r>
          </a:p>
          <a:p>
            <a:pPr algn="ctr"/>
            <a:r>
              <a:rPr lang="en-US" sz="220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(b)	(i) 	Explain any four properties of polymers in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detail.		(8)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		(ii)	Discuss the preparation, properties and uses of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              Nylon 6:6. 	(8)</a:t>
            </a:r>
          </a:p>
          <a:p>
            <a:pPr algn="just"/>
            <a:endParaRPr lang="en-US" sz="220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 startAt="6"/>
            </a:pPr>
            <a:r>
              <a:rPr lang="en-US" sz="2200">
                <a:latin typeface="Times New Roman" pitchFamily="18" charset="0"/>
                <a:cs typeface="Times New Roman" pitchFamily="18" charset="0"/>
              </a:rPr>
              <a:t>Write the mechanism of free radical polymerization. What are the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  monomers which can be polymerized by free radical polymerization?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7. Explain the free radical mechanism involved in the formation of 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polyethylene.</a:t>
            </a:r>
          </a:p>
          <a:p>
            <a:pPr marL="457200" indent="-457200" algn="just">
              <a:buAutoNum type="arabicPeriod" startAt="8"/>
            </a:pPr>
            <a:r>
              <a:rPr lang="en-US" sz="2200">
                <a:latin typeface="Times New Roman" pitchFamily="18" charset="0"/>
                <a:cs typeface="Times New Roman" pitchFamily="18" charset="0"/>
              </a:rPr>
              <a:t>Explain the different types of classification of plastics with suitable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examples</a:t>
            </a:r>
          </a:p>
          <a:p>
            <a:pPr marL="457200" indent="-457200" algn="just">
              <a:buAutoNum type="arabicPeriod" startAt="9"/>
            </a:pPr>
            <a:r>
              <a:rPr lang="en-US" sz="2200">
                <a:latin typeface="Times New Roman" pitchFamily="18" charset="0"/>
                <a:cs typeface="Times New Roman" pitchFamily="18" charset="0"/>
              </a:rPr>
              <a:t>Explain the free radical mechanism of polymerization taking vinyl </a:t>
            </a:r>
          </a:p>
          <a:p>
            <a:pPr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      chloride as a monomer.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505200"/>
            <a:ext cx="9144000" cy="0"/>
          </a:xfrm>
          <a:prstGeom prst="line">
            <a:avLst/>
          </a:prstGeom>
          <a:ln>
            <a:solidFill>
              <a:srgbClr val="FF66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07104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B503C-CDFB-4817-BCC8-28A19BBB0860}" type="datetime1">
              <a:rPr lang="en-US" smtClean="0"/>
              <a:pPr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Dr.S.Shamim Rishwana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407944"/>
            <a:ext cx="478632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"/>
            <a:ext cx="8872538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4919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8F5B47FA9F2F43BE62DA373C33F8AE" ma:contentTypeVersion="4" ma:contentTypeDescription="Create a new document." ma:contentTypeScope="" ma:versionID="480c44d2b5544be67724ce8459bf96b9">
  <xsd:schema xmlns:xsd="http://www.w3.org/2001/XMLSchema" xmlns:xs="http://www.w3.org/2001/XMLSchema" xmlns:p="http://schemas.microsoft.com/office/2006/metadata/properties" xmlns:ns2="38445d37-e7cf-43af-826f-9f53d8dfdee1" targetNamespace="http://schemas.microsoft.com/office/2006/metadata/properties" ma:root="true" ma:fieldsID="4ad894ec4a6a315feaceedfdf78b005e" ns2:_="">
    <xsd:import namespace="38445d37-e7cf-43af-826f-9f53d8dfde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45d37-e7cf-43af-826f-9f53d8dfde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F423D7-FEDD-4FF7-91E9-0F167BEE034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ACD809-15A6-44E1-9729-C5913F10B4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1A1790-AA67-47E2-BD77-8578435964B1}">
  <ds:schemaRefs>
    <ds:schemaRef ds:uri="38445d37-e7cf-43af-826f-9f53d8dfde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Application>Microsoft Office PowerPoint</Application>
  <PresentationFormat>On-screen Show (4:3)</PresentationFormat>
  <Slides>104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5" baseType="lpstr">
      <vt:lpstr>Aspect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SHAMIM</dc:creator>
  <cp:revision>15</cp:revision>
  <dcterms:created xsi:type="dcterms:W3CDTF">2006-08-16T00:00:00Z</dcterms:created>
  <dcterms:modified xsi:type="dcterms:W3CDTF">2021-02-02T03:22:22Z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0x010100728F5B47FA9F2F43BE62DA373C33F8AE</vt:lpwstr>
  </property>
</Properties>
</file>