
<file path=[Content_Types].xml><?xml version="1.0" encoding="utf-8"?>
<Types xmlns="http://schemas.openxmlformats.org/package/2006/content-types">
  <Default Extension="png" ContentType="image/png"/>
  <Default Extension="rels" ContentType="application/vnd.openxmlformats-package.relationships+xml"/>
  <Default Extension="jpeg" ContentType="image/jpeg"/>
  <Default Extension="emf" ContentType="image/x-e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6.xml" ContentType="application/vnd.openxmlformats-officedocument.presentationml.slide+xml"/>
  <Override PartName="/ppt/slides/slide14.xml" ContentType="application/vnd.openxmlformats-officedocument.presentationml.slide+xml"/>
  <Override PartName="/ppt/slides/slide17.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82" d="100"/>
          <a:sy n="82" d="100"/>
        </p:scale>
        <p:origin x="-1026" y="64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12/18/2020</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12/18/2020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12/18/2020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12/18/2020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12/18/2020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D8BD707-D9CF-40AE-B4C6-C98DA3205C09}" type="datetimeFigureOut">
              <a:rPr lang="en-US" smtClean="0"/>
              <a:pPr/>
              <a:t>12/18/2020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D8BD707-D9CF-40AE-B4C6-C98DA3205C09}" type="datetimeFigureOut">
              <a:rPr lang="en-US" smtClean="0"/>
              <a:pPr/>
              <a:t>12/18/2020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D8BD707-D9CF-40AE-B4C6-C98DA3205C09}" type="datetimeFigureOut">
              <a:rPr lang="en-US" smtClean="0"/>
              <a:pPr/>
              <a:t>12/18/2020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12/18/2020</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12/18/2020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12/18/2020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12/18/2020</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0" y="274638"/>
            <a:ext cx="7162800" cy="2239962"/>
          </a:xfrm>
        </p:spPr>
        <p:txBody>
          <a:bodyPr>
            <a:normAutofit/>
          </a:bodyPr>
          <a:lstStyle/>
          <a:p>
            <a:pPr algn="ctr"/>
            <a:r>
              <a:rPr lang="en-US" sz="6600" dirty="0" smtClean="0">
                <a:latin typeface="Times New Roman" pitchFamily="18" charset="0"/>
                <a:cs typeface="Times New Roman" pitchFamily="18" charset="0"/>
              </a:rPr>
              <a:t>BATTERY</a:t>
            </a:r>
            <a:endParaRPr lang="en-US" sz="6600" dirty="0">
              <a:latin typeface="Times New Roman" pitchFamily="18" charset="0"/>
              <a:cs typeface="Times New Roman" pitchFamily="18" charset="0"/>
            </a:endParaRPr>
          </a:p>
        </p:txBody>
      </p:sp>
      <p:pic>
        <p:nvPicPr>
          <p:cNvPr id="4" name="Picture 3" descr="b1.jpg"/>
          <p:cNvPicPr>
            <a:picLocks noChangeAspect="1"/>
          </p:cNvPicPr>
          <p:nvPr/>
        </p:nvPicPr>
        <p:blipFill>
          <a:blip r:embed="rId2" cstate="print"/>
          <a:stretch>
            <a:fillRect/>
          </a:stretch>
        </p:blipFill>
        <p:spPr>
          <a:xfrm>
            <a:off x="0" y="1371600"/>
            <a:ext cx="2819400" cy="2143125"/>
          </a:xfrm>
          <a:prstGeom prst="rect">
            <a:avLst/>
          </a:prstGeom>
        </p:spPr>
      </p:pic>
      <p:pic>
        <p:nvPicPr>
          <p:cNvPr id="5" name="Picture 4" descr="b2.jpg"/>
          <p:cNvPicPr>
            <a:picLocks noChangeAspect="1"/>
          </p:cNvPicPr>
          <p:nvPr/>
        </p:nvPicPr>
        <p:blipFill>
          <a:blip r:embed="rId3" cstate="print"/>
          <a:stretch>
            <a:fillRect/>
          </a:stretch>
        </p:blipFill>
        <p:spPr>
          <a:xfrm>
            <a:off x="1143000" y="4114800"/>
            <a:ext cx="2667000" cy="2286000"/>
          </a:xfrm>
          <a:prstGeom prst="rect">
            <a:avLst/>
          </a:prstGeom>
        </p:spPr>
      </p:pic>
      <p:pic>
        <p:nvPicPr>
          <p:cNvPr id="6" name="Picture 5" descr="b3.jpg"/>
          <p:cNvPicPr>
            <a:picLocks noChangeAspect="1"/>
          </p:cNvPicPr>
          <p:nvPr/>
        </p:nvPicPr>
        <p:blipFill>
          <a:blip r:embed="rId4" cstate="print"/>
          <a:stretch>
            <a:fillRect/>
          </a:stretch>
        </p:blipFill>
        <p:spPr>
          <a:xfrm>
            <a:off x="5334000" y="3810000"/>
            <a:ext cx="3124200" cy="2438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r>
              <a:rPr lang="en-IN" sz="2400" dirty="0" smtClean="0">
                <a:latin typeface="Times New Roman" pitchFamily="18" charset="0"/>
                <a:cs typeface="Times New Roman" pitchFamily="18" charset="0"/>
              </a:rPr>
              <a:t>A battery is a device which converts chemical energy into electrical energy. </a:t>
            </a:r>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In </a:t>
            </a:r>
            <a:r>
              <a:rPr lang="en-IN" sz="2400" dirty="0" smtClean="0">
                <a:latin typeface="Times New Roman" pitchFamily="18" charset="0"/>
                <a:cs typeface="Times New Roman" pitchFamily="18" charset="0"/>
              </a:rPr>
              <a:t>other words, a battery is an arrangement of several electrochemical cells is connected in series, which can be used as a source of direct electric current. That is, it contains several anodes and cathodes.</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Example - The ordinary 6 volt Lead storage battery is a combination of three 2 volt cells connected in series</a:t>
            </a:r>
            <a:r>
              <a:rPr lang="en-IN" sz="2400" dirty="0" smtClean="0">
                <a:latin typeface="Times New Roman" pitchFamily="18" charset="0"/>
                <a:cs typeface="Times New Roman" pitchFamily="18" charset="0"/>
              </a:rPr>
              <a:t>.</a:t>
            </a:r>
          </a:p>
          <a:p>
            <a:r>
              <a:rPr lang="en-IN" sz="2400" b="1" dirty="0" smtClean="0">
                <a:solidFill>
                  <a:srgbClr val="C00000"/>
                </a:solidFill>
                <a:latin typeface="Times New Roman" pitchFamily="18" charset="0"/>
                <a:cs typeface="Times New Roman" pitchFamily="18" charset="0"/>
              </a:rPr>
              <a:t>A useful battery should fulfil the following requirements </a:t>
            </a:r>
            <a:endParaRPr lang="en-US" sz="2400" dirty="0" smtClean="0">
              <a:solidFill>
                <a:srgbClr val="C00000"/>
              </a:solidFill>
              <a:latin typeface="Times New Roman" pitchFamily="18" charset="0"/>
              <a:cs typeface="Times New Roman" pitchFamily="18" charset="0"/>
            </a:endParaRPr>
          </a:p>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1</a:t>
            </a:r>
            <a:r>
              <a:rPr lang="en-IN" sz="2400" dirty="0" smtClean="0">
                <a:latin typeface="Times New Roman" pitchFamily="18" charset="0"/>
                <a:cs typeface="Times New Roman" pitchFamily="18" charset="0"/>
              </a:rPr>
              <a:t>. It should be light and compact for easy transport.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2. It should have long life both when it is being used and when it is not used.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3. The voltage of the battery should not vary appreciably during its use</a:t>
            </a:r>
            <a:r>
              <a:rPr lang="en-IN" sz="2400" dirty="0" smtClean="0"/>
              <a:t>. </a:t>
            </a:r>
            <a:endParaRPr lang="en-US" sz="2400" dirty="0" smtClean="0"/>
          </a:p>
          <a:p>
            <a:endParaRPr lang="en-US" sz="2400" dirty="0" smtClean="0">
              <a:latin typeface="Times New Roman" pitchFamily="18" charset="0"/>
              <a:cs typeface="Times New Roman" pitchFamily="18" charset="0"/>
            </a:endParaRP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8991600" cy="6858000"/>
          </a:xfrm>
        </p:spPr>
        <p:txBody>
          <a:bodyPr>
            <a:normAutofit lnSpcReduction="10000"/>
          </a:bodyPr>
          <a:lstStyle/>
          <a:p>
            <a:r>
              <a:rPr lang="en-IN" sz="2400" b="1" dirty="0" smtClean="0">
                <a:solidFill>
                  <a:srgbClr val="C00000"/>
                </a:solidFill>
                <a:latin typeface="Times New Roman" pitchFamily="18" charset="0"/>
                <a:cs typeface="Times New Roman" pitchFamily="18" charset="0"/>
              </a:rPr>
              <a:t>Classification of batteries </a:t>
            </a:r>
            <a:endParaRPr lang="en-US" sz="2400" dirty="0" smtClean="0">
              <a:solidFill>
                <a:srgbClr val="C00000"/>
              </a:solidFill>
              <a:latin typeface="Times New Roman" pitchFamily="18" charset="0"/>
              <a:cs typeface="Times New Roman" pitchFamily="18" charset="0"/>
            </a:endParaRPr>
          </a:p>
          <a:p>
            <a:r>
              <a:rPr lang="en-IN" sz="2400" dirty="0" smtClean="0">
                <a:solidFill>
                  <a:srgbClr val="C00000"/>
                </a:solidFill>
                <a:latin typeface="Times New Roman" pitchFamily="18" charset="0"/>
                <a:cs typeface="Times New Roman" pitchFamily="18" charset="0"/>
              </a:rPr>
              <a:t>Batteries are broadly classified into the following three categories. They are </a:t>
            </a:r>
            <a:endParaRPr lang="en-US" sz="2400" dirty="0" smtClean="0">
              <a:solidFill>
                <a:srgbClr val="C00000"/>
              </a:solidFill>
              <a:latin typeface="Times New Roman" pitchFamily="18" charset="0"/>
              <a:cs typeface="Times New Roman" pitchFamily="18" charset="0"/>
            </a:endParaRPr>
          </a:p>
          <a:p>
            <a:r>
              <a:rPr lang="en-IN" sz="2400" dirty="0" smtClean="0">
                <a:solidFill>
                  <a:srgbClr val="C00000"/>
                </a:solidFill>
                <a:latin typeface="Times New Roman" pitchFamily="18" charset="0"/>
                <a:cs typeface="Times New Roman" pitchFamily="18" charset="0"/>
              </a:rPr>
              <a:t>1. Primary battery (or) Primary cells </a:t>
            </a:r>
            <a:endParaRPr lang="en-US" sz="2400" dirty="0" smtClean="0">
              <a:solidFill>
                <a:srgbClr val="C00000"/>
              </a:solidFill>
              <a:latin typeface="Times New Roman" pitchFamily="18" charset="0"/>
              <a:cs typeface="Times New Roman" pitchFamily="18" charset="0"/>
            </a:endParaRPr>
          </a:p>
          <a:p>
            <a:r>
              <a:rPr lang="en-IN" sz="2400" dirty="0" smtClean="0">
                <a:solidFill>
                  <a:srgbClr val="C00000"/>
                </a:solidFill>
                <a:latin typeface="Times New Roman" pitchFamily="18" charset="0"/>
                <a:cs typeface="Times New Roman" pitchFamily="18" charset="0"/>
              </a:rPr>
              <a:t>2. Secondary battery (or) Secondary cells </a:t>
            </a:r>
            <a:endParaRPr lang="en-US" sz="2400" dirty="0" smtClean="0">
              <a:solidFill>
                <a:srgbClr val="C00000"/>
              </a:solidFill>
              <a:latin typeface="Times New Roman" pitchFamily="18" charset="0"/>
              <a:cs typeface="Times New Roman" pitchFamily="18" charset="0"/>
            </a:endParaRPr>
          </a:p>
          <a:p>
            <a:r>
              <a:rPr lang="en-IN" sz="2400" dirty="0" smtClean="0">
                <a:solidFill>
                  <a:srgbClr val="C00000"/>
                </a:solidFill>
                <a:latin typeface="Times New Roman" pitchFamily="18" charset="0"/>
                <a:cs typeface="Times New Roman" pitchFamily="18" charset="0"/>
              </a:rPr>
              <a:t>3. Flow battery (or) Fuel cells </a:t>
            </a:r>
            <a:endParaRPr lang="en-US" sz="2400" dirty="0" smtClean="0">
              <a:solidFill>
                <a:srgbClr val="C00000"/>
              </a:solidFill>
              <a:latin typeface="Times New Roman" pitchFamily="18" charset="0"/>
              <a:cs typeface="Times New Roman" pitchFamily="18" charset="0"/>
            </a:endParaRPr>
          </a:p>
          <a:p>
            <a:endParaRPr lang="en-IN" sz="2400" b="1" dirty="0" smtClean="0">
              <a:latin typeface="Times New Roman" pitchFamily="18" charset="0"/>
              <a:cs typeface="Times New Roman" pitchFamily="18" charset="0"/>
            </a:endParaRPr>
          </a:p>
          <a:p>
            <a:endParaRPr lang="en-IN" sz="2400" b="1" dirty="0" smtClean="0">
              <a:latin typeface="Times New Roman" pitchFamily="18" charset="0"/>
              <a:cs typeface="Times New Roman" pitchFamily="18" charset="0"/>
            </a:endParaRPr>
          </a:p>
          <a:p>
            <a:r>
              <a:rPr lang="en-IN" sz="2400" b="1" dirty="0" smtClean="0">
                <a:solidFill>
                  <a:srgbClr val="C00000"/>
                </a:solidFill>
                <a:latin typeface="Times New Roman" pitchFamily="18" charset="0"/>
                <a:cs typeface="Times New Roman" pitchFamily="18" charset="0"/>
              </a:rPr>
              <a:t>Primary </a:t>
            </a:r>
            <a:r>
              <a:rPr lang="en-IN" sz="2400" b="1" dirty="0" smtClean="0">
                <a:solidFill>
                  <a:srgbClr val="C00000"/>
                </a:solidFill>
                <a:latin typeface="Times New Roman" pitchFamily="18" charset="0"/>
                <a:cs typeface="Times New Roman" pitchFamily="18" charset="0"/>
              </a:rPr>
              <a:t>battery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The battery in which cell reaction is not reversible is primary battery. i.e. </a:t>
            </a:r>
            <a:r>
              <a:rPr lang="en-US" sz="2400" dirty="0" smtClean="0">
                <a:latin typeface="Times New Roman" pitchFamily="18" charset="0"/>
                <a:cs typeface="Times New Roman" pitchFamily="18" charset="0"/>
              </a:rPr>
              <a:t>The electrode reaction cannot be reversed by passing an external electrical energy.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In </a:t>
            </a:r>
            <a:r>
              <a:rPr lang="en-IN" sz="2400" dirty="0" smtClean="0">
                <a:latin typeface="Times New Roman" pitchFamily="18" charset="0"/>
                <a:cs typeface="Times New Roman" pitchFamily="18" charset="0"/>
              </a:rPr>
              <a:t>the primary batteries the reaction occurs only once and after use over a period of time battery becomes dead and cannot be reused again. Therefore, they are not chargeable.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Examples: Dry cells, Alkaline battery, Mercury cells.</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B4.png"/>
          <p:cNvPicPr>
            <a:picLocks noGrp="1" noChangeAspect="1"/>
          </p:cNvPicPr>
          <p:nvPr>
            <p:ph idx="1"/>
          </p:nvPr>
        </p:nvPicPr>
        <p:blipFill>
          <a:blip r:embed="rId2" cstate="print"/>
          <a:stretch>
            <a:fillRect/>
          </a:stretch>
        </p:blipFill>
        <p:spPr>
          <a:xfrm>
            <a:off x="152400" y="304800"/>
            <a:ext cx="8763000" cy="6553200"/>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8991600" cy="6858000"/>
          </a:xfrm>
        </p:spPr>
        <p:txBody>
          <a:bodyPr/>
          <a:lstStyle/>
          <a:p>
            <a:r>
              <a:rPr lang="en-IN" sz="2400" b="1" dirty="0" smtClean="0">
                <a:latin typeface="Times New Roman" pitchFamily="18" charset="0"/>
                <a:cs typeface="Times New Roman" pitchFamily="18" charset="0"/>
              </a:rPr>
              <a:t>Secondary battery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The battery in which cell reaction is reversible is secondary battery. i.e. </a:t>
            </a:r>
            <a:r>
              <a:rPr lang="en-US" sz="2400" dirty="0" smtClean="0">
                <a:latin typeface="Times New Roman" pitchFamily="18" charset="0"/>
                <a:cs typeface="Times New Roman" pitchFamily="18" charset="0"/>
              </a:rPr>
              <a:t>The electrode reaction can be reversed by passing an external electrical energy</a:t>
            </a:r>
            <a:r>
              <a:rPr lang="en-IN" sz="2400" dirty="0" smtClean="0">
                <a:latin typeface="Times New Roman" pitchFamily="18" charset="0"/>
                <a:cs typeface="Times New Roman" pitchFamily="18" charset="0"/>
              </a:rPr>
              <a:t>. Secondary batteries are one which can be recharged and reused repeatedly. These are called storage cells or accumulators.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Examples: Lead acid storage cells, Nickel Cadmium cells, Lithium battery.</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endParaRPr lang="en-US" dirty="0"/>
          </a:p>
        </p:txBody>
      </p:sp>
      <p:pic>
        <p:nvPicPr>
          <p:cNvPr id="5" name="Picture 4" descr="B6.jpg"/>
          <p:cNvPicPr>
            <a:picLocks noChangeAspect="1"/>
          </p:cNvPicPr>
          <p:nvPr/>
        </p:nvPicPr>
        <p:blipFill>
          <a:blip r:embed="rId2" cstate="print"/>
          <a:stretch>
            <a:fillRect/>
          </a:stretch>
        </p:blipFill>
        <p:spPr>
          <a:xfrm>
            <a:off x="4343400" y="3048000"/>
            <a:ext cx="4343400" cy="3810000"/>
          </a:xfrm>
          <a:prstGeom prst="rect">
            <a:avLst/>
          </a:prstGeom>
        </p:spPr>
      </p:pic>
      <p:pic>
        <p:nvPicPr>
          <p:cNvPr id="6" name="Picture 5" descr="B7.png"/>
          <p:cNvPicPr>
            <a:picLocks noChangeAspect="1"/>
          </p:cNvPicPr>
          <p:nvPr/>
        </p:nvPicPr>
        <p:blipFill>
          <a:blip r:embed="rId3" cstate="print"/>
          <a:stretch>
            <a:fillRect/>
          </a:stretch>
        </p:blipFill>
        <p:spPr>
          <a:xfrm>
            <a:off x="304800" y="3276600"/>
            <a:ext cx="3657600" cy="3352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8686800" cy="6007291"/>
          </a:xfrm>
        </p:spPr>
        <p:txBody>
          <a:bodyPr/>
          <a:lstStyle/>
          <a:p>
            <a:r>
              <a:rPr lang="en-IN" sz="2400" b="1" dirty="0" smtClean="0">
                <a:solidFill>
                  <a:srgbClr val="C00000"/>
                </a:solidFill>
                <a:latin typeface="Times New Roman" pitchFamily="18" charset="0"/>
                <a:cs typeface="Times New Roman" pitchFamily="18" charset="0"/>
              </a:rPr>
              <a:t>Flow batteries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In these batteries, the materials (reactants, products and electrolytes) continuously pass through the cell, which is simply an electrochemical cell that converts chemical energy of the fuels directly into electrical energy without combustion.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r>
              <a:rPr lang="en-IN" sz="2400" dirty="0" smtClean="0">
                <a:solidFill>
                  <a:schemeClr val="accent2">
                    <a:lumMod val="75000"/>
                  </a:schemeClr>
                </a:solidFill>
                <a:latin typeface="Times New Roman" pitchFamily="18" charset="0"/>
                <a:cs typeface="Times New Roman" pitchFamily="18" charset="0"/>
              </a:rPr>
              <a:t>Fuel </a:t>
            </a:r>
            <a:r>
              <a:rPr lang="en-IN" sz="2400" dirty="0" smtClean="0">
                <a:solidFill>
                  <a:schemeClr val="accent2">
                    <a:lumMod val="75000"/>
                  </a:schemeClr>
                </a:solidFill>
                <a:latin typeface="Times New Roman" pitchFamily="18" charset="0"/>
                <a:cs typeface="Times New Roman" pitchFamily="18" charset="0"/>
              </a:rPr>
              <a:t>+ Oxygen                     Oxidation products + Electricity </a:t>
            </a:r>
            <a:endParaRPr lang="en-US" sz="2400" dirty="0" smtClean="0">
              <a:solidFill>
                <a:schemeClr val="accent2">
                  <a:lumMod val="75000"/>
                </a:schemeClr>
              </a:solidFill>
              <a:latin typeface="Times New Roman" pitchFamily="18" charset="0"/>
              <a:cs typeface="Times New Roman" pitchFamily="18" charset="0"/>
            </a:endParaRPr>
          </a:p>
          <a:p>
            <a:r>
              <a:rPr lang="en-IN" sz="2400" dirty="0" smtClean="0">
                <a:solidFill>
                  <a:schemeClr val="accent2">
                    <a:lumMod val="75000"/>
                  </a:schemeClr>
                </a:solidFill>
                <a:latin typeface="Times New Roman" pitchFamily="18" charset="0"/>
                <a:cs typeface="Times New Roman" pitchFamily="18" charset="0"/>
              </a:rPr>
              <a:t> </a:t>
            </a:r>
            <a:r>
              <a:rPr lang="en-IN" sz="2400" dirty="0" smtClean="0">
                <a:solidFill>
                  <a:schemeClr val="accent2">
                    <a:lumMod val="75000"/>
                  </a:schemeClr>
                </a:solidFill>
                <a:latin typeface="Times New Roman" pitchFamily="18" charset="0"/>
                <a:cs typeface="Times New Roman" pitchFamily="18" charset="0"/>
              </a:rPr>
              <a:t>Example</a:t>
            </a:r>
            <a:r>
              <a:rPr lang="en-IN" sz="2400" dirty="0" smtClean="0">
                <a:solidFill>
                  <a:schemeClr val="accent2">
                    <a:lumMod val="75000"/>
                  </a:schemeClr>
                </a:solidFill>
                <a:latin typeface="Times New Roman" pitchFamily="18" charset="0"/>
                <a:cs typeface="Times New Roman" pitchFamily="18" charset="0"/>
              </a:rPr>
              <a:t>: Hydrogen – Oxygen fuel cell</a:t>
            </a:r>
            <a:endParaRPr lang="en-US" sz="2400" dirty="0" smtClean="0">
              <a:solidFill>
                <a:schemeClr val="accent2">
                  <a:lumMod val="75000"/>
                </a:schemeClr>
              </a:solidFill>
              <a:latin typeface="Times New Roman" pitchFamily="18" charset="0"/>
              <a:cs typeface="Times New Roman" pitchFamily="18" charset="0"/>
            </a:endParaRPr>
          </a:p>
          <a:p>
            <a:r>
              <a:rPr lang="en-IN" dirty="0" smtClean="0"/>
              <a:t> </a:t>
            </a:r>
            <a:endParaRPr lang="en-US" dirty="0" smtClean="0"/>
          </a:p>
          <a:p>
            <a:endParaRPr lang="en-US" dirty="0"/>
          </a:p>
        </p:txBody>
      </p:sp>
      <p:cxnSp>
        <p:nvCxnSpPr>
          <p:cNvPr id="5" name="Straight Arrow Connector 4"/>
          <p:cNvCxnSpPr/>
          <p:nvPr/>
        </p:nvCxnSpPr>
        <p:spPr>
          <a:xfrm>
            <a:off x="2514600" y="2209800"/>
            <a:ext cx="1295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6" name="Picture 5" descr="B8.jpg"/>
          <p:cNvPicPr>
            <a:picLocks noChangeAspect="1"/>
          </p:cNvPicPr>
          <p:nvPr/>
        </p:nvPicPr>
        <p:blipFill>
          <a:blip r:embed="rId2" cstate="print"/>
          <a:stretch>
            <a:fillRect/>
          </a:stretch>
        </p:blipFill>
        <p:spPr>
          <a:xfrm>
            <a:off x="1600200" y="3124200"/>
            <a:ext cx="5562600" cy="3505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8991600" cy="6007291"/>
          </a:xfrm>
        </p:spPr>
        <p:txBody>
          <a:bodyPr/>
          <a:lstStyle/>
          <a:p>
            <a:r>
              <a:rPr lang="en-IN" sz="2400" b="1" dirty="0" smtClean="0">
                <a:solidFill>
                  <a:srgbClr val="C00000"/>
                </a:solidFill>
                <a:latin typeface="Times New Roman" pitchFamily="18" charset="0"/>
                <a:cs typeface="Times New Roman" pitchFamily="18" charset="0"/>
              </a:rPr>
              <a:t>Differences between primary and secondary batteries</a:t>
            </a:r>
            <a:endParaRPr lang="en-US" sz="2400" dirty="0" smtClean="0">
              <a:solidFill>
                <a:srgbClr val="C00000"/>
              </a:solidFill>
              <a:latin typeface="Times New Roman" pitchFamily="18" charset="0"/>
              <a:cs typeface="Times New Roman" pitchFamily="18" charset="0"/>
            </a:endParaRPr>
          </a:p>
          <a:p>
            <a:endParaRPr lang="en-US" dirty="0"/>
          </a:p>
        </p:txBody>
      </p:sp>
      <p:graphicFrame>
        <p:nvGraphicFramePr>
          <p:cNvPr id="4" name="Table 3"/>
          <p:cNvGraphicFramePr>
            <a:graphicFrameLocks noGrp="1"/>
          </p:cNvGraphicFramePr>
          <p:nvPr/>
        </p:nvGraphicFramePr>
        <p:xfrm>
          <a:off x="304800" y="910496"/>
          <a:ext cx="8534400" cy="5642703"/>
        </p:xfrm>
        <a:graphic>
          <a:graphicData uri="http://schemas.openxmlformats.org/drawingml/2006/table">
            <a:tbl>
              <a:tblPr firstRow="1" bandRow="1">
                <a:tableStyleId>{5C22544A-7EE6-4342-B048-85BDC9FD1C3A}</a:tableStyleId>
              </a:tblPr>
              <a:tblGrid>
                <a:gridCol w="685800"/>
                <a:gridCol w="3276600"/>
                <a:gridCol w="4572000"/>
              </a:tblGrid>
              <a:tr h="1071813">
                <a:tc>
                  <a:txBody>
                    <a:bodyPr/>
                    <a:lstStyle/>
                    <a:p>
                      <a:r>
                        <a:rPr lang="en-US" dirty="0" smtClean="0"/>
                        <a:t>SNO</a:t>
                      </a:r>
                      <a:endParaRPr lang="en-US" dirty="0"/>
                    </a:p>
                  </a:txBody>
                  <a:tcPr/>
                </a:tc>
                <a:tc>
                  <a:txBody>
                    <a:bodyPr/>
                    <a:lstStyle/>
                    <a:p>
                      <a:pPr marL="0" marR="0" algn="just">
                        <a:lnSpc>
                          <a:spcPct val="115000"/>
                        </a:lnSpc>
                        <a:spcBef>
                          <a:spcPts val="0"/>
                        </a:spcBef>
                        <a:spcAft>
                          <a:spcPts val="0"/>
                        </a:spcAft>
                      </a:pPr>
                      <a:r>
                        <a:rPr lang="en-IN" sz="2400" dirty="0">
                          <a:solidFill>
                            <a:srgbClr val="000000"/>
                          </a:solidFill>
                          <a:latin typeface="Times New Roman"/>
                          <a:ea typeface="Calibri"/>
                          <a:cs typeface="Times New Roman"/>
                        </a:rPr>
                        <a:t>Primary batteries </a:t>
                      </a:r>
                      <a:endParaRPr lang="en-US" sz="2400" dirty="0">
                        <a:latin typeface="Calibri"/>
                        <a:ea typeface="Calibri"/>
                        <a:cs typeface="Times New Roman"/>
                      </a:endParaRPr>
                    </a:p>
                  </a:txBody>
                  <a:tcPr marL="68580" marR="68580" marT="0" marB="0"/>
                </a:tc>
                <a:tc>
                  <a:txBody>
                    <a:bodyPr/>
                    <a:lstStyle/>
                    <a:p>
                      <a:pPr marL="0" marR="0" algn="just">
                        <a:lnSpc>
                          <a:spcPct val="115000"/>
                        </a:lnSpc>
                        <a:spcBef>
                          <a:spcPts val="0"/>
                        </a:spcBef>
                        <a:spcAft>
                          <a:spcPts val="0"/>
                        </a:spcAft>
                      </a:pPr>
                      <a:r>
                        <a:rPr lang="en-IN" sz="2400">
                          <a:solidFill>
                            <a:srgbClr val="000000"/>
                          </a:solidFill>
                          <a:latin typeface="Times New Roman"/>
                          <a:ea typeface="Calibri"/>
                          <a:cs typeface="Times New Roman"/>
                        </a:rPr>
                        <a:t>Secondary batteries </a:t>
                      </a:r>
                      <a:endParaRPr lang="en-US" sz="2400">
                        <a:latin typeface="Calibri"/>
                        <a:ea typeface="Calibri"/>
                        <a:cs typeface="Times New Roman"/>
                      </a:endParaRPr>
                    </a:p>
                  </a:txBody>
                  <a:tcPr marL="68580" marR="68580" marT="0" marB="0"/>
                </a:tc>
              </a:tr>
              <a:tr h="1071813">
                <a:tc>
                  <a:txBody>
                    <a:bodyPr/>
                    <a:lstStyle/>
                    <a:p>
                      <a:r>
                        <a:rPr lang="en-US" dirty="0" smtClean="0"/>
                        <a:t>1</a:t>
                      </a:r>
                      <a:endParaRPr lang="en-US" dirty="0"/>
                    </a:p>
                  </a:txBody>
                  <a:tcPr/>
                </a:tc>
                <a:tc>
                  <a:txBody>
                    <a:bodyPr/>
                    <a:lstStyle/>
                    <a:p>
                      <a:pPr marL="0" marR="0" algn="just">
                        <a:lnSpc>
                          <a:spcPct val="115000"/>
                        </a:lnSpc>
                        <a:spcBef>
                          <a:spcPts val="0"/>
                        </a:spcBef>
                        <a:spcAft>
                          <a:spcPts val="0"/>
                        </a:spcAft>
                      </a:pPr>
                      <a:r>
                        <a:rPr lang="en-IN" sz="2400" dirty="0">
                          <a:solidFill>
                            <a:srgbClr val="000000"/>
                          </a:solidFill>
                          <a:latin typeface="Times New Roman"/>
                          <a:ea typeface="Calibri"/>
                          <a:cs typeface="Times New Roman"/>
                        </a:rPr>
                        <a:t>Irreversible batteries </a:t>
                      </a:r>
                      <a:endParaRPr lang="en-US" sz="2400" dirty="0">
                        <a:latin typeface="Calibri"/>
                        <a:ea typeface="Calibri"/>
                        <a:cs typeface="Times New Roman"/>
                      </a:endParaRPr>
                    </a:p>
                  </a:txBody>
                  <a:tcPr marL="68580" marR="68580" marT="0" marB="0"/>
                </a:tc>
                <a:tc>
                  <a:txBody>
                    <a:bodyPr/>
                    <a:lstStyle/>
                    <a:p>
                      <a:pPr marL="0" marR="0" algn="just">
                        <a:lnSpc>
                          <a:spcPct val="115000"/>
                        </a:lnSpc>
                        <a:spcBef>
                          <a:spcPts val="0"/>
                        </a:spcBef>
                        <a:spcAft>
                          <a:spcPts val="0"/>
                        </a:spcAft>
                      </a:pPr>
                      <a:r>
                        <a:rPr lang="en-IN" sz="2400">
                          <a:solidFill>
                            <a:srgbClr val="000000"/>
                          </a:solidFill>
                          <a:latin typeface="Times New Roman"/>
                          <a:ea typeface="Calibri"/>
                          <a:cs typeface="Times New Roman"/>
                        </a:rPr>
                        <a:t>Reversible batteries </a:t>
                      </a:r>
                      <a:endParaRPr lang="en-US" sz="2400">
                        <a:latin typeface="Calibri"/>
                        <a:ea typeface="Calibri"/>
                        <a:cs typeface="Times New Roman"/>
                      </a:endParaRPr>
                    </a:p>
                  </a:txBody>
                  <a:tcPr marL="68580" marR="68580" marT="0" marB="0"/>
                </a:tc>
              </a:tr>
              <a:tr h="1625222">
                <a:tc>
                  <a:txBody>
                    <a:bodyPr/>
                    <a:lstStyle/>
                    <a:p>
                      <a:r>
                        <a:rPr lang="en-US" dirty="0" smtClean="0"/>
                        <a:t>2</a:t>
                      </a:r>
                      <a:endParaRPr lang="en-US" dirty="0"/>
                    </a:p>
                  </a:txBody>
                  <a:tcPr/>
                </a:tc>
                <a:tc>
                  <a:txBody>
                    <a:bodyPr/>
                    <a:lstStyle/>
                    <a:p>
                      <a:pPr marL="0" marR="0" algn="just">
                        <a:lnSpc>
                          <a:spcPct val="115000"/>
                        </a:lnSpc>
                        <a:spcBef>
                          <a:spcPts val="0"/>
                        </a:spcBef>
                        <a:spcAft>
                          <a:spcPts val="0"/>
                        </a:spcAft>
                      </a:pPr>
                      <a:r>
                        <a:rPr lang="en-IN" sz="2400" dirty="0">
                          <a:solidFill>
                            <a:srgbClr val="000000"/>
                          </a:solidFill>
                          <a:latin typeface="Times New Roman"/>
                          <a:ea typeface="Calibri"/>
                          <a:cs typeface="Times New Roman"/>
                        </a:rPr>
                        <a:t>It can be used only once </a:t>
                      </a:r>
                      <a:endParaRPr lang="en-US" sz="2400" dirty="0">
                        <a:latin typeface="Calibri"/>
                        <a:ea typeface="Calibri"/>
                        <a:cs typeface="Times New Roman"/>
                      </a:endParaRPr>
                    </a:p>
                  </a:txBody>
                  <a:tcPr marL="68580" marR="68580" marT="0" marB="0"/>
                </a:tc>
                <a:tc>
                  <a:txBody>
                    <a:bodyPr/>
                    <a:lstStyle/>
                    <a:p>
                      <a:pPr marL="0" marR="0" algn="just">
                        <a:lnSpc>
                          <a:spcPct val="115000"/>
                        </a:lnSpc>
                        <a:spcBef>
                          <a:spcPts val="0"/>
                        </a:spcBef>
                        <a:spcAft>
                          <a:spcPts val="0"/>
                        </a:spcAft>
                      </a:pPr>
                      <a:r>
                        <a:rPr lang="en-IN" sz="2400" dirty="0">
                          <a:solidFill>
                            <a:srgbClr val="000000"/>
                          </a:solidFill>
                          <a:latin typeface="Times New Roman"/>
                          <a:ea typeface="Calibri"/>
                          <a:cs typeface="Times New Roman"/>
                        </a:rPr>
                        <a:t>It can be used, recharged and reused </a:t>
                      </a:r>
                      <a:endParaRPr lang="en-US" sz="2400" dirty="0">
                        <a:latin typeface="Calibri"/>
                        <a:ea typeface="Calibri"/>
                        <a:cs typeface="Times New Roman"/>
                      </a:endParaRPr>
                    </a:p>
                  </a:txBody>
                  <a:tcPr marL="68580" marR="68580" marT="0" marB="0"/>
                </a:tc>
              </a:tr>
              <a:tr h="802042">
                <a:tc>
                  <a:txBody>
                    <a:bodyPr/>
                    <a:lstStyle/>
                    <a:p>
                      <a:r>
                        <a:rPr lang="en-US" dirty="0" smtClean="0"/>
                        <a:t>3</a:t>
                      </a:r>
                      <a:endParaRPr lang="en-US" dirty="0"/>
                    </a:p>
                  </a:txBody>
                  <a:tcPr/>
                </a:tc>
                <a:tc>
                  <a:txBody>
                    <a:bodyPr/>
                    <a:lstStyle/>
                    <a:p>
                      <a:pPr marL="0" marR="0" algn="just">
                        <a:lnSpc>
                          <a:spcPct val="115000"/>
                        </a:lnSpc>
                        <a:spcBef>
                          <a:spcPts val="0"/>
                        </a:spcBef>
                        <a:spcAft>
                          <a:spcPts val="0"/>
                        </a:spcAft>
                      </a:pPr>
                      <a:r>
                        <a:rPr lang="en-IN" sz="2400" dirty="0">
                          <a:solidFill>
                            <a:srgbClr val="000000"/>
                          </a:solidFill>
                          <a:latin typeface="Times New Roman"/>
                          <a:ea typeface="Calibri"/>
                          <a:cs typeface="Times New Roman"/>
                        </a:rPr>
                        <a:t>They are cheap </a:t>
                      </a:r>
                      <a:endParaRPr lang="en-US" sz="2400" dirty="0">
                        <a:latin typeface="Calibri"/>
                        <a:ea typeface="Calibri"/>
                        <a:cs typeface="Times New Roman"/>
                      </a:endParaRPr>
                    </a:p>
                  </a:txBody>
                  <a:tcPr marL="68580" marR="68580" marT="0" marB="0"/>
                </a:tc>
                <a:tc>
                  <a:txBody>
                    <a:bodyPr/>
                    <a:lstStyle/>
                    <a:p>
                      <a:pPr marL="0" marR="0" algn="just">
                        <a:lnSpc>
                          <a:spcPct val="115000"/>
                        </a:lnSpc>
                        <a:spcBef>
                          <a:spcPts val="0"/>
                        </a:spcBef>
                        <a:spcAft>
                          <a:spcPts val="0"/>
                        </a:spcAft>
                      </a:pPr>
                      <a:r>
                        <a:rPr lang="en-IN" sz="2400">
                          <a:solidFill>
                            <a:srgbClr val="000000"/>
                          </a:solidFill>
                          <a:latin typeface="Times New Roman"/>
                          <a:ea typeface="Calibri"/>
                          <a:cs typeface="Times New Roman"/>
                        </a:rPr>
                        <a:t>They are costlier </a:t>
                      </a:r>
                      <a:endParaRPr lang="en-US" sz="2400">
                        <a:latin typeface="Calibri"/>
                        <a:ea typeface="Calibri"/>
                        <a:cs typeface="Times New Roman"/>
                      </a:endParaRPr>
                    </a:p>
                  </a:txBody>
                  <a:tcPr marL="68580" marR="68580" marT="0" marB="0"/>
                </a:tc>
              </a:tr>
              <a:tr h="1071813">
                <a:tc>
                  <a:txBody>
                    <a:bodyPr/>
                    <a:lstStyle/>
                    <a:p>
                      <a:r>
                        <a:rPr lang="en-US" dirty="0" smtClean="0"/>
                        <a:t>4</a:t>
                      </a:r>
                      <a:endParaRPr lang="en-US" dirty="0"/>
                    </a:p>
                  </a:txBody>
                  <a:tcPr/>
                </a:tc>
                <a:tc>
                  <a:txBody>
                    <a:bodyPr/>
                    <a:lstStyle/>
                    <a:p>
                      <a:pPr marL="0" marR="0" algn="just">
                        <a:lnSpc>
                          <a:spcPct val="115000"/>
                        </a:lnSpc>
                        <a:spcBef>
                          <a:spcPts val="0"/>
                        </a:spcBef>
                        <a:spcAft>
                          <a:spcPts val="0"/>
                        </a:spcAft>
                      </a:pPr>
                      <a:r>
                        <a:rPr lang="en-IN" sz="2400" dirty="0">
                          <a:solidFill>
                            <a:srgbClr val="000000"/>
                          </a:solidFill>
                          <a:latin typeface="Times New Roman"/>
                          <a:ea typeface="Calibri"/>
                          <a:cs typeface="Times New Roman"/>
                        </a:rPr>
                        <a:t>Initial cost is low </a:t>
                      </a:r>
                      <a:endParaRPr lang="en-US" sz="2400" dirty="0">
                        <a:latin typeface="Calibri"/>
                        <a:ea typeface="Calibri"/>
                        <a:cs typeface="Times New Roman"/>
                      </a:endParaRPr>
                    </a:p>
                  </a:txBody>
                  <a:tcPr marL="68580" marR="68580" marT="0" marB="0"/>
                </a:tc>
                <a:tc>
                  <a:txBody>
                    <a:bodyPr/>
                    <a:lstStyle/>
                    <a:p>
                      <a:pPr marL="0" marR="0" algn="just">
                        <a:lnSpc>
                          <a:spcPct val="115000"/>
                        </a:lnSpc>
                        <a:spcBef>
                          <a:spcPts val="0"/>
                        </a:spcBef>
                        <a:spcAft>
                          <a:spcPts val="0"/>
                        </a:spcAft>
                      </a:pPr>
                      <a:r>
                        <a:rPr lang="en-IN" sz="2400" dirty="0">
                          <a:solidFill>
                            <a:srgbClr val="000000"/>
                          </a:solidFill>
                          <a:latin typeface="Times New Roman"/>
                          <a:ea typeface="Calibri"/>
                          <a:cs typeface="Times New Roman"/>
                        </a:rPr>
                        <a:t>Initial cost is very high </a:t>
                      </a:r>
                      <a:endParaRPr lang="en-US" sz="2400" dirty="0">
                        <a:latin typeface="Calibri"/>
                        <a:ea typeface="Calibri"/>
                        <a:cs typeface="Times New Roman"/>
                      </a:endParaRPr>
                    </a:p>
                  </a:txBody>
                  <a:tcPr marL="68580" marR="68580" marT="0" marB="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400" b="1" u="sng" dirty="0" smtClean="0">
                <a:solidFill>
                  <a:srgbClr val="C00000"/>
                </a:solidFill>
                <a:latin typeface="Times New Roman" pitchFamily="18" charset="0"/>
                <a:cs typeface="Times New Roman" pitchFamily="18" charset="0"/>
              </a:rPr>
              <a:t>ALKALINE BATTERY </a:t>
            </a:r>
            <a:endParaRPr lang="en-US" sz="2400" dirty="0" smtClean="0">
              <a:solidFill>
                <a:srgbClr val="C00000"/>
              </a:solidFill>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An alkaline battery is an improved form of the dry cell. </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In this cell, the electrolyte is a concentrated solution of KOH (35 – 50%). </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As the electrolyte in this cell is an alkali, it is called alkaline battery.</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Anode</a:t>
            </a:r>
            <a:r>
              <a:rPr lang="en-IN" sz="2400" b="1"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Zinc </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Cathode: </a:t>
            </a:r>
            <a:r>
              <a:rPr lang="en-IN" sz="2400" dirty="0" smtClean="0">
                <a:latin typeface="Times New Roman" pitchFamily="18" charset="0"/>
                <a:cs typeface="Times New Roman" pitchFamily="18" charset="0"/>
              </a:rPr>
              <a:t>Carbon rod / Graphite</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Electrolyte: </a:t>
            </a:r>
            <a:r>
              <a:rPr lang="en-IN" sz="2400" dirty="0" smtClean="0">
                <a:latin typeface="Times New Roman" pitchFamily="18" charset="0"/>
                <a:cs typeface="Times New Roman" pitchFamily="18" charset="0"/>
              </a:rPr>
              <a:t>Powdered KOH, MnO</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in the form of paste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r>
              <a:rPr lang="en-IN" sz="2400" b="1" dirty="0" smtClean="0">
                <a:latin typeface="Times New Roman" pitchFamily="18" charset="0"/>
                <a:cs typeface="Times New Roman" pitchFamily="18" charset="0"/>
              </a:rPr>
              <a:t>Cell </a:t>
            </a:r>
            <a:r>
              <a:rPr lang="en-IN" sz="2400" b="1" dirty="0" smtClean="0">
                <a:latin typeface="Times New Roman" pitchFamily="18" charset="0"/>
                <a:cs typeface="Times New Roman" pitchFamily="18" charset="0"/>
              </a:rPr>
              <a:t>representation: Zn / KOH / MnO</a:t>
            </a:r>
            <a:r>
              <a:rPr lang="en-IN" sz="2400" b="1" baseline="-25000" dirty="0" smtClean="0">
                <a:latin typeface="Times New Roman" pitchFamily="18" charset="0"/>
                <a:cs typeface="Times New Roman" pitchFamily="18" charset="0"/>
              </a:rPr>
              <a:t>2</a:t>
            </a:r>
            <a:r>
              <a:rPr lang="en-IN" sz="2400" b="1" dirty="0" smtClean="0">
                <a:latin typeface="Times New Roman" pitchFamily="18" charset="0"/>
                <a:cs typeface="Times New Roman" pitchFamily="18" charset="0"/>
              </a:rPr>
              <a:t> / Carbon (graphite)</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pic>
        <p:nvPicPr>
          <p:cNvPr id="4" name="Picture 3"/>
          <p:cNvPicPr/>
          <p:nvPr/>
        </p:nvPicPr>
        <p:blipFill>
          <a:blip r:embed="rId2" cstate="print"/>
          <a:srcRect/>
          <a:stretch>
            <a:fillRect/>
          </a:stretch>
        </p:blipFill>
        <p:spPr bwMode="auto">
          <a:xfrm>
            <a:off x="914400" y="3733800"/>
            <a:ext cx="6222161" cy="28956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r>
              <a:rPr lang="en-IN" sz="2400" dirty="0" smtClean="0">
                <a:latin typeface="Times New Roman" pitchFamily="18" charset="0"/>
                <a:cs typeface="Times New Roman" pitchFamily="18" charset="0"/>
              </a:rPr>
              <a:t>The outer container is made of zinc sheet which acts as anode and a mixture of manganese dioxide and carbon acts as the cathode</a:t>
            </a:r>
            <a:r>
              <a:rPr lang="en-IN" sz="2400" dirty="0" smtClean="0">
                <a:latin typeface="Times New Roman" pitchFamily="18" charset="0"/>
                <a:cs typeface="Times New Roman" pitchFamily="18" charset="0"/>
              </a:rPr>
              <a:t>.</a:t>
            </a:r>
          </a:p>
          <a:p>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The electrolyte in this cell is potassium hydroxide (KOH). A paste of KOH and zinc chloride (ZnCl</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is filled in the space between the electrodes</a:t>
            </a:r>
            <a:r>
              <a:rPr lang="en-IN" sz="2400" dirty="0" smtClean="0">
                <a:latin typeface="Times New Roman" pitchFamily="18" charset="0"/>
                <a:cs typeface="Times New Roman" pitchFamily="18" charset="0"/>
              </a:rPr>
              <a:t>.</a:t>
            </a:r>
          </a:p>
          <a:p>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The alkaline cell derives its power from the oxidation of zinc anode and the reduction of manganese dioxide cathode. The </a:t>
            </a:r>
            <a:r>
              <a:rPr lang="en-IN" sz="2400" dirty="0" err="1" smtClean="0">
                <a:latin typeface="Times New Roman" pitchFamily="18" charset="0"/>
                <a:cs typeface="Times New Roman" pitchFamily="18" charset="0"/>
              </a:rPr>
              <a:t>emf</a:t>
            </a:r>
            <a:r>
              <a:rPr lang="en-IN" sz="2400" dirty="0" smtClean="0">
                <a:latin typeface="Times New Roman" pitchFamily="18" charset="0"/>
                <a:cs typeface="Times New Roman" pitchFamily="18" charset="0"/>
              </a:rPr>
              <a:t> of this cell is 1.5 volt.</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The alkaline battery is called a heavy duty battery, because it sustains heavy use and has a longer self life than zinc – carbon cell.</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007291"/>
          </a:xfrm>
        </p:spPr>
        <p:txBody>
          <a:bodyPr>
            <a:normAutofit/>
          </a:bodyPr>
          <a:lstStyle/>
          <a:p>
            <a:r>
              <a:rPr lang="en-IN" sz="2400" b="1" dirty="0" smtClean="0">
                <a:latin typeface="Times New Roman" pitchFamily="18" charset="0"/>
                <a:cs typeface="Times New Roman" pitchFamily="18" charset="0"/>
              </a:rPr>
              <a:t>Cell reaction </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Anode:            </a:t>
            </a:r>
            <a:r>
              <a:rPr lang="en-IN" sz="2400" dirty="0" smtClean="0">
                <a:latin typeface="Times New Roman" pitchFamily="18" charset="0"/>
                <a:cs typeface="Times New Roman" pitchFamily="18" charset="0"/>
              </a:rPr>
              <a:t>Zn + 2OH</a:t>
            </a:r>
            <a:r>
              <a:rPr lang="en-IN" sz="2400" baseline="300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                               Zn(OH)</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+ 2e</a:t>
            </a:r>
            <a:r>
              <a:rPr lang="en-IN" sz="2400" baseline="300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Cathode: </a:t>
            </a:r>
            <a:r>
              <a:rPr lang="en-IN" sz="2400" dirty="0" smtClean="0">
                <a:latin typeface="Times New Roman" pitchFamily="18" charset="0"/>
                <a:cs typeface="Times New Roman" pitchFamily="18" charset="0"/>
              </a:rPr>
              <a:t>2MnO</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+ 2H</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O + 2e</a:t>
            </a:r>
            <a:r>
              <a:rPr lang="en-IN" sz="2400" baseline="300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                       2MnO.OH + 2OH</a:t>
            </a:r>
            <a:r>
              <a:rPr lang="en-IN" sz="2400" baseline="300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cxnSp>
        <p:nvCxnSpPr>
          <p:cNvPr id="5" name="Straight Arrow Connector 4"/>
          <p:cNvCxnSpPr/>
          <p:nvPr/>
        </p:nvCxnSpPr>
        <p:spPr>
          <a:xfrm>
            <a:off x="3810000" y="685800"/>
            <a:ext cx="2057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419600" y="1143000"/>
            <a:ext cx="1600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676400" y="1524000"/>
            <a:ext cx="6858000" cy="0"/>
          </a:xfrm>
          <a:prstGeom prst="line">
            <a:avLst/>
          </a:prstGeom>
        </p:spPr>
        <p:style>
          <a:lnRef idx="1">
            <a:schemeClr val="accent1"/>
          </a:lnRef>
          <a:fillRef idx="0">
            <a:schemeClr val="accent1"/>
          </a:fillRef>
          <a:effectRef idx="0">
            <a:schemeClr val="accent1"/>
          </a:effectRef>
          <a:fontRef idx="minor">
            <a:schemeClr val="tx1"/>
          </a:fontRef>
        </p:style>
      </p:cxnSp>
      <p:sp>
        <p:nvSpPr>
          <p:cNvPr id="2056"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AutoShape 7"/>
          <p:cNvSpPr>
            <a:spLocks noChangeShapeType="1"/>
          </p:cNvSpPr>
          <p:nvPr/>
        </p:nvSpPr>
        <p:spPr bwMode="auto">
          <a:xfrm>
            <a:off x="2935288" y="544513"/>
            <a:ext cx="609600" cy="0"/>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2057" name="Rectangle 9"/>
          <p:cNvSpPr>
            <a:spLocks noChangeArrowheads="1"/>
          </p:cNvSpPr>
          <p:nvPr/>
        </p:nvSpPr>
        <p:spPr bwMode="auto">
          <a:xfrm>
            <a:off x="990600" y="1632759"/>
            <a:ext cx="8153400" cy="33855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Overall cell reaction: </a:t>
            </a:r>
            <a:r>
              <a:rPr kumimoji="0" lang="en-US" sz="16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Zn + 2MnO</a:t>
            </a:r>
            <a:r>
              <a:rPr kumimoji="0" lang="en-US" sz="1600" b="0" i="0" u="none" strike="noStrike" cap="none" normalizeH="0" baseline="-30000" dirty="0" smtClean="0">
                <a:ln>
                  <a:noFill/>
                </a:ln>
                <a:solidFill>
                  <a:srgbClr val="000000"/>
                </a:solidFill>
                <a:effectLst/>
                <a:latin typeface="Times New Roman" pitchFamily="18" charset="0"/>
                <a:ea typeface="Calibri" pitchFamily="34" charset="0"/>
                <a:cs typeface="Times New Roman" pitchFamily="18" charset="0"/>
              </a:rPr>
              <a:t>2</a:t>
            </a:r>
            <a:r>
              <a:rPr kumimoji="0" lang="en-US" sz="16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+ 2H</a:t>
            </a:r>
            <a:r>
              <a:rPr kumimoji="0" lang="en-US" sz="1600" b="0" i="0" u="none" strike="noStrike" cap="none" normalizeH="0" baseline="-30000" dirty="0" smtClean="0">
                <a:ln>
                  <a:noFill/>
                </a:ln>
                <a:solidFill>
                  <a:srgbClr val="000000"/>
                </a:solidFill>
                <a:effectLst/>
                <a:latin typeface="Times New Roman" pitchFamily="18" charset="0"/>
                <a:ea typeface="Calibri" pitchFamily="34" charset="0"/>
                <a:cs typeface="Times New Roman" pitchFamily="18" charset="0"/>
              </a:rPr>
              <a:t>2</a:t>
            </a:r>
            <a:r>
              <a:rPr kumimoji="0" lang="en-US" sz="16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O                     Zn(OH)</a:t>
            </a:r>
            <a:r>
              <a:rPr kumimoji="0" lang="en-US" sz="1600" b="0" i="0" u="none" strike="noStrike" cap="none" normalizeH="0" baseline="-30000" dirty="0" smtClean="0">
                <a:ln>
                  <a:noFill/>
                </a:ln>
                <a:solidFill>
                  <a:srgbClr val="000000"/>
                </a:solidFill>
                <a:effectLst/>
                <a:latin typeface="Times New Roman" pitchFamily="18" charset="0"/>
                <a:ea typeface="Calibri" pitchFamily="34" charset="0"/>
                <a:cs typeface="Times New Roman" pitchFamily="18" charset="0"/>
              </a:rPr>
              <a:t>2</a:t>
            </a:r>
            <a:r>
              <a:rPr kumimoji="0" lang="en-US" sz="16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+ 2MnO.OH </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cxnSp>
        <p:nvCxnSpPr>
          <p:cNvPr id="20" name="Straight Arrow Connector 19"/>
          <p:cNvCxnSpPr/>
          <p:nvPr/>
        </p:nvCxnSpPr>
        <p:spPr>
          <a:xfrm>
            <a:off x="5257800" y="1828800"/>
            <a:ext cx="838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1676400" y="2057400"/>
            <a:ext cx="6629400" cy="762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400" b="1" dirty="0" smtClean="0">
                <a:solidFill>
                  <a:srgbClr val="C00000"/>
                </a:solidFill>
                <a:latin typeface="Times New Roman" pitchFamily="18" charset="0"/>
                <a:cs typeface="Times New Roman" pitchFamily="18" charset="0"/>
              </a:rPr>
              <a:t>Advantages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1. As potassium hydroxide is used as an electrolyte, zinc does not readily dissolves.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2. Since there is no corrosion of zinc, the life of alkaline battery will be longer.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3. Even in hot weather, it performs better than other types of batteries.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4. Its output capacity is high.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b="1" dirty="0" smtClean="0">
                <a:solidFill>
                  <a:srgbClr val="C00000"/>
                </a:solidFill>
                <a:latin typeface="Times New Roman" pitchFamily="18" charset="0"/>
                <a:cs typeface="Times New Roman" pitchFamily="18" charset="0"/>
              </a:rPr>
              <a:t>Disadvantages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More expensive than common dry cells</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b="1" dirty="0" smtClean="0">
                <a:solidFill>
                  <a:srgbClr val="C00000"/>
                </a:solidFill>
                <a:latin typeface="Times New Roman" pitchFamily="18" charset="0"/>
                <a:cs typeface="Times New Roman" pitchFamily="18" charset="0"/>
              </a:rPr>
              <a:t>Uses</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Alkaline batteries are used in camera exposure controls, calculators, watches, etc.,</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52400"/>
            <a:ext cx="8686800" cy="5854891"/>
          </a:xfrm>
        </p:spPr>
        <p:txBody>
          <a:bodyPr>
            <a:normAutofit/>
          </a:bodyPr>
          <a:lstStyle/>
          <a:p>
            <a:r>
              <a:rPr lang="en-IN" sz="2400" b="1" u="sng" dirty="0" smtClean="0">
                <a:solidFill>
                  <a:srgbClr val="C00000"/>
                </a:solidFill>
                <a:latin typeface="Times New Roman" pitchFamily="18" charset="0"/>
                <a:cs typeface="Times New Roman" pitchFamily="18" charset="0"/>
              </a:rPr>
              <a:t>SECONDARY BATTERIES </a:t>
            </a:r>
            <a:endParaRPr lang="en-US" sz="2400" dirty="0" smtClean="0">
              <a:solidFill>
                <a:srgbClr val="C00000"/>
              </a:solidFill>
              <a:latin typeface="Times New Roman" pitchFamily="18" charset="0"/>
              <a:cs typeface="Times New Roman" pitchFamily="18" charset="0"/>
            </a:endParaRPr>
          </a:p>
          <a:p>
            <a:r>
              <a:rPr lang="en-IN" sz="2400" dirty="0" smtClean="0">
                <a:solidFill>
                  <a:srgbClr val="C00000"/>
                </a:solidFill>
                <a:latin typeface="Times New Roman" pitchFamily="18" charset="0"/>
                <a:cs typeface="Times New Roman" pitchFamily="18" charset="0"/>
              </a:rPr>
              <a:t> </a:t>
            </a:r>
            <a:endParaRPr lang="en-US" sz="2400" dirty="0" smtClean="0">
              <a:solidFill>
                <a:srgbClr val="C00000"/>
              </a:solidFill>
              <a:latin typeface="Times New Roman" pitchFamily="18" charset="0"/>
              <a:cs typeface="Times New Roman" pitchFamily="18" charset="0"/>
            </a:endParaRPr>
          </a:p>
          <a:p>
            <a:r>
              <a:rPr lang="en-IN" sz="2400" b="1" u="sng" dirty="0" smtClean="0">
                <a:solidFill>
                  <a:srgbClr val="C00000"/>
                </a:solidFill>
                <a:latin typeface="Times New Roman" pitchFamily="18" charset="0"/>
                <a:cs typeface="Times New Roman" pitchFamily="18" charset="0"/>
              </a:rPr>
              <a:t>LEAD – ACID BATTERY (STORAGE CELL)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b="1" dirty="0" smtClean="0">
                <a:solidFill>
                  <a:srgbClr val="FF0000"/>
                </a:solidFill>
                <a:latin typeface="Times New Roman" pitchFamily="18" charset="0"/>
                <a:cs typeface="Times New Roman" pitchFamily="18" charset="0"/>
              </a:rPr>
              <a:t>Storage cell </a:t>
            </a:r>
            <a:endParaRPr lang="en-US" sz="2400" dirty="0" smtClean="0">
              <a:solidFill>
                <a:srgbClr val="FF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This cell can operate both as a voltaic cell and as an electrolytic cell.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As a voltaic cell, it supplies electrical energy (discharging) and becomes ‘run down’.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As an electrolytic cell, it receives electrical energy (recharging) and stores it.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Example: The common example for a storage cell is a Lead – acid storage cell.</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cstate="print"/>
          <a:srcRect/>
          <a:stretch>
            <a:fillRect/>
          </a:stretch>
        </p:blipFill>
        <p:spPr bwMode="auto">
          <a:xfrm>
            <a:off x="0" y="381000"/>
            <a:ext cx="8915400" cy="64770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fontScale="92500" lnSpcReduction="20000"/>
          </a:bodyPr>
          <a:lstStyle/>
          <a:p>
            <a:r>
              <a:rPr lang="en-IN" sz="2400" b="1" dirty="0" smtClean="0">
                <a:solidFill>
                  <a:srgbClr val="C00000"/>
                </a:solidFill>
                <a:latin typeface="Times New Roman" pitchFamily="18" charset="0"/>
                <a:cs typeface="Times New Roman" pitchFamily="18" charset="0"/>
              </a:rPr>
              <a:t>Description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The Lead – acid storage battery consists of three to six identical cells joined together in series</a:t>
            </a:r>
            <a:r>
              <a:rPr lang="en-IN" sz="2400" dirty="0" smtClean="0">
                <a:latin typeface="Times New Roman" pitchFamily="18" charset="0"/>
                <a:cs typeface="Times New Roman" pitchFamily="18" charset="0"/>
              </a:rPr>
              <a:t>.</a:t>
            </a:r>
          </a:p>
          <a:p>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Each of its cells has a lead anode (</a:t>
            </a:r>
            <a:r>
              <a:rPr lang="en-IN" sz="2400" dirty="0" err="1" smtClean="0">
                <a:latin typeface="Times New Roman" pitchFamily="18" charset="0"/>
                <a:cs typeface="Times New Roman" pitchFamily="18" charset="0"/>
              </a:rPr>
              <a:t>Pb</a:t>
            </a:r>
            <a:r>
              <a:rPr lang="en-IN" sz="2400" dirty="0" smtClean="0">
                <a:latin typeface="Times New Roman" pitchFamily="18" charset="0"/>
                <a:cs typeface="Times New Roman" pitchFamily="18" charset="0"/>
              </a:rPr>
              <a:t>) and lead dioxide (PbO</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cathode. </a:t>
            </a:r>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A </a:t>
            </a:r>
            <a:r>
              <a:rPr lang="en-IN" sz="2400" dirty="0" smtClean="0">
                <a:latin typeface="Times New Roman" pitchFamily="18" charset="0"/>
                <a:cs typeface="Times New Roman" pitchFamily="18" charset="0"/>
              </a:rPr>
              <a:t>number of lead plates (anodes ‘–</a:t>
            </a:r>
            <a:r>
              <a:rPr lang="en-IN" sz="2400" dirty="0" err="1" smtClean="0">
                <a:latin typeface="Times New Roman" pitchFamily="18" charset="0"/>
                <a:cs typeface="Times New Roman" pitchFamily="18" charset="0"/>
              </a:rPr>
              <a:t>ve</a:t>
            </a:r>
            <a:r>
              <a:rPr lang="en-IN" sz="2400" dirty="0" smtClean="0">
                <a:latin typeface="Times New Roman" pitchFamily="18" charset="0"/>
                <a:cs typeface="Times New Roman" pitchFamily="18" charset="0"/>
              </a:rPr>
              <a:t>’ plates) are connected in parallel and a number of lead dioxide plates (cathodes ‘+</a:t>
            </a:r>
            <a:r>
              <a:rPr lang="en-IN" sz="2400" dirty="0" err="1" smtClean="0">
                <a:latin typeface="Times New Roman" pitchFamily="18" charset="0"/>
                <a:cs typeface="Times New Roman" pitchFamily="18" charset="0"/>
              </a:rPr>
              <a:t>ve</a:t>
            </a:r>
            <a:r>
              <a:rPr lang="en-IN" sz="2400" dirty="0" smtClean="0">
                <a:latin typeface="Times New Roman" pitchFamily="18" charset="0"/>
                <a:cs typeface="Times New Roman" pitchFamily="18" charset="0"/>
              </a:rPr>
              <a:t>’ plates) are also connected in parallel. </a:t>
            </a:r>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The </a:t>
            </a:r>
            <a:r>
              <a:rPr lang="en-IN" sz="2400" dirty="0" smtClean="0">
                <a:latin typeface="Times New Roman" pitchFamily="18" charset="0"/>
                <a:cs typeface="Times New Roman" pitchFamily="18" charset="0"/>
              </a:rPr>
              <a:t>lead plates fits in between the lead dioxide plates. The anodes and cathodes are separated from the adjacent ones by insulators like strips of wood (or) rubber (or) glass </a:t>
            </a:r>
            <a:r>
              <a:rPr lang="en-IN" sz="2400" dirty="0" err="1" smtClean="0">
                <a:latin typeface="Times New Roman" pitchFamily="18" charset="0"/>
                <a:cs typeface="Times New Roman" pitchFamily="18" charset="0"/>
              </a:rPr>
              <a:t>fiber</a:t>
            </a:r>
            <a:r>
              <a:rPr lang="en-IN" sz="2400" dirty="0" smtClean="0">
                <a:latin typeface="Times New Roman" pitchFamily="18" charset="0"/>
                <a:cs typeface="Times New Roman" pitchFamily="18" charset="0"/>
              </a:rPr>
              <a:t> sheets. </a:t>
            </a:r>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The </a:t>
            </a:r>
            <a:r>
              <a:rPr lang="en-IN" sz="2400" dirty="0" smtClean="0">
                <a:latin typeface="Times New Roman" pitchFamily="18" charset="0"/>
                <a:cs typeface="Times New Roman" pitchFamily="18" charset="0"/>
              </a:rPr>
              <a:t>entire combination is then immersed in 38% of sulphuric acid (H</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SO</a:t>
            </a:r>
            <a:r>
              <a:rPr lang="en-IN" sz="2400" baseline="-25000" dirty="0" smtClean="0">
                <a:latin typeface="Times New Roman" pitchFamily="18" charset="0"/>
                <a:cs typeface="Times New Roman" pitchFamily="18" charset="0"/>
              </a:rPr>
              <a:t>4</a:t>
            </a:r>
            <a:r>
              <a:rPr lang="en-IN" sz="2400" dirty="0" smtClean="0">
                <a:latin typeface="Times New Roman" pitchFamily="18" charset="0"/>
                <a:cs typeface="Times New Roman" pitchFamily="18" charset="0"/>
              </a:rPr>
              <a:t>) having a density of 1.3 g / </a:t>
            </a:r>
            <a:r>
              <a:rPr lang="en-IN" sz="2400" dirty="0" err="1" smtClean="0">
                <a:latin typeface="Times New Roman" pitchFamily="18" charset="0"/>
                <a:cs typeface="Times New Roman" pitchFamily="18" charset="0"/>
              </a:rPr>
              <a:t>mL</a:t>
            </a:r>
            <a:r>
              <a:rPr lang="en-IN" sz="2400" dirty="0" err="1" smtClean="0">
                <a:latin typeface="Times New Roman" pitchFamily="18" charset="0"/>
                <a:cs typeface="Times New Roman" pitchFamily="18" charset="0"/>
              </a:rPr>
              <a:t>.</a:t>
            </a:r>
            <a:endParaRPr lang="en-IN"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IN" sz="2600" b="1" dirty="0" smtClean="0">
                <a:latin typeface="Times New Roman" pitchFamily="18" charset="0"/>
                <a:cs typeface="Times New Roman" pitchFamily="18" charset="0"/>
              </a:rPr>
              <a:t>Anode: </a:t>
            </a:r>
            <a:r>
              <a:rPr lang="en-IN" sz="2600" dirty="0" smtClean="0">
                <a:latin typeface="Times New Roman" pitchFamily="18" charset="0"/>
                <a:cs typeface="Times New Roman" pitchFamily="18" charset="0"/>
              </a:rPr>
              <a:t>Lead (</a:t>
            </a:r>
            <a:r>
              <a:rPr lang="en-IN" sz="2600" dirty="0" err="1" smtClean="0">
                <a:latin typeface="Times New Roman" pitchFamily="18" charset="0"/>
                <a:cs typeface="Times New Roman" pitchFamily="18" charset="0"/>
              </a:rPr>
              <a:t>Pb</a:t>
            </a:r>
            <a:r>
              <a:rPr lang="en-IN" sz="2600" dirty="0" smtClean="0">
                <a:latin typeface="Times New Roman" pitchFamily="18" charset="0"/>
                <a:cs typeface="Times New Roman" pitchFamily="18" charset="0"/>
              </a:rPr>
              <a:t>) plate </a:t>
            </a:r>
            <a:endParaRPr lang="en-US" sz="2600" dirty="0" smtClean="0">
              <a:latin typeface="Times New Roman" pitchFamily="18" charset="0"/>
              <a:cs typeface="Times New Roman" pitchFamily="18" charset="0"/>
            </a:endParaRPr>
          </a:p>
          <a:p>
            <a:r>
              <a:rPr lang="en-IN" sz="2600" b="1" dirty="0" smtClean="0">
                <a:latin typeface="Times New Roman" pitchFamily="18" charset="0"/>
                <a:cs typeface="Times New Roman" pitchFamily="18" charset="0"/>
              </a:rPr>
              <a:t>Cathode: </a:t>
            </a:r>
            <a:r>
              <a:rPr lang="en-IN" sz="2600" dirty="0" smtClean="0">
                <a:latin typeface="Times New Roman" pitchFamily="18" charset="0"/>
                <a:cs typeface="Times New Roman" pitchFamily="18" charset="0"/>
              </a:rPr>
              <a:t>Lead dioxide (PbO</a:t>
            </a:r>
            <a:r>
              <a:rPr lang="en-IN" sz="2600" baseline="-25000" dirty="0" smtClean="0">
                <a:latin typeface="Times New Roman" pitchFamily="18" charset="0"/>
                <a:cs typeface="Times New Roman" pitchFamily="18" charset="0"/>
              </a:rPr>
              <a:t>2</a:t>
            </a:r>
            <a:r>
              <a:rPr lang="en-IN" sz="2600" dirty="0" smtClean="0">
                <a:latin typeface="Times New Roman" pitchFamily="18" charset="0"/>
                <a:cs typeface="Times New Roman" pitchFamily="18" charset="0"/>
              </a:rPr>
              <a:t>) </a:t>
            </a:r>
            <a:endParaRPr lang="en-US" sz="2600" dirty="0" smtClean="0">
              <a:latin typeface="Times New Roman" pitchFamily="18" charset="0"/>
              <a:cs typeface="Times New Roman" pitchFamily="18" charset="0"/>
            </a:endParaRPr>
          </a:p>
          <a:p>
            <a:r>
              <a:rPr lang="en-IN" sz="2600" b="1" dirty="0" smtClean="0">
                <a:latin typeface="Times New Roman" pitchFamily="18" charset="0"/>
                <a:cs typeface="Times New Roman" pitchFamily="18" charset="0"/>
              </a:rPr>
              <a:t>Electrolyte: </a:t>
            </a:r>
            <a:r>
              <a:rPr lang="en-IN" sz="2600" dirty="0" smtClean="0">
                <a:latin typeface="Times New Roman" pitchFamily="18" charset="0"/>
                <a:cs typeface="Times New Roman" pitchFamily="18" charset="0"/>
              </a:rPr>
              <a:t>dil. Sulphuric acid (dil.H</a:t>
            </a:r>
            <a:r>
              <a:rPr lang="en-IN" sz="2600" baseline="-25000" dirty="0" smtClean="0">
                <a:latin typeface="Times New Roman" pitchFamily="18" charset="0"/>
                <a:cs typeface="Times New Roman" pitchFamily="18" charset="0"/>
              </a:rPr>
              <a:t>2</a:t>
            </a:r>
            <a:r>
              <a:rPr lang="en-IN" sz="2600" dirty="0" smtClean="0">
                <a:latin typeface="Times New Roman" pitchFamily="18" charset="0"/>
                <a:cs typeface="Times New Roman" pitchFamily="18" charset="0"/>
              </a:rPr>
              <a:t>SO</a:t>
            </a:r>
            <a:r>
              <a:rPr lang="en-IN" sz="2600" baseline="-25000" dirty="0" smtClean="0">
                <a:latin typeface="Times New Roman" pitchFamily="18" charset="0"/>
                <a:cs typeface="Times New Roman" pitchFamily="18" charset="0"/>
              </a:rPr>
              <a:t>4</a:t>
            </a:r>
            <a:r>
              <a:rPr lang="en-IN" sz="2600" dirty="0" smtClean="0">
                <a:latin typeface="Times New Roman" pitchFamily="18" charset="0"/>
                <a:cs typeface="Times New Roman" pitchFamily="18" charset="0"/>
              </a:rPr>
              <a:t>) </a:t>
            </a:r>
            <a:endParaRPr lang="en-US" sz="2600" dirty="0" smtClean="0">
              <a:latin typeface="Times New Roman" pitchFamily="18" charset="0"/>
              <a:cs typeface="Times New Roman" pitchFamily="18" charset="0"/>
            </a:endParaRPr>
          </a:p>
          <a:p>
            <a:r>
              <a:rPr lang="en-IN" sz="2600" dirty="0" smtClean="0">
                <a:latin typeface="Times New Roman" pitchFamily="18" charset="0"/>
                <a:cs typeface="Times New Roman" pitchFamily="18" charset="0"/>
              </a:rPr>
              <a:t>The cell may be represented as, </a:t>
            </a:r>
            <a:r>
              <a:rPr lang="en-IN" sz="2600" b="1" dirty="0" err="1" smtClean="0">
                <a:latin typeface="Times New Roman" pitchFamily="18" charset="0"/>
                <a:cs typeface="Times New Roman" pitchFamily="18" charset="0"/>
              </a:rPr>
              <a:t>Pb</a:t>
            </a:r>
            <a:r>
              <a:rPr lang="en-IN" sz="2600" b="1" dirty="0" smtClean="0">
                <a:latin typeface="Times New Roman" pitchFamily="18" charset="0"/>
                <a:cs typeface="Times New Roman" pitchFamily="18" charset="0"/>
              </a:rPr>
              <a:t> / PbSO</a:t>
            </a:r>
            <a:r>
              <a:rPr lang="en-IN" sz="2600" b="1" baseline="-25000" dirty="0" smtClean="0">
                <a:latin typeface="Times New Roman" pitchFamily="18" charset="0"/>
                <a:cs typeface="Times New Roman" pitchFamily="18" charset="0"/>
              </a:rPr>
              <a:t>4</a:t>
            </a:r>
            <a:r>
              <a:rPr lang="en-IN" sz="2600" b="1" dirty="0" smtClean="0">
                <a:latin typeface="Times New Roman" pitchFamily="18" charset="0"/>
                <a:cs typeface="Times New Roman" pitchFamily="18" charset="0"/>
              </a:rPr>
              <a:t> // H</a:t>
            </a:r>
            <a:r>
              <a:rPr lang="en-IN" sz="2600" b="1" baseline="-25000" dirty="0" smtClean="0">
                <a:latin typeface="Times New Roman" pitchFamily="18" charset="0"/>
                <a:cs typeface="Times New Roman" pitchFamily="18" charset="0"/>
              </a:rPr>
              <a:t>2</a:t>
            </a:r>
            <a:r>
              <a:rPr lang="en-IN" sz="2600" b="1" dirty="0" smtClean="0">
                <a:latin typeface="Times New Roman" pitchFamily="18" charset="0"/>
                <a:cs typeface="Times New Roman" pitchFamily="18" charset="0"/>
              </a:rPr>
              <a:t>SO</a:t>
            </a:r>
            <a:r>
              <a:rPr lang="en-IN" sz="2600" b="1" baseline="-25000" dirty="0" smtClean="0">
                <a:latin typeface="Times New Roman" pitchFamily="18" charset="0"/>
                <a:cs typeface="Times New Roman" pitchFamily="18" charset="0"/>
              </a:rPr>
              <a:t>4</a:t>
            </a:r>
            <a:r>
              <a:rPr lang="en-IN" sz="2600" b="1" dirty="0" smtClean="0">
                <a:latin typeface="Times New Roman" pitchFamily="18" charset="0"/>
                <a:cs typeface="Times New Roman" pitchFamily="18" charset="0"/>
              </a:rPr>
              <a:t> / PbO</a:t>
            </a:r>
            <a:r>
              <a:rPr lang="en-IN" sz="2600" b="1" baseline="-25000" dirty="0" smtClean="0">
                <a:latin typeface="Times New Roman" pitchFamily="18" charset="0"/>
                <a:cs typeface="Times New Roman" pitchFamily="18" charset="0"/>
              </a:rPr>
              <a:t>2</a:t>
            </a:r>
            <a:r>
              <a:rPr lang="en-IN" sz="2600" b="1" dirty="0" smtClean="0">
                <a:latin typeface="Times New Roman" pitchFamily="18" charset="0"/>
                <a:cs typeface="Times New Roman" pitchFamily="18" charset="0"/>
              </a:rPr>
              <a:t> / </a:t>
            </a:r>
            <a:r>
              <a:rPr lang="en-IN" sz="2600" b="1" dirty="0" err="1" smtClean="0">
                <a:latin typeface="Times New Roman" pitchFamily="18" charset="0"/>
                <a:cs typeface="Times New Roman" pitchFamily="18" charset="0"/>
              </a:rPr>
              <a:t>Pb</a:t>
            </a:r>
            <a:endParaRPr lang="en-US" sz="2600" dirty="0" smtClean="0">
              <a:latin typeface="Times New Roman" pitchFamily="18" charset="0"/>
              <a:cs typeface="Times New Roman" pitchFamily="18" charset="0"/>
            </a:endParaRPr>
          </a:p>
          <a:p>
            <a:r>
              <a:rPr lang="en-IN" sz="2600" b="1" dirty="0" smtClean="0">
                <a:latin typeface="Times New Roman" pitchFamily="18" charset="0"/>
                <a:cs typeface="Times New Roman" pitchFamily="18" charset="0"/>
              </a:rPr>
              <a:t> </a:t>
            </a:r>
            <a:endParaRPr lang="en-US" sz="2600" dirty="0" smtClean="0">
              <a:latin typeface="Times New Roman" pitchFamily="18" charset="0"/>
              <a:cs typeface="Times New Roman" pitchFamily="18" charset="0"/>
            </a:endParaRPr>
          </a:p>
          <a:p>
            <a:r>
              <a:rPr lang="en-IN" sz="2600" dirty="0" smtClean="0">
                <a:latin typeface="Times New Roman" pitchFamily="18" charset="0"/>
                <a:cs typeface="Times New Roman" pitchFamily="18" charset="0"/>
              </a:rPr>
              <a:t>A single cell generates 2 volt and six such cells in the battery produces a total of 12 volt.</a:t>
            </a:r>
            <a:endParaRPr lang="en-US" sz="2600" dirty="0" smtClean="0">
              <a:latin typeface="Times New Roman" pitchFamily="18" charset="0"/>
              <a:cs typeface="Times New Roman" pitchFamily="18" charset="0"/>
            </a:endParaRPr>
          </a:p>
          <a:p>
            <a:pPr>
              <a:buNone/>
            </a:pPr>
            <a:r>
              <a:rPr lang="en-IN" sz="2600" b="1" dirty="0" smtClean="0">
                <a:latin typeface="Times New Roman" pitchFamily="18" charset="0"/>
                <a:cs typeface="Times New Roman" pitchFamily="18" charset="0"/>
              </a:rPr>
              <a:t> </a:t>
            </a:r>
            <a:endParaRPr lang="en-US" sz="2600" dirty="0" smtClean="0">
              <a:latin typeface="Times New Roman" pitchFamily="18" charset="0"/>
              <a:cs typeface="Times New Roman" pitchFamily="18" charset="0"/>
            </a:endParaRP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8991600" cy="6858000"/>
          </a:xfrm>
        </p:spPr>
        <p:txBody>
          <a:bodyPr/>
          <a:lstStyle/>
          <a:p>
            <a:r>
              <a:rPr lang="en-IN" sz="2400" b="1" dirty="0" smtClean="0">
                <a:solidFill>
                  <a:srgbClr val="C00000"/>
                </a:solidFill>
                <a:latin typeface="Times New Roman" pitchFamily="18" charset="0"/>
                <a:cs typeface="Times New Roman" pitchFamily="18" charset="0"/>
              </a:rPr>
              <a:t>Working</a:t>
            </a:r>
            <a:r>
              <a:rPr lang="en-IN" sz="2400" b="1"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When the storage cell is operating as voltaic cell (</a:t>
            </a:r>
            <a:r>
              <a:rPr lang="en-IN" sz="2400" dirty="0" err="1" smtClean="0">
                <a:latin typeface="Times New Roman" pitchFamily="18" charset="0"/>
                <a:cs typeface="Times New Roman" pitchFamily="18" charset="0"/>
              </a:rPr>
              <a:t>ie</a:t>
            </a:r>
            <a:r>
              <a:rPr lang="en-IN" sz="2400" dirty="0" smtClean="0">
                <a:latin typeface="Times New Roman" pitchFamily="18" charset="0"/>
                <a:cs typeface="Times New Roman" pitchFamily="18" charset="0"/>
              </a:rPr>
              <a:t>., for supplying electrical energy), it is said to be discharging.</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b="1" dirty="0" smtClean="0">
                <a:solidFill>
                  <a:srgbClr val="C00000"/>
                </a:solidFill>
                <a:latin typeface="Times New Roman" pitchFamily="18" charset="0"/>
                <a:cs typeface="Times New Roman" pitchFamily="18" charset="0"/>
              </a:rPr>
              <a:t>Discharging </a:t>
            </a:r>
            <a:endParaRPr lang="en-US" sz="2400" dirty="0" smtClean="0">
              <a:solidFill>
                <a:srgbClr val="C00000"/>
              </a:solidFill>
              <a:latin typeface="Times New Roman" pitchFamily="18" charset="0"/>
              <a:cs typeface="Times New Roman" pitchFamily="18" charset="0"/>
            </a:endParaRPr>
          </a:p>
          <a:p>
            <a:r>
              <a:rPr lang="en-IN" sz="2400" b="1" dirty="0" smtClean="0">
                <a:solidFill>
                  <a:srgbClr val="C00000"/>
                </a:solidFill>
                <a:latin typeface="Times New Roman" pitchFamily="18" charset="0"/>
                <a:cs typeface="Times New Roman" pitchFamily="18" charset="0"/>
              </a:rPr>
              <a:t>At anode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Lead is oxidized to Pb</a:t>
            </a:r>
            <a:r>
              <a:rPr lang="en-IN" sz="2400" baseline="30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ions, which further combines with SO</a:t>
            </a:r>
            <a:r>
              <a:rPr lang="en-IN" sz="2400" baseline="-25000" dirty="0" smtClean="0">
                <a:latin typeface="Times New Roman" pitchFamily="18" charset="0"/>
                <a:cs typeface="Times New Roman" pitchFamily="18" charset="0"/>
              </a:rPr>
              <a:t>4</a:t>
            </a:r>
            <a:r>
              <a:rPr lang="en-IN" sz="2400" baseline="30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ions forms insoluble PbSO4. </a:t>
            </a:r>
            <a:endParaRPr lang="en-US" sz="2400" dirty="0" smtClean="0">
              <a:latin typeface="Times New Roman" pitchFamily="18" charset="0"/>
              <a:cs typeface="Times New Roman" pitchFamily="18" charset="0"/>
            </a:endParaRPr>
          </a:p>
          <a:p>
            <a:endParaRPr lang="en-US" dirty="0"/>
          </a:p>
        </p:txBody>
      </p:sp>
      <p:pic>
        <p:nvPicPr>
          <p:cNvPr id="5" name="Picture 4"/>
          <p:cNvPicPr/>
          <p:nvPr/>
        </p:nvPicPr>
        <p:blipFill>
          <a:blip r:embed="rId2" cstate="print"/>
          <a:srcRect/>
          <a:stretch>
            <a:fillRect/>
          </a:stretch>
        </p:blipFill>
        <p:spPr bwMode="auto">
          <a:xfrm>
            <a:off x="1371600" y="3657600"/>
            <a:ext cx="4648200" cy="11430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8991600" cy="6007291"/>
          </a:xfrm>
        </p:spPr>
        <p:txBody>
          <a:bodyPr/>
          <a:lstStyle/>
          <a:p>
            <a:r>
              <a:rPr lang="en-IN" sz="2400" b="1" dirty="0" smtClean="0">
                <a:latin typeface="Times New Roman" pitchFamily="18" charset="0"/>
                <a:cs typeface="Times New Roman" pitchFamily="18" charset="0"/>
              </a:rPr>
              <a:t>At cathode</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The electrons released from the anode flows to dioxide electrode. Here PbO</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gains electrons to form Pb</a:t>
            </a:r>
            <a:r>
              <a:rPr lang="en-IN" sz="2400" baseline="30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ions. In other words, lead undergoes reduction at the cathode from oxidation state +4 to +2. The Pb</a:t>
            </a:r>
            <a:r>
              <a:rPr lang="en-IN" sz="2400" baseline="30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ions then combine with SO</a:t>
            </a:r>
            <a:r>
              <a:rPr lang="en-IN" sz="2400" baseline="-25000" dirty="0" smtClean="0">
                <a:latin typeface="Times New Roman" pitchFamily="18" charset="0"/>
                <a:cs typeface="Times New Roman" pitchFamily="18" charset="0"/>
              </a:rPr>
              <a:t>4</a:t>
            </a:r>
            <a:r>
              <a:rPr lang="en-IN" sz="2400" baseline="30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ions.</a:t>
            </a:r>
            <a:endParaRPr lang="en-US" sz="2400" dirty="0" smtClean="0">
              <a:latin typeface="Times New Roman" pitchFamily="18" charset="0"/>
              <a:cs typeface="Times New Roman" pitchFamily="18" charset="0"/>
            </a:endParaRPr>
          </a:p>
          <a:p>
            <a:endParaRPr lang="en-US" dirty="0"/>
          </a:p>
        </p:txBody>
      </p:sp>
      <p:pic>
        <p:nvPicPr>
          <p:cNvPr id="4" name="Picture 3"/>
          <p:cNvPicPr/>
          <p:nvPr/>
        </p:nvPicPr>
        <p:blipFill>
          <a:blip r:embed="rId2" cstate="print"/>
          <a:srcRect/>
          <a:stretch>
            <a:fillRect/>
          </a:stretch>
        </p:blipFill>
        <p:spPr bwMode="auto">
          <a:xfrm>
            <a:off x="1219200" y="2133600"/>
            <a:ext cx="5715000" cy="986072"/>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cstate="print"/>
          <a:srcRect/>
          <a:stretch>
            <a:fillRect/>
          </a:stretch>
        </p:blipFill>
        <p:spPr bwMode="auto">
          <a:xfrm>
            <a:off x="685800" y="1447800"/>
            <a:ext cx="7772400" cy="1741513"/>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0"/>
            <a:ext cx="8534400" cy="6007291"/>
          </a:xfrm>
        </p:spPr>
        <p:txBody>
          <a:bodyPr/>
          <a:lstStyle/>
          <a:p>
            <a:r>
              <a:rPr lang="en-IN" sz="2400" b="1" dirty="0" smtClean="0">
                <a:latin typeface="Times New Roman" pitchFamily="18" charset="0"/>
                <a:cs typeface="Times New Roman" pitchFamily="18" charset="0"/>
              </a:rPr>
              <a:t>Recharging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When both anode and cathode become covered with PbSO</a:t>
            </a:r>
            <a:r>
              <a:rPr lang="en-IN" sz="2400" baseline="-25000" dirty="0" smtClean="0">
                <a:latin typeface="Times New Roman" pitchFamily="18" charset="0"/>
                <a:cs typeface="Times New Roman" pitchFamily="18" charset="0"/>
              </a:rPr>
              <a:t>4</a:t>
            </a:r>
            <a:r>
              <a:rPr lang="en-IN" sz="2400" dirty="0" smtClean="0">
                <a:latin typeface="Times New Roman" pitchFamily="18" charset="0"/>
                <a:cs typeface="Times New Roman" pitchFamily="18" charset="0"/>
              </a:rPr>
              <a:t>, the cell stops its functioning. Recharging is done by applying a voltage across the electrodes that is slightly higher than the voltage (2V), the current will flow in the opposite direction, that is the battery can deliver. As the result lead sulphate gives lead and oxide. </a:t>
            </a:r>
            <a:r>
              <a:rPr lang="en-IN" sz="2400" dirty="0" err="1" smtClean="0">
                <a:latin typeface="Times New Roman" pitchFamily="18" charset="0"/>
                <a:cs typeface="Times New Roman" pitchFamily="18" charset="0"/>
              </a:rPr>
              <a:t>Pb</a:t>
            </a:r>
            <a:r>
              <a:rPr lang="en-IN" sz="2400" dirty="0" smtClean="0">
                <a:latin typeface="Times New Roman" pitchFamily="18" charset="0"/>
                <a:cs typeface="Times New Roman" pitchFamily="18" charset="0"/>
              </a:rPr>
              <a:t> is deposited on anode and PbO</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is deposited on the cathode. </a:t>
            </a:r>
            <a:endParaRPr lang="en-US" sz="2400" dirty="0" smtClean="0">
              <a:latin typeface="Times New Roman" pitchFamily="18" charset="0"/>
              <a:cs typeface="Times New Roman" pitchFamily="18" charset="0"/>
            </a:endParaRPr>
          </a:p>
          <a:p>
            <a:endParaRPr lang="en-IN" b="1" dirty="0" smtClean="0">
              <a:solidFill>
                <a:srgbClr val="C00000"/>
              </a:solidFill>
            </a:endParaRPr>
          </a:p>
          <a:p>
            <a:endParaRPr lang="en-IN" b="1" dirty="0" smtClean="0">
              <a:solidFill>
                <a:srgbClr val="C00000"/>
              </a:solidFill>
            </a:endParaRPr>
          </a:p>
          <a:p>
            <a:endParaRPr lang="en-IN" b="1" dirty="0" smtClean="0">
              <a:solidFill>
                <a:srgbClr val="C00000"/>
              </a:solidFill>
            </a:endParaRPr>
          </a:p>
          <a:p>
            <a:r>
              <a:rPr lang="en-IN" b="1" dirty="0" smtClean="0">
                <a:solidFill>
                  <a:srgbClr val="C00000"/>
                </a:solidFill>
              </a:rPr>
              <a:t>Net </a:t>
            </a:r>
            <a:r>
              <a:rPr lang="en-IN" b="1" dirty="0" smtClean="0">
                <a:solidFill>
                  <a:srgbClr val="C00000"/>
                </a:solidFill>
              </a:rPr>
              <a:t>reaction during charging is: </a:t>
            </a:r>
            <a:endParaRPr lang="en-US" dirty="0" smtClean="0">
              <a:solidFill>
                <a:srgbClr val="C00000"/>
              </a:solidFill>
            </a:endParaRP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cstate="print"/>
          <a:srcRect/>
          <a:stretch>
            <a:fillRect/>
          </a:stretch>
        </p:blipFill>
        <p:spPr bwMode="auto">
          <a:xfrm>
            <a:off x="685800" y="1143000"/>
            <a:ext cx="7467599" cy="27432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52400"/>
            <a:ext cx="8839200" cy="6553200"/>
          </a:xfrm>
        </p:spPr>
        <p:txBody>
          <a:bodyPr>
            <a:noAutofit/>
          </a:bodyPr>
          <a:lstStyle/>
          <a:p>
            <a:r>
              <a:rPr lang="en-IN" sz="2400" b="1" dirty="0" smtClean="0">
                <a:solidFill>
                  <a:srgbClr val="C00000"/>
                </a:solidFill>
                <a:latin typeface="Times New Roman" pitchFamily="18" charset="0"/>
                <a:cs typeface="Times New Roman" pitchFamily="18" charset="0"/>
              </a:rPr>
              <a:t>Maintenance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If the lead – acid storage batteries are properly maintained in the following ways, they can function for long periods.</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1. Avoid over discharging of the battery.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2. Maintain the electrolyte at the proper level by adding water (whenever required).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3. Keep the battery clean.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4. Avoid overheating the battery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b="1" dirty="0" smtClean="0">
                <a:solidFill>
                  <a:srgbClr val="C00000"/>
                </a:solidFill>
                <a:latin typeface="Times New Roman" pitchFamily="18" charset="0"/>
                <a:cs typeface="Times New Roman" pitchFamily="18" charset="0"/>
              </a:rPr>
              <a:t>Advantages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1. It is made easily.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2. It provides a large burst of current to the engine starter motor.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3. Reliable and has long life.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4. The self – discharging rate is low when compared to other rechargeable batteries.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5. It is effective at low temperatures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8991600" cy="6858000"/>
          </a:xfrm>
        </p:spPr>
        <p:txBody>
          <a:bodyPr>
            <a:normAutofit/>
          </a:bodyPr>
          <a:lstStyle/>
          <a:p>
            <a:r>
              <a:rPr lang="en-IN" sz="2400" b="1" dirty="0" smtClean="0">
                <a:solidFill>
                  <a:srgbClr val="C00000"/>
                </a:solidFill>
                <a:latin typeface="Times New Roman" pitchFamily="18" charset="0"/>
                <a:cs typeface="Times New Roman" pitchFamily="18" charset="0"/>
              </a:rPr>
              <a:t>Disadvantages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1. These batteries tend to slowly self – discharge. It will be difficult to start a car when idle for several weeks.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2. When the temperature is very low, sulphuric acid becomes viscous, thereby inhibiting the flow of ions between the plates.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3. Corrosive and toxic substances are used.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4. Recycling of this battery causes environmental hazards.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b="1" dirty="0" smtClean="0">
                <a:solidFill>
                  <a:srgbClr val="C00000"/>
                </a:solidFill>
                <a:latin typeface="Times New Roman" pitchFamily="18" charset="0"/>
                <a:cs typeface="Times New Roman" pitchFamily="18" charset="0"/>
              </a:rPr>
              <a:t>Uses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1. Lead acid storage cell is used mainly in automobiles such as cars, buses, etc.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2. It is also used in gas engine ignition, telephone exchanges, hospitals, etc.,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3. As it is rechargeable, it is used in UPS (Uninterrupted Power Supply) a power system which maintains current flow without even a momentary break in the event of current failure.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8686800" cy="6858000"/>
          </a:xfrm>
        </p:spPr>
        <p:txBody>
          <a:bodyPr/>
          <a:lstStyle/>
          <a:p>
            <a:r>
              <a:rPr lang="en-IN" sz="2400" b="1" u="sng" dirty="0" smtClean="0">
                <a:latin typeface="Times New Roman" pitchFamily="18" charset="0"/>
                <a:cs typeface="Times New Roman" pitchFamily="18" charset="0"/>
              </a:rPr>
              <a:t>NICKEL – CADMIUM CELL (or) NICAD battery </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Nickel – Cadmium cell is another important secondary battery. It is also a rechargeable battery.</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 </a:t>
            </a:r>
            <a:r>
              <a:rPr lang="en-IN" sz="2400" b="1" dirty="0" smtClean="0">
                <a:latin typeface="Times New Roman" pitchFamily="18" charset="0"/>
                <a:cs typeface="Times New Roman" pitchFamily="18" charset="0"/>
              </a:rPr>
              <a:t>Anode</a:t>
            </a:r>
            <a:r>
              <a:rPr lang="en-IN" sz="2400" b="1"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Cadmium rod </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Cathode: </a:t>
            </a:r>
            <a:r>
              <a:rPr lang="en-IN" sz="2400" dirty="0" smtClean="0">
                <a:latin typeface="Times New Roman" pitchFamily="18" charset="0"/>
                <a:cs typeface="Times New Roman" pitchFamily="18" charset="0"/>
              </a:rPr>
              <a:t>NiO</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coated on nickel rod </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Electrolyte: </a:t>
            </a:r>
            <a:r>
              <a:rPr lang="en-IN" sz="2400" dirty="0" smtClean="0">
                <a:latin typeface="Times New Roman" pitchFamily="18" charset="0"/>
                <a:cs typeface="Times New Roman" pitchFamily="18" charset="0"/>
              </a:rPr>
              <a:t>Potassium hydroxide (KOH)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The </a:t>
            </a:r>
            <a:r>
              <a:rPr lang="en-IN" sz="2400" dirty="0" smtClean="0">
                <a:latin typeface="Times New Roman" pitchFamily="18" charset="0"/>
                <a:cs typeface="Times New Roman" pitchFamily="18" charset="0"/>
              </a:rPr>
              <a:t>cell may be represented as, </a:t>
            </a:r>
            <a:r>
              <a:rPr lang="en-IN" sz="2400" b="1" dirty="0" err="1" smtClean="0">
                <a:latin typeface="Times New Roman" pitchFamily="18" charset="0"/>
                <a:cs typeface="Times New Roman" pitchFamily="18" charset="0"/>
              </a:rPr>
              <a:t>Cd</a:t>
            </a:r>
            <a:r>
              <a:rPr lang="en-IN" sz="2400" b="1" dirty="0" smtClean="0">
                <a:latin typeface="Times New Roman" pitchFamily="18" charset="0"/>
                <a:cs typeface="Times New Roman" pitchFamily="18" charset="0"/>
              </a:rPr>
              <a:t> / </a:t>
            </a:r>
            <a:r>
              <a:rPr lang="en-IN" sz="2400" b="1" dirty="0" err="1" smtClean="0">
                <a:latin typeface="Times New Roman" pitchFamily="18" charset="0"/>
                <a:cs typeface="Times New Roman" pitchFamily="18" charset="0"/>
              </a:rPr>
              <a:t>Cd</a:t>
            </a:r>
            <a:r>
              <a:rPr lang="en-IN" sz="2400" b="1" dirty="0" smtClean="0">
                <a:latin typeface="Times New Roman" pitchFamily="18" charset="0"/>
                <a:cs typeface="Times New Roman" pitchFamily="18" charset="0"/>
              </a:rPr>
              <a:t>(OH)</a:t>
            </a:r>
            <a:r>
              <a:rPr lang="en-IN" sz="2400" b="1" baseline="-25000" dirty="0" smtClean="0">
                <a:latin typeface="Times New Roman" pitchFamily="18" charset="0"/>
                <a:cs typeface="Times New Roman" pitchFamily="18" charset="0"/>
              </a:rPr>
              <a:t>2</a:t>
            </a:r>
            <a:r>
              <a:rPr lang="en-IN" sz="2400" b="1" dirty="0" smtClean="0">
                <a:latin typeface="Times New Roman" pitchFamily="18" charset="0"/>
                <a:cs typeface="Times New Roman" pitchFamily="18" charset="0"/>
              </a:rPr>
              <a:t> // KOH / NiO</a:t>
            </a:r>
            <a:r>
              <a:rPr lang="en-IN" sz="2400" b="1" baseline="-25000" dirty="0" smtClean="0">
                <a:latin typeface="Times New Roman" pitchFamily="18" charset="0"/>
                <a:cs typeface="Times New Roman" pitchFamily="18" charset="0"/>
              </a:rPr>
              <a:t>2</a:t>
            </a:r>
            <a:r>
              <a:rPr lang="en-IN" sz="2400" b="1" dirty="0" smtClean="0">
                <a:latin typeface="Times New Roman" pitchFamily="18" charset="0"/>
                <a:cs typeface="Times New Roman" pitchFamily="18" charset="0"/>
              </a:rPr>
              <a:t> / Ni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It produces a voltage of about 1.4 V</a:t>
            </a:r>
            <a:endParaRPr lang="en-US" sz="2400" dirty="0" smtClean="0">
              <a:latin typeface="Times New Roman" pitchFamily="18" charset="0"/>
              <a:cs typeface="Times New Roman" pitchFamily="18" charset="0"/>
            </a:endParaRPr>
          </a:p>
          <a:p>
            <a:endParaRPr lang="en-US" dirty="0"/>
          </a:p>
        </p:txBody>
      </p:sp>
      <p:pic>
        <p:nvPicPr>
          <p:cNvPr id="4" name="Picture 3" descr="N1.png"/>
          <p:cNvPicPr>
            <a:picLocks noChangeAspect="1"/>
          </p:cNvPicPr>
          <p:nvPr/>
        </p:nvPicPr>
        <p:blipFill>
          <a:blip r:embed="rId2" cstate="print"/>
          <a:stretch>
            <a:fillRect/>
          </a:stretch>
        </p:blipFill>
        <p:spPr>
          <a:xfrm>
            <a:off x="990600" y="3810000"/>
            <a:ext cx="6172200" cy="28956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228600"/>
            <a:ext cx="9144000" cy="6629400"/>
          </a:xfrm>
        </p:spPr>
        <p:txBody>
          <a:bodyPr>
            <a:normAutofit/>
          </a:bodyPr>
          <a:lstStyle/>
          <a:p>
            <a:r>
              <a:rPr lang="en-IN" sz="2400" b="1" dirty="0" smtClean="0">
                <a:solidFill>
                  <a:srgbClr val="C00000"/>
                </a:solidFill>
                <a:latin typeface="Times New Roman" pitchFamily="18" charset="0"/>
                <a:cs typeface="Times New Roman" pitchFamily="18" charset="0"/>
              </a:rPr>
              <a:t>Working (during discharging)</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During the operation of an NICAD battery, cadmium is oxidized to Cd</a:t>
            </a:r>
            <a:r>
              <a:rPr lang="en-IN" sz="2400" baseline="30000" dirty="0" smtClean="0">
                <a:latin typeface="Times New Roman" pitchFamily="18" charset="0"/>
                <a:cs typeface="Times New Roman" pitchFamily="18" charset="0"/>
              </a:rPr>
              <a:t>2+ </a:t>
            </a:r>
            <a:r>
              <a:rPr lang="en-IN" sz="2400" dirty="0" smtClean="0">
                <a:latin typeface="Times New Roman" pitchFamily="18" charset="0"/>
                <a:cs typeface="Times New Roman" pitchFamily="18" charset="0"/>
              </a:rPr>
              <a:t>ions and insoluble </a:t>
            </a:r>
            <a:r>
              <a:rPr lang="en-IN" sz="2400" dirty="0" err="1" smtClean="0">
                <a:latin typeface="Times New Roman" pitchFamily="18" charset="0"/>
                <a:cs typeface="Times New Roman" pitchFamily="18" charset="0"/>
              </a:rPr>
              <a:t>Cd</a:t>
            </a:r>
            <a:r>
              <a:rPr lang="en-IN" sz="2400" dirty="0" smtClean="0">
                <a:latin typeface="Times New Roman" pitchFamily="18" charset="0"/>
                <a:cs typeface="Times New Roman" pitchFamily="18" charset="0"/>
              </a:rPr>
              <a:t>(OH)</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is formed</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b="1" dirty="0" smtClean="0">
                <a:solidFill>
                  <a:srgbClr val="C00000"/>
                </a:solidFill>
                <a:latin typeface="Times New Roman" pitchFamily="18" charset="0"/>
                <a:cs typeface="Times New Roman" pitchFamily="18" charset="0"/>
              </a:rPr>
              <a:t>At anode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Cadmium is oxidized to give Cd</a:t>
            </a:r>
            <a:r>
              <a:rPr lang="en-IN" sz="2400" baseline="30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ions and electrons. The Cd</a:t>
            </a:r>
            <a:r>
              <a:rPr lang="en-IN" sz="2400" baseline="30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ions react with OH</a:t>
            </a:r>
            <a:r>
              <a:rPr lang="en-IN" sz="2400" baseline="300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 ions to give insoluble </a:t>
            </a:r>
            <a:r>
              <a:rPr lang="en-IN" sz="2400" dirty="0" err="1" smtClean="0">
                <a:latin typeface="Times New Roman" pitchFamily="18" charset="0"/>
                <a:cs typeface="Times New Roman" pitchFamily="18" charset="0"/>
              </a:rPr>
              <a:t>Cd</a:t>
            </a:r>
            <a:r>
              <a:rPr lang="en-IN" sz="2400" dirty="0" smtClean="0">
                <a:latin typeface="Times New Roman" pitchFamily="18" charset="0"/>
                <a:cs typeface="Times New Roman" pitchFamily="18" charset="0"/>
              </a:rPr>
              <a:t>(OH)</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a:t>
            </a:r>
            <a:endParaRPr lang="en-US" sz="2400" dirty="0" smtClean="0">
              <a:latin typeface="Times New Roman" pitchFamily="18" charset="0"/>
              <a:cs typeface="Times New Roman" pitchFamily="18" charset="0"/>
            </a:endParaRPr>
          </a:p>
          <a:p>
            <a:r>
              <a:rPr lang="en-IN" sz="2400" b="1" dirty="0" smtClean="0">
                <a:solidFill>
                  <a:srgbClr val="C00000"/>
                </a:solidFill>
                <a:latin typeface="Times New Roman" pitchFamily="18" charset="0"/>
                <a:cs typeface="Times New Roman" pitchFamily="18" charset="0"/>
              </a:rPr>
              <a:t>At cathode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Electrons are gained by NiO</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Ni undergoes reduction from Ni</a:t>
            </a:r>
            <a:r>
              <a:rPr lang="en-IN" sz="2400" baseline="30000" dirty="0" smtClean="0">
                <a:latin typeface="Times New Roman" pitchFamily="18" charset="0"/>
                <a:cs typeface="Times New Roman" pitchFamily="18" charset="0"/>
              </a:rPr>
              <a:t>4+</a:t>
            </a:r>
            <a:r>
              <a:rPr lang="en-IN" sz="2400" dirty="0" smtClean="0">
                <a:latin typeface="Times New Roman" pitchFamily="18" charset="0"/>
                <a:cs typeface="Times New Roman" pitchFamily="18" charset="0"/>
              </a:rPr>
              <a:t> to Ni</a:t>
            </a:r>
            <a:r>
              <a:rPr lang="en-IN" sz="2400" baseline="30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This Ni</a:t>
            </a:r>
            <a:r>
              <a:rPr lang="en-IN" sz="2400" baseline="30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ions contribute with OH</a:t>
            </a:r>
            <a:r>
              <a:rPr lang="en-IN" sz="2400" baseline="300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 ions to give Ni(OH)</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a:t>
            </a:r>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cstate="print"/>
          <a:srcRect/>
          <a:stretch>
            <a:fillRect/>
          </a:stretch>
        </p:blipFill>
        <p:spPr bwMode="auto">
          <a:xfrm>
            <a:off x="990600" y="228600"/>
            <a:ext cx="6096000" cy="1676400"/>
          </a:xfrm>
          <a:prstGeom prst="rect">
            <a:avLst/>
          </a:prstGeom>
          <a:noFill/>
          <a:ln w="9525">
            <a:noFill/>
            <a:miter lim="800000"/>
            <a:headEnd/>
            <a:tailEnd/>
          </a:ln>
        </p:spPr>
      </p:pic>
      <p:sp>
        <p:nvSpPr>
          <p:cNvPr id="29697" name="Rectangle 1"/>
          <p:cNvSpPr>
            <a:spLocks noChangeArrowheads="1"/>
          </p:cNvSpPr>
          <p:nvPr/>
        </p:nvSpPr>
        <p:spPr bwMode="auto">
          <a:xfrm>
            <a:off x="0" y="2790023"/>
            <a:ext cx="8763000" cy="2677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Recharging </a:t>
            </a:r>
            <a:endPar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The recharging process is similar to lead – acid storage battery. Recharging is done by applying a voltage across the electrodes that is slightly greater than the voltage (1.4V), the current will flow in the opposite direction, that is the electrode reaction gets reversed. As a result, cadmium is deposited on anode and NiO</a:t>
            </a:r>
            <a:r>
              <a:rPr kumimoji="0" lang="en-US" sz="2400" b="0" i="0" u="none" strike="noStrike" cap="none" normalizeH="0" baseline="-30000" dirty="0" smtClean="0">
                <a:ln>
                  <a:noFill/>
                </a:ln>
                <a:solidFill>
                  <a:srgbClr val="000000"/>
                </a:solidFill>
                <a:effectLst/>
                <a:latin typeface="Times New Roman" pitchFamily="18" charset="0"/>
                <a:ea typeface="Calibri" pitchFamily="34" charset="0"/>
                <a:cs typeface="Times New Roman" pitchFamily="18" charset="0"/>
              </a:rPr>
              <a:t>2</a:t>
            </a:r>
            <a:r>
              <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is deposited on the cathode</a:t>
            </a:r>
            <a:r>
              <a:rPr kumimoji="0" lang="en-US" sz="2400" b="0" i="0" u="none" strike="noStrike" cap="none" normalizeH="0" baseline="0" dirty="0" smtClean="0">
                <a:ln>
                  <a:noFill/>
                </a:ln>
                <a:solidFill>
                  <a:schemeClr val="tx1"/>
                </a:solidFill>
                <a:effectLst/>
                <a:latin typeface="Arial" pitchFamily="34" charset="0"/>
                <a:cs typeface="Arial" pitchFamily="34" charset="0"/>
              </a:rPr>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8991600" cy="6007291"/>
          </a:xfrm>
        </p:spPr>
        <p:txBody>
          <a:bodyPr/>
          <a:lstStyle/>
          <a:p>
            <a:r>
              <a:rPr lang="en-IN" sz="2400" dirty="0" smtClean="0">
                <a:latin typeface="Times New Roman" pitchFamily="18" charset="0"/>
                <a:cs typeface="Times New Roman" pitchFamily="18" charset="0"/>
              </a:rPr>
              <a:t>The overall cell reaction during discharging and charging is, </a:t>
            </a:r>
            <a:endParaRPr lang="en-US" sz="2400" dirty="0" smtClean="0">
              <a:latin typeface="Times New Roman" pitchFamily="18" charset="0"/>
              <a:cs typeface="Times New Roman" pitchFamily="18" charset="0"/>
            </a:endParaRPr>
          </a:p>
          <a:p>
            <a:endParaRPr lang="en-US" dirty="0"/>
          </a:p>
        </p:txBody>
      </p:sp>
      <p:pic>
        <p:nvPicPr>
          <p:cNvPr id="4" name="Picture 3"/>
          <p:cNvPicPr/>
          <p:nvPr/>
        </p:nvPicPr>
        <p:blipFill>
          <a:blip r:embed="rId2" cstate="print"/>
          <a:srcRect/>
          <a:stretch>
            <a:fillRect/>
          </a:stretch>
        </p:blipFill>
        <p:spPr bwMode="auto">
          <a:xfrm>
            <a:off x="381000" y="685800"/>
            <a:ext cx="8000999" cy="2057400"/>
          </a:xfrm>
          <a:prstGeom prst="rect">
            <a:avLst/>
          </a:prstGeom>
          <a:noFill/>
          <a:ln w="9525">
            <a:noFill/>
            <a:miter lim="800000"/>
            <a:headEnd/>
            <a:tailEnd/>
          </a:ln>
        </p:spPr>
      </p:pic>
      <p:sp>
        <p:nvSpPr>
          <p:cNvPr id="38913" name="Rectangle 1"/>
          <p:cNvSpPr>
            <a:spLocks noChangeArrowheads="1"/>
          </p:cNvSpPr>
          <p:nvPr/>
        </p:nvSpPr>
        <p:spPr bwMode="auto">
          <a:xfrm>
            <a:off x="0" y="2967941"/>
            <a:ext cx="8763000" cy="34163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Advantages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1. It is comparatively smaller and lighter.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2. It has a longer life than a lead </a:t>
            </a:r>
            <a:r>
              <a:rPr kumimoji="0" lang="en-US" sz="2400" b="0" i="0" u="none" strike="noStrike" cap="none" normalizeH="0" baseline="0" dirty="0" smtClean="0">
                <a:ln>
                  <a:noFill/>
                </a:ln>
                <a:solidFill>
                  <a:srgbClr val="000000"/>
                </a:solidFill>
                <a:effectLst/>
                <a:latin typeface="Calibri"/>
                <a:ea typeface="Calibri" pitchFamily="34" charset="0"/>
                <a:cs typeface="Times New Roman" pitchFamily="18" charset="0"/>
              </a:rPr>
              <a:t>–</a:t>
            </a:r>
            <a:r>
              <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acid storage battery.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3. It can be packed in a sealed container like a dry cell.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4. It does not use corrosive materials.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Disadvantages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1. It is more expensive than lead </a:t>
            </a:r>
            <a:r>
              <a:rPr kumimoji="0" lang="en-US" sz="2400" b="0" i="0" u="none" strike="noStrike" cap="none" normalizeH="0" baseline="0" dirty="0" smtClean="0">
                <a:ln>
                  <a:noFill/>
                </a:ln>
                <a:solidFill>
                  <a:srgbClr val="000000"/>
                </a:solidFill>
                <a:effectLst/>
                <a:latin typeface="Calibri"/>
                <a:ea typeface="Calibri" pitchFamily="34" charset="0"/>
                <a:cs typeface="Times New Roman" pitchFamily="18" charset="0"/>
              </a:rPr>
              <a:t>–</a:t>
            </a:r>
            <a:r>
              <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acid storage battery.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2. Cadmium discarded in the environment, enters the human body and cause health problems</a:t>
            </a:r>
            <a:r>
              <a:rPr kumimoji="0" lang="en-US" sz="2400" b="0" i="0" u="none" strike="noStrike" cap="none" normalizeH="0" baseline="0" dirty="0" smtClean="0">
                <a:ln>
                  <a:noFill/>
                </a:ln>
                <a:solidFill>
                  <a:schemeClr val="tx1"/>
                </a:solidFill>
                <a:effectLst/>
                <a:latin typeface="Arial" pitchFamily="34" charset="0"/>
                <a:cs typeface="Arial" pitchFamily="34" charset="0"/>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fontScale="92500" lnSpcReduction="10000"/>
          </a:bodyPr>
          <a:lstStyle/>
          <a:p>
            <a:r>
              <a:rPr lang="en-IN" sz="2400" b="1" dirty="0" smtClean="0">
                <a:latin typeface="Times New Roman" pitchFamily="18" charset="0"/>
                <a:cs typeface="Times New Roman" pitchFamily="18" charset="0"/>
              </a:rPr>
              <a:t>Uses</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1. NICAD cells are commonly used in calculators, transistors, electronic camera flashes, rechargeable flash lights, etc.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2. The good low temperature performance has lead to wide use of NICAD </a:t>
            </a:r>
            <a:r>
              <a:rPr lang="en-IN" sz="2400" dirty="0" smtClean="0">
                <a:latin typeface="Times New Roman" pitchFamily="18" charset="0"/>
                <a:cs typeface="Times New Roman" pitchFamily="18" charset="0"/>
              </a:rPr>
              <a:t>batteries </a:t>
            </a:r>
            <a:r>
              <a:rPr lang="en-IN" sz="2400" dirty="0" smtClean="0">
                <a:latin typeface="Times New Roman" pitchFamily="18" charset="0"/>
                <a:cs typeface="Times New Roman" pitchFamily="18" charset="0"/>
              </a:rPr>
              <a:t>in aircraft and space satellite power </a:t>
            </a:r>
            <a:r>
              <a:rPr lang="en-IN" sz="2400" dirty="0" smtClean="0">
                <a:latin typeface="Times New Roman" pitchFamily="18" charset="0"/>
                <a:cs typeface="Times New Roman" pitchFamily="18" charset="0"/>
              </a:rPr>
              <a:t>systems</a:t>
            </a:r>
          </a:p>
          <a:p>
            <a:endParaRPr lang="en-US" sz="2400" dirty="0" smtClean="0">
              <a:latin typeface="Times New Roman" pitchFamily="18" charset="0"/>
              <a:cs typeface="Times New Roman" pitchFamily="18" charset="0"/>
            </a:endParaRPr>
          </a:p>
          <a:p>
            <a:r>
              <a:rPr lang="en-IN" sz="2400" b="1" u="sng" dirty="0" smtClean="0">
                <a:solidFill>
                  <a:srgbClr val="C00000"/>
                </a:solidFill>
                <a:latin typeface="Times New Roman" pitchFamily="18" charset="0"/>
                <a:cs typeface="Times New Roman" pitchFamily="18" charset="0"/>
              </a:rPr>
              <a:t>LITHIUM BATTERY </a:t>
            </a:r>
            <a:endParaRPr lang="en-US" sz="2400" dirty="0" smtClean="0">
              <a:solidFill>
                <a:srgbClr val="C00000"/>
              </a:solidFill>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Lithium metal is attractive as a battery anode material because of its light weight, high voltage and good conductivity. </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It is regarded as the battery of the future. </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Lithium battery is a solid state battery, since a solid electrolyte is used instead of a liquid or a paste. </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 </a:t>
            </a:r>
            <a:r>
              <a:rPr lang="en-IN" sz="2400" b="1" dirty="0" smtClean="0">
                <a:solidFill>
                  <a:srgbClr val="C00000"/>
                </a:solidFill>
                <a:latin typeface="Times New Roman" pitchFamily="18" charset="0"/>
                <a:cs typeface="Times New Roman" pitchFamily="18" charset="0"/>
              </a:rPr>
              <a:t>Description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It has a Lithium anode at one end, a TiS</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(Titanium sulphide) cathode at another end and a solid electrolyte. </a:t>
            </a:r>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A </a:t>
            </a:r>
            <a:r>
              <a:rPr lang="en-IN" sz="2400" dirty="0" smtClean="0">
                <a:latin typeface="Times New Roman" pitchFamily="18" charset="0"/>
                <a:cs typeface="Times New Roman" pitchFamily="18" charset="0"/>
              </a:rPr>
              <a:t>solid electrolyte, normally a conductive polymer is packed in between the two electrolytes</a:t>
            </a:r>
            <a:r>
              <a:rPr lang="en-IN" sz="2400" dirty="0" smtClean="0">
                <a:latin typeface="Times New Roman" pitchFamily="18" charset="0"/>
                <a:cs typeface="Times New Roman" pitchFamily="18" charset="0"/>
              </a:rPr>
              <a:t>.</a:t>
            </a:r>
          </a:p>
          <a:p>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The conductive polymer (solid electrolyte) permits the passage of ions but not the electrons</a:t>
            </a:r>
            <a:endParaRPr lang="en-US" sz="2400"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r>
              <a:rPr lang="en-IN" sz="2400" b="1" dirty="0" smtClean="0">
                <a:latin typeface="Times New Roman" pitchFamily="18" charset="0"/>
                <a:cs typeface="Times New Roman" pitchFamily="18" charset="0"/>
              </a:rPr>
              <a:t>Anode: </a:t>
            </a:r>
            <a:r>
              <a:rPr lang="en-IN" sz="2400" dirty="0" smtClean="0">
                <a:latin typeface="Times New Roman" pitchFamily="18" charset="0"/>
                <a:cs typeface="Times New Roman" pitchFamily="18" charset="0"/>
              </a:rPr>
              <a:t>Li </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Cathode: </a:t>
            </a:r>
            <a:r>
              <a:rPr lang="en-IN" sz="2400" dirty="0" smtClean="0">
                <a:latin typeface="Times New Roman" pitchFamily="18" charset="0"/>
                <a:cs typeface="Times New Roman" pitchFamily="18" charset="0"/>
              </a:rPr>
              <a:t>TiS</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Electrolyte: </a:t>
            </a:r>
            <a:r>
              <a:rPr lang="en-IN" sz="2400" dirty="0" smtClean="0">
                <a:latin typeface="Times New Roman" pitchFamily="18" charset="0"/>
                <a:cs typeface="Times New Roman" pitchFamily="18" charset="0"/>
              </a:rPr>
              <a:t>Conductive polymer (solid)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The cell may be represented as, </a:t>
            </a:r>
            <a:r>
              <a:rPr lang="en-IN" sz="2400" b="1" dirty="0" smtClean="0">
                <a:latin typeface="Times New Roman" pitchFamily="18" charset="0"/>
                <a:cs typeface="Times New Roman" pitchFamily="18" charset="0"/>
              </a:rPr>
              <a:t>Li / polymer / TiS</a:t>
            </a:r>
            <a:r>
              <a:rPr lang="en-IN" sz="2400" b="1" baseline="-25000" dirty="0" smtClean="0">
                <a:latin typeface="Times New Roman" pitchFamily="18" charset="0"/>
                <a:cs typeface="Times New Roman" pitchFamily="18" charset="0"/>
              </a:rPr>
              <a:t>2</a:t>
            </a:r>
            <a:r>
              <a:rPr lang="en-IN" sz="2400" b="1"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The cell is rechargeable and produces a cell voltage of 3 V</a:t>
            </a:r>
            <a:endParaRPr lang="en-US" sz="2400" dirty="0" smtClean="0">
              <a:latin typeface="Times New Roman" pitchFamily="18" charset="0"/>
              <a:cs typeface="Times New Roman" pitchFamily="18" charset="0"/>
            </a:endParaRPr>
          </a:p>
          <a:p>
            <a:endParaRPr lang="en-US" dirty="0"/>
          </a:p>
        </p:txBody>
      </p:sp>
      <p:pic>
        <p:nvPicPr>
          <p:cNvPr id="4" name="Picture 3"/>
          <p:cNvPicPr/>
          <p:nvPr/>
        </p:nvPicPr>
        <p:blipFill>
          <a:blip r:embed="rId2" cstate="print"/>
          <a:srcRect/>
          <a:stretch>
            <a:fillRect/>
          </a:stretch>
        </p:blipFill>
        <p:spPr bwMode="auto">
          <a:xfrm>
            <a:off x="914400" y="2581274"/>
            <a:ext cx="7162800" cy="3971926"/>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8991600" cy="6007291"/>
          </a:xfrm>
        </p:spPr>
        <p:txBody>
          <a:bodyPr/>
          <a:lstStyle/>
          <a:p>
            <a:r>
              <a:rPr lang="en-IN" sz="2400" b="1" dirty="0" smtClean="0">
                <a:solidFill>
                  <a:srgbClr val="C00000"/>
                </a:solidFill>
                <a:latin typeface="Times New Roman" pitchFamily="18" charset="0"/>
                <a:cs typeface="Times New Roman" pitchFamily="18" charset="0"/>
              </a:rPr>
              <a:t>Working (Discharging)</a:t>
            </a:r>
            <a:endParaRPr lang="en-US" sz="2400" dirty="0" smtClean="0">
              <a:solidFill>
                <a:srgbClr val="C00000"/>
              </a:solidFill>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Cell reaction: </a:t>
            </a:r>
            <a:r>
              <a:rPr lang="en-IN" sz="2400" b="1" dirty="0" smtClean="0">
                <a:latin typeface="Times New Roman" pitchFamily="18" charset="0"/>
                <a:cs typeface="Times New Roman" pitchFamily="18" charset="0"/>
              </a:rPr>
              <a:t>Li </a:t>
            </a:r>
            <a:r>
              <a:rPr lang="en-IN" sz="2400" b="1" dirty="0" smtClean="0">
                <a:latin typeface="Times New Roman" pitchFamily="18" charset="0"/>
                <a:cs typeface="Times New Roman" pitchFamily="18" charset="0"/>
              </a:rPr>
              <a:t>+ TiS</a:t>
            </a:r>
            <a:r>
              <a:rPr lang="en-IN" sz="2400" b="1" baseline="-25000" dirty="0" smtClean="0">
                <a:latin typeface="Times New Roman" pitchFamily="18" charset="0"/>
                <a:cs typeface="Times New Roman" pitchFamily="18" charset="0"/>
              </a:rPr>
              <a:t>2</a:t>
            </a:r>
            <a:r>
              <a:rPr lang="en-IN" sz="2400" b="1" dirty="0" smtClean="0">
                <a:latin typeface="Times New Roman" pitchFamily="18" charset="0"/>
                <a:cs typeface="Times New Roman" pitchFamily="18" charset="0"/>
              </a:rPr>
              <a:t>                       Li </a:t>
            </a:r>
            <a:r>
              <a:rPr lang="en-IN" sz="2400" b="1" baseline="30000" dirty="0" smtClean="0">
                <a:latin typeface="Times New Roman" pitchFamily="18" charset="0"/>
                <a:cs typeface="Times New Roman" pitchFamily="18" charset="0"/>
              </a:rPr>
              <a:t>+</a:t>
            </a:r>
            <a:r>
              <a:rPr lang="en-IN" sz="2400" b="1" dirty="0" smtClean="0">
                <a:latin typeface="Times New Roman" pitchFamily="18" charset="0"/>
                <a:cs typeface="Times New Roman" pitchFamily="18" charset="0"/>
              </a:rPr>
              <a:t> + TiS</a:t>
            </a:r>
            <a:r>
              <a:rPr lang="en-IN" sz="2400" b="1" baseline="-25000" dirty="0" smtClean="0">
                <a:latin typeface="Times New Roman" pitchFamily="18" charset="0"/>
                <a:cs typeface="Times New Roman" pitchFamily="18" charset="0"/>
              </a:rPr>
              <a:t>2</a:t>
            </a:r>
            <a:r>
              <a:rPr lang="en-IN" sz="2400" b="1" baseline="30000" dirty="0" smtClean="0">
                <a:latin typeface="Times New Roman" pitchFamily="18" charset="0"/>
                <a:cs typeface="Times New Roman" pitchFamily="18" charset="0"/>
              </a:rPr>
              <a:t>-</a:t>
            </a:r>
            <a:r>
              <a:rPr lang="en-IN" sz="2400" b="1"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and </a:t>
            </a:r>
            <a:r>
              <a:rPr lang="en-IN" sz="2400" b="1" dirty="0" smtClean="0">
                <a:latin typeface="Times New Roman" pitchFamily="18" charset="0"/>
                <a:cs typeface="Times New Roman" pitchFamily="18" charset="0"/>
              </a:rPr>
              <a:t>Li</a:t>
            </a:r>
            <a:r>
              <a:rPr lang="en-IN" sz="2400" b="1" baseline="30000" dirty="0" smtClean="0">
                <a:latin typeface="Times New Roman" pitchFamily="18" charset="0"/>
                <a:cs typeface="Times New Roman" pitchFamily="18" charset="0"/>
              </a:rPr>
              <a:t>+</a:t>
            </a:r>
            <a:r>
              <a:rPr lang="en-IN" sz="2400" b="1" dirty="0" smtClean="0">
                <a:latin typeface="Times New Roman" pitchFamily="18" charset="0"/>
                <a:cs typeface="Times New Roman" pitchFamily="18" charset="0"/>
              </a:rPr>
              <a:t> + TiS</a:t>
            </a:r>
            <a:r>
              <a:rPr lang="en-IN" sz="2400" b="1" baseline="-25000" dirty="0" smtClean="0">
                <a:latin typeface="Times New Roman" pitchFamily="18" charset="0"/>
                <a:cs typeface="Times New Roman" pitchFamily="18" charset="0"/>
              </a:rPr>
              <a:t>2</a:t>
            </a:r>
            <a:r>
              <a:rPr lang="en-IN" sz="2400" b="1" baseline="30000" dirty="0" smtClean="0">
                <a:latin typeface="Times New Roman" pitchFamily="18" charset="0"/>
                <a:cs typeface="Times New Roman" pitchFamily="18" charset="0"/>
              </a:rPr>
              <a:t>-</a:t>
            </a:r>
            <a:r>
              <a:rPr lang="en-IN" sz="2400" b="1" dirty="0" smtClean="0">
                <a:latin typeface="Times New Roman" pitchFamily="18" charset="0"/>
                <a:cs typeface="Times New Roman" pitchFamily="18" charset="0"/>
              </a:rPr>
              <a:t>                    Li Ti S</a:t>
            </a:r>
            <a:r>
              <a:rPr lang="en-IN" sz="2400" b="1" baseline="-25000" dirty="0" smtClean="0">
                <a:latin typeface="Times New Roman" pitchFamily="18" charset="0"/>
                <a:cs typeface="Times New Roman" pitchFamily="18" charset="0"/>
              </a:rPr>
              <a:t>2</a:t>
            </a:r>
            <a:r>
              <a:rPr lang="en-IN" sz="2400" b="1"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b="1" dirty="0" smtClean="0">
                <a:solidFill>
                  <a:srgbClr val="C00000"/>
                </a:solidFill>
                <a:latin typeface="Times New Roman" pitchFamily="18" charset="0"/>
                <a:cs typeface="Times New Roman" pitchFamily="18" charset="0"/>
              </a:rPr>
              <a:t>Recharging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The Lithium battery can be recharged by supplying an external current, that is slightly greater than the voltage (3 V), which drives the Lithium ions back to the anode.</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 </a:t>
            </a:r>
            <a:r>
              <a:rPr lang="en-IN" sz="2400" b="1" dirty="0" smtClean="0">
                <a:latin typeface="Times New Roman" pitchFamily="18" charset="0"/>
                <a:cs typeface="Times New Roman" pitchFamily="18" charset="0"/>
              </a:rPr>
              <a:t>              Li </a:t>
            </a:r>
            <a:r>
              <a:rPr lang="en-IN" sz="2400" b="1" dirty="0" smtClean="0">
                <a:latin typeface="Times New Roman" pitchFamily="18" charset="0"/>
                <a:cs typeface="Times New Roman" pitchFamily="18" charset="0"/>
              </a:rPr>
              <a:t>Ti S</a:t>
            </a:r>
            <a:r>
              <a:rPr lang="en-IN" sz="2400" b="1" baseline="-25000" dirty="0" smtClean="0">
                <a:latin typeface="Times New Roman" pitchFamily="18" charset="0"/>
                <a:cs typeface="Times New Roman" pitchFamily="18" charset="0"/>
              </a:rPr>
              <a:t>2    </a:t>
            </a:r>
            <a:r>
              <a:rPr lang="en-IN" sz="2400" b="1" dirty="0" smtClean="0">
                <a:latin typeface="Times New Roman" pitchFamily="18" charset="0"/>
                <a:cs typeface="Times New Roman" pitchFamily="18" charset="0"/>
              </a:rPr>
              <a:t>                     Li</a:t>
            </a:r>
            <a:r>
              <a:rPr lang="en-IN" sz="2400" b="1" baseline="30000" dirty="0" smtClean="0">
                <a:latin typeface="Times New Roman" pitchFamily="18" charset="0"/>
                <a:cs typeface="Times New Roman" pitchFamily="18" charset="0"/>
              </a:rPr>
              <a:t>+</a:t>
            </a:r>
            <a:r>
              <a:rPr lang="en-IN" sz="2400" b="1" dirty="0" smtClean="0">
                <a:latin typeface="Times New Roman" pitchFamily="18" charset="0"/>
                <a:cs typeface="Times New Roman" pitchFamily="18" charset="0"/>
              </a:rPr>
              <a:t> + TiS</a:t>
            </a:r>
            <a:r>
              <a:rPr lang="en-IN" sz="2400" b="1" baseline="-25000" dirty="0" smtClean="0">
                <a:latin typeface="Times New Roman" pitchFamily="18" charset="0"/>
                <a:cs typeface="Times New Roman" pitchFamily="18" charset="0"/>
              </a:rPr>
              <a:t>2</a:t>
            </a:r>
            <a:r>
              <a:rPr lang="en-IN" sz="2400" b="1" baseline="300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cxnSp>
        <p:nvCxnSpPr>
          <p:cNvPr id="5" name="Straight Arrow Connector 4"/>
          <p:cNvCxnSpPr/>
          <p:nvPr/>
        </p:nvCxnSpPr>
        <p:spPr>
          <a:xfrm>
            <a:off x="3505200" y="609600"/>
            <a:ext cx="1600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3581400" y="1524000"/>
            <a:ext cx="1447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2590800" y="4343400"/>
            <a:ext cx="17526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 name="Picture 9"/>
          <p:cNvPicPr/>
          <p:nvPr/>
        </p:nvPicPr>
        <p:blipFill>
          <a:blip r:embed="rId2" cstate="print"/>
          <a:srcRect/>
          <a:stretch>
            <a:fillRect/>
          </a:stretch>
        </p:blipFill>
        <p:spPr bwMode="auto">
          <a:xfrm>
            <a:off x="1143000" y="4953000"/>
            <a:ext cx="5181600" cy="99060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Autofit/>
          </a:bodyPr>
          <a:lstStyle/>
          <a:p>
            <a:r>
              <a:rPr lang="en-IN" sz="2400" dirty="0" smtClean="0">
                <a:latin typeface="Times New Roman" pitchFamily="18" charset="0"/>
                <a:cs typeface="Times New Roman" pitchFamily="18" charset="0"/>
              </a:rPr>
              <a:t>Several other types of secondary lithium batteries are also known; the Li / MnO</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Li / V</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O</a:t>
            </a:r>
            <a:r>
              <a:rPr lang="en-IN" sz="2400" baseline="-25000" dirty="0" smtClean="0">
                <a:latin typeface="Times New Roman" pitchFamily="18" charset="0"/>
                <a:cs typeface="Times New Roman" pitchFamily="18" charset="0"/>
              </a:rPr>
              <a:t>5</a:t>
            </a:r>
            <a:r>
              <a:rPr lang="en-IN" sz="2400" dirty="0" smtClean="0">
                <a:latin typeface="Times New Roman" pitchFamily="18" charset="0"/>
                <a:cs typeface="Times New Roman" pitchFamily="18" charset="0"/>
              </a:rPr>
              <a:t>, Li / MoO</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and Li / Cr</a:t>
            </a:r>
            <a:r>
              <a:rPr lang="en-IN" sz="2400" baseline="-25000" dirty="0" smtClean="0">
                <a:latin typeface="Times New Roman" pitchFamily="18" charset="0"/>
                <a:cs typeface="Times New Roman" pitchFamily="18" charset="0"/>
              </a:rPr>
              <a:t>3</a:t>
            </a:r>
            <a:r>
              <a:rPr lang="en-IN" sz="2400" dirty="0" smtClean="0">
                <a:latin typeface="Times New Roman" pitchFamily="18" charset="0"/>
                <a:cs typeface="Times New Roman" pitchFamily="18" charset="0"/>
              </a:rPr>
              <a:t>O</a:t>
            </a:r>
            <a:r>
              <a:rPr lang="en-IN" sz="2400" baseline="-25000" dirty="0" smtClean="0">
                <a:latin typeface="Times New Roman" pitchFamily="18" charset="0"/>
                <a:cs typeface="Times New Roman" pitchFamily="18" charset="0"/>
              </a:rPr>
              <a:t>8</a:t>
            </a:r>
            <a:r>
              <a:rPr lang="en-IN" sz="2400" dirty="0" smtClean="0">
                <a:latin typeface="Times New Roman" pitchFamily="18" charset="0"/>
                <a:cs typeface="Times New Roman" pitchFamily="18" charset="0"/>
              </a:rPr>
              <a:t> are some among these. </a:t>
            </a:r>
            <a:endParaRPr lang="en-US" sz="2400" dirty="0" smtClean="0">
              <a:latin typeface="Times New Roman" pitchFamily="18" charset="0"/>
              <a:cs typeface="Times New Roman" pitchFamily="18" charset="0"/>
            </a:endParaRPr>
          </a:p>
          <a:p>
            <a:r>
              <a:rPr lang="en-IN" sz="2400" b="1" dirty="0" smtClean="0">
                <a:solidFill>
                  <a:srgbClr val="C00000"/>
                </a:solidFill>
                <a:latin typeface="Times New Roman" pitchFamily="18" charset="0"/>
                <a:cs typeface="Times New Roman" pitchFamily="18" charset="0"/>
              </a:rPr>
              <a:t> </a:t>
            </a:r>
            <a:r>
              <a:rPr lang="en-IN" sz="2400" b="1" dirty="0" smtClean="0">
                <a:solidFill>
                  <a:srgbClr val="C00000"/>
                </a:solidFill>
                <a:latin typeface="Times New Roman" pitchFamily="18" charset="0"/>
                <a:cs typeface="Times New Roman" pitchFamily="18" charset="0"/>
              </a:rPr>
              <a:t>Advantages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The lithium battery is considered to be the cell of the future because,</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1. Lithium is a light weight metal, only 7 g required for produce one mole of electrons.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2. Its cell voltage is high, 3 V.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3. Lithium has the most negative </a:t>
            </a:r>
            <a:r>
              <a:rPr lang="en-IN" sz="2400" dirty="0" err="1" smtClean="0">
                <a:latin typeface="Times New Roman" pitchFamily="18" charset="0"/>
                <a:cs typeface="Times New Roman" pitchFamily="18" charset="0"/>
              </a:rPr>
              <a:t>E</a:t>
            </a:r>
            <a:r>
              <a:rPr lang="en-IN" sz="2400" baseline="30000" dirty="0" err="1" smtClean="0">
                <a:latin typeface="Times New Roman" pitchFamily="18" charset="0"/>
                <a:cs typeface="Times New Roman" pitchFamily="18" charset="0"/>
              </a:rPr>
              <a:t>o</a:t>
            </a:r>
            <a:r>
              <a:rPr lang="en-IN" sz="2400" dirty="0" smtClean="0">
                <a:latin typeface="Times New Roman" pitchFamily="18" charset="0"/>
                <a:cs typeface="Times New Roman" pitchFamily="18" charset="0"/>
              </a:rPr>
              <a:t> value (-3.01 V) and therefore generates a higher voltage than the other types of cells.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4. The energy output of a lithium cell is 2 – 4 times better than that of conventional zinc anode batteries.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5. Many of the lithium cells will perform over a temperature range of 40 – 70 °C.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6. All the constituents of the battery are solids and hence there is no risk of leakage from the battery.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7. It can be made into conventional shapes and sizes. </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r>
              <a:rPr lang="en-IN" sz="2400" b="1" dirty="0" smtClean="0">
                <a:solidFill>
                  <a:srgbClr val="C00000"/>
                </a:solidFill>
                <a:latin typeface="Times New Roman" pitchFamily="18" charset="0"/>
                <a:cs typeface="Times New Roman" pitchFamily="18" charset="0"/>
              </a:rPr>
              <a:t>Disadvantages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1. Lithium battery is more expensive than other batteries.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2. Early versions of a lithium battery had a short life and variable outputs.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b="1" dirty="0" smtClean="0">
                <a:solidFill>
                  <a:srgbClr val="C00000"/>
                </a:solidFill>
                <a:latin typeface="Times New Roman" pitchFamily="18" charset="0"/>
                <a:cs typeface="Times New Roman" pitchFamily="18" charset="0"/>
              </a:rPr>
              <a:t>Uses </a:t>
            </a:r>
            <a:endParaRPr lang="en-US" sz="2400" dirty="0" smtClean="0">
              <a:solidFill>
                <a:srgbClr val="C00000"/>
              </a:solidFill>
              <a:latin typeface="Times New Roman" pitchFamily="18" charset="0"/>
              <a:cs typeface="Times New Roman" pitchFamily="18" charset="0"/>
            </a:endParaRPr>
          </a:p>
          <a:p>
            <a:r>
              <a:rPr lang="en-IN" sz="2400" dirty="0" smtClean="0">
                <a:latin typeface="Times New Roman" pitchFamily="18" charset="0"/>
                <a:cs typeface="Times New Roman" pitchFamily="18" charset="0"/>
              </a:rPr>
              <a:t>Button sized lithium batteries are used in calculators, watches, cameras, mobile phones, laptop computers, etc.,</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52400"/>
            <a:ext cx="9144000" cy="6705600"/>
          </a:xfrm>
        </p:spPr>
        <p:txBody>
          <a:bodyPr>
            <a:normAutofit/>
          </a:bodyPr>
          <a:lstStyle/>
          <a:p>
            <a:r>
              <a:rPr lang="en-IN" sz="2400" b="1" u="sng" dirty="0" smtClean="0">
                <a:latin typeface="Times New Roman" pitchFamily="18" charset="0"/>
                <a:cs typeface="Times New Roman" pitchFamily="18" charset="0"/>
              </a:rPr>
              <a:t>FUEL CELL</a:t>
            </a:r>
            <a:r>
              <a:rPr lang="en-IN" sz="2400" b="1" u="sng" dirty="0" smtClean="0">
                <a:latin typeface="Times New Roman" pitchFamily="18" charset="0"/>
                <a:cs typeface="Times New Roman" pitchFamily="18" charset="0"/>
              </a:rPr>
              <a:t>:</a:t>
            </a:r>
          </a:p>
          <a:p>
            <a:r>
              <a:rPr lang="en-IN" sz="2400" b="1"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It is a device in which the chemical energy of the fuel hydrogen is directly converted into electricity without combustion.</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Fuel </a:t>
            </a:r>
            <a:r>
              <a:rPr lang="en-IN" sz="2400" dirty="0" smtClean="0">
                <a:latin typeface="Times New Roman" pitchFamily="18" charset="0"/>
                <a:cs typeface="Times New Roman" pitchFamily="18" charset="0"/>
              </a:rPr>
              <a:t>+ Oxygen                  Oxidation Product + Electricity</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Eg</a:t>
            </a:r>
            <a:r>
              <a:rPr lang="en-US" sz="2400" dirty="0" smtClean="0">
                <a:latin typeface="Times New Roman" pitchFamily="18" charset="0"/>
                <a:cs typeface="Times New Roman" pitchFamily="18" charset="0"/>
              </a:rPr>
              <a:t>: H</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-O</a:t>
            </a:r>
            <a:r>
              <a:rPr lang="en-US" sz="2400" baseline="-25000" dirty="0" smtClean="0">
                <a:latin typeface="Times New Roman" pitchFamily="18" charset="0"/>
                <a:cs typeface="Times New Roman" pitchFamily="18" charset="0"/>
              </a:rPr>
              <a:t>2 </a:t>
            </a:r>
            <a:r>
              <a:rPr lang="en-US" sz="2400" dirty="0" smtClean="0">
                <a:latin typeface="Times New Roman" pitchFamily="18" charset="0"/>
                <a:cs typeface="Times New Roman" pitchFamily="18" charset="0"/>
              </a:rPr>
              <a:t>fuel </a:t>
            </a:r>
            <a:r>
              <a:rPr lang="en-US" sz="2400" dirty="0" smtClean="0">
                <a:latin typeface="Times New Roman" pitchFamily="18" charset="0"/>
                <a:cs typeface="Times New Roman" pitchFamily="18" charset="0"/>
              </a:rPr>
              <a:t>cells\</a:t>
            </a:r>
          </a:p>
          <a:p>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cxnSp>
        <p:nvCxnSpPr>
          <p:cNvPr id="5" name="Straight Arrow Connector 4"/>
          <p:cNvCxnSpPr/>
          <p:nvPr/>
        </p:nvCxnSpPr>
        <p:spPr>
          <a:xfrm>
            <a:off x="2438400" y="1600200"/>
            <a:ext cx="1143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6" name="Picture 5"/>
          <p:cNvPicPr/>
          <p:nvPr/>
        </p:nvPicPr>
        <p:blipFill>
          <a:blip r:embed="rId2" cstate="print"/>
          <a:srcRect/>
          <a:stretch>
            <a:fillRect/>
          </a:stretch>
        </p:blipFill>
        <p:spPr bwMode="auto">
          <a:xfrm>
            <a:off x="1981200" y="2667000"/>
            <a:ext cx="4572000" cy="419100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8991600" cy="6858000"/>
          </a:xfrm>
        </p:spPr>
        <p:txBody>
          <a:bodyPr>
            <a:normAutofit/>
          </a:bodyPr>
          <a:lstStyle/>
          <a:p>
            <a:r>
              <a:rPr lang="en-US" sz="2400" b="1" u="sng" dirty="0" smtClean="0">
                <a:latin typeface="Times New Roman" pitchFamily="18" charset="0"/>
                <a:cs typeface="Times New Roman" pitchFamily="18" charset="0"/>
              </a:rPr>
              <a:t>H</a:t>
            </a:r>
            <a:r>
              <a:rPr lang="en-US" sz="2400" b="1" u="sng" baseline="-25000" dirty="0" smtClean="0">
                <a:latin typeface="Times New Roman" pitchFamily="18" charset="0"/>
                <a:cs typeface="Times New Roman" pitchFamily="18" charset="0"/>
              </a:rPr>
              <a:t>2</a:t>
            </a:r>
            <a:r>
              <a:rPr lang="en-US" sz="2400" b="1" u="sng" dirty="0" smtClean="0">
                <a:latin typeface="Times New Roman" pitchFamily="18" charset="0"/>
                <a:cs typeface="Times New Roman" pitchFamily="18" charset="0"/>
              </a:rPr>
              <a:t>-O</a:t>
            </a:r>
            <a:r>
              <a:rPr lang="en-US" sz="2400" b="1" u="sng" baseline="-25000" dirty="0" smtClean="0">
                <a:latin typeface="Times New Roman" pitchFamily="18" charset="0"/>
                <a:cs typeface="Times New Roman" pitchFamily="18" charset="0"/>
              </a:rPr>
              <a:t>2</a:t>
            </a:r>
            <a:r>
              <a:rPr lang="en-US" sz="2400" b="1" u="sng" dirty="0" smtClean="0">
                <a:latin typeface="Times New Roman" pitchFamily="18" charset="0"/>
                <a:cs typeface="Times New Roman" pitchFamily="18" charset="0"/>
              </a:rPr>
              <a:t> FUEL CELL:</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It consists of two porous electrodes anode and cathode. </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Two porous electrodes – Made of compressed carbon containing a catalyst like Pt/Pd. </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In between two electrodes an electrolytic solution 25% KOH or </a:t>
            </a:r>
            <a:r>
              <a:rPr lang="en-IN" sz="2400" dirty="0" err="1" smtClean="0">
                <a:latin typeface="Times New Roman" pitchFamily="18" charset="0"/>
                <a:cs typeface="Times New Roman" pitchFamily="18" charset="0"/>
              </a:rPr>
              <a:t>NaOH</a:t>
            </a:r>
            <a:r>
              <a:rPr lang="en-IN" sz="2400" dirty="0" smtClean="0">
                <a:latin typeface="Times New Roman" pitchFamily="18" charset="0"/>
                <a:cs typeface="Times New Roman" pitchFamily="18" charset="0"/>
              </a:rPr>
              <a:t> filled. </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When H</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is bubbled through the anode compartment, where it is oxidized. </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The O</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is bubbled at the cathode compartment where it is reduced.</a:t>
            </a:r>
            <a:endParaRPr lang="en-US" sz="2400" dirty="0" smtClean="0">
              <a:latin typeface="Times New Roman" pitchFamily="18" charset="0"/>
              <a:cs typeface="Times New Roman" pitchFamily="18" charset="0"/>
            </a:endParaRPr>
          </a:p>
          <a:p>
            <a:endParaRPr lang="en-IN" sz="2600" b="1" dirty="0" smtClean="0">
              <a:latin typeface="Times New Roman" pitchFamily="18" charset="0"/>
              <a:cs typeface="Times New Roman" pitchFamily="18" charset="0"/>
            </a:endParaRPr>
          </a:p>
          <a:p>
            <a:r>
              <a:rPr lang="en-IN" sz="2600" b="1" dirty="0" smtClean="0">
                <a:latin typeface="Times New Roman" pitchFamily="18" charset="0"/>
                <a:cs typeface="Times New Roman" pitchFamily="18" charset="0"/>
              </a:rPr>
              <a:t>Anode :</a:t>
            </a:r>
            <a:r>
              <a:rPr lang="en-IN" sz="2600" dirty="0" smtClean="0">
                <a:latin typeface="Times New Roman" pitchFamily="18" charset="0"/>
                <a:cs typeface="Times New Roman" pitchFamily="18" charset="0"/>
              </a:rPr>
              <a:t>Hydrogen</a:t>
            </a:r>
            <a:endParaRPr lang="en-US" sz="2600" dirty="0" smtClean="0">
              <a:latin typeface="Times New Roman" pitchFamily="18" charset="0"/>
              <a:cs typeface="Times New Roman" pitchFamily="18" charset="0"/>
            </a:endParaRPr>
          </a:p>
          <a:p>
            <a:r>
              <a:rPr lang="en-IN" sz="2600" b="1" dirty="0" smtClean="0">
                <a:latin typeface="Times New Roman" pitchFamily="18" charset="0"/>
                <a:cs typeface="Times New Roman" pitchFamily="18" charset="0"/>
              </a:rPr>
              <a:t>Cathode </a:t>
            </a:r>
            <a:r>
              <a:rPr lang="en-IN" sz="2600" b="1" dirty="0" smtClean="0">
                <a:latin typeface="Times New Roman" pitchFamily="18" charset="0"/>
                <a:cs typeface="Times New Roman" pitchFamily="18" charset="0"/>
              </a:rPr>
              <a:t>:</a:t>
            </a:r>
            <a:r>
              <a:rPr lang="en-IN" sz="2600" dirty="0" smtClean="0">
                <a:latin typeface="Times New Roman" pitchFamily="18" charset="0"/>
                <a:cs typeface="Times New Roman" pitchFamily="18" charset="0"/>
              </a:rPr>
              <a:t>Oxygen </a:t>
            </a:r>
            <a:r>
              <a:rPr lang="en-IN" sz="2600" dirty="0" smtClean="0">
                <a:latin typeface="Times New Roman" pitchFamily="18" charset="0"/>
                <a:cs typeface="Times New Roman" pitchFamily="18" charset="0"/>
              </a:rPr>
              <a:t>( oxidizer)</a:t>
            </a:r>
            <a:endParaRPr lang="en-US" sz="2600" dirty="0" smtClean="0">
              <a:latin typeface="Times New Roman" pitchFamily="18" charset="0"/>
              <a:cs typeface="Times New Roman" pitchFamily="18" charset="0"/>
            </a:endParaRPr>
          </a:p>
          <a:p>
            <a:r>
              <a:rPr lang="en-IN" sz="2600" b="1" dirty="0" smtClean="0">
                <a:latin typeface="Times New Roman" pitchFamily="18" charset="0"/>
                <a:cs typeface="Times New Roman" pitchFamily="18" charset="0"/>
              </a:rPr>
              <a:t>Electrolyte </a:t>
            </a:r>
            <a:r>
              <a:rPr lang="en-IN" sz="2600" b="1" dirty="0" smtClean="0">
                <a:latin typeface="Times New Roman" pitchFamily="18" charset="0"/>
                <a:cs typeface="Times New Roman" pitchFamily="18" charset="0"/>
              </a:rPr>
              <a:t>:</a:t>
            </a:r>
            <a:r>
              <a:rPr lang="en-IN" sz="2600" dirty="0" smtClean="0">
                <a:latin typeface="Times New Roman" pitchFamily="18" charset="0"/>
                <a:cs typeface="Times New Roman" pitchFamily="18" charset="0"/>
              </a:rPr>
              <a:t>25</a:t>
            </a:r>
            <a:r>
              <a:rPr lang="en-IN" sz="2600" dirty="0" smtClean="0">
                <a:latin typeface="Times New Roman" pitchFamily="18" charset="0"/>
                <a:cs typeface="Times New Roman" pitchFamily="18" charset="0"/>
              </a:rPr>
              <a:t>% KOH or </a:t>
            </a:r>
            <a:r>
              <a:rPr lang="en-IN" sz="2600" dirty="0" err="1" smtClean="0">
                <a:latin typeface="Times New Roman" pitchFamily="18" charset="0"/>
                <a:cs typeface="Times New Roman" pitchFamily="18" charset="0"/>
              </a:rPr>
              <a:t>NaOH</a:t>
            </a:r>
            <a:endParaRPr lang="en-US" sz="2600" dirty="0" smtClean="0">
              <a:latin typeface="Times New Roman" pitchFamily="18" charset="0"/>
              <a:cs typeface="Times New Roman" pitchFamily="18" charset="0"/>
            </a:endParaRP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US" sz="2400" b="1" dirty="0" smtClean="0">
                <a:latin typeface="Times New Roman" pitchFamily="18" charset="0"/>
                <a:cs typeface="Times New Roman" pitchFamily="18" charset="0"/>
              </a:rPr>
              <a:t>Working  </a:t>
            </a: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At Anode:</a:t>
            </a:r>
            <a:endParaRPr lang="en-US" sz="2400" dirty="0" smtClean="0">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The hydrogen gas is bubbled through the anode compartment</a:t>
            </a:r>
          </a:p>
          <a:p>
            <a:pPr lvl="0"/>
            <a:r>
              <a:rPr lang="en-US" sz="2400" dirty="0" smtClean="0">
                <a:latin typeface="Times New Roman" pitchFamily="18" charset="0"/>
                <a:cs typeface="Times New Roman" pitchFamily="18" charset="0"/>
              </a:rPr>
              <a:t>It undergoes oxidation by liberation of electrons and combines with OH</a:t>
            </a:r>
            <a:r>
              <a:rPr lang="en-US" sz="2400" baseline="30000"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to form H</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O</a:t>
            </a:r>
          </a:p>
          <a:p>
            <a:pPr lvl="0"/>
            <a:endParaRPr lang="en-US" sz="2400" dirty="0" smtClean="0">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Cell </a:t>
            </a:r>
            <a:r>
              <a:rPr lang="en-US" sz="2400" dirty="0" smtClean="0">
                <a:latin typeface="Times New Roman" pitchFamily="18" charset="0"/>
                <a:cs typeface="Times New Roman" pitchFamily="18" charset="0"/>
              </a:rPr>
              <a:t>reaction:  2H</a:t>
            </a:r>
            <a:r>
              <a:rPr lang="en-US" sz="2400" baseline="-25000" dirty="0" smtClean="0">
                <a:latin typeface="Times New Roman" pitchFamily="18" charset="0"/>
                <a:cs typeface="Times New Roman" pitchFamily="18" charset="0"/>
              </a:rPr>
              <a:t>2 </a:t>
            </a:r>
            <a:r>
              <a:rPr lang="en-US" sz="2400" dirty="0" smtClean="0">
                <a:latin typeface="Times New Roman" pitchFamily="18" charset="0"/>
                <a:cs typeface="Times New Roman" pitchFamily="18" charset="0"/>
              </a:rPr>
              <a:t>+ 4OH</a:t>
            </a:r>
            <a:r>
              <a:rPr lang="en-US" sz="2400" baseline="300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4H</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O + 4e</a:t>
            </a:r>
            <a:r>
              <a:rPr lang="en-US" sz="2400" baseline="30000" dirty="0" smtClean="0">
                <a:latin typeface="Times New Roman" pitchFamily="18" charset="0"/>
                <a:cs typeface="Times New Roman" pitchFamily="18" charset="0"/>
              </a:rPr>
              <a:t>-</a:t>
            </a:r>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At Cathode:</a:t>
            </a:r>
            <a:endParaRPr lang="en-US" sz="2400" dirty="0" smtClean="0">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The oxygen is bubbled through the cathode compartment.</a:t>
            </a:r>
          </a:p>
          <a:p>
            <a:pPr lvl="0"/>
            <a:r>
              <a:rPr lang="en-US" sz="2400" dirty="0" smtClean="0">
                <a:latin typeface="Times New Roman" pitchFamily="18" charset="0"/>
                <a:cs typeface="Times New Roman" pitchFamily="18" charset="0"/>
              </a:rPr>
              <a:t>The electron produced at the anode pass through the external wire to the cathode where it is absorbed by O</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 and H</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O to produce OH</a:t>
            </a:r>
            <a:r>
              <a:rPr lang="en-US" sz="2400" baseline="300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ions.</a:t>
            </a:r>
          </a:p>
          <a:p>
            <a:pPr lvl="0"/>
            <a:endParaRPr lang="en-US" sz="2400" dirty="0" smtClean="0">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Cell </a:t>
            </a:r>
            <a:r>
              <a:rPr lang="en-US" sz="2400" dirty="0" smtClean="0">
                <a:latin typeface="Times New Roman" pitchFamily="18" charset="0"/>
                <a:cs typeface="Times New Roman" pitchFamily="18" charset="0"/>
              </a:rPr>
              <a:t>reaction: O</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 + 2H</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O + 4e</a:t>
            </a:r>
            <a:r>
              <a:rPr lang="en-US" sz="2400" baseline="300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4OH</a:t>
            </a:r>
            <a:r>
              <a:rPr lang="en-US" sz="2400" baseline="30000" dirty="0" smtClean="0">
                <a:latin typeface="Times New Roman" pitchFamily="18" charset="0"/>
                <a:cs typeface="Times New Roman" pitchFamily="18" charset="0"/>
              </a:rPr>
              <a:t>-</a:t>
            </a:r>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cxnSp>
        <p:nvCxnSpPr>
          <p:cNvPr id="5" name="Straight Arrow Connector 4"/>
          <p:cNvCxnSpPr/>
          <p:nvPr/>
        </p:nvCxnSpPr>
        <p:spPr>
          <a:xfrm>
            <a:off x="3886200" y="2286000"/>
            <a:ext cx="1447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343400" y="4724400"/>
            <a:ext cx="1524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8991600" cy="6007291"/>
          </a:xfrm>
        </p:spPr>
        <p:txBody>
          <a:bodyPr/>
          <a:lstStyle/>
          <a:p>
            <a:r>
              <a:rPr lang="en-IN" sz="2400" b="1" dirty="0" smtClean="0">
                <a:latin typeface="Times New Roman" pitchFamily="18" charset="0"/>
                <a:cs typeface="Times New Roman" pitchFamily="18" charset="0"/>
              </a:rPr>
              <a:t>Over all cell reactions</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At Anode:   2H</a:t>
            </a:r>
            <a:r>
              <a:rPr lang="en-US" sz="2400" baseline="-25000" dirty="0" smtClean="0">
                <a:latin typeface="Times New Roman" pitchFamily="18" charset="0"/>
                <a:cs typeface="Times New Roman" pitchFamily="18" charset="0"/>
              </a:rPr>
              <a:t>2 </a:t>
            </a:r>
            <a:r>
              <a:rPr lang="en-US" sz="2400" dirty="0" smtClean="0">
                <a:latin typeface="Times New Roman" pitchFamily="18" charset="0"/>
                <a:cs typeface="Times New Roman" pitchFamily="18" charset="0"/>
              </a:rPr>
              <a:t>+ 4OH</a:t>
            </a:r>
            <a:r>
              <a:rPr lang="en-US" sz="2400" baseline="300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4H</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O + 4e</a:t>
            </a:r>
            <a:r>
              <a:rPr lang="en-US" sz="2400" baseline="30000" dirty="0" smtClean="0">
                <a:latin typeface="Times New Roman" pitchFamily="18" charset="0"/>
                <a:cs typeface="Times New Roman" pitchFamily="18" charset="0"/>
              </a:rPr>
              <a:t>-</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At Cathode: O</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 + 2H</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O + 4e</a:t>
            </a:r>
            <a:r>
              <a:rPr lang="en-US" sz="2400" baseline="300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4OH</a:t>
            </a:r>
            <a:r>
              <a:rPr lang="en-US" sz="2400" baseline="30000" dirty="0" smtClean="0">
                <a:latin typeface="Times New Roman" pitchFamily="18" charset="0"/>
                <a:cs typeface="Times New Roman" pitchFamily="18" charset="0"/>
              </a:rPr>
              <a:t>-</a:t>
            </a:r>
            <a:endParaRPr lang="en-US" sz="2400" dirty="0" smtClean="0">
              <a:latin typeface="Times New Roman" pitchFamily="18" charset="0"/>
              <a:cs typeface="Times New Roman" pitchFamily="18" charset="0"/>
            </a:endParaRPr>
          </a:p>
          <a:p>
            <a:r>
              <a:rPr lang="en-US" dirty="0" smtClean="0"/>
              <a:t>                                       </a:t>
            </a:r>
          </a:p>
          <a:p>
            <a:r>
              <a:rPr lang="en-US" dirty="0" smtClean="0"/>
              <a:t> </a:t>
            </a:r>
            <a:r>
              <a:rPr lang="en-US" dirty="0" smtClean="0"/>
              <a:t>                                                   </a:t>
            </a:r>
            <a:r>
              <a:rPr lang="en-US" sz="2800" dirty="0" smtClean="0">
                <a:solidFill>
                  <a:srgbClr val="000000"/>
                </a:solidFill>
                <a:latin typeface="Times New Roman" pitchFamily="18" charset="0"/>
                <a:ea typeface="Calibri" pitchFamily="34" charset="0"/>
                <a:cs typeface="Times New Roman" pitchFamily="18" charset="0"/>
              </a:rPr>
              <a:t>2H</a:t>
            </a:r>
            <a:r>
              <a:rPr lang="en-US" sz="2800" baseline="-30000" dirty="0" smtClean="0">
                <a:solidFill>
                  <a:srgbClr val="000000"/>
                </a:solidFill>
                <a:latin typeface="Times New Roman" pitchFamily="18" charset="0"/>
                <a:ea typeface="Calibri" pitchFamily="34" charset="0"/>
                <a:cs typeface="Times New Roman" pitchFamily="18" charset="0"/>
              </a:rPr>
              <a:t>2</a:t>
            </a:r>
            <a:r>
              <a:rPr lang="en-US" sz="2800" dirty="0" smtClean="0">
                <a:solidFill>
                  <a:srgbClr val="000000"/>
                </a:solidFill>
                <a:latin typeface="Times New Roman" pitchFamily="18" charset="0"/>
                <a:ea typeface="Calibri" pitchFamily="34" charset="0"/>
                <a:cs typeface="Times New Roman" pitchFamily="18" charset="0"/>
              </a:rPr>
              <a:t>O</a:t>
            </a:r>
            <a:endParaRPr lang="en-US" dirty="0"/>
          </a:p>
        </p:txBody>
      </p:sp>
      <p:cxnSp>
        <p:nvCxnSpPr>
          <p:cNvPr id="5" name="Straight Arrow Connector 4"/>
          <p:cNvCxnSpPr/>
          <p:nvPr/>
        </p:nvCxnSpPr>
        <p:spPr>
          <a:xfrm>
            <a:off x="3505200" y="685800"/>
            <a:ext cx="1905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114800" y="1143000"/>
            <a:ext cx="17526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685800" y="1371600"/>
            <a:ext cx="6324600" cy="76200"/>
          </a:xfrm>
          <a:prstGeom prst="line">
            <a:avLst/>
          </a:prstGeom>
        </p:spPr>
        <p:style>
          <a:lnRef idx="1">
            <a:schemeClr val="accent1"/>
          </a:lnRef>
          <a:fillRef idx="0">
            <a:schemeClr val="accent1"/>
          </a:fillRef>
          <a:effectRef idx="0">
            <a:schemeClr val="accent1"/>
          </a:effectRef>
          <a:fontRef idx="minor">
            <a:schemeClr val="tx1"/>
          </a:fontRef>
        </p:style>
      </p:cxnSp>
      <p:sp>
        <p:nvSpPr>
          <p:cNvPr id="3993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9939" name="Rectangle 3"/>
          <p:cNvSpPr>
            <a:spLocks noChangeArrowheads="1"/>
          </p:cNvSpPr>
          <p:nvPr/>
        </p:nvSpPr>
        <p:spPr bwMode="auto">
          <a:xfrm>
            <a:off x="1371600" y="1784866"/>
            <a:ext cx="57912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Overallcellreaction:2H</a:t>
            </a:r>
            <a:r>
              <a:rPr kumimoji="0" lang="en-US" sz="2400" b="0" i="0" u="none" strike="noStrike" cap="none" normalizeH="0" baseline="-30000" dirty="0" smtClean="0">
                <a:ln>
                  <a:noFill/>
                </a:ln>
                <a:solidFill>
                  <a:srgbClr val="000000"/>
                </a:solidFill>
                <a:effectLst/>
                <a:latin typeface="Times New Roman" pitchFamily="18" charset="0"/>
                <a:ea typeface="Calibri" pitchFamily="34" charset="0"/>
                <a:cs typeface="Times New Roman" pitchFamily="18" charset="0"/>
              </a:rPr>
              <a:t>2</a:t>
            </a:r>
            <a:r>
              <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+O</a:t>
            </a:r>
            <a:r>
              <a:rPr kumimoji="0" lang="en-US" sz="2400" b="0" i="0" u="none" strike="noStrike" cap="none" normalizeH="0" baseline="-30000" dirty="0" smtClean="0">
                <a:ln>
                  <a:noFill/>
                </a:ln>
                <a:solidFill>
                  <a:srgbClr val="000000"/>
                </a:solidFill>
                <a:effectLst/>
                <a:latin typeface="Times New Roman" pitchFamily="18" charset="0"/>
                <a:ea typeface="Calibri" pitchFamily="34" charset="0"/>
                <a:cs typeface="Times New Roman" pitchFamily="18" charset="0"/>
              </a:rPr>
              <a:t>2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cxnSp>
        <p:nvCxnSpPr>
          <p:cNvPr id="14" name="Straight Arrow Connector 13"/>
          <p:cNvCxnSpPr/>
          <p:nvPr/>
        </p:nvCxnSpPr>
        <p:spPr>
          <a:xfrm>
            <a:off x="4953000" y="1905000"/>
            <a:ext cx="838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57200" y="2514600"/>
            <a:ext cx="6705600" cy="0"/>
          </a:xfrm>
          <a:prstGeom prst="line">
            <a:avLst/>
          </a:prstGeom>
        </p:spPr>
        <p:style>
          <a:lnRef idx="1">
            <a:schemeClr val="accent1"/>
          </a:lnRef>
          <a:fillRef idx="0">
            <a:schemeClr val="accent1"/>
          </a:fillRef>
          <a:effectRef idx="0">
            <a:schemeClr val="accent1"/>
          </a:effectRef>
          <a:fontRef idx="minor">
            <a:schemeClr val="tx1"/>
          </a:fontRef>
        </p:style>
      </p:cxnSp>
      <p:sp>
        <p:nvSpPr>
          <p:cNvPr id="39940" name="Rectangle 4"/>
          <p:cNvSpPr>
            <a:spLocks noChangeArrowheads="1"/>
          </p:cNvSpPr>
          <p:nvPr/>
        </p:nvSpPr>
        <p:spPr bwMode="auto">
          <a:xfrm>
            <a:off x="0" y="3424875"/>
            <a:ext cx="8305800" cy="73866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The </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standard </a:t>
            </a:r>
            <a:r>
              <a:rPr kumimoji="0" lang="en-US" sz="2400" b="0"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emf</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of the hydrogen-oxygen fuel cell is</a:t>
            </a:r>
            <a:r>
              <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1.23 V</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228600"/>
            <a:ext cx="8991600" cy="6629400"/>
          </a:xfrm>
        </p:spPr>
        <p:txBody>
          <a:bodyPr>
            <a:noAutofit/>
          </a:bodyPr>
          <a:lstStyle/>
          <a:p>
            <a:r>
              <a:rPr lang="en-IN" sz="2400" b="1" dirty="0" smtClean="0">
                <a:solidFill>
                  <a:srgbClr val="C00000"/>
                </a:solidFill>
                <a:latin typeface="Times New Roman" pitchFamily="18" charset="0"/>
                <a:cs typeface="Times New Roman" pitchFamily="18" charset="0"/>
              </a:rPr>
              <a:t>Merits:</a:t>
            </a:r>
            <a:r>
              <a:rPr lang="en-IN" sz="2400" b="1"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dirty="0" err="1" smtClean="0">
                <a:latin typeface="Times New Roman" pitchFamily="18" charset="0"/>
                <a:cs typeface="Times New Roman" pitchFamily="18" charset="0"/>
              </a:rPr>
              <a:t>i</a:t>
            </a:r>
            <a:r>
              <a:rPr lang="en-IN" sz="2400" dirty="0" smtClean="0">
                <a:latin typeface="Times New Roman" pitchFamily="18" charset="0"/>
                <a:cs typeface="Times New Roman" pitchFamily="18" charset="0"/>
              </a:rPr>
              <a:t>. High efficiency (more than 75%)</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ii. No unwanted noise and less maintenance.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iii. No pollution – emits only water vapour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iv. No need to change electrode often.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b="1" dirty="0" smtClean="0">
                <a:solidFill>
                  <a:srgbClr val="C00000"/>
                </a:solidFill>
                <a:latin typeface="Times New Roman" pitchFamily="18" charset="0"/>
                <a:cs typeface="Times New Roman" pitchFamily="18" charset="0"/>
              </a:rPr>
              <a:t>Limitations:</a:t>
            </a:r>
            <a:endParaRPr lang="en-US" sz="2400" dirty="0" smtClean="0">
              <a:solidFill>
                <a:srgbClr val="C00000"/>
              </a:solidFill>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H</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 gas is explosive</a:t>
            </a:r>
          </a:p>
          <a:p>
            <a:pPr lvl="0"/>
            <a:r>
              <a:rPr lang="en-US" sz="2400" dirty="0" smtClean="0">
                <a:latin typeface="Times New Roman" pitchFamily="18" charset="0"/>
                <a:cs typeface="Times New Roman" pitchFamily="18" charset="0"/>
              </a:rPr>
              <a:t>It is very expensive to be carried out</a:t>
            </a:r>
          </a:p>
          <a:p>
            <a:pPr lvl="0"/>
            <a:r>
              <a:rPr lang="en-US" sz="2400" dirty="0" smtClean="0">
                <a:latin typeface="Times New Roman" pitchFamily="18" charset="0"/>
                <a:cs typeface="Times New Roman" pitchFamily="18" charset="0"/>
              </a:rPr>
              <a:t>H</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 is a gas, it is difficult to compress into liquid form</a:t>
            </a:r>
          </a:p>
          <a:p>
            <a:r>
              <a:rPr lang="en-IN" sz="2400" b="1"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IN" sz="2400" b="1" dirty="0" smtClean="0">
                <a:solidFill>
                  <a:srgbClr val="C00000"/>
                </a:solidFill>
                <a:latin typeface="Times New Roman" pitchFamily="18" charset="0"/>
                <a:cs typeface="Times New Roman" pitchFamily="18" charset="0"/>
              </a:rPr>
              <a:t>Uses: </a:t>
            </a:r>
            <a:endParaRPr lang="en-US" sz="2400" dirty="0" smtClean="0">
              <a:solidFill>
                <a:srgbClr val="C00000"/>
              </a:solidFill>
              <a:latin typeface="Times New Roman" pitchFamily="18" charset="0"/>
              <a:cs typeface="Times New Roman" pitchFamily="18" charset="0"/>
            </a:endParaRPr>
          </a:p>
          <a:p>
            <a:r>
              <a:rPr lang="en-IN" sz="2400" dirty="0" err="1" smtClean="0">
                <a:latin typeface="Times New Roman" pitchFamily="18" charset="0"/>
                <a:cs typeface="Times New Roman" pitchFamily="18" charset="0"/>
              </a:rPr>
              <a:t>i</a:t>
            </a:r>
            <a:r>
              <a:rPr lang="en-IN" sz="2400" dirty="0" smtClean="0">
                <a:latin typeface="Times New Roman" pitchFamily="18" charset="0"/>
                <a:cs typeface="Times New Roman" pitchFamily="18" charset="0"/>
              </a:rPr>
              <a:t>. Used in military vehicles and space vehicles.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ii. H</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 O</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fuel cell, the product is water, so no need of fuel because fuel is water.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US" sz="2600" b="1" u="sng" dirty="0" smtClean="0">
                <a:latin typeface="Times New Roman" pitchFamily="18" charset="0"/>
                <a:cs typeface="Times New Roman" pitchFamily="18" charset="0"/>
              </a:rPr>
              <a:t>MICROBIAL FUEL CELLS:</a:t>
            </a:r>
            <a:endParaRPr lang="en-US" sz="2600" dirty="0" smtClean="0">
              <a:latin typeface="Times New Roman" pitchFamily="18" charset="0"/>
              <a:cs typeface="Times New Roman" pitchFamily="18" charset="0"/>
            </a:endParaRPr>
          </a:p>
          <a:p>
            <a:pPr lvl="0"/>
            <a:r>
              <a:rPr lang="en-US" sz="2600" dirty="0" smtClean="0">
                <a:latin typeface="Times New Roman" pitchFamily="18" charset="0"/>
                <a:cs typeface="Times New Roman" pitchFamily="18" charset="0"/>
              </a:rPr>
              <a:t>A microbial fuel cell (MFC) is a device that converts chemical energy to electrical energy by the action of microorganisms.</a:t>
            </a:r>
          </a:p>
          <a:p>
            <a:pPr lvl="0"/>
            <a:r>
              <a:rPr lang="en-US" sz="2600" dirty="0" smtClean="0">
                <a:latin typeface="Times New Roman" pitchFamily="18" charset="0"/>
                <a:cs typeface="Times New Roman" pitchFamily="18" charset="0"/>
              </a:rPr>
              <a:t>These electrochemical cells are constructed using either a </a:t>
            </a:r>
            <a:r>
              <a:rPr lang="en-US" sz="2600" dirty="0" err="1" smtClean="0">
                <a:latin typeface="Times New Roman" pitchFamily="18" charset="0"/>
                <a:cs typeface="Times New Roman" pitchFamily="18" charset="0"/>
              </a:rPr>
              <a:t>bioanode</a:t>
            </a:r>
            <a:r>
              <a:rPr lang="en-US" sz="2600" dirty="0" smtClean="0">
                <a:latin typeface="Times New Roman" pitchFamily="18" charset="0"/>
                <a:cs typeface="Times New Roman" pitchFamily="18" charset="0"/>
              </a:rPr>
              <a:t> and/or a </a:t>
            </a:r>
            <a:r>
              <a:rPr lang="en-US" sz="2600" dirty="0" err="1" smtClean="0">
                <a:latin typeface="Times New Roman" pitchFamily="18" charset="0"/>
                <a:cs typeface="Times New Roman" pitchFamily="18" charset="0"/>
              </a:rPr>
              <a:t>biocathode</a:t>
            </a:r>
            <a:r>
              <a:rPr lang="en-US" sz="2600" dirty="0" smtClean="0">
                <a:latin typeface="Times New Roman" pitchFamily="18" charset="0"/>
                <a:cs typeface="Times New Roman" pitchFamily="18" charset="0"/>
              </a:rPr>
              <a:t> (catalytic reaction of micro organisms)</a:t>
            </a:r>
          </a:p>
          <a:p>
            <a:pPr lvl="0"/>
            <a:r>
              <a:rPr lang="en-US" sz="2600" dirty="0" smtClean="0">
                <a:latin typeface="Times New Roman" pitchFamily="18" charset="0"/>
                <a:cs typeface="Times New Roman" pitchFamily="18" charset="0"/>
              </a:rPr>
              <a:t>Bio-electro chemical system</a:t>
            </a:r>
          </a:p>
          <a:p>
            <a:pPr lvl="0"/>
            <a:r>
              <a:rPr lang="en-US" sz="2600" dirty="0" smtClean="0">
                <a:latin typeface="Times New Roman" pitchFamily="18" charset="0"/>
                <a:cs typeface="Times New Roman" pitchFamily="18" charset="0"/>
              </a:rPr>
              <a:t>Mimics bacterial interaction</a:t>
            </a:r>
          </a:p>
          <a:p>
            <a:pPr lvl="0"/>
            <a:r>
              <a:rPr lang="en-US" sz="2600" dirty="0" smtClean="0">
                <a:latin typeface="Times New Roman" pitchFamily="18" charset="0"/>
                <a:cs typeface="Times New Roman" pitchFamily="18" charset="0"/>
              </a:rPr>
              <a:t>Based on </a:t>
            </a:r>
            <a:r>
              <a:rPr lang="en-US" sz="2600" dirty="0" err="1" smtClean="0">
                <a:latin typeface="Times New Roman" pitchFamily="18" charset="0"/>
                <a:cs typeface="Times New Roman" pitchFamily="18" charset="0"/>
              </a:rPr>
              <a:t>redox</a:t>
            </a:r>
            <a:r>
              <a:rPr lang="en-US" sz="2600" dirty="0" smtClean="0">
                <a:latin typeface="Times New Roman" pitchFamily="18" charset="0"/>
                <a:cs typeface="Times New Roman" pitchFamily="18" charset="0"/>
              </a:rPr>
              <a:t> reaction</a:t>
            </a:r>
          </a:p>
          <a:p>
            <a:pPr lvl="0"/>
            <a:r>
              <a:rPr lang="en-US" sz="2600" dirty="0" smtClean="0">
                <a:latin typeface="Times New Roman" pitchFamily="18" charset="0"/>
                <a:cs typeface="Times New Roman" pitchFamily="18" charset="0"/>
              </a:rPr>
              <a:t>Harness the natural metabolism of microbes to produce electricity</a:t>
            </a:r>
          </a:p>
          <a:p>
            <a:pPr lvl="0"/>
            <a:r>
              <a:rPr lang="en-US" sz="2600" dirty="0" smtClean="0">
                <a:latin typeface="Times New Roman" pitchFamily="18" charset="0"/>
                <a:cs typeface="Times New Roman" pitchFamily="18" charset="0"/>
              </a:rPr>
              <a:t>Bacteria covert substance into electrons</a:t>
            </a:r>
          </a:p>
          <a:p>
            <a:pPr lvl="0"/>
            <a:r>
              <a:rPr lang="en-US" sz="2600" dirty="0" smtClean="0">
                <a:latin typeface="Times New Roman" pitchFamily="18" charset="0"/>
                <a:cs typeface="Times New Roman" pitchFamily="18" charset="0"/>
              </a:rPr>
              <a:t>Electrons run through the circuit to generate power</a:t>
            </a:r>
          </a:p>
          <a:p>
            <a:r>
              <a:rPr lang="en-US" sz="2600" dirty="0" smtClean="0">
                <a:latin typeface="Times New Roman" pitchFamily="18" charset="0"/>
                <a:cs typeface="Times New Roman" pitchFamily="18" charset="0"/>
              </a:rPr>
              <a:t> </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cstate="print"/>
          <a:srcRect/>
          <a:stretch>
            <a:fillRect/>
          </a:stretch>
        </p:blipFill>
        <p:spPr bwMode="auto">
          <a:xfrm>
            <a:off x="381000" y="685800"/>
            <a:ext cx="8229600" cy="5714999"/>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Autofit/>
          </a:bodyPr>
          <a:lstStyle/>
          <a:p>
            <a:r>
              <a:rPr lang="en-US" sz="2400" b="1" dirty="0" smtClean="0">
                <a:solidFill>
                  <a:srgbClr val="C00000"/>
                </a:solidFill>
                <a:latin typeface="Times New Roman" pitchFamily="18" charset="0"/>
                <a:cs typeface="Times New Roman" pitchFamily="18" charset="0"/>
              </a:rPr>
              <a:t>Components</a:t>
            </a:r>
            <a:endParaRPr lang="en-US" sz="2400" dirty="0" smtClean="0">
              <a:solidFill>
                <a:srgbClr val="C00000"/>
              </a:solidFill>
              <a:latin typeface="Times New Roman" pitchFamily="18" charset="0"/>
              <a:cs typeface="Times New Roman" pitchFamily="18" charset="0"/>
            </a:endParaRPr>
          </a:p>
          <a:p>
            <a:r>
              <a:rPr lang="en-US" sz="2400" dirty="0" smtClean="0">
                <a:latin typeface="Times New Roman" pitchFamily="18" charset="0"/>
                <a:cs typeface="Times New Roman" pitchFamily="18" charset="0"/>
              </a:rPr>
              <a:t>Anode</a:t>
            </a:r>
          </a:p>
          <a:p>
            <a:r>
              <a:rPr lang="en-US" sz="2400" dirty="0" smtClean="0">
                <a:latin typeface="Times New Roman" pitchFamily="18" charset="0"/>
                <a:cs typeface="Times New Roman" pitchFamily="18" charset="0"/>
              </a:rPr>
              <a:t>Cathode</a:t>
            </a:r>
          </a:p>
          <a:p>
            <a:r>
              <a:rPr lang="en-US" sz="2400" dirty="0" smtClean="0">
                <a:latin typeface="Times New Roman" pitchFamily="18" charset="0"/>
                <a:cs typeface="Times New Roman" pitchFamily="18" charset="0"/>
              </a:rPr>
              <a:t>Exchange membrane</a:t>
            </a:r>
          </a:p>
          <a:p>
            <a:r>
              <a:rPr lang="en-US" sz="2400" dirty="0" smtClean="0">
                <a:latin typeface="Times New Roman" pitchFamily="18" charset="0"/>
                <a:cs typeface="Times New Roman" pitchFamily="18" charset="0"/>
              </a:rPr>
              <a:t>Substrate</a:t>
            </a:r>
          </a:p>
          <a:p>
            <a:r>
              <a:rPr lang="en-US" sz="2400" dirty="0" smtClean="0">
                <a:latin typeface="Times New Roman" pitchFamily="18" charset="0"/>
                <a:cs typeface="Times New Roman" pitchFamily="18" charset="0"/>
              </a:rPr>
              <a:t>Electrical circuit</a:t>
            </a:r>
          </a:p>
          <a:p>
            <a:r>
              <a:rPr lang="en-US" sz="2400" dirty="0" smtClean="0">
                <a:latin typeface="Times New Roman" pitchFamily="18" charset="0"/>
                <a:cs typeface="Times New Roman" pitchFamily="18" charset="0"/>
              </a:rPr>
              <a:t>Microbes</a:t>
            </a:r>
          </a:p>
          <a:p>
            <a:pPr lvl="0"/>
            <a:r>
              <a:rPr lang="en-IN" sz="2400" dirty="0" smtClean="0">
                <a:latin typeface="Times New Roman" pitchFamily="18" charset="0"/>
                <a:cs typeface="Times New Roman" pitchFamily="18" charset="0"/>
              </a:rPr>
              <a:t>The electrons from the cathode combine with dissolved oxygen and the H+ ions to form pure H</a:t>
            </a:r>
            <a:r>
              <a:rPr lang="en-IN" sz="2400" baseline="-25000"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O.</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The H+ ions flow through the semi-permeable membrane to the cathode. This process is driven by the electro-chemical gradient resulting from the high concentration of H</a:t>
            </a:r>
            <a:r>
              <a:rPr lang="en-IN" sz="2400" baseline="300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 ions near the anode.</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The electrons flow up from the anode, through a wire, and onto the cathode. While flowing through the wire, an electrical current is generated that can be used to perform work.</a:t>
            </a:r>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52400"/>
            <a:ext cx="8686800" cy="6705600"/>
          </a:xfrm>
        </p:spPr>
        <p:txBody>
          <a:bodyPr>
            <a:normAutofit/>
          </a:bodyPr>
          <a:lstStyle/>
          <a:p>
            <a:pPr lvl="0"/>
            <a:r>
              <a:rPr lang="en-IN" sz="2400" dirty="0" smtClean="0">
                <a:latin typeface="Times New Roman" pitchFamily="18" charset="0"/>
                <a:cs typeface="Times New Roman" pitchFamily="18" charset="0"/>
              </a:rPr>
              <a:t>The electrons flow from the bacteria to the anode, sometimes assisted by a mediator molecule.</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When microorganisms consume a substance such as sugar in aerobic conditions, they produce carbon dioxide and water. However, when oxygen is not present, they produce carbon dioxide, </a:t>
            </a:r>
            <a:r>
              <a:rPr lang="en-IN" sz="2400" dirty="0" err="1" smtClean="0">
                <a:latin typeface="Times New Roman" pitchFamily="18" charset="0"/>
                <a:cs typeface="Times New Roman" pitchFamily="18" charset="0"/>
              </a:rPr>
              <a:t>hydrons</a:t>
            </a:r>
            <a:r>
              <a:rPr lang="en-IN" sz="2400" dirty="0" smtClean="0">
                <a:latin typeface="Times New Roman" pitchFamily="18" charset="0"/>
                <a:cs typeface="Times New Roman" pitchFamily="18" charset="0"/>
              </a:rPr>
              <a:t> (hydrogen ions), and electrons, as described </a:t>
            </a:r>
            <a:r>
              <a:rPr lang="en-IN" sz="2400" dirty="0" smtClean="0">
                <a:latin typeface="Times New Roman" pitchFamily="18" charset="0"/>
                <a:cs typeface="Times New Roman" pitchFamily="18" charset="0"/>
              </a:rPr>
              <a:t>below</a:t>
            </a:r>
          </a:p>
          <a:p>
            <a:r>
              <a:rPr lang="en-US" sz="2400" b="1" dirty="0" smtClean="0">
                <a:latin typeface="Times New Roman" pitchFamily="18" charset="0"/>
                <a:cs typeface="Times New Roman" pitchFamily="18" charset="0"/>
              </a:rPr>
              <a:t>C</a:t>
            </a:r>
            <a:r>
              <a:rPr lang="en-US" sz="2400" b="1" baseline="-25000" dirty="0" smtClean="0">
                <a:latin typeface="Times New Roman" pitchFamily="18" charset="0"/>
                <a:cs typeface="Times New Roman" pitchFamily="18" charset="0"/>
              </a:rPr>
              <a:t>12</a:t>
            </a:r>
            <a:r>
              <a:rPr lang="en-US" sz="2400" b="1" dirty="0" smtClean="0">
                <a:latin typeface="Times New Roman" pitchFamily="18" charset="0"/>
                <a:cs typeface="Times New Roman" pitchFamily="18" charset="0"/>
              </a:rPr>
              <a:t>H</a:t>
            </a:r>
            <a:r>
              <a:rPr lang="en-US" sz="2400" b="1" baseline="-25000" dirty="0" smtClean="0">
                <a:latin typeface="Times New Roman" pitchFamily="18" charset="0"/>
                <a:cs typeface="Times New Roman" pitchFamily="18" charset="0"/>
              </a:rPr>
              <a:t>22</a:t>
            </a:r>
            <a:r>
              <a:rPr lang="en-US" sz="2400" b="1" dirty="0" smtClean="0">
                <a:latin typeface="Times New Roman" pitchFamily="18" charset="0"/>
                <a:cs typeface="Times New Roman" pitchFamily="18" charset="0"/>
              </a:rPr>
              <a:t>O</a:t>
            </a:r>
            <a:r>
              <a:rPr lang="en-US" sz="2400" b="1" baseline="-25000" dirty="0" smtClean="0">
                <a:latin typeface="Times New Roman" pitchFamily="18" charset="0"/>
                <a:cs typeface="Times New Roman" pitchFamily="18" charset="0"/>
              </a:rPr>
              <a:t>11</a:t>
            </a:r>
            <a:r>
              <a:rPr lang="en-US" sz="2400" b="1" dirty="0" smtClean="0">
                <a:latin typeface="Times New Roman" pitchFamily="18" charset="0"/>
                <a:cs typeface="Times New Roman" pitchFamily="18" charset="0"/>
              </a:rPr>
              <a:t> + 13H</a:t>
            </a:r>
            <a:r>
              <a:rPr lang="en-US" sz="2400" b="1" baseline="-25000" dirty="0" smtClean="0">
                <a:latin typeface="Times New Roman" pitchFamily="18" charset="0"/>
                <a:cs typeface="Times New Roman" pitchFamily="18" charset="0"/>
              </a:rPr>
              <a:t>2</a:t>
            </a:r>
            <a:r>
              <a:rPr lang="en-US" sz="2400" b="1" dirty="0" smtClean="0">
                <a:latin typeface="Times New Roman" pitchFamily="18" charset="0"/>
                <a:cs typeface="Times New Roman" pitchFamily="18" charset="0"/>
              </a:rPr>
              <a:t>O → 12CO</a:t>
            </a:r>
            <a:r>
              <a:rPr lang="en-US" sz="2400" b="1" baseline="-25000" dirty="0" smtClean="0">
                <a:latin typeface="Times New Roman" pitchFamily="18" charset="0"/>
                <a:cs typeface="Times New Roman" pitchFamily="18" charset="0"/>
              </a:rPr>
              <a:t>2</a:t>
            </a:r>
            <a:r>
              <a:rPr lang="en-US" sz="2400" b="1" dirty="0" smtClean="0">
                <a:latin typeface="Times New Roman" pitchFamily="18" charset="0"/>
                <a:cs typeface="Times New Roman" pitchFamily="18" charset="0"/>
              </a:rPr>
              <a:t> + 48H</a:t>
            </a:r>
            <a:r>
              <a:rPr lang="en-US" sz="2400" b="1" baseline="30000" dirty="0" smtClean="0">
                <a:latin typeface="Times New Roman" pitchFamily="18" charset="0"/>
                <a:cs typeface="Times New Roman" pitchFamily="18" charset="0"/>
              </a:rPr>
              <a:t>+</a:t>
            </a:r>
            <a:r>
              <a:rPr lang="en-US" sz="2400" b="1" dirty="0" smtClean="0">
                <a:latin typeface="Times New Roman" pitchFamily="18" charset="0"/>
                <a:cs typeface="Times New Roman" pitchFamily="18" charset="0"/>
              </a:rPr>
              <a:t> + 48e</a:t>
            </a:r>
            <a:r>
              <a:rPr lang="en-US" sz="2400" b="1" baseline="30000" dirty="0" smtClean="0">
                <a:latin typeface="Times New Roman" pitchFamily="18" charset="0"/>
                <a:cs typeface="Times New Roman" pitchFamily="18" charset="0"/>
              </a:rPr>
              <a:t>−</a:t>
            </a:r>
            <a:endParaRPr lang="en-US" sz="2400" dirty="0" smtClean="0">
              <a:latin typeface="Times New Roman" pitchFamily="18" charset="0"/>
              <a:cs typeface="Times New Roman" pitchFamily="18" charset="0"/>
            </a:endParaRPr>
          </a:p>
          <a:p>
            <a:pPr lvl="0"/>
            <a:endParaRPr lang="en-US" sz="2400" dirty="0" smtClean="0">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Microbial fuel cells use inorganic mediators to tap into the electron transport chain of cells and channel electrons produced.</a:t>
            </a:r>
          </a:p>
          <a:p>
            <a:pPr lvl="0"/>
            <a:r>
              <a:rPr lang="en-US" sz="2400" dirty="0" smtClean="0">
                <a:latin typeface="Times New Roman" pitchFamily="18" charset="0"/>
                <a:cs typeface="Times New Roman" pitchFamily="18" charset="0"/>
              </a:rPr>
              <a:t>Potential mediators include natural red, </a:t>
            </a:r>
            <a:r>
              <a:rPr lang="en-US" sz="2400" dirty="0" err="1" smtClean="0">
                <a:latin typeface="Times New Roman" pitchFamily="18" charset="0"/>
                <a:cs typeface="Times New Roman" pitchFamily="18" charset="0"/>
              </a:rPr>
              <a:t>methylene</a:t>
            </a:r>
            <a:r>
              <a:rPr lang="en-US" sz="2400" dirty="0" smtClean="0">
                <a:latin typeface="Times New Roman" pitchFamily="18" charset="0"/>
                <a:cs typeface="Times New Roman" pitchFamily="18" charset="0"/>
              </a:rPr>
              <a:t> blue, </a:t>
            </a:r>
            <a:r>
              <a:rPr lang="en-US" sz="2400" dirty="0" err="1" smtClean="0">
                <a:latin typeface="Times New Roman" pitchFamily="18" charset="0"/>
                <a:cs typeface="Times New Roman" pitchFamily="18" charset="0"/>
              </a:rPr>
              <a:t>thionine</a:t>
            </a:r>
            <a:r>
              <a:rPr lang="en-US" sz="2400" dirty="0" smtClean="0">
                <a:latin typeface="Times New Roman" pitchFamily="18" charset="0"/>
                <a:cs typeface="Times New Roman" pitchFamily="18" charset="0"/>
              </a:rPr>
              <a:t>, and </a:t>
            </a:r>
            <a:r>
              <a:rPr lang="en-US" sz="2400" dirty="0" err="1" smtClean="0">
                <a:latin typeface="Times New Roman" pitchFamily="18" charset="0"/>
                <a:cs typeface="Times New Roman" pitchFamily="18" charset="0"/>
              </a:rPr>
              <a:t>resorufin</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Organisms capable of producing an electric current are termed </a:t>
            </a:r>
            <a:r>
              <a:rPr lang="en-US" sz="2400" dirty="0" err="1" smtClean="0">
                <a:latin typeface="Times New Roman" pitchFamily="18" charset="0"/>
                <a:cs typeface="Times New Roman" pitchFamily="18" charset="0"/>
              </a:rPr>
              <a:t>exoelectrogens</a:t>
            </a:r>
            <a:r>
              <a:rPr lang="en-US" sz="2400" dirty="0" smtClean="0">
                <a:latin typeface="Times New Roman" pitchFamily="18" charset="0"/>
                <a:cs typeface="Times New Roman" pitchFamily="18" charset="0"/>
              </a:rPr>
              <a:t>. In order to turn this current into usable electricity, </a:t>
            </a:r>
            <a:r>
              <a:rPr lang="en-US" sz="2400" dirty="0" err="1" smtClean="0">
                <a:latin typeface="Times New Roman" pitchFamily="18" charset="0"/>
                <a:cs typeface="Times New Roman" pitchFamily="18" charset="0"/>
              </a:rPr>
              <a:t>exoelectrogens</a:t>
            </a:r>
            <a:r>
              <a:rPr lang="en-US" sz="2400" dirty="0" smtClean="0">
                <a:latin typeface="Times New Roman" pitchFamily="18" charset="0"/>
                <a:cs typeface="Times New Roman" pitchFamily="18" charset="0"/>
              </a:rPr>
              <a:t> have to be accommodated in a fuel cell</a:t>
            </a:r>
            <a:endParaRPr lang="en-US" sz="2400" dirty="0">
              <a:latin typeface="Times New Roman" pitchFamily="18" charset="0"/>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52400"/>
            <a:ext cx="9144000" cy="6705600"/>
          </a:xfrm>
        </p:spPr>
        <p:txBody>
          <a:bodyPr/>
          <a:lstStyle/>
          <a:p>
            <a:r>
              <a:rPr lang="en-IN" sz="2400" b="1" dirty="0" smtClean="0">
                <a:solidFill>
                  <a:srgbClr val="C00000"/>
                </a:solidFill>
                <a:latin typeface="Times New Roman" pitchFamily="18" charset="0"/>
                <a:cs typeface="Times New Roman" pitchFamily="18" charset="0"/>
              </a:rPr>
              <a:t>Applications:</a:t>
            </a:r>
            <a:endParaRPr lang="en-US" sz="2400" dirty="0" smtClean="0">
              <a:solidFill>
                <a:srgbClr val="C00000"/>
              </a:solidFill>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Used in Waste water treatment</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Power generation</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Bio-Sensors</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 </a:t>
            </a:r>
            <a:r>
              <a:rPr lang="en-IN" sz="2400" b="1" dirty="0" smtClean="0">
                <a:solidFill>
                  <a:srgbClr val="C00000"/>
                </a:solidFill>
                <a:latin typeface="Times New Roman" pitchFamily="18" charset="0"/>
                <a:cs typeface="Times New Roman" pitchFamily="18" charset="0"/>
              </a:rPr>
              <a:t>Advantages of MFC</a:t>
            </a:r>
            <a:endParaRPr lang="en-US" sz="2400" dirty="0" smtClean="0">
              <a:solidFill>
                <a:srgbClr val="C00000"/>
              </a:solidFill>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Generation of energy out of bio waste / organic matter</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Direct conversion of substrate energy to electricity</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Omission of gas treatment</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Aeration</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Bioremediation of toxic compounds</a:t>
            </a:r>
            <a:endParaRPr lang="en-US" sz="2400" dirty="0" smtClean="0">
              <a:latin typeface="Times New Roman" pitchFamily="18" charset="0"/>
              <a:cs typeface="Times New Roman" pitchFamily="18" charset="0"/>
            </a:endParaRPr>
          </a:p>
          <a:p>
            <a:r>
              <a:rPr lang="en-IN" sz="2400" b="1" dirty="0" smtClean="0">
                <a:solidFill>
                  <a:srgbClr val="C00000"/>
                </a:solidFill>
                <a:latin typeface="Times New Roman" pitchFamily="18" charset="0"/>
                <a:cs typeface="Times New Roman" pitchFamily="18" charset="0"/>
              </a:rPr>
              <a:t>Limitations of MFC</a:t>
            </a:r>
            <a:endParaRPr lang="en-US" sz="2400" dirty="0" smtClean="0">
              <a:solidFill>
                <a:srgbClr val="C00000"/>
              </a:solidFill>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Low power density</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High initial cost</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Activation losses</a:t>
            </a:r>
            <a:endParaRPr lang="en-US" sz="2400" dirty="0" smtClean="0">
              <a:latin typeface="Times New Roman" pitchFamily="18" charset="0"/>
              <a:cs typeface="Times New Roman" pitchFamily="18" charset="0"/>
            </a:endParaRPr>
          </a:p>
          <a:p>
            <a:pPr lvl="0"/>
            <a:r>
              <a:rPr lang="en-IN" sz="2400" dirty="0" smtClean="0">
                <a:latin typeface="Times New Roman" pitchFamily="18" charset="0"/>
                <a:cs typeface="Times New Roman" pitchFamily="18" charset="0"/>
              </a:rPr>
              <a:t>Bacterial metabolic losses</a:t>
            </a:r>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r>
              <a:rPr lang="en-US" sz="2400" b="1" u="sng" dirty="0" smtClean="0">
                <a:solidFill>
                  <a:srgbClr val="C00000"/>
                </a:solidFill>
                <a:latin typeface="Times New Roman" pitchFamily="18" charset="0"/>
                <a:cs typeface="Times New Roman" pitchFamily="18" charset="0"/>
              </a:rPr>
              <a:t>SUPER CAPACITOR </a:t>
            </a:r>
            <a:endParaRPr lang="en-US" sz="2400" dirty="0" smtClean="0">
              <a:solidFill>
                <a:srgbClr val="C00000"/>
              </a:solidFill>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It is a high capacity capacitor.</a:t>
            </a:r>
          </a:p>
          <a:p>
            <a:pPr lvl="0"/>
            <a:r>
              <a:rPr lang="en-US" sz="2400" dirty="0" smtClean="0">
                <a:latin typeface="Times New Roman" pitchFamily="18" charset="0"/>
                <a:cs typeface="Times New Roman" pitchFamily="18" charset="0"/>
              </a:rPr>
              <a:t>They store 10 to 100 times more energy per unit volume and deliver charge much faster than batteries.</a:t>
            </a:r>
          </a:p>
          <a:p>
            <a:pPr lvl="0"/>
            <a:r>
              <a:rPr lang="en-US" sz="2400" dirty="0" smtClean="0">
                <a:latin typeface="Times New Roman" pitchFamily="18" charset="0"/>
                <a:cs typeface="Times New Roman" pitchFamily="18" charset="0"/>
              </a:rPr>
              <a:t>Super capacitor use electrostatic double layer capacitance</a:t>
            </a:r>
          </a:p>
          <a:p>
            <a:r>
              <a:rPr lang="en-US" sz="2400" dirty="0" smtClean="0">
                <a:latin typeface="Times New Roman" pitchFamily="18" charset="0"/>
                <a:cs typeface="Times New Roman" pitchFamily="18" charset="0"/>
              </a:rPr>
              <a:t> </a:t>
            </a:r>
          </a:p>
          <a:p>
            <a:r>
              <a:rPr lang="en-US" sz="2400" b="1" dirty="0" smtClean="0">
                <a:solidFill>
                  <a:srgbClr val="C00000"/>
                </a:solidFill>
                <a:latin typeface="Times New Roman" pitchFamily="18" charset="0"/>
                <a:cs typeface="Times New Roman" pitchFamily="18" charset="0"/>
              </a:rPr>
              <a:t>Design of super capacitor:</a:t>
            </a:r>
            <a:r>
              <a:rPr lang="en-US" sz="2400" dirty="0" smtClean="0">
                <a:solidFill>
                  <a:srgbClr val="C00000"/>
                </a:solidFill>
                <a:latin typeface="Times New Roman" pitchFamily="18" charset="0"/>
                <a:cs typeface="Times New Roman" pitchFamily="18" charset="0"/>
              </a:rPr>
              <a:t> </a:t>
            </a:r>
          </a:p>
          <a:p>
            <a:r>
              <a:rPr lang="en-US" sz="2400" dirty="0" smtClean="0">
                <a:latin typeface="Times New Roman" pitchFamily="18" charset="0"/>
                <a:cs typeface="Times New Roman" pitchFamily="18" charset="0"/>
              </a:rPr>
              <a:t>It consists of two electrode separated by an ion permeable membrane and dipped in an electrolyte containing positive and negative ion connecting both the electrodes</a:t>
            </a:r>
            <a:endParaRPr lang="en-US" sz="2400" dirty="0">
              <a:latin typeface="Times New Roman" pitchFamily="18" charset="0"/>
              <a:cs typeface="Times New Roman" pitchFamily="18" charset="0"/>
            </a:endParaRPr>
          </a:p>
        </p:txBody>
      </p:sp>
      <p:pic>
        <p:nvPicPr>
          <p:cNvPr id="4" name="Picture 3"/>
          <p:cNvPicPr/>
          <p:nvPr/>
        </p:nvPicPr>
        <p:blipFill>
          <a:blip r:embed="rId2" cstate="print"/>
          <a:srcRect/>
          <a:stretch>
            <a:fillRect/>
          </a:stretch>
        </p:blipFill>
        <p:spPr bwMode="auto">
          <a:xfrm>
            <a:off x="1981200" y="4038600"/>
            <a:ext cx="5105400" cy="281940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8991600" cy="6858000"/>
          </a:xfrm>
        </p:spPr>
        <p:txBody>
          <a:bodyPr>
            <a:normAutofit lnSpcReduction="10000"/>
          </a:bodyPr>
          <a:lstStyle/>
          <a:p>
            <a:r>
              <a:rPr lang="en-US" sz="2400" b="1" dirty="0" smtClean="0">
                <a:solidFill>
                  <a:srgbClr val="C00000"/>
                </a:solidFill>
                <a:latin typeface="Times New Roman" pitchFamily="18" charset="0"/>
                <a:cs typeface="Times New Roman" pitchFamily="18" charset="0"/>
              </a:rPr>
              <a:t>Working</a:t>
            </a:r>
            <a:endParaRPr lang="en-US" sz="2400" dirty="0" smtClean="0">
              <a:solidFill>
                <a:srgbClr val="C00000"/>
              </a:solidFill>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When the electrodes are connected to the power source, ions in the electrolyte form electric double layer (Helmholtz electric double layer) of opposite polarity to the electrodes polarity, creating an electric fields between them. </a:t>
            </a:r>
          </a:p>
          <a:p>
            <a:pPr lvl="0"/>
            <a:r>
              <a:rPr lang="en-US" sz="2400" dirty="0" smtClean="0">
                <a:latin typeface="Times New Roman" pitchFamily="18" charset="0"/>
                <a:cs typeface="Times New Roman" pitchFamily="18" charset="0"/>
              </a:rPr>
              <a:t>The positively polarized electrodes will have a layer of negative ions at the electrode / electrolyte interface.</a:t>
            </a:r>
          </a:p>
          <a:p>
            <a:pPr lvl="0"/>
            <a:r>
              <a:rPr lang="en-US" sz="2400" dirty="0" smtClean="0">
                <a:latin typeface="Times New Roman" pitchFamily="18" charset="0"/>
                <a:cs typeface="Times New Roman" pitchFamily="18" charset="0"/>
              </a:rPr>
              <a:t>Similarly the negatively polarized electrode will have a layer of positive ions t the electrode / electrolyte inter face.</a:t>
            </a:r>
          </a:p>
          <a:p>
            <a:pPr lvl="0"/>
            <a:r>
              <a:rPr lang="en-US" sz="2400" dirty="0" smtClean="0">
                <a:latin typeface="Times New Roman" pitchFamily="18" charset="0"/>
                <a:cs typeface="Times New Roman" pitchFamily="18" charset="0"/>
              </a:rPr>
              <a:t>The electric field polarizes the dielectric</a:t>
            </a:r>
          </a:p>
          <a:p>
            <a:pPr lvl="0"/>
            <a:r>
              <a:rPr lang="en-US" sz="2400" dirty="0" smtClean="0">
                <a:latin typeface="Times New Roman" pitchFamily="18" charset="0"/>
                <a:cs typeface="Times New Roman" pitchFamily="18" charset="0"/>
              </a:rPr>
              <a:t>It stores more electrical energy at an electrode / electrolyte interface</a:t>
            </a:r>
          </a:p>
          <a:p>
            <a:r>
              <a:rPr lang="en-US" sz="2400" b="1" dirty="0" smtClean="0">
                <a:solidFill>
                  <a:srgbClr val="C00000"/>
                </a:solidFill>
                <a:latin typeface="Times New Roman" pitchFamily="18" charset="0"/>
                <a:cs typeface="Times New Roman" pitchFamily="18" charset="0"/>
              </a:rPr>
              <a:t>Advantages</a:t>
            </a:r>
            <a:endParaRPr lang="en-US" sz="2400" dirty="0" smtClean="0">
              <a:solidFill>
                <a:srgbClr val="C00000"/>
              </a:solidFill>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It is highly safe</a:t>
            </a:r>
          </a:p>
          <a:p>
            <a:pPr lvl="0"/>
            <a:r>
              <a:rPr lang="en-US" sz="2400" dirty="0" smtClean="0">
                <a:latin typeface="Times New Roman" pitchFamily="18" charset="0"/>
                <a:cs typeface="Times New Roman" pitchFamily="18" charset="0"/>
              </a:rPr>
              <a:t>Life time is very high (10 – 20 years)</a:t>
            </a:r>
          </a:p>
          <a:p>
            <a:pPr lvl="0"/>
            <a:r>
              <a:rPr lang="en-US" sz="2400" dirty="0" smtClean="0">
                <a:latin typeface="Times New Roman" pitchFamily="18" charset="0"/>
                <a:cs typeface="Times New Roman" pitchFamily="18" charset="0"/>
              </a:rPr>
              <a:t>Can be cycled millions of time</a:t>
            </a:r>
          </a:p>
          <a:p>
            <a:pPr lvl="0"/>
            <a:r>
              <a:rPr lang="en-US" sz="2400" dirty="0" smtClean="0">
                <a:latin typeface="Times New Roman" pitchFamily="18" charset="0"/>
                <a:cs typeface="Times New Roman" pitchFamily="18" charset="0"/>
              </a:rPr>
              <a:t>It can be charge in seconds</a:t>
            </a:r>
          </a:p>
          <a:p>
            <a:pPr lvl="0"/>
            <a:r>
              <a:rPr lang="en-US" sz="2400" dirty="0" smtClean="0">
                <a:latin typeface="Times New Roman" pitchFamily="18" charset="0"/>
                <a:cs typeface="Times New Roman" pitchFamily="18" charset="0"/>
              </a:rPr>
              <a:t>It provides high power density and high load currents</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8991600" cy="6858000"/>
          </a:xfrm>
        </p:spPr>
        <p:txBody>
          <a:bodyPr>
            <a:normAutofit/>
          </a:bodyPr>
          <a:lstStyle/>
          <a:p>
            <a:r>
              <a:rPr lang="en-US" sz="2600" b="1" dirty="0" smtClean="0">
                <a:solidFill>
                  <a:srgbClr val="C00000"/>
                </a:solidFill>
                <a:latin typeface="Times New Roman" pitchFamily="18" charset="0"/>
                <a:cs typeface="Times New Roman" pitchFamily="18" charset="0"/>
              </a:rPr>
              <a:t>Disadvantages</a:t>
            </a:r>
            <a:endParaRPr lang="en-US" sz="2600" dirty="0" smtClean="0">
              <a:solidFill>
                <a:srgbClr val="C00000"/>
              </a:solidFill>
              <a:latin typeface="Times New Roman" pitchFamily="18" charset="0"/>
              <a:cs typeface="Times New Roman" pitchFamily="18" charset="0"/>
            </a:endParaRPr>
          </a:p>
          <a:p>
            <a:pPr lvl="0"/>
            <a:r>
              <a:rPr lang="en-US" sz="2600" dirty="0" smtClean="0">
                <a:latin typeface="Times New Roman" pitchFamily="18" charset="0"/>
                <a:cs typeface="Times New Roman" pitchFamily="18" charset="0"/>
              </a:rPr>
              <a:t>Cost per watt is high</a:t>
            </a:r>
          </a:p>
          <a:p>
            <a:pPr lvl="0"/>
            <a:r>
              <a:rPr lang="en-US" sz="2600" dirty="0" smtClean="0">
                <a:latin typeface="Times New Roman" pitchFamily="18" charset="0"/>
                <a:cs typeface="Times New Roman" pitchFamily="18" charset="0"/>
              </a:rPr>
              <a:t>It cannot be used as source for continuous power supply</a:t>
            </a:r>
          </a:p>
          <a:p>
            <a:pPr lvl="0"/>
            <a:r>
              <a:rPr lang="en-US" sz="2600" dirty="0" smtClean="0">
                <a:latin typeface="Times New Roman" pitchFamily="18" charset="0"/>
                <a:cs typeface="Times New Roman" pitchFamily="18" charset="0"/>
              </a:rPr>
              <a:t>It should be connected in series for high voltage</a:t>
            </a:r>
          </a:p>
          <a:p>
            <a:pPr lvl="0"/>
            <a:r>
              <a:rPr lang="en-US" sz="2600" dirty="0" smtClean="0">
                <a:latin typeface="Times New Roman" pitchFamily="18" charset="0"/>
                <a:cs typeface="Times New Roman" pitchFamily="18" charset="0"/>
              </a:rPr>
              <a:t>High self-discharge</a:t>
            </a:r>
          </a:p>
          <a:p>
            <a:r>
              <a:rPr lang="en-US" sz="2600" b="1" dirty="0" smtClean="0">
                <a:solidFill>
                  <a:srgbClr val="C00000"/>
                </a:solidFill>
                <a:latin typeface="Times New Roman" pitchFamily="18" charset="0"/>
                <a:cs typeface="Times New Roman" pitchFamily="18" charset="0"/>
              </a:rPr>
              <a:t>Applications</a:t>
            </a:r>
            <a:endParaRPr lang="en-US" sz="2600" dirty="0" smtClean="0">
              <a:solidFill>
                <a:srgbClr val="C00000"/>
              </a:solidFill>
              <a:latin typeface="Times New Roman" pitchFamily="18" charset="0"/>
              <a:cs typeface="Times New Roman" pitchFamily="18" charset="0"/>
            </a:endParaRPr>
          </a:p>
          <a:p>
            <a:pPr lvl="0"/>
            <a:r>
              <a:rPr lang="en-US" sz="2600" dirty="0" smtClean="0">
                <a:latin typeface="Times New Roman" pitchFamily="18" charset="0"/>
                <a:cs typeface="Times New Roman" pitchFamily="18" charset="0"/>
              </a:rPr>
              <a:t>Voltage stabilization in start/stop system</a:t>
            </a:r>
          </a:p>
          <a:p>
            <a:pPr lvl="0"/>
            <a:r>
              <a:rPr lang="en-US" sz="2600" dirty="0" smtClean="0">
                <a:latin typeface="Times New Roman" pitchFamily="18" charset="0"/>
                <a:cs typeface="Times New Roman" pitchFamily="18" charset="0"/>
              </a:rPr>
              <a:t>Energy harvesting</a:t>
            </a:r>
          </a:p>
          <a:p>
            <a:pPr lvl="0"/>
            <a:r>
              <a:rPr lang="en-US" sz="2600" dirty="0" smtClean="0">
                <a:latin typeface="Times New Roman" pitchFamily="18" charset="0"/>
                <a:cs typeface="Times New Roman" pitchFamily="18" charset="0"/>
              </a:rPr>
              <a:t>Kitchen appliances</a:t>
            </a:r>
          </a:p>
          <a:p>
            <a:pPr lvl="0"/>
            <a:r>
              <a:rPr lang="en-US" sz="2600" dirty="0" smtClean="0">
                <a:latin typeface="Times New Roman" pitchFamily="18" charset="0"/>
                <a:cs typeface="Times New Roman" pitchFamily="18" charset="0"/>
              </a:rPr>
              <a:t>Wind energy</a:t>
            </a:r>
          </a:p>
          <a:p>
            <a:pPr lvl="0"/>
            <a:r>
              <a:rPr lang="en-US" sz="2600" dirty="0" smtClean="0">
                <a:latin typeface="Times New Roman" pitchFamily="18" charset="0"/>
                <a:cs typeface="Times New Roman" pitchFamily="18" charset="0"/>
              </a:rPr>
              <a:t>Utility meters</a:t>
            </a:r>
          </a:p>
          <a:p>
            <a:pPr lvl="0"/>
            <a:r>
              <a:rPr lang="en-US" sz="2600" dirty="0" smtClean="0">
                <a:latin typeface="Times New Roman" pitchFamily="18" charset="0"/>
                <a:cs typeface="Times New Roman" pitchFamily="18" charset="0"/>
              </a:rPr>
              <a:t>Consumer electronics</a:t>
            </a:r>
          </a:p>
          <a:p>
            <a:pPr lvl="0"/>
            <a:r>
              <a:rPr lang="en-US" sz="2600" dirty="0" smtClean="0">
                <a:latin typeface="Times New Roman" pitchFamily="18" charset="0"/>
                <a:cs typeface="Times New Roman" pitchFamily="18" charset="0"/>
              </a:rPr>
              <a:t>Remote power for sensors, LEDs, switches</a:t>
            </a:r>
          </a:p>
          <a:p>
            <a:pPr lvl="0"/>
            <a:r>
              <a:rPr lang="en-US" sz="2600" dirty="0" smtClean="0">
                <a:latin typeface="Times New Roman" pitchFamily="18" charset="0"/>
                <a:cs typeface="Times New Roman" pitchFamily="18" charset="0"/>
              </a:rPr>
              <a:t>Energy efficiency and frequency regulation</a:t>
            </a:r>
          </a:p>
          <a:p>
            <a:r>
              <a:rPr lang="en-IN" sz="2600" dirty="0" smtClean="0">
                <a:latin typeface="Times New Roman" pitchFamily="18" charset="0"/>
                <a:cs typeface="Times New Roman" pitchFamily="18" charset="0"/>
              </a:rPr>
              <a:t> </a:t>
            </a:r>
            <a:endParaRPr lang="en-US" sz="2600" dirty="0" smtClean="0">
              <a:latin typeface="Times New Roman" pitchFamily="18" charset="0"/>
              <a:cs typeface="Times New Roman" pitchFamily="18" charset="0"/>
            </a:endParaRP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28F5B47FA9F2F43BE62DA373C33F8AE" ma:contentTypeVersion="4" ma:contentTypeDescription="Create a new document." ma:contentTypeScope="" ma:versionID="480c44d2b5544be67724ce8459bf96b9">
  <xsd:schema xmlns:xsd="http://www.w3.org/2001/XMLSchema" xmlns:xs="http://www.w3.org/2001/XMLSchema" xmlns:p="http://schemas.microsoft.com/office/2006/metadata/properties" xmlns:ns2="38445d37-e7cf-43af-826f-9f53d8dfdee1" targetNamespace="http://schemas.microsoft.com/office/2006/metadata/properties" ma:root="true" ma:fieldsID="4ad894ec4a6a315feaceedfdf78b005e" ns2:_="">
    <xsd:import namespace="38445d37-e7cf-43af-826f-9f53d8dfdee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445d37-e7cf-43af-826f-9f53d8dfde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36F8BF8-6989-4A50-B14B-DA32F35CB274}"/>
</file>

<file path=customXml/itemProps2.xml><?xml version="1.0" encoding="utf-8"?>
<ds:datastoreItem xmlns:ds="http://schemas.openxmlformats.org/officeDocument/2006/customXml" ds:itemID="{1F21618D-0CB7-454F-B6E0-EC21B44B272A}"/>
</file>

<file path=customXml/itemProps3.xml><?xml version="1.0" encoding="utf-8"?>
<ds:datastoreItem xmlns:ds="http://schemas.openxmlformats.org/officeDocument/2006/customXml" ds:itemID="{B874FB3B-30DD-42DD-B114-4A1DF1FDB7BF}"/>
</file>

<file path=docProps/app.xml><?xml version="1.0" encoding="utf-8"?>
<Properties xmlns="http://schemas.openxmlformats.org/officeDocument/2006/extended-properties" xmlns:vt="http://schemas.openxmlformats.org/officeDocument/2006/docPropsVTypes">
  <Template>Concourse</Template>
  <TotalTime>179</TotalTime>
  <Words>2303</Words>
  <Application>Microsoft Office PowerPoint</Application>
  <PresentationFormat>On-screen Show (4:3)</PresentationFormat>
  <Paragraphs>331</Paragraphs>
  <Slides>43</Slides>
  <Notes>0</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Concourse</vt:lpstr>
      <vt:lpstr>BATTERY</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BATTERY</dc:title>
  <dc:creator>Siva</dc:creator>
  <cp:lastModifiedBy>Siva</cp:lastModifiedBy>
  <cp:revision>52</cp:revision>
  <dcterms:created xsi:type="dcterms:W3CDTF">2006-08-16T00:00:00Z</dcterms:created>
  <dcterms:modified xsi:type="dcterms:W3CDTF">2020-12-18T08:39:51Z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0x010100728F5B47FA9F2F43BE62DA373C33F8AE</vt:lpwstr>
  </property>
</Properties>
</file>